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1E2D6C-7FDB-4D57-BEA6-0CDAB9F65119}">
  <a:tblStyle styleId="{6A1E2D6C-7FDB-4D57-BEA6-0CDAB9F6511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57" name="Google Shape;25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454be49575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454be4957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454be49575_0_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0" name="Google Shape;27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8" name="Google Shape;27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85" name="Google Shape;28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0: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296" name="Google Shape;296;p1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21" name="Google Shape;32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30" name="Google Shape;33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39" name="Google Shape;33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46" name="Google Shape;34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4" name="Google Shape;3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74af3c32c9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74af3c32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274af3c32c9_0_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2" name="Google Shape;37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80" name="Google Shape;38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87" name="Google Shape;38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97" name="Google Shape;39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02" name="Google Shape;40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1" name="Google Shape;41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0" name="Google Shape;42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7" name="Google Shape;42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37" name="Google Shape;43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44" name="Google Shape;44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51" name="Google Shape;45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74af3c32c9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74af3c32c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274af3c32c9_0_3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8c7a71f6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8c7a71f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8c7a71f65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8c7a71f65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8c7a71f6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38c7a71f65_0_1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85" name="Google Shape;48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05" name="Google Shape;50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28" name="Google Shape;52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74af3c32c9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53" name="Google Shape;553;g274af3c32c9_0_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74af3c32c9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71" name="Google Shape;571;g274af3c32c9_0_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86" name="Google Shape;58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74af3c32c9_0_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74af3c32c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274af3c32c9_0_11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454be49575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454be4957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454be49575_0_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16" name="Google Shape;61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33: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625" name="Google Shape;625;p3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3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33" name="Google Shape;63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40" name="Google Shape;64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45" name="Google Shape;64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52" name="Google Shape;65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e85754a2d9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60" name="Google Shape;660;g2e85754a2d9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e85754a2d9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e85754a2d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g2e85754a2d9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3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78" name="Google Shape;67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2e85754a2d9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685" name="Google Shape;685;g2e85754a2d9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e85754a2d9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00" name="Google Shape;700;g2e85754a2d9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456b686f8c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456b686f8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g456b686f8c_1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e85754a2d9_0_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2e85754a2d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g2e85754a2d9_0_69: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3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34" name="Google Shape;73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454be49575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454be4957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g454be49575_0_1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4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50" name="Google Shape;75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914ecd069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914ecd06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3914ecd069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e85754a2d9_0_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e85754a2d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g2e85754a2d9_0_10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76" name="Google Shape;77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4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82" name="Google Shape;78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4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795" name="Google Shape;79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914ecd069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914ecd06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g3914ecd069_0_1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914ecd069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914ecd06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g3914ecd069_0_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e85754a2d9_0_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e85754a2d9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g2e85754a2d9_0_16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4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31" name="Google Shape;83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2a175a918a_0_2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2a175a918a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32a175a918a_0_25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51" name="Google Shape;85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58" name="Google Shape;85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1cbaef4db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79" name="Google Shape;879;g31cbaef4db3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4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99" name="Google Shape;89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4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916" name="Google Shape;91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2a15576ee3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2a15576e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g32a15576ee3_1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4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931" name="Google Shape;93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5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940" name="Google Shape;940;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952" name="Google Shape;95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e85754a2d9_0_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e85754a2d9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g2e85754a2d9_0_23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e85754a2d9_0_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2e85754a2d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g2e85754a2d9_0_21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5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002" name="Google Shape;100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74af3c32c9_0_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74af3c32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g274af3c32c9_0_12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454be49575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454be4957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g454be49575_0_2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027" name="Google Shape;1027;p66: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037" name="Google Shape;1037;p67: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9" name="Google Shape;1049;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050" name="Google Shape;1050;p68: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914ecd069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914ecd0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g3914ecd069_0_2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914ecd069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3914ecd06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g3914ecd069_0_2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e8b35f1560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e8b35f156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g2e8b35f1560_0_2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914ecd069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3914ecd06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g3914ecd069_0_3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25" name="Google Shape;1125;p69: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6" name="Google Shape;1136;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37" name="Google Shape;1137;p70: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5" name="Google Shape;1145;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46" name="Google Shape;1146;p71: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60" name="Google Shape;1160;p72: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71" name="Google Shape;1171;p73: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83" name="Google Shape;1183;p74: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914ecd069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3914ecd06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g3914ecd069_0_4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914ecd069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914ecd06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g3914ecd069_0_5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e8b35f1560_0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e8b35f156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g2e8b35f1560_0_6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914ecd069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3914ecd06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g3914ecd069_0_6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5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228" name="Google Shape;122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7a1b31360_5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37a1b3136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g37a1b31360_5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454be49575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454be4957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g454be49575_0_26: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1" name="Google Shape;1251;p54: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1252" name="Google Shape;1252;p5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CA" sz="1200" u="none" cap="none" strike="noStrike">
                <a:solidFill>
                  <a:schemeClr val="dk1"/>
                </a:solidFill>
                <a:latin typeface="Calibri"/>
                <a:ea typeface="Calibri"/>
                <a:cs typeface="Calibri"/>
                <a:sym typeface="Calibri"/>
              </a:rP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2e8b35f1560_0_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2e8b35f156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g2e8b35f1560_0_10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e8bb6c3f2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e8bb6c3f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g2e8bb6c3f2a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2e8b35f1560_0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2e8b35f156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g2e8b35f1560_0_9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5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287" name="Google Shape;128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5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294" name="Google Shape;129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39948acd20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39948acd20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g39948acd20_1_2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9948acd20_1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39948acd20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g39948acd20_1_3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5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17" name="Google Shape;131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6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26" name="Google Shape;132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6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35" name="Google Shape;133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6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46" name="Google Shape;1346;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2a175a918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32a175a91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g32a175a918a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6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67" name="Google Shape;136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6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75" name="Google Shape;137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4" name="Google Shape;1384;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385" name="Google Shape;1385;p65: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
              <a:buFont typeface="Arial"/>
              <a:buNone/>
            </a:pPr>
            <a:fld id="{00000000-1234-1234-1234-123412341234}" type="slidenum">
              <a:rPr b="0" i="0" lang="en-CA" sz="14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47eef175b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47eef175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g47eef175b0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47eef175b0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47eef175b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g47eef175b0_0_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47eef175b0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47eef175b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g47eef175b0_0_1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7937bfccc0_1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7937bfccc0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g7937bfccc0_1_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CA"/>
              <a:t>‹#›</a:t>
            </a:fld>
            <a:endParaRPr sz="140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2"/>
          <p:cNvGrpSpPr/>
          <p:nvPr/>
        </p:nvGrpSpPr>
        <p:grpSpPr>
          <a:xfrm>
            <a:off x="-645041" y="0"/>
            <a:ext cx="10458613" cy="7116923"/>
            <a:chOff x="-645041" y="0"/>
            <a:chExt cx="10458613" cy="7116923"/>
          </a:xfrm>
        </p:grpSpPr>
        <p:grpSp>
          <p:nvGrpSpPr>
            <p:cNvPr id="59" name="Google Shape;59;p2"/>
            <p:cNvGrpSpPr/>
            <p:nvPr/>
          </p:nvGrpSpPr>
          <p:grpSpPr>
            <a:xfrm>
              <a:off x="0" y="0"/>
              <a:ext cx="9144000" cy="6858000"/>
              <a:chOff x="0" y="0"/>
              <a:chExt cx="9144000" cy="6858000"/>
            </a:xfrm>
          </p:grpSpPr>
          <p:grpSp>
            <p:nvGrpSpPr>
              <p:cNvPr id="60" name="Google Shape;60;p2"/>
              <p:cNvGrpSpPr/>
              <p:nvPr/>
            </p:nvGrpSpPr>
            <p:grpSpPr>
              <a:xfrm>
                <a:off x="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a:off x="42291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8" name="Google Shape;68;p2"/>
              <p:cNvGrpSpPr/>
              <p:nvPr/>
            </p:nvGrpSpPr>
            <p:grpSpPr>
              <a:xfrm rot="10800000">
                <a:off x="6629400" y="0"/>
                <a:ext cx="2514600" cy="6858000"/>
                <a:chOff x="0" y="0"/>
                <a:chExt cx="2514600" cy="6858000"/>
              </a:xfrm>
            </p:grpSpPr>
            <p:sp>
              <p:nvSpPr>
                <p:cNvPr id="69" name="Google Shape;69;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1" name="Google Shape;71;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2" name="Google Shape;72;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3" name="Google Shape;73;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4" name="Google Shape;74;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5" name="Google Shape;75;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7" name="Google Shape;77;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8" name="Google Shape;78;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9" name="Google Shape;79;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80" name="Google Shape;80;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3" name="Google Shape;93;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6" name="Google Shape;96;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7" name="Google Shape;97;p2"/>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8" name="Google Shape;98;p2"/>
          <p:cNvSpPr/>
          <p:nvPr/>
        </p:nvSpPr>
        <p:spPr>
          <a:xfrm>
            <a:off x="4649096" y="-21511"/>
            <a:ext cx="3505200" cy="2313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type="ctrTitle"/>
          </p:nvPr>
        </p:nvSpPr>
        <p:spPr>
          <a:xfrm>
            <a:off x="4733365" y="2708476"/>
            <a:ext cx="3313500" cy="17022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0" name="Google Shape;100;p2"/>
          <p:cNvSpPr txBox="1"/>
          <p:nvPr>
            <p:ph idx="1" type="subTitle"/>
          </p:nvPr>
        </p:nvSpPr>
        <p:spPr>
          <a:xfrm>
            <a:off x="4733365" y="4421080"/>
            <a:ext cx="3309900" cy="1260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01" name="Google Shape;101;p2"/>
          <p:cNvSpPr txBox="1"/>
          <p:nvPr>
            <p:ph idx="10" type="dt"/>
          </p:nvPr>
        </p:nvSpPr>
        <p:spPr>
          <a:xfrm>
            <a:off x="4738744" y="1516828"/>
            <a:ext cx="2133600" cy="7509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2" name="Google Shape;102;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3" name="Google Shape;103;p2"/>
          <p:cNvSpPr txBox="1"/>
          <p:nvPr>
            <p:ph idx="11" type="ftr"/>
          </p:nvPr>
        </p:nvSpPr>
        <p:spPr>
          <a:xfrm>
            <a:off x="5303520" y="5719966"/>
            <a:ext cx="28317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4" name="Google Shape;104;p2"/>
          <p:cNvSpPr txBox="1"/>
          <p:nvPr>
            <p:ph idx="12" type="sldNum"/>
          </p:nvPr>
        </p:nvSpPr>
        <p:spPr>
          <a:xfrm>
            <a:off x="4649096" y="5719966"/>
            <a:ext cx="6438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05" name="Google Shape;105;p2"/>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3"/>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8" name="Google Shape;108;p3"/>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9" name="Google Shape;109;p3"/>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3"/>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3"/>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2" name="Shape 112"/>
        <p:cNvGrpSpPr/>
        <p:nvPr/>
      </p:nvGrpSpPr>
      <p:grpSpPr>
        <a:xfrm>
          <a:off x="0" y="0"/>
          <a:ext cx="0" cy="0"/>
          <a:chOff x="0" y="0"/>
          <a:chExt cx="0" cy="0"/>
        </a:xfrm>
      </p:grpSpPr>
      <p:sp>
        <p:nvSpPr>
          <p:cNvPr id="113" name="Google Shape;113;p4"/>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4" name="Google Shape;114;p4"/>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5" name="Google Shape;115;p4"/>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5"/>
          <p:cNvSpPr txBox="1"/>
          <p:nvPr>
            <p:ph type="title"/>
          </p:nvPr>
        </p:nvSpPr>
        <p:spPr>
          <a:xfrm>
            <a:off x="1258645" y="2900829"/>
            <a:ext cx="6637500" cy="1362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8" name="Google Shape;118;p5"/>
          <p:cNvSpPr txBox="1"/>
          <p:nvPr>
            <p:ph idx="1" type="body"/>
          </p:nvPr>
        </p:nvSpPr>
        <p:spPr>
          <a:xfrm>
            <a:off x="1258645" y="4267200"/>
            <a:ext cx="6637500" cy="15204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9" name="Google Shape;119;p5"/>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0" name="Google Shape;120;p5"/>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5"/>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6"/>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4" name="Google Shape;124;p6"/>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5" name="Google Shape;125;p6"/>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6" name="Google Shape;126;p6"/>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27" name="Google Shape;127;p6"/>
          <p:cNvSpPr txBox="1"/>
          <p:nvPr>
            <p:ph idx="1" type="body"/>
          </p:nvPr>
        </p:nvSpPr>
        <p:spPr>
          <a:xfrm>
            <a:off x="1042416" y="2313432"/>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8" name="Google Shape;128;p6"/>
          <p:cNvSpPr txBox="1"/>
          <p:nvPr>
            <p:ph idx="2" type="body"/>
          </p:nvPr>
        </p:nvSpPr>
        <p:spPr>
          <a:xfrm>
            <a:off x="4645152" y="2313431"/>
            <a:ext cx="3420000" cy="3492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9" name="Shape 129"/>
        <p:cNvGrpSpPr/>
        <p:nvPr/>
      </p:nvGrpSpPr>
      <p:grpSpPr>
        <a:xfrm>
          <a:off x="0" y="0"/>
          <a:ext cx="0" cy="0"/>
          <a:chOff x="0" y="0"/>
          <a:chExt cx="0" cy="0"/>
        </a:xfrm>
      </p:grpSpPr>
      <p:sp>
        <p:nvSpPr>
          <p:cNvPr id="130" name="Google Shape;130;p7"/>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1" name="Google Shape;131;p7"/>
          <p:cNvSpPr txBox="1"/>
          <p:nvPr>
            <p:ph idx="1" type="body"/>
          </p:nvPr>
        </p:nvSpPr>
        <p:spPr>
          <a:xfrm>
            <a:off x="1412111" y="2316009"/>
            <a:ext cx="30570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2" name="Google Shape;132;p7"/>
          <p:cNvSpPr txBox="1"/>
          <p:nvPr>
            <p:ph idx="2" type="body"/>
          </p:nvPr>
        </p:nvSpPr>
        <p:spPr>
          <a:xfrm>
            <a:off x="1041721"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3" name="Google Shape;133;p7"/>
          <p:cNvSpPr txBox="1"/>
          <p:nvPr>
            <p:ph idx="3" type="body"/>
          </p:nvPr>
        </p:nvSpPr>
        <p:spPr>
          <a:xfrm>
            <a:off x="5011837" y="2316010"/>
            <a:ext cx="3055800" cy="6399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4" name="Google Shape;134;p7"/>
          <p:cNvSpPr txBox="1"/>
          <p:nvPr>
            <p:ph idx="4" type="body"/>
          </p:nvPr>
        </p:nvSpPr>
        <p:spPr>
          <a:xfrm>
            <a:off x="4645152" y="2974694"/>
            <a:ext cx="3420000" cy="2835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5" name="Google Shape;135;p7"/>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6" name="Google Shape;136;p7"/>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7"/>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8"/>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0" name="Google Shape;140;p8"/>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1" name="Google Shape;141;p8"/>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2" name="Google Shape;142;p8"/>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3" name="Shape 143"/>
        <p:cNvGrpSpPr/>
        <p:nvPr/>
      </p:nvGrpSpPr>
      <p:grpSpPr>
        <a:xfrm>
          <a:off x="0" y="0"/>
          <a:ext cx="0" cy="0"/>
          <a:chOff x="0" y="0"/>
          <a:chExt cx="0" cy="0"/>
        </a:xfrm>
      </p:grpSpPr>
      <p:grpSp>
        <p:nvGrpSpPr>
          <p:cNvPr id="144" name="Google Shape;144;p9"/>
          <p:cNvGrpSpPr/>
          <p:nvPr/>
        </p:nvGrpSpPr>
        <p:grpSpPr>
          <a:xfrm>
            <a:off x="-645041" y="0"/>
            <a:ext cx="10458613" cy="7116923"/>
            <a:chOff x="-645041" y="0"/>
            <a:chExt cx="10458613" cy="7116923"/>
          </a:xfrm>
        </p:grpSpPr>
        <p:grpSp>
          <p:nvGrpSpPr>
            <p:cNvPr id="145" name="Google Shape;145;p9"/>
            <p:cNvGrpSpPr/>
            <p:nvPr/>
          </p:nvGrpSpPr>
          <p:grpSpPr>
            <a:xfrm>
              <a:off x="0" y="0"/>
              <a:ext cx="9144000" cy="6858000"/>
              <a:chOff x="0" y="0"/>
              <a:chExt cx="9144000" cy="6858000"/>
            </a:xfrm>
          </p:grpSpPr>
          <p:grpSp>
            <p:nvGrpSpPr>
              <p:cNvPr id="146" name="Google Shape;146;p9"/>
              <p:cNvGrpSpPr/>
              <p:nvPr/>
            </p:nvGrpSpPr>
            <p:grpSpPr>
              <a:xfrm>
                <a:off x="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a:off x="42291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4" name="Google Shape;154;p9"/>
              <p:cNvGrpSpPr/>
              <p:nvPr/>
            </p:nvGrpSpPr>
            <p:grpSpPr>
              <a:xfrm rot="10800000">
                <a:off x="6629400" y="0"/>
                <a:ext cx="2514600" cy="6858000"/>
                <a:chOff x="0" y="0"/>
                <a:chExt cx="2514600" cy="6858000"/>
              </a:xfrm>
            </p:grpSpPr>
            <p:sp>
              <p:nvSpPr>
                <p:cNvPr id="155" name="Google Shape;155;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7" name="Google Shape;157;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8" name="Google Shape;158;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9" name="Google Shape;159;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0" name="Google Shape;160;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61" name="Google Shape;161;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3" name="Google Shape;163;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4" name="Google Shape;164;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5" name="Google Shape;165;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6" name="Google Shape;166;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9" name="Google Shape;179;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2" name="Google Shape;182;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83" name="Google Shape;183;p9"/>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5" name="Google Shape;185;p9"/>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6" name="Google Shape;186;p9"/>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
        <p:nvSpPr>
          <p:cNvPr id="187" name="Google Shape;187;p9"/>
          <p:cNvSpPr/>
          <p:nvPr/>
        </p:nvSpPr>
        <p:spPr>
          <a:xfrm>
            <a:off x="905571" y="601883"/>
            <a:ext cx="3562200" cy="5648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8" name="Google Shape;188;p9"/>
          <p:cNvSpPr txBox="1"/>
          <p:nvPr>
            <p:ph idx="1" type="body"/>
          </p:nvPr>
        </p:nvSpPr>
        <p:spPr>
          <a:xfrm>
            <a:off x="1145894" y="856527"/>
            <a:ext cx="3090300" cy="5150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9" name="Google Shape;189;p9"/>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0" name="Google Shape;190;p9"/>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91" name="Google Shape;191;p9"/>
          <p:cNvSpPr txBox="1"/>
          <p:nvPr>
            <p:ph type="title"/>
          </p:nvPr>
        </p:nvSpPr>
        <p:spPr>
          <a:xfrm>
            <a:off x="4739833" y="2657434"/>
            <a:ext cx="33045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92" name="Google Shape;192;p9"/>
          <p:cNvSpPr txBox="1"/>
          <p:nvPr>
            <p:ph idx="2" type="body"/>
          </p:nvPr>
        </p:nvSpPr>
        <p:spPr>
          <a:xfrm>
            <a:off x="4736592" y="4136994"/>
            <a:ext cx="3298800" cy="1518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93" name="Shape 193"/>
        <p:cNvGrpSpPr/>
        <p:nvPr/>
      </p:nvGrpSpPr>
      <p:grpSpPr>
        <a:xfrm>
          <a:off x="0" y="0"/>
          <a:ext cx="0" cy="0"/>
          <a:chOff x="0" y="0"/>
          <a:chExt cx="0" cy="0"/>
        </a:xfrm>
      </p:grpSpPr>
      <p:grpSp>
        <p:nvGrpSpPr>
          <p:cNvPr id="194" name="Google Shape;194;p10"/>
          <p:cNvGrpSpPr/>
          <p:nvPr/>
        </p:nvGrpSpPr>
        <p:grpSpPr>
          <a:xfrm>
            <a:off x="-645041" y="0"/>
            <a:ext cx="10458613" cy="7116923"/>
            <a:chOff x="-645041" y="0"/>
            <a:chExt cx="10458613" cy="7116923"/>
          </a:xfrm>
        </p:grpSpPr>
        <p:grpSp>
          <p:nvGrpSpPr>
            <p:cNvPr id="195" name="Google Shape;195;p10"/>
            <p:cNvGrpSpPr/>
            <p:nvPr/>
          </p:nvGrpSpPr>
          <p:grpSpPr>
            <a:xfrm>
              <a:off x="0" y="0"/>
              <a:ext cx="9144000" cy="6858000"/>
              <a:chOff x="0" y="0"/>
              <a:chExt cx="9144000" cy="6858000"/>
            </a:xfrm>
          </p:grpSpPr>
          <p:grpSp>
            <p:nvGrpSpPr>
              <p:cNvPr id="196" name="Google Shape;196;p10"/>
              <p:cNvGrpSpPr/>
              <p:nvPr/>
            </p:nvGrpSpPr>
            <p:grpSpPr>
              <a:xfrm>
                <a:off x="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a:off x="42291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4" name="Google Shape;204;p10"/>
              <p:cNvGrpSpPr/>
              <p:nvPr/>
            </p:nvGrpSpPr>
            <p:grpSpPr>
              <a:xfrm rot="10800000">
                <a:off x="6629400" y="0"/>
                <a:ext cx="2514600" cy="6858000"/>
                <a:chOff x="0" y="0"/>
                <a:chExt cx="2514600" cy="6858000"/>
              </a:xfrm>
            </p:grpSpPr>
            <p:sp>
              <p:nvSpPr>
                <p:cNvPr id="205" name="Google Shape;205;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7" name="Google Shape;207;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8" name="Google Shape;208;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9" name="Google Shape;209;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0" name="Google Shape;210;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11" name="Google Shape;211;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3" name="Google Shape;213;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4" name="Google Shape;214;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5" name="Google Shape;215;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6" name="Google Shape;216;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9" name="Google Shape;229;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33" name="Google Shape;233;p10"/>
          <p:cNvSpPr/>
          <p:nvPr/>
        </p:nvSpPr>
        <p:spPr>
          <a:xfrm>
            <a:off x="4561242" y="-21511"/>
            <a:ext cx="3679200" cy="62718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4" name="Google Shape;234;p10"/>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5" name="Google Shape;235;p10"/>
          <p:cNvSpPr/>
          <p:nvPr/>
        </p:nvSpPr>
        <p:spPr>
          <a:xfrm>
            <a:off x="905571" y="601883"/>
            <a:ext cx="3562200" cy="56484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6" name="Google Shape;236;p10"/>
          <p:cNvSpPr/>
          <p:nvPr/>
        </p:nvSpPr>
        <p:spPr>
          <a:xfrm>
            <a:off x="4650889" y="6088284"/>
            <a:ext cx="3505200" cy="8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7" name="Google Shape;237;p10"/>
          <p:cNvSpPr txBox="1"/>
          <p:nvPr>
            <p:ph type="title"/>
          </p:nvPr>
        </p:nvSpPr>
        <p:spPr>
          <a:xfrm>
            <a:off x="4734424" y="2660904"/>
            <a:ext cx="3300900" cy="14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8" name="Google Shape;238;p10"/>
          <p:cNvSpPr/>
          <p:nvPr>
            <p:ph idx="2" type="pic"/>
          </p:nvPr>
        </p:nvSpPr>
        <p:spPr>
          <a:xfrm>
            <a:off x="1005208" y="693795"/>
            <a:ext cx="3359700" cy="54681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9" name="Google Shape;239;p10"/>
          <p:cNvSpPr txBox="1"/>
          <p:nvPr>
            <p:ph idx="1" type="body"/>
          </p:nvPr>
        </p:nvSpPr>
        <p:spPr>
          <a:xfrm>
            <a:off x="4734630" y="4133088"/>
            <a:ext cx="3300600" cy="1519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40" name="Google Shape;240;p10"/>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1" name="Google Shape;241;p10"/>
          <p:cNvSpPr txBox="1"/>
          <p:nvPr>
            <p:ph idx="11" type="ftr"/>
          </p:nvPr>
        </p:nvSpPr>
        <p:spPr>
          <a:xfrm>
            <a:off x="4641448" y="5724835"/>
            <a:ext cx="34938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2" name="Google Shape;242;p10"/>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5" name="Google Shape;245;p11"/>
          <p:cNvSpPr txBox="1"/>
          <p:nvPr>
            <p:ph idx="1" type="body"/>
          </p:nvPr>
        </p:nvSpPr>
        <p:spPr>
          <a:xfrm rot="5400000">
            <a:off x="2677609" y="689552"/>
            <a:ext cx="35091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6" name="Google Shape;246;p1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7" name="Google Shape;247;p1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8" name="Google Shape;248;p1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2"/>
          <p:cNvSpPr txBox="1"/>
          <p:nvPr>
            <p:ph type="title"/>
          </p:nvPr>
        </p:nvSpPr>
        <p:spPr>
          <a:xfrm rot="5400000">
            <a:off x="4981553" y="2678047"/>
            <a:ext cx="47802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51" name="Google Shape;251;p12"/>
          <p:cNvSpPr txBox="1"/>
          <p:nvPr>
            <p:ph idx="1" type="body"/>
          </p:nvPr>
        </p:nvSpPr>
        <p:spPr>
          <a:xfrm rot="5400000">
            <a:off x="1375050" y="708397"/>
            <a:ext cx="47802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52" name="Google Shape;252;p12"/>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3" name="Google Shape;253;p12"/>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4" name="Google Shape;254;p12"/>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567437" y="0"/>
            <a:ext cx="10458613" cy="7116923"/>
            <a:chOff x="-645041" y="0"/>
            <a:chExt cx="10458613" cy="7116923"/>
          </a:xfrm>
        </p:grpSpPr>
        <p:grpSp>
          <p:nvGrpSpPr>
            <p:cNvPr id="11" name="Google Shape;11;p1"/>
            <p:cNvGrpSpPr/>
            <p:nvPr/>
          </p:nvGrpSpPr>
          <p:grpSpPr>
            <a:xfrm>
              <a:off x="0" y="0"/>
              <a:ext cx="9144000" cy="6858000"/>
              <a:chOff x="0" y="0"/>
              <a:chExt cx="9144000" cy="6858000"/>
            </a:xfrm>
          </p:grpSpPr>
          <p:grpSp>
            <p:nvGrpSpPr>
              <p:cNvPr id="12" name="Google Shape;12;p1"/>
              <p:cNvGrpSpPr/>
              <p:nvPr/>
            </p:nvGrpSpPr>
            <p:grpSpPr>
              <a:xfrm>
                <a:off x="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a:off x="42291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20" name="Google Shape;20;p1"/>
              <p:cNvGrpSpPr/>
              <p:nvPr/>
            </p:nvGrpSpPr>
            <p:grpSpPr>
              <a:xfrm rot="10800000">
                <a:off x="6629400" y="0"/>
                <a:ext cx="2514600" cy="6858000"/>
                <a:chOff x="0" y="0"/>
                <a:chExt cx="2514600" cy="6858000"/>
              </a:xfrm>
            </p:grpSpPr>
            <p:sp>
              <p:nvSpPr>
                <p:cNvPr id="21" name="Google Shape;21;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3" name="Google Shape;23;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4" name="Google Shape;24;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5" name="Google Shape;25;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6" name="Google Shape;26;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7" name="Google Shape;27;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9" name="Google Shape;29;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1" name="Google Shape;31;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2" name="Google Shape;32;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5" name="Google Shape;45;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9" name="Google Shape;49;p1"/>
          <p:cNvSpPr/>
          <p:nvPr/>
        </p:nvSpPr>
        <p:spPr>
          <a:xfrm>
            <a:off x="457200" y="333487"/>
            <a:ext cx="8229600" cy="618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0" name="Google Shape;50;p1"/>
          <p:cNvSpPr/>
          <p:nvPr/>
        </p:nvSpPr>
        <p:spPr>
          <a:xfrm>
            <a:off x="4561242" y="-21511"/>
            <a:ext cx="3679200" cy="6993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1" name="Google Shape;51;p1"/>
          <p:cNvSpPr/>
          <p:nvPr/>
        </p:nvSpPr>
        <p:spPr>
          <a:xfrm>
            <a:off x="4649096" y="-21510"/>
            <a:ext cx="3505200" cy="62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2" name="Google Shape;52;p1"/>
          <p:cNvSpPr txBox="1"/>
          <p:nvPr>
            <p:ph type="title"/>
          </p:nvPr>
        </p:nvSpPr>
        <p:spPr>
          <a:xfrm>
            <a:off x="1043490" y="1027664"/>
            <a:ext cx="7024800" cy="11430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
          <p:cNvSpPr txBox="1"/>
          <p:nvPr>
            <p:ph idx="1" type="body"/>
          </p:nvPr>
        </p:nvSpPr>
        <p:spPr>
          <a:xfrm>
            <a:off x="1043492" y="2323652"/>
            <a:ext cx="6777300" cy="3509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4" name="Google Shape;54;p1"/>
          <p:cNvSpPr txBox="1"/>
          <p:nvPr>
            <p:ph idx="10" type="dt"/>
          </p:nvPr>
        </p:nvSpPr>
        <p:spPr>
          <a:xfrm>
            <a:off x="5997388" y="224492"/>
            <a:ext cx="21336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5" name="Google Shape;55;p1"/>
          <p:cNvSpPr txBox="1"/>
          <p:nvPr>
            <p:ph idx="11" type="ftr"/>
          </p:nvPr>
        </p:nvSpPr>
        <p:spPr>
          <a:xfrm>
            <a:off x="4641448" y="5852160"/>
            <a:ext cx="3502200" cy="3651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6" name="Google Shape;56;p1"/>
          <p:cNvSpPr txBox="1"/>
          <p:nvPr>
            <p:ph idx="12" type="sldNum"/>
          </p:nvPr>
        </p:nvSpPr>
        <p:spPr>
          <a:xfrm>
            <a:off x="4649096" y="224491"/>
            <a:ext cx="1332300" cy="3651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5.jpg"/><Relationship Id="rId5" Type="http://schemas.openxmlformats.org/officeDocument/2006/relationships/image" Target="../media/image10.jpg"/><Relationship Id="rId6" Type="http://schemas.openxmlformats.org/officeDocument/2006/relationships/image" Target="../media/image15.gif"/><Relationship Id="rId7"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9.jpg"/><Relationship Id="rId5" Type="http://schemas.openxmlformats.org/officeDocument/2006/relationships/image" Target="../media/image11.jpg"/><Relationship Id="rId6"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jp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hyperlink" Target="http://www.youtube.com/watch?v=8y_SLtToUOA" TargetMode="External"/><Relationship Id="rId5" Type="http://schemas.openxmlformats.org/officeDocument/2006/relationships/image" Target="../media/image2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Mehz7tCxjSE" TargetMode="External"/><Relationship Id="rId4" Type="http://schemas.openxmlformats.org/officeDocument/2006/relationships/image" Target="../media/image41.jpg"/><Relationship Id="rId5" Type="http://schemas.openxmlformats.org/officeDocument/2006/relationships/hyperlink" Target="http://www.youtube.com/watch?v=i-0rSv6oxSY" TargetMode="External"/><Relationship Id="rId6" Type="http://schemas.openxmlformats.org/officeDocument/2006/relationships/image" Target="../media/image4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6.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4.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7.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www.youtube.com/watch?v=fe5kSSs83qc" TargetMode="External"/><Relationship Id="rId4" Type="http://schemas.openxmlformats.org/officeDocument/2006/relationships/image" Target="../media/image38.jpg"/><Relationship Id="rId5" Type="http://schemas.openxmlformats.org/officeDocument/2006/relationships/hyperlink" Target="http://www.youtube.com/watch?v=qIGXTJLrLf8" TargetMode="External"/><Relationship Id="rId6" Type="http://schemas.openxmlformats.org/officeDocument/2006/relationships/image" Target="../media/image3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3.jpg"/><Relationship Id="rId4" Type="http://schemas.openxmlformats.org/officeDocument/2006/relationships/image" Target="../media/image50.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https://www.bio.miami.edu/dana/dox/calico.html" TargetMode="External"/><Relationship Id="rId4" Type="http://schemas.openxmlformats.org/officeDocument/2006/relationships/image" Target="../media/image59.jpg"/><Relationship Id="rId5"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hyperlink" Target="http://www.youtube.com/watch?v=dN9SZHO6Wjg" TargetMode="External"/><Relationship Id="rId4" Type="http://schemas.openxmlformats.org/officeDocument/2006/relationships/image" Target="../media/image54.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6.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62.png"/><Relationship Id="rId6" Type="http://schemas.openxmlformats.org/officeDocument/2006/relationships/image" Target="../media/image7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9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6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www.youtube.com/watch?v=3f_eisNPpnc" TargetMode="External"/><Relationship Id="rId4" Type="http://schemas.openxmlformats.org/officeDocument/2006/relationships/image" Target="../media/image67.jpg"/><Relationship Id="rId5" Type="http://schemas.openxmlformats.org/officeDocument/2006/relationships/hyperlink" Target="http://www.youtube.com/watch?v=Y1PCwxUDTl8" TargetMode="External"/><Relationship Id="rId6" Type="http://schemas.openxmlformats.org/officeDocument/2006/relationships/image" Target="../media/image69.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hyperlink" Target="http://www.youtube.com/watch?v=Gd09V2AkZv4" TargetMode="External"/><Relationship Id="rId4" Type="http://schemas.openxmlformats.org/officeDocument/2006/relationships/image" Target="../media/image76.jpg"/><Relationship Id="rId5" Type="http://schemas.openxmlformats.org/officeDocument/2006/relationships/image" Target="../media/image6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7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7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7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7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7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7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86.png"/><Relationship Id="rId4" Type="http://schemas.openxmlformats.org/officeDocument/2006/relationships/image" Target="../media/image8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84.png"/><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87.png"/><Relationship Id="rId4" Type="http://schemas.openxmlformats.org/officeDocument/2006/relationships/image" Target="../media/image8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0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7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8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8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hyperlink" Target="http://www.youtube.com/watch?v=11s5Biyi9q4" TargetMode="External"/><Relationship Id="rId4" Type="http://schemas.openxmlformats.org/officeDocument/2006/relationships/image" Target="../media/image80.jpg"/><Relationship Id="rId5" Type="http://schemas.openxmlformats.org/officeDocument/2006/relationships/hyperlink" Target="http://www.youtube.com/watch?v=-Ztzi6pAh5M" TargetMode="External"/><Relationship Id="rId6" Type="http://schemas.openxmlformats.org/officeDocument/2006/relationships/image" Target="../media/image8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93.jpg"/><Relationship Id="rId4" Type="http://schemas.openxmlformats.org/officeDocument/2006/relationships/hyperlink" Target="https://vimeo.com/248146854"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www.youtube.com/watch?v=kp1bZEUgqVI" TargetMode="External"/><Relationship Id="rId4" Type="http://schemas.openxmlformats.org/officeDocument/2006/relationships/image" Target="../media/image9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hyperlink" Target="http://www.youtube.com/watch?v=wrtLyLwt51o" TargetMode="External"/><Relationship Id="rId4" Type="http://schemas.openxmlformats.org/officeDocument/2006/relationships/image" Target="../media/image78.jpg"/><Relationship Id="rId5" Type="http://schemas.openxmlformats.org/officeDocument/2006/relationships/image" Target="../media/image9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8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8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9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9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9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06.jpg"/><Relationship Id="rId4" Type="http://schemas.openxmlformats.org/officeDocument/2006/relationships/image" Target="../media/image10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1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99.png"/><Relationship Id="rId4" Type="http://schemas.openxmlformats.org/officeDocument/2006/relationships/image" Target="../media/image103.png"/><Relationship Id="rId5" Type="http://schemas.openxmlformats.org/officeDocument/2006/relationships/image" Target="../media/image94.png"/><Relationship Id="rId6" Type="http://schemas.openxmlformats.org/officeDocument/2006/relationships/image" Target="../media/image11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00.png"/><Relationship Id="rId4" Type="http://schemas.openxmlformats.org/officeDocument/2006/relationships/image" Target="../media/image105.png"/><Relationship Id="rId5" Type="http://schemas.openxmlformats.org/officeDocument/2006/relationships/image" Target="../media/image9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97.png"/><Relationship Id="rId4" Type="http://schemas.openxmlformats.org/officeDocument/2006/relationships/image" Target="../media/image105.png"/><Relationship Id="rId5" Type="http://schemas.openxmlformats.org/officeDocument/2006/relationships/hyperlink" Target="http://www.youtube.com/watch?v=3nimNyRfeWc" TargetMode="External"/><Relationship Id="rId6" Type="http://schemas.openxmlformats.org/officeDocument/2006/relationships/image" Target="../media/image108.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00.png"/><Relationship Id="rId4" Type="http://schemas.openxmlformats.org/officeDocument/2006/relationships/image" Target="../media/image107.png"/><Relationship Id="rId5" Type="http://schemas.openxmlformats.org/officeDocument/2006/relationships/image" Target="../media/image10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00.png"/><Relationship Id="rId4" Type="http://schemas.openxmlformats.org/officeDocument/2006/relationships/image" Target="../media/image11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hyperlink" Target="http://www.youtube.com/watch?v=TU44tR0hJ8A" TargetMode="External"/><Relationship Id="rId4" Type="http://schemas.openxmlformats.org/officeDocument/2006/relationships/image" Target="../media/image1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3"/>
          <p:cNvSpPr txBox="1"/>
          <p:nvPr/>
        </p:nvSpPr>
        <p:spPr>
          <a:xfrm>
            <a:off x="4756075" y="3193750"/>
            <a:ext cx="3000000" cy="128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CA" sz="3100">
                <a:solidFill>
                  <a:srgbClr val="38393E"/>
                </a:solidFill>
                <a:latin typeface="Verdana"/>
                <a:ea typeface="Verdana"/>
                <a:cs typeface="Verdana"/>
                <a:sym typeface="Verdana"/>
              </a:rPr>
              <a:t>UNIT C </a:t>
            </a:r>
            <a:endParaRPr b="1" sz="3100">
              <a:solidFill>
                <a:srgbClr val="38393E"/>
              </a:solidFill>
              <a:latin typeface="Verdana"/>
              <a:ea typeface="Verdana"/>
              <a:cs typeface="Verdana"/>
              <a:sym typeface="Verdana"/>
            </a:endParaRPr>
          </a:p>
          <a:p>
            <a:pPr indent="0" lvl="0" marL="0" rtl="0" algn="l">
              <a:spcBef>
                <a:spcPts val="1000"/>
              </a:spcBef>
              <a:spcAft>
                <a:spcPts val="0"/>
              </a:spcAft>
              <a:buNone/>
            </a:pPr>
            <a:r>
              <a:rPr b="1" lang="en-CA" sz="3100">
                <a:solidFill>
                  <a:srgbClr val="38393E"/>
                </a:solidFill>
                <a:latin typeface="Verdana"/>
                <a:ea typeface="Verdana"/>
                <a:cs typeface="Verdana"/>
                <a:sym typeface="Verdana"/>
              </a:rPr>
              <a:t>Chapter 17</a:t>
            </a:r>
            <a:endParaRPr b="1" sz="3100">
              <a:solidFill>
                <a:srgbClr val="38393E"/>
              </a:solidFill>
              <a:latin typeface="Verdana"/>
              <a:ea typeface="Verdana"/>
              <a:cs typeface="Verdana"/>
              <a:sym typeface="Verdana"/>
            </a:endParaRPr>
          </a:p>
          <a:p>
            <a:pPr indent="0" lvl="0" marL="0" rtl="0" algn="l">
              <a:spcBef>
                <a:spcPts val="1000"/>
              </a:spcBef>
              <a:spcAft>
                <a:spcPts val="1000"/>
              </a:spcAft>
              <a:buNone/>
            </a:pPr>
            <a:r>
              <a:rPr lang="en-CA" sz="3100">
                <a:solidFill>
                  <a:srgbClr val="38393E"/>
                </a:solidFill>
                <a:latin typeface="Verdana"/>
                <a:ea typeface="Verdana"/>
                <a:cs typeface="Verdana"/>
                <a:sym typeface="Verdana"/>
              </a:rPr>
              <a:t>Mendelian Genetics</a:t>
            </a:r>
            <a:endParaRPr sz="3100">
              <a:solidFill>
                <a:srgbClr val="38393E"/>
              </a:solidFill>
              <a:latin typeface="Verdana"/>
              <a:ea typeface="Verdana"/>
              <a:cs typeface="Verdana"/>
              <a:sym typeface="Verdana"/>
            </a:endParaRPr>
          </a:p>
        </p:txBody>
      </p:sp>
      <p:sp>
        <p:nvSpPr>
          <p:cNvPr id="260" name="Google Shape;260;p13"/>
          <p:cNvSpPr txBox="1"/>
          <p:nvPr/>
        </p:nvSpPr>
        <p:spPr>
          <a:xfrm>
            <a:off x="4756075" y="1232800"/>
            <a:ext cx="3000000" cy="25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b="1" lang="en-CA" sz="2400">
                <a:solidFill>
                  <a:srgbClr val="38393E"/>
                </a:solidFill>
                <a:latin typeface="Verdana"/>
                <a:ea typeface="Verdana"/>
                <a:cs typeface="Verdana"/>
                <a:sym typeface="Verdana"/>
              </a:rPr>
              <a:t>BIOLOGY 30</a:t>
            </a:r>
            <a:endParaRPr b="1" sz="2400">
              <a:solidFill>
                <a:srgbClr val="38393E"/>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4"/>
          <p:cNvSpPr txBox="1"/>
          <p:nvPr/>
        </p:nvSpPr>
        <p:spPr>
          <a:xfrm>
            <a:off x="827575" y="2475425"/>
            <a:ext cx="7789500" cy="3309900"/>
          </a:xfrm>
          <a:prstGeom prst="rect">
            <a:avLst/>
          </a:prstGeom>
          <a:noFill/>
          <a:ln>
            <a:noFill/>
          </a:ln>
        </p:spPr>
        <p:txBody>
          <a:bodyPr anchorCtr="0" anchor="t" bIns="45700" lIns="91425" spcFirstLastPara="1" rIns="91425" wrap="square" tIns="45700">
            <a:noAutofit/>
          </a:bodyPr>
          <a:lstStyle/>
          <a:p>
            <a:pPr indent="-319173" lvl="0" marL="342900" rtl="0" algn="l">
              <a:lnSpc>
                <a:spcPct val="115000"/>
              </a:lnSpc>
              <a:spcBef>
                <a:spcPts val="40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Genes vs. alleles</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Genotype vs. phenotype</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Autosomal dominant vs. autosomal recessive modes of inheritance</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Mendel's Law of Segregation</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Single Trait Crosses including Monohybrid crosses</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Punnett squares</a:t>
            </a:r>
            <a:endParaRPr sz="2200">
              <a:solidFill>
                <a:srgbClr val="38393E"/>
              </a:solidFill>
              <a:latin typeface="Verdana"/>
              <a:ea typeface="Verdana"/>
              <a:cs typeface="Verdana"/>
              <a:sym typeface="Verdana"/>
            </a:endParaRPr>
          </a:p>
          <a:p>
            <a:pPr indent="-319173" lvl="0" marL="342900" rtl="0" algn="l">
              <a:lnSpc>
                <a:spcPct val="115000"/>
              </a:lnSpc>
              <a:spcBef>
                <a:spcPts val="0"/>
              </a:spcBef>
              <a:spcAft>
                <a:spcPts val="0"/>
              </a:spcAft>
              <a:buClr>
                <a:srgbClr val="38393E"/>
              </a:buClr>
              <a:buSzPts val="2200"/>
              <a:buFont typeface="Verdana"/>
              <a:buChar char="○"/>
            </a:pPr>
            <a:r>
              <a:rPr lang="en-CA" sz="2200">
                <a:solidFill>
                  <a:srgbClr val="38393E"/>
                </a:solidFill>
                <a:latin typeface="Verdana"/>
                <a:ea typeface="Verdana"/>
                <a:cs typeface="Verdana"/>
                <a:sym typeface="Verdana"/>
              </a:rPr>
              <a:t>Test crosses</a:t>
            </a:r>
            <a:endParaRPr sz="2200">
              <a:solidFill>
                <a:srgbClr val="38393E"/>
              </a:solidFill>
              <a:latin typeface="Verdana"/>
              <a:ea typeface="Verdana"/>
              <a:cs typeface="Verdana"/>
              <a:sym typeface="Verdana"/>
            </a:endParaRPr>
          </a:p>
          <a:p>
            <a:pPr indent="0" lvl="0" marL="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CA" sz="2000">
                <a:solidFill>
                  <a:srgbClr val="3F3F3F"/>
                </a:solidFill>
                <a:latin typeface="Verdana"/>
                <a:ea typeface="Verdana"/>
                <a:cs typeface="Verdana"/>
                <a:sym typeface="Verdana"/>
              </a:rPr>
              <a:t>Textbook pgs. 584-591</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267" name="Google Shape;267;p14"/>
          <p:cNvSpPr txBox="1"/>
          <p:nvPr/>
        </p:nvSpPr>
        <p:spPr>
          <a:xfrm>
            <a:off x="1289275" y="151330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CA" sz="2800">
                <a:solidFill>
                  <a:srgbClr val="4D4F55"/>
                </a:solidFill>
                <a:latin typeface="Verdana"/>
                <a:ea typeface="Verdana"/>
                <a:cs typeface="Verdana"/>
                <a:sym typeface="Verdana"/>
              </a:rPr>
              <a:t>TOPIC 1: </a:t>
            </a:r>
            <a:endParaRPr b="1" sz="2800">
              <a:solidFill>
                <a:srgbClr val="4D4F55"/>
              </a:solidFill>
              <a:latin typeface="Verdana"/>
              <a:ea typeface="Verdana"/>
              <a:cs typeface="Verdana"/>
              <a:sym typeface="Verdana"/>
            </a:endParaRPr>
          </a:p>
          <a:p>
            <a:pPr indent="0" lvl="0" marL="0" rtl="0" algn="ctr">
              <a:spcBef>
                <a:spcPts val="0"/>
              </a:spcBef>
              <a:spcAft>
                <a:spcPts val="0"/>
              </a:spcAft>
              <a:buNone/>
            </a:pPr>
            <a:r>
              <a:rPr b="1" lang="en-CA" sz="2800">
                <a:solidFill>
                  <a:srgbClr val="4D4F55"/>
                </a:solidFill>
                <a:latin typeface="Verdana"/>
                <a:ea typeface="Verdana"/>
                <a:cs typeface="Verdana"/>
                <a:sym typeface="Verdana"/>
              </a:rPr>
              <a:t>Inheritance </a:t>
            </a:r>
            <a:endParaRPr sz="4000">
              <a:solidFill>
                <a:srgbClr val="4D4F55"/>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5"/>
          <p:cNvSpPr txBox="1"/>
          <p:nvPr/>
        </p:nvSpPr>
        <p:spPr>
          <a:xfrm>
            <a:off x="1331640" y="807486"/>
            <a:ext cx="6480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Selective Breeding</a:t>
            </a:r>
            <a:endParaRPr u="sng"/>
          </a:p>
        </p:txBody>
      </p:sp>
      <p:sp>
        <p:nvSpPr>
          <p:cNvPr id="273" name="Google Shape;273;p15"/>
          <p:cNvSpPr txBox="1"/>
          <p:nvPr/>
        </p:nvSpPr>
        <p:spPr>
          <a:xfrm>
            <a:off x="1007500" y="1456491"/>
            <a:ext cx="7128900" cy="8310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00000"/>
              </a:lnSpc>
              <a:spcBef>
                <a:spcPts val="0"/>
              </a:spcBef>
              <a:spcAft>
                <a:spcPts val="0"/>
              </a:spcAft>
              <a:buClr>
                <a:srgbClr val="393B3F"/>
              </a:buClr>
              <a:buSzPts val="2000"/>
              <a:buFont typeface="Verdana"/>
              <a:buChar char="●"/>
            </a:pPr>
            <a:r>
              <a:rPr lang="en-CA" sz="2000">
                <a:solidFill>
                  <a:srgbClr val="4D5156"/>
                </a:solidFill>
                <a:highlight>
                  <a:srgbClr val="FFFFFF"/>
                </a:highlight>
                <a:latin typeface="Verdana"/>
                <a:ea typeface="Verdana"/>
                <a:cs typeface="Verdana"/>
                <a:sym typeface="Verdana"/>
              </a:rPr>
              <a:t>Selective breeding (i.e. artificial selection) is the process by which humans use animal breeding and plant breeding to selectively develop desired traits</a:t>
            </a:r>
            <a:endParaRPr sz="2000">
              <a:solidFill>
                <a:srgbClr val="4D5156"/>
              </a:solidFill>
              <a:highlight>
                <a:srgbClr val="FFFFFF"/>
              </a:highlight>
              <a:latin typeface="Verdana"/>
              <a:ea typeface="Verdana"/>
              <a:cs typeface="Verdana"/>
              <a:sym typeface="Verdana"/>
            </a:endParaRPr>
          </a:p>
          <a:p>
            <a:pPr indent="-355600" lvl="0" marL="457200" marR="0" rtl="0" algn="l">
              <a:lnSpc>
                <a:spcPct val="100000"/>
              </a:lnSpc>
              <a:spcBef>
                <a:spcPts val="0"/>
              </a:spcBef>
              <a:spcAft>
                <a:spcPts val="0"/>
              </a:spcAft>
              <a:buClr>
                <a:srgbClr val="393B3F"/>
              </a:buClr>
              <a:buSzPts val="2000"/>
              <a:buFont typeface="Verdana"/>
              <a:buChar char="●"/>
            </a:pPr>
            <a:r>
              <a:rPr i="0" lang="en-CA" sz="2000" u="none" cap="none" strike="noStrike">
                <a:solidFill>
                  <a:srgbClr val="393B3F"/>
                </a:solidFill>
                <a:latin typeface="Verdana"/>
                <a:ea typeface="Verdana"/>
                <a:cs typeface="Verdana"/>
                <a:sym typeface="Verdana"/>
              </a:rPr>
              <a:t>We’ve been doing it for longer than most people realize…</a:t>
            </a:r>
            <a:endParaRPr sz="2000">
              <a:latin typeface="Verdana"/>
              <a:ea typeface="Verdana"/>
              <a:cs typeface="Verdana"/>
              <a:sym typeface="Verdana"/>
            </a:endParaRPr>
          </a:p>
        </p:txBody>
      </p:sp>
      <p:sp>
        <p:nvSpPr>
          <p:cNvPr id="274" name="Google Shape;274;p15"/>
          <p:cNvSpPr txBox="1"/>
          <p:nvPr/>
        </p:nvSpPr>
        <p:spPr>
          <a:xfrm>
            <a:off x="4176100" y="3299099"/>
            <a:ext cx="3960300" cy="3101700"/>
          </a:xfrm>
          <a:prstGeom prst="rect">
            <a:avLst/>
          </a:prstGeom>
          <a:noFill/>
          <a:ln>
            <a:noFill/>
          </a:ln>
        </p:spPr>
        <p:txBody>
          <a:bodyPr anchorCtr="0" anchor="t" bIns="45700" lIns="91425" spcFirstLastPara="1" rIns="91425" wrap="square" tIns="45700">
            <a:noAutofit/>
          </a:bodyPr>
          <a:lstStyle/>
          <a:p>
            <a:pPr indent="-444500" lvl="0" marL="45720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“Accidental” selective breeding of wheat began as early as 9000 BC in the Middle East</a:t>
            </a:r>
            <a:endParaRPr sz="1800"/>
          </a:p>
          <a:p>
            <a:pPr indent="-444500" lvl="0" marL="457200" marR="0" rtl="0" algn="l">
              <a:lnSpc>
                <a:spcPct val="100000"/>
              </a:lnSpc>
              <a:spcBef>
                <a:spcPts val="1000"/>
              </a:spcBef>
              <a:spcAft>
                <a:spcPts val="100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Farmers were able to collect and plant the seeds of one variety of wheat more easily than the other, thus “selecting for” this former strain without realizing it</a:t>
            </a:r>
            <a:endParaRPr sz="1800"/>
          </a:p>
        </p:txBody>
      </p:sp>
      <p:pic>
        <p:nvPicPr>
          <p:cNvPr id="275" name="Google Shape;275;p15"/>
          <p:cNvPicPr preferRelativeResize="0"/>
          <p:nvPr/>
        </p:nvPicPr>
        <p:blipFill rotWithShape="1">
          <a:blip r:embed="rId3">
            <a:alphaModFix/>
          </a:blip>
          <a:srcRect b="0" l="0" r="0" t="0"/>
          <a:stretch/>
        </p:blipFill>
        <p:spPr>
          <a:xfrm>
            <a:off x="1415525" y="3359000"/>
            <a:ext cx="2261576" cy="29818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6"/>
          <p:cNvSpPr txBox="1"/>
          <p:nvPr/>
        </p:nvSpPr>
        <p:spPr>
          <a:xfrm>
            <a:off x="1177391" y="2878887"/>
            <a:ext cx="7056900" cy="1323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Through an understanding of </a:t>
            </a:r>
            <a:r>
              <a:rPr b="0" i="1" lang="en-CA" sz="2000" u="none" cap="none" strike="noStrike">
                <a:solidFill>
                  <a:srgbClr val="393B3F"/>
                </a:solidFill>
                <a:latin typeface="Verdana"/>
                <a:ea typeface="Verdana"/>
                <a:cs typeface="Verdana"/>
                <a:sym typeface="Verdana"/>
              </a:rPr>
              <a:t>genetics</a:t>
            </a:r>
            <a:r>
              <a:rPr b="0" i="0" lang="en-CA" sz="2000" u="none" cap="none" strike="noStrike">
                <a:solidFill>
                  <a:srgbClr val="393B3F"/>
                </a:solidFill>
                <a:latin typeface="Verdana"/>
                <a:ea typeface="Verdana"/>
                <a:cs typeface="Verdana"/>
                <a:sym typeface="Verdana"/>
              </a:rPr>
              <a:t>, we have been able to take advantage of selective breeding, leading to the development of new varieties of organisms with desirable traits and behaviours.</a:t>
            </a:r>
            <a:endParaRPr/>
          </a:p>
        </p:txBody>
      </p:sp>
      <p:pic>
        <p:nvPicPr>
          <p:cNvPr descr="http://www.bbc.co.uk/bitesize/ks3/science/images/dogs.jpg" id="281" name="Google Shape;281;p16"/>
          <p:cNvPicPr preferRelativeResize="0"/>
          <p:nvPr/>
        </p:nvPicPr>
        <p:blipFill rotWithShape="1">
          <a:blip r:embed="rId3">
            <a:alphaModFix/>
          </a:blip>
          <a:srcRect b="0" l="0" r="0" t="0"/>
          <a:stretch/>
        </p:blipFill>
        <p:spPr>
          <a:xfrm>
            <a:off x="1974337" y="4358124"/>
            <a:ext cx="5463025" cy="2170400"/>
          </a:xfrm>
          <a:prstGeom prst="rect">
            <a:avLst/>
          </a:prstGeom>
          <a:noFill/>
          <a:ln>
            <a:noFill/>
          </a:ln>
        </p:spPr>
      </p:pic>
      <p:pic>
        <p:nvPicPr>
          <p:cNvPr id="282" name="Google Shape;282;p16"/>
          <p:cNvPicPr preferRelativeResize="0"/>
          <p:nvPr/>
        </p:nvPicPr>
        <p:blipFill>
          <a:blip r:embed="rId4">
            <a:alphaModFix/>
          </a:blip>
          <a:stretch>
            <a:fillRect/>
          </a:stretch>
        </p:blipFill>
        <p:spPr>
          <a:xfrm>
            <a:off x="3277263" y="408974"/>
            <a:ext cx="2857150" cy="2237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7"/>
          <p:cNvSpPr txBox="1"/>
          <p:nvPr/>
        </p:nvSpPr>
        <p:spPr>
          <a:xfrm>
            <a:off x="1907703" y="1013826"/>
            <a:ext cx="5688632"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Other species that are the product of selective breeding:</a:t>
            </a:r>
            <a:endParaRPr/>
          </a:p>
        </p:txBody>
      </p:sp>
      <p:pic>
        <p:nvPicPr>
          <p:cNvPr descr="http://www.danielstrading.com/wp-content/uploads/2013/05/markets_grains-oilseeds_canola_851x564.jpg" id="288" name="Google Shape;288;p17"/>
          <p:cNvPicPr preferRelativeResize="0"/>
          <p:nvPr/>
        </p:nvPicPr>
        <p:blipFill rotWithShape="1">
          <a:blip r:embed="rId3">
            <a:alphaModFix/>
          </a:blip>
          <a:srcRect b="0" l="0" r="43628" t="0"/>
          <a:stretch/>
        </p:blipFill>
        <p:spPr>
          <a:xfrm>
            <a:off x="899591" y="1798188"/>
            <a:ext cx="1872207" cy="2134867"/>
          </a:xfrm>
          <a:prstGeom prst="rect">
            <a:avLst/>
          </a:prstGeom>
          <a:noFill/>
          <a:ln>
            <a:noFill/>
          </a:ln>
        </p:spPr>
      </p:pic>
      <p:pic>
        <p:nvPicPr>
          <p:cNvPr descr="http://www.abdn.ac.uk/news/images/Krista-cow_rdax_400x600.jpg" id="289" name="Google Shape;289;p17"/>
          <p:cNvPicPr preferRelativeResize="0"/>
          <p:nvPr/>
        </p:nvPicPr>
        <p:blipFill rotWithShape="1">
          <a:blip r:embed="rId4">
            <a:alphaModFix/>
          </a:blip>
          <a:srcRect b="6800" l="0" r="0" t="10096"/>
          <a:stretch/>
        </p:blipFill>
        <p:spPr>
          <a:xfrm>
            <a:off x="5940151" y="2348880"/>
            <a:ext cx="2376263" cy="2962174"/>
          </a:xfrm>
          <a:prstGeom prst="rect">
            <a:avLst/>
          </a:prstGeom>
          <a:noFill/>
          <a:ln>
            <a:noFill/>
          </a:ln>
        </p:spPr>
      </p:pic>
      <p:pic>
        <p:nvPicPr>
          <p:cNvPr descr="http://www.tuckamorelodge.com/data/media/3/big-salmon.jpg" id="290" name="Google Shape;290;p17"/>
          <p:cNvPicPr preferRelativeResize="0"/>
          <p:nvPr/>
        </p:nvPicPr>
        <p:blipFill rotWithShape="1">
          <a:blip r:embed="rId5">
            <a:alphaModFix/>
          </a:blip>
          <a:srcRect b="9222" l="11052" r="13176" t="43259"/>
          <a:stretch/>
        </p:blipFill>
        <p:spPr>
          <a:xfrm>
            <a:off x="1259632" y="4221087"/>
            <a:ext cx="3522338" cy="1471154"/>
          </a:xfrm>
          <a:prstGeom prst="rect">
            <a:avLst/>
          </a:prstGeom>
          <a:noFill/>
          <a:ln>
            <a:noFill/>
          </a:ln>
        </p:spPr>
      </p:pic>
      <p:pic>
        <p:nvPicPr>
          <p:cNvPr descr="http://cache.wists.com/thumbnails/5/e8/5e88e9d7c4425aed19a39f64fc9f4840-orig" id="291" name="Google Shape;291;p17"/>
          <p:cNvPicPr preferRelativeResize="0"/>
          <p:nvPr/>
        </p:nvPicPr>
        <p:blipFill rotWithShape="1">
          <a:blip r:embed="rId6">
            <a:alphaModFix/>
          </a:blip>
          <a:srcRect b="7603" l="0" r="0" t="0"/>
          <a:stretch/>
        </p:blipFill>
        <p:spPr>
          <a:xfrm>
            <a:off x="2521111" y="2204864"/>
            <a:ext cx="3203016" cy="1479742"/>
          </a:xfrm>
          <a:prstGeom prst="rect">
            <a:avLst/>
          </a:prstGeom>
          <a:noFill/>
          <a:ln>
            <a:noFill/>
          </a:ln>
        </p:spPr>
      </p:pic>
      <p:pic>
        <p:nvPicPr>
          <p:cNvPr descr="http://www.motherearthnews.com/~/media/Images/MEN/Editorial/Articles/Magazine%20Articles/1972/07-01/Grow%20Your%20Own%20Corn/Corn.jpg" id="292" name="Google Shape;292;p17"/>
          <p:cNvPicPr preferRelativeResize="0"/>
          <p:nvPr/>
        </p:nvPicPr>
        <p:blipFill rotWithShape="1">
          <a:blip r:embed="rId7">
            <a:alphaModFix/>
          </a:blip>
          <a:srcRect b="0" l="0" r="0" t="0"/>
          <a:stretch/>
        </p:blipFill>
        <p:spPr>
          <a:xfrm>
            <a:off x="4211960" y="4619319"/>
            <a:ext cx="2533392" cy="168269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nvSpPr>
        <p:spPr>
          <a:xfrm>
            <a:off x="1403648" y="1196751"/>
            <a:ext cx="6336703" cy="46166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But how does it work???</a:t>
            </a:r>
            <a:endParaRPr/>
          </a:p>
        </p:txBody>
      </p:sp>
      <p:sp>
        <p:nvSpPr>
          <p:cNvPr descr="data:image/jpeg;base64,/9j/4AAQSkZJRgABAQAAAQABAAD/2wCEAAkGBxQTEhQUEhQUFBQXGBgXFhQVFRQVFxcVFBQXFxQUFBUYHCggGBwlHBQUITEhJSkrLi4uFx8zODMsNygtLisBCgoKDg0OFxAQGiwcHBwsLCwsLCwsLCwsLCwsLCwsLCwsLCwsLCwsLCwsLCwsLCwsLCwsLCwsLCw3LCwsLDcsLP/AABEIARMAtwMBIgACEQEDEQH/xAAcAAACAgMBAQAAAAAAAAAAAAAABAIDAQUHBgj/xAA+EAACAQIDBAgEBQIFBAMAAAAAAQIDEQQhMQUSQVEGBxNhcYGR8CKhscEUMkLR4XLxFSNDUoJTYnPiJCUz/8QAGQEBAQEBAQEAAAAAAAAAAAAAAAECAwQF/8QAIBEBAQACAgMAAwEAAAAAAAAAAAECERIhAzFRIkFhMv/aAAwDAQACEQMRAD8A7iAAAAAAAAAAAAAAAAAAAAAAAAAAAAAAAAAAAAAAAAAAAAAAAAAAAAAABi4GQISqJZtpacebsvVsXqbSoxbjKrTTWqc4q3jnkA2BFVFlnrp3kgAAAAAAAAAAAAAAAAAAAAACPaLmvUkAAAAAAYlKyu+AGKlRRV20lzbsvU5j016wYqUaeHafw1YzfGFS27F5OzSbv5eRoesHpYsVN06cUqcG1vv80uduMV3LXieEqmpEtbrafTPE15fFUlFJqyg3FfDHdWazvx8WaLtW3fNPW/FXKYwb7vAu7NrTyNI2mA6R4qjK8K9XTdznJ/C/05vTL5Hvei3WZNyjTrpPedt+c92K8WoOxy1QsxhU+N7euo0m31BhqqlFSTjJNXTi7ryfEtOJ9A+m1TD1I0q9TeoSyTm8ov8Ar1S8cvDU7VCV0mtGYs03EgACAAw2ajanSjCYd2q14RfK934WXEDcAeMfWbgN62/N9+67eOfvwPQ7K27h8Qv8mrCb5J5ryLo22QABBzzrK6fywUlQw6i6rV5Tl8W4npaK4+Pocd2h0nxlZydTEVpX1TqSUfKKdl5I9r1w7CdHE/iEr063H/bUirNeaSa8znU4cjpGWKe0Ki0nNPi1OS8eJv8AY/T3G4dx3a85RjpCp8SsuGeds3xPMbtuBDdbG10+lOg/Tmlj47tuzrpJuF01LnKnxa7uFz1p8kYHFTozjOnNxnFqSknmmtGjsfRnrgpSShjoOnJL/wDamnKErf7oLOLfddeBmwdUOa9aPTPs1LCYeX+ZJWqSjnup6wT4Sa9E+BpOkXWjVrPcwi7Gnnect2VSS8M4wXq9M0eHis9+Wbvk3nnxbvxExLUKq4LgJ1kxuq/G4vXi3n8zSKkXwo5X95C8Y+PiOYeXAlqxOdLIi7LiSda2rXgUOavlfw9osRhxdsjoPVz09dDcw+Jd6GkJvWl3PnD6eBz+rN+fIrlPjl3/ALls2np9VRkmk07p5prRrmglJJXeSWrZ879H+n2LwajGNTtKK0pVPiVuUZfmj4J27h7pZ1mV8XB06cfw9KStKKlvTnfVSnZWj3JeLehzsa2a6wesSVeo6WFm4UYu2/HJ1Gv1X4R5HPZVW82229Xx82QyM6FEoLkOYWpOEt6EpRkv1Rbi/VFGFXOw7F9wiuxdV3SqpiYzoV3vVKaUozb+KUb2+Lm0+PeZI9Uew1ToSxMvz1ckraQi8n33efhYCUek6Y9HY47DujKW67qUZWvaSTS8sz542vserha0qFdbsl6NPSUXxTPqM83026IU9oUkpPcqwv2dVK9r6xlzixKj5sxFG2aFrs3+2thVsLWdHER3ZLR/pkv90HxRpquHsyqokwUwkrFa1CNlSlpbjb9zZdpkv7P1NbsuLlnwNkoGp6S+xKLtlmiEF7ZKje+6+Onj3GYKxKqqpQ43/YnRgv5JyRXFAQqwSdrefNmIQ8fX6ls3xIR4v34CFQmv5fLuF35+LL6mndx73xFmzbBVuz8L/Qk53I41aP5lUJma1KZhMk3mUq70GcJQ4v5kVsMNHLNHsOgvRGWNqb8vhw0H8Urfna/04fd8BXoV0RrY+V86eHT+Krb81tY076vv0XyO6bM2fTw9KFKlFRhBWS+rb4t6tkqrcNh404RhTiowirKMVZJdyAtAyAAADWbf2DRxlPs68d5ap6OL5p8DkXSHqoxNPPDSVaHJ/DJeXE63tbpDh8PFyq1YRt+m6u3ySPLbW61sHSg3DeqztlGKsr98noWbRx3GdCsdBXlh5xWefhx8M8uZrsVsOpSUXUsrq9tXbLX1PU7b60cZiG1FxpQf6IRXzcrv6Hmqu1pVM5tyfNm5EtV7Pm5S7OnHJZuTail3uTyXmNrEWum1dcndPvTWTQjTwyknouXH14viMQ2Relfe+JPJWae7x17xSGYves1w0GJI1OGrSg7S05mxhUuuAVJ8SFlcxUmLVKl/f7EQwyCvx5i8atiypibK7LBHE1lHUTVVOzb3VfW18/f1Kt1zldj2KwkXGDV8ssn33uVFVWhVsmoSnTavvxhOUNWrOXB3TyGafRnEShCcKbanpqufPwO1dTVSNTZ0qUkmqdWcbNX+GaU8+ec5HufwVPL4I5KyyWS9ozcl0+cMH0Ex82rYeSur3dkvDudz3/Rjqns4zxs963+lHTuvL7HV0jJNrpXh6EYRUIJRjFWSWiSLAAyoAAA4bPrKxspX3oRV77u5l4XedivG9ZmOayqRj/TTivrdnj5Vrf2Kpz4m7pmRjHYyc5OVSTlJ5tyd2ITV/wCCdR3JU4+0RS+5zMPUvqa3sQpwSLKH9l/qvwSfoxqGJztw4L9zXYerm+GXyLsNHO7F7J0cxGG8+IvGkbHDS3shaUc7CFL1o6FNhqoUtcS6RVKJXON0WyJ9nzCK6FHK5GU7llWplYX3gruXUjStg6srWUqzt/xpw/c6IeY6tcOobNwySteLk++UpybfzPTmL7agAAIAAAAAAA+UZy9orlK+ROoxffNDM88iyhHJ5f2KYjUNPfIIWxHCxGMNH3FtVXMRXxNcLfNoDOGyT8CUHZkqUbU3796i6k9ANxs+qvNkq0c/fea/CT9TY1bWRYlUVff3KGidWeZVvGkEScpWSIQZDEZgU1Z5sKWbXiV1lxJYbnyzIPpnoEv/AK7Cf+KL9c/ub81/R7CdjhcPSesKVOD8YwSf0Ngc2wAAAAAAAAAHyZUnkUKJdKF2E42RpFSeYxSdxakW4WWYGVqYbyv3+/oZa1IxV/feFObnwPwNdTnZrvNhv5Ne/eZrZwz1tny5kD+HjeStmN46qlZLVZMjsiN23ytqrZmyq7KqSz3XbT36m50zrbRXfgRTzzNhU2RZ2zb8TFDZ283dMuzRJd3zLNy6Nmtl8iGLwEoq+WSva6vbS/qWVLOmklDW5veg2yvxOOoUrXi5pz/ohec/VRt5mqxUckzp3UXse86+KksopUof1StKo/RQXmyZdJj27CAAcnQAAAAAAAAAB8qKJRihiKKalJt34GkKcPeiL8OsiqcP48tS+i8mQZ4eZinrHv8A3CWi8f4MRlkn/T92UXzdmxStC0r5ci+s7t+BTi1dJvu+RFbfZ63YRa573z/gsxe3a1GpNRvapK6Ts92+Vs+FrehThpfBBd37B+FqVJRjFb6jfdeTyvo/PiXKW3pcbP29RsnaNPER+OKhPS6b1WrNhDDUYptteHhnr70PN08A6OUmlJ5uK/Ty8/4M/iW7pP5mOeU6rpxxvcIdKekEoyUKSUeN+NuRTsWnUqKVSo3aUXFLmktDOJ2R2kt6/wAXLg1wty4k5Pso2bz4K+nN++Rqy2RjqW7KxpX3ln/bX6Haepi34Ko1/wBeXyp0zilGd2/P6M7b1Lwts6/+6tUfoox+x0z9OOPt7wAA5OgAAAAAAAAAD5WiTmr5EETRoKV1q/IjR+xPElcHl798iIjOWS8/uRvZeSCpH4V5ljj8SfCyKot+X3qrhW/L8iVZ5eH2I1fyvxIq1YpbsVxSX0GMBtSVOV02r5Oztr4Gkb55om4Ra1aGV2k6bzF7ZV7XXqUR2irt5+j/AGNdS3o/lSZj8VPe0Ry4unJt47VXG68VY1+Kxm9m33W5FFSvOzySFsl4v5eJvCMZ5HMPibX8/ofRXVPhtzZeH/7t+flOpJxfpY+a4WPrHo3hVSwmHpr9FGnH0grnTK9OeM7bIAMGG2QAAAAAAAAA+WEsyckYsZRoKYnkVQ4+/fAvrRz9P3+xTHj4hFdT8hOo8kyD/LJd/wBf7EoafIipynlZlSb+JdxHGRvG/vvKcHO79++QFVy2gxetk2ZoVbMgYqRazV14Cs5Z8fUbrNNGtqoQoliGwiytInE0yfwEN6cfmfT3V/tB1tn4eTd5KPZy8abcLv0R807JjZ3fH6HaepfaLdCvRb/JNSj4TVn84/M6XH8dsTL8tOnmRV1zP4g58XTZhALduHbjibNAhb8QHbjibMgLfiAJxNvmJaEloRUsjDlb3zCoTXzKlHUnvXISkgK6kA5E4u6ISfAm1QqxunYRpvdkNOtbIQqzzCLcZTzvwYpcfc96HehKrCwE+0yIb2TIxLqULgUqJmObJVlYjF2sajNbTAPO/odG6rsW4VasV+qCfpL/ANjmeDqnveret/8AKl3039Yv7Ha38XC7ldVe0ZcjH+Iz5C/aIFNHHZyv0ytoy5A9oy5C2+g30NnK/TH+IzD/ABGZRvoxvobOV+mVtKRkUc0A2cr9cN3yE5381l4oqdTQUnWzfcZeo03x995FMjSqXLEwJQyFsTVsWTma/FSAqlPVlVzKYBDWDqXugnT4C+FlaQ9PvAXo0b+JdBWRbhVrbVGMTlw1Ghr62crEKjzLFq2UtmmF+Glme56uKl8V/wAJfY8BE991ZK1SpUfCNvV/wLlrGs5z9uo7zDfYlHHIl+NR5+cctw3vhvi8cSifboc4dLe0DtCrt0CrovOHSyVQCt10BOcOnD3ASrxafjwNi9BTEROz1qKFW33HlI1iQ3QWTAlOfeI1mW1mLyIIIyYSJRKI09TaqN0a1xzNnh+XNfQInhI5SYpip3Y9FWiISjm2IUtUyVipE8RqYSNVlmOZ0joHhNyjvP8AU7pd2lzwOz8M5zjFcX8uLOp4GEYQjFPJKxz8l604+bLU03HbRI78RBLjwItnDdebbaRqpjSdP3c1lOmt0qnPnwLOmm5/y/dzKhDn8zS9t3mY4jvLufE23EqEOfzA0c8SwHXxN/xzhoqqouuU1Tu+k11ZWY1hFzKJK41Rl8OeqARxb+KxSTrr4peP1MWIIowtSSRmMcyiyUckx5PKL95ijfwpDVNb0GA3f4TX1Y6jcZ/CharK68zWLNJVoZgy3FL8pds7AyrVVCKvfXuXFlrL1HQjZSd6k088o+HFnsKmCTWRTg8NuQUVwVvQtdRpHDJ5beVQr0XFJIjSg3lYlGo7jHbmdRliccjNSneJXCqru7JLFR4MaJSs4vWxhxyLp4hGI1ExcTcKtteADcUjBOFTcc0pyMVCreS0Js7vooQhmydFZS9CEZ2M052i375ECWJfxZEYmKzzMQAssX4alfMsoUeIzTtcoQxkLIY2ZLJotr0rpi9J7oQy45WKq6tHzLq0ims7pmsUyU143SfJHquhVJRhKds27eVk/ueVqPJI9t0Ywj7CL03m387fYnl6cfJdYt3LFEXiOYtXptFNOeWZ53l22kcQlwKqk1IS7dpXsLOtKWSyL2lp2s1zK720FajadmZjUsym16xD0Zb2tle5XGupcCDoXNcl6MfiDAi6ErgYHg7l8HkAHV9JTfMlTfwz8PuAAJyLKHAwBRs28ivDy+v3ACBrE8RNagBQ7W18hOX5WAG8WaWrPNeB0TYkn2FL+lABz8/pw8nqNnU/KURigA4z08uTNWCKY01fQwAqLqkFyI9muQAFNYKmrvJaC8lqAEW/5iyEFbQAA01PT//Z" id="299" name="Google Shape;299;p18"/>
          <p:cNvSpPr/>
          <p:nvPr/>
        </p:nvSpPr>
        <p:spPr>
          <a:xfrm>
            <a:off x="155575" y="-144463"/>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descr="data:image/jpeg;base64,/9j/4AAQSkZJRgABAQAAAQABAAD/2wCEAAkGBxQTEhQUEhQUFBQXGBgXFhQVFRQVFxcVFBQXFxQUFBUYHCggGBwlHBQUITEhJSkrLi4uFx8zODMsNygtLisBCgoKDg0OFxAQGiwcHBwsLCwsLCwsLCwsLCwsLCwsLCwsLCwsLCwsLCwsLCwsLCwsLCwsLCwsLCw3LCwsLDcsLP/AABEIARMAtwMBIgACEQEDEQH/xAAcAAACAgMBAQAAAAAAAAAAAAAABAIDAQUHBgj/xAA+EAACAQIDBAgEBQIFBAMAAAAAAQIDEQQhMQUSQVEGBxNhcYGR8CKhscEUMkLR4XLxFSNDUoJTYnPiJCUz/8QAGQEBAQEBAQEAAAAAAAAAAAAAAAECAwQF/8QAIBEBAQACAgMAAwEAAAAAAAAAAAECERIhAzFRIkFhMv/aAAwDAQACEQMRAD8A7iAAAAAAAAAAAAAAAAAAAAAAAAAAAAAAAAAAAAAAAAAAAAAAAAAAAAAABi4GQISqJZtpacebsvVsXqbSoxbjKrTTWqc4q3jnkA2BFVFlnrp3kgAAAAAAAAAAAAAAAAAAAAACPaLmvUkAAAAAAYlKyu+AGKlRRV20lzbsvU5j016wYqUaeHafw1YzfGFS27F5OzSbv5eRoesHpYsVN06cUqcG1vv80uduMV3LXieEqmpEtbrafTPE15fFUlFJqyg3FfDHdWazvx8WaLtW3fNPW/FXKYwb7vAu7NrTyNI2mA6R4qjK8K9XTdznJ/C/05vTL5Hvei3WZNyjTrpPedt+c92K8WoOxy1QsxhU+N7euo0m31BhqqlFSTjJNXTi7ryfEtOJ9A+m1TD1I0q9TeoSyTm8ov8Ar1S8cvDU7VCV0mtGYs03EgACAAw2ajanSjCYd2q14RfK934WXEDcAeMfWbgN62/N9+67eOfvwPQ7K27h8Qv8mrCb5J5ryLo22QABBzzrK6fywUlQw6i6rV5Tl8W4npaK4+Pocd2h0nxlZydTEVpX1TqSUfKKdl5I9r1w7CdHE/iEr063H/bUirNeaSa8znU4cjpGWKe0Ki0nNPi1OS8eJv8AY/T3G4dx3a85RjpCp8SsuGeds3xPMbtuBDdbG10+lOg/Tmlj47tuzrpJuF01LnKnxa7uFz1p8kYHFTozjOnNxnFqSknmmtGjsfRnrgpSShjoOnJL/wDamnKErf7oLOLfddeBmwdUOa9aPTPs1LCYeX+ZJWqSjnup6wT4Sa9E+BpOkXWjVrPcwi7Gnnect2VSS8M4wXq9M0eHis9+Wbvk3nnxbvxExLUKq4LgJ1kxuq/G4vXi3n8zSKkXwo5X95C8Y+PiOYeXAlqxOdLIi7LiSda2rXgUOavlfw9osRhxdsjoPVz09dDcw+Jd6GkJvWl3PnD6eBz+rN+fIrlPjl3/ALls2np9VRkmk07p5prRrmglJJXeSWrZ879H+n2LwajGNTtKK0pVPiVuUZfmj4J27h7pZ1mV8XB06cfw9KStKKlvTnfVSnZWj3JeLehzsa2a6wesSVeo6WFm4UYu2/HJ1Gv1X4R5HPZVW82229Xx82QyM6FEoLkOYWpOEt6EpRkv1Rbi/VFGFXOw7F9wiuxdV3SqpiYzoV3vVKaUozb+KUb2+Lm0+PeZI9Uew1ToSxMvz1ckraQi8n33efhYCUek6Y9HY47DujKW67qUZWvaSTS8sz542vserha0qFdbsl6NPSUXxTPqM83026IU9oUkpPcqwv2dVK9r6xlzixKj5sxFG2aFrs3+2thVsLWdHER3ZLR/pkv90HxRpquHsyqokwUwkrFa1CNlSlpbjb9zZdpkv7P1NbsuLlnwNkoGp6S+xKLtlmiEF7ZKje+6+Onj3GYKxKqqpQ43/YnRgv5JyRXFAQqwSdrefNmIQ8fX6ls3xIR4v34CFQmv5fLuF35+LL6mndx73xFmzbBVuz8L/Qk53I41aP5lUJma1KZhMk3mUq70GcJQ4v5kVsMNHLNHsOgvRGWNqb8vhw0H8Urfna/04fd8BXoV0RrY+V86eHT+Krb81tY076vv0XyO6bM2fTw9KFKlFRhBWS+rb4t6tkqrcNh404RhTiowirKMVZJdyAtAyAAADWbf2DRxlPs68d5ap6OL5p8DkXSHqoxNPPDSVaHJ/DJeXE63tbpDh8PFyq1YRt+m6u3ySPLbW61sHSg3DeqztlGKsr98noWbRx3GdCsdBXlh5xWefhx8M8uZrsVsOpSUXUsrq9tXbLX1PU7b60cZiG1FxpQf6IRXzcrv6Hmqu1pVM5tyfNm5EtV7Pm5S7OnHJZuTail3uTyXmNrEWum1dcndPvTWTQjTwyknouXH14viMQ2Relfe+JPJWae7x17xSGYves1w0GJI1OGrSg7S05mxhUuuAVJ8SFlcxUmLVKl/f7EQwyCvx5i8atiypibK7LBHE1lHUTVVOzb3VfW18/f1Kt1zldj2KwkXGDV8ssn33uVFVWhVsmoSnTavvxhOUNWrOXB3TyGafRnEShCcKbanpqufPwO1dTVSNTZ0qUkmqdWcbNX+GaU8+ec5HufwVPL4I5KyyWS9ozcl0+cMH0Ex82rYeSur3dkvDudz3/Rjqns4zxs963+lHTuvL7HV0jJNrpXh6EYRUIJRjFWSWiSLAAyoAAA4bPrKxspX3oRV77u5l4XedivG9ZmOayqRj/TTivrdnj5Vrf2Kpz4m7pmRjHYyc5OVSTlJ5tyd2ITV/wCCdR3JU4+0RS+5zMPUvqa3sQpwSLKH9l/qvwSfoxqGJztw4L9zXYerm+GXyLsNHO7F7J0cxGG8+IvGkbHDS3shaUc7CFL1o6FNhqoUtcS6RVKJXON0WyJ9nzCK6FHK5GU7llWplYX3gruXUjStg6srWUqzt/xpw/c6IeY6tcOobNwySteLk++UpybfzPTmL7agAAIAAAAAAA+UZy9orlK+ROoxffNDM88iyhHJ5f2KYjUNPfIIWxHCxGMNH3FtVXMRXxNcLfNoDOGyT8CUHZkqUbU3796i6k9ANxs+qvNkq0c/fea/CT9TY1bWRYlUVff3KGidWeZVvGkEScpWSIQZDEZgU1Z5sKWbXiV1lxJYbnyzIPpnoEv/AK7Cf+KL9c/ub81/R7CdjhcPSesKVOD8YwSf0Ngc2wAAAAAAAAAHyZUnkUKJdKF2E42RpFSeYxSdxakW4WWYGVqYbyv3+/oZa1IxV/feFObnwPwNdTnZrvNhv5Ne/eZrZwz1tny5kD+HjeStmN46qlZLVZMjsiN23ytqrZmyq7KqSz3XbT36m50zrbRXfgRTzzNhU2RZ2zb8TFDZ283dMuzRJd3zLNy6Nmtl8iGLwEoq+WSva6vbS/qWVLOmklDW5veg2yvxOOoUrXi5pz/ohec/VRt5mqxUckzp3UXse86+KksopUof1StKo/RQXmyZdJj27CAAcnQAAAAAAAAAB8qKJRihiKKalJt34GkKcPeiL8OsiqcP48tS+i8mQZ4eZinrHv8A3CWi8f4MRlkn/T92UXzdmxStC0r5ci+s7t+BTi1dJvu+RFbfZ63YRa573z/gsxe3a1GpNRvapK6Ts92+Vs+FrehThpfBBd37B+FqVJRjFb6jfdeTyvo/PiXKW3pcbP29RsnaNPER+OKhPS6b1WrNhDDUYptteHhnr70PN08A6OUmlJ5uK/Ty8/4M/iW7pP5mOeU6rpxxvcIdKekEoyUKSUeN+NuRTsWnUqKVSo3aUXFLmktDOJ2R2kt6/wAXLg1wty4k5Pso2bz4K+nN++Rqy2RjqW7KxpX3ln/bX6Haepi34Ko1/wBeXyp0zilGd2/P6M7b1Lwts6/+6tUfoox+x0z9OOPt7wAA5OgAAAAAAAAAD5WiTmr5EETRoKV1q/IjR+xPElcHl798iIjOWS8/uRvZeSCpH4V5ljj8SfCyKot+X3qrhW/L8iVZ5eH2I1fyvxIq1YpbsVxSX0GMBtSVOV02r5Oztr4Gkb55om4Ra1aGV2k6bzF7ZV7XXqUR2irt5+j/AGNdS3o/lSZj8VPe0Ry4unJt47VXG68VY1+Kxm9m33W5FFSvOzySFsl4v5eJvCMZ5HMPibX8/ofRXVPhtzZeH/7t+flOpJxfpY+a4WPrHo3hVSwmHpr9FGnH0grnTK9OeM7bIAMGG2QAAAAAAAAA+WEsyckYsZRoKYnkVQ4+/fAvrRz9P3+xTHj4hFdT8hOo8kyD/LJd/wBf7EoafIipynlZlSb+JdxHGRvG/vvKcHO79++QFVy2gxetk2ZoVbMgYqRazV14Cs5Z8fUbrNNGtqoQoliGwiytInE0yfwEN6cfmfT3V/tB1tn4eTd5KPZy8abcLv0R807JjZ3fH6HaepfaLdCvRb/JNSj4TVn84/M6XH8dsTL8tOnmRV1zP4g58XTZhALduHbjibNAhb8QHbjibMgLfiAJxNvmJaEloRUsjDlb3zCoTXzKlHUnvXISkgK6kA5E4u6ISfAm1QqxunYRpvdkNOtbIQqzzCLcZTzvwYpcfc96HehKrCwE+0yIb2TIxLqULgUqJmObJVlYjF2sajNbTAPO/odG6rsW4VasV+qCfpL/ANjmeDqnveret/8AKl3039Yv7Ha38XC7ldVe0ZcjH+Iz5C/aIFNHHZyv0ytoy5A9oy5C2+g30NnK/TH+IzD/ABGZRvoxvobOV+mVtKRkUc0A2cr9cN3yE5381l4oqdTQUnWzfcZeo03x995FMjSqXLEwJQyFsTVsWTma/FSAqlPVlVzKYBDWDqXugnT4C+FlaQ9PvAXo0b+JdBWRbhVrbVGMTlw1Ghr62crEKjzLFq2UtmmF+Glme56uKl8V/wAJfY8BE991ZK1SpUfCNvV/wLlrGs5z9uo7zDfYlHHIl+NR5+cctw3vhvi8cSifboc4dLe0DtCrt0CrovOHSyVQCt10BOcOnD3ASrxafjwNi9BTEROz1qKFW33HlI1iQ3QWTAlOfeI1mW1mLyIIIyYSJRKI09TaqN0a1xzNnh+XNfQInhI5SYpip3Y9FWiISjm2IUtUyVipE8RqYSNVlmOZ0joHhNyjvP8AU7pd2lzwOz8M5zjFcX8uLOp4GEYQjFPJKxz8l604+bLU03HbRI78RBLjwItnDdebbaRqpjSdP3c1lOmt0qnPnwLOmm5/y/dzKhDn8zS9t3mY4jvLufE23EqEOfzA0c8SwHXxN/xzhoqqouuU1Tu+k11ZWY1hFzKJK41Rl8OeqARxb+KxSTrr4peP1MWIIowtSSRmMcyiyUckx5PKL95ijfwpDVNb0GA3f4TX1Y6jcZ/CharK68zWLNJVoZgy3FL8pds7AyrVVCKvfXuXFlrL1HQjZSd6k088o+HFnsKmCTWRTg8NuQUVwVvQtdRpHDJ5beVQr0XFJIjSg3lYlGo7jHbmdRliccjNSneJXCqru7JLFR4MaJSs4vWxhxyLp4hGI1ExcTcKtteADcUjBOFTcc0pyMVCreS0Js7vooQhmydFZS9CEZ2M052i375ECWJfxZEYmKzzMQAssX4alfMsoUeIzTtcoQxkLIY2ZLJotr0rpi9J7oQy45WKq6tHzLq0ims7pmsUyU143SfJHquhVJRhKds27eVk/ueVqPJI9t0Ywj7CL03m387fYnl6cfJdYt3LFEXiOYtXptFNOeWZ53l22kcQlwKqk1IS7dpXsLOtKWSyL2lp2s1zK720FajadmZjUsym16xD0Zb2tle5XGupcCDoXNcl6MfiDAi6ErgYHg7l8HkAHV9JTfMlTfwz8PuAAJyLKHAwBRs28ivDy+v3ACBrE8RNagBQ7W18hOX5WAG8WaWrPNeB0TYkn2FL+lABz8/pw8nqNnU/KURigA4z08uTNWCKY01fQwAqLqkFyI9muQAFNYKmrvJaC8lqAEW/5iyEFbQAA01PT//Z" id="300" name="Google Shape;300;p18"/>
          <p:cNvSpPr/>
          <p:nvPr/>
        </p:nvSpPr>
        <p:spPr>
          <a:xfrm>
            <a:off x="307975" y="7937"/>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pic>
        <p:nvPicPr>
          <p:cNvPr descr="https://encrypted-tbn1.gstatic.com/images?q=tbn:ANd9GcTKkTJVO1BJ5ogm693lljtKblOmMegMlMr7hO9Sg8CJ-kP2ncXsCQ" id="301" name="Google Shape;301;p18"/>
          <p:cNvPicPr preferRelativeResize="0"/>
          <p:nvPr/>
        </p:nvPicPr>
        <p:blipFill rotWithShape="1">
          <a:blip r:embed="rId3">
            <a:alphaModFix/>
          </a:blip>
          <a:srcRect b="0" l="0" r="0" t="0"/>
          <a:stretch/>
        </p:blipFill>
        <p:spPr>
          <a:xfrm>
            <a:off x="804358" y="2204864"/>
            <a:ext cx="1594166" cy="1451709"/>
          </a:xfrm>
          <a:prstGeom prst="rect">
            <a:avLst/>
          </a:prstGeom>
          <a:noFill/>
          <a:ln>
            <a:noFill/>
          </a:ln>
        </p:spPr>
      </p:pic>
      <p:pic>
        <p:nvPicPr>
          <p:cNvPr descr="http://www.pageresource.com/wallpapers/wallpaper/white-horse-million_162744.jpg" id="302" name="Google Shape;302;p18"/>
          <p:cNvPicPr preferRelativeResize="0"/>
          <p:nvPr/>
        </p:nvPicPr>
        <p:blipFill rotWithShape="1">
          <a:blip r:embed="rId4">
            <a:alphaModFix/>
          </a:blip>
          <a:srcRect b="0" l="0" r="0" t="0"/>
          <a:stretch/>
        </p:blipFill>
        <p:spPr>
          <a:xfrm>
            <a:off x="3178408" y="2276872"/>
            <a:ext cx="1800198" cy="1350149"/>
          </a:xfrm>
          <a:prstGeom prst="rect">
            <a:avLst/>
          </a:prstGeom>
          <a:noFill/>
          <a:ln>
            <a:noFill/>
          </a:ln>
        </p:spPr>
      </p:pic>
      <p:pic>
        <p:nvPicPr>
          <p:cNvPr descr="http://www.cloud9walkers.com/EmmaLou083110b.jpg" id="303" name="Google Shape;303;p18"/>
          <p:cNvPicPr preferRelativeResize="0"/>
          <p:nvPr/>
        </p:nvPicPr>
        <p:blipFill rotWithShape="1">
          <a:blip r:embed="rId5">
            <a:alphaModFix/>
          </a:blip>
          <a:srcRect b="8484" l="0" r="0" t="0"/>
          <a:stretch/>
        </p:blipFill>
        <p:spPr>
          <a:xfrm>
            <a:off x="5771773" y="2276872"/>
            <a:ext cx="1559523" cy="1350149"/>
          </a:xfrm>
          <a:prstGeom prst="rect">
            <a:avLst/>
          </a:prstGeom>
          <a:noFill/>
          <a:ln>
            <a:noFill/>
          </a:ln>
        </p:spPr>
      </p:pic>
      <p:sp>
        <p:nvSpPr>
          <p:cNvPr id="304" name="Google Shape;304;p18"/>
          <p:cNvSpPr/>
          <p:nvPr/>
        </p:nvSpPr>
        <p:spPr>
          <a:xfrm>
            <a:off x="782799" y="2204864"/>
            <a:ext cx="1615726" cy="1451709"/>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05" name="Google Shape;305;p18"/>
          <p:cNvSpPr/>
          <p:nvPr/>
        </p:nvSpPr>
        <p:spPr>
          <a:xfrm>
            <a:off x="3169175" y="2276872"/>
            <a:ext cx="1809431" cy="1379702"/>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06" name="Google Shape;306;p18"/>
          <p:cNvSpPr/>
          <p:nvPr/>
        </p:nvSpPr>
        <p:spPr>
          <a:xfrm>
            <a:off x="5770694" y="2276872"/>
            <a:ext cx="1560602" cy="1350149"/>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descr="https://encrypted-tbn1.gstatic.com/images?q=tbn:ANd9GcTKkTJVO1BJ5ogm693lljtKblOmMegMlMr7hO9Sg8CJ-kP2ncXsCQ" id="307" name="Google Shape;307;p18"/>
          <p:cNvPicPr preferRelativeResize="0"/>
          <p:nvPr/>
        </p:nvPicPr>
        <p:blipFill rotWithShape="1">
          <a:blip r:embed="rId3">
            <a:alphaModFix/>
          </a:blip>
          <a:srcRect b="0" l="0" r="0" t="0"/>
          <a:stretch/>
        </p:blipFill>
        <p:spPr>
          <a:xfrm>
            <a:off x="804358" y="4005064"/>
            <a:ext cx="1594166" cy="1451709"/>
          </a:xfrm>
          <a:prstGeom prst="rect">
            <a:avLst/>
          </a:prstGeom>
          <a:noFill/>
          <a:ln>
            <a:noFill/>
          </a:ln>
        </p:spPr>
      </p:pic>
      <p:pic>
        <p:nvPicPr>
          <p:cNvPr descr="http://www.pageresource.com/wallpapers/wallpaper/white-horse-million_162744.jpg" id="308" name="Google Shape;308;p18"/>
          <p:cNvPicPr preferRelativeResize="0"/>
          <p:nvPr/>
        </p:nvPicPr>
        <p:blipFill rotWithShape="1">
          <a:blip r:embed="rId4">
            <a:alphaModFix/>
          </a:blip>
          <a:srcRect b="0" l="0" r="0" t="0"/>
          <a:stretch/>
        </p:blipFill>
        <p:spPr>
          <a:xfrm>
            <a:off x="3178408" y="4106625"/>
            <a:ext cx="1800198" cy="1350149"/>
          </a:xfrm>
          <a:prstGeom prst="rect">
            <a:avLst/>
          </a:prstGeom>
          <a:noFill/>
          <a:ln>
            <a:noFill/>
          </a:ln>
        </p:spPr>
      </p:pic>
      <p:sp>
        <p:nvSpPr>
          <p:cNvPr id="309" name="Google Shape;309;p18"/>
          <p:cNvSpPr/>
          <p:nvPr/>
        </p:nvSpPr>
        <p:spPr>
          <a:xfrm>
            <a:off x="755379" y="4005064"/>
            <a:ext cx="1615726" cy="1451709"/>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10" name="Google Shape;310;p18"/>
          <p:cNvSpPr/>
          <p:nvPr/>
        </p:nvSpPr>
        <p:spPr>
          <a:xfrm>
            <a:off x="3169175" y="4056957"/>
            <a:ext cx="1809431" cy="1379702"/>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11" name="Google Shape;311;p18"/>
          <p:cNvSpPr/>
          <p:nvPr/>
        </p:nvSpPr>
        <p:spPr>
          <a:xfrm>
            <a:off x="5770694" y="4042283"/>
            <a:ext cx="1656183" cy="1350149"/>
          </a:xfrm>
          <a:prstGeom prst="rect">
            <a:avLst/>
          </a:prstGeom>
          <a:noFill/>
          <a:ln cap="flat" cmpd="sng" w="38100">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12" name="Google Shape;312;p18"/>
          <p:cNvSpPr/>
          <p:nvPr/>
        </p:nvSpPr>
        <p:spPr>
          <a:xfrm>
            <a:off x="2539566" y="2780927"/>
            <a:ext cx="422816" cy="432047"/>
          </a:xfrm>
          <a:prstGeom prst="mathPlus">
            <a:avLst>
              <a:gd fmla="val 23520" name="adj1"/>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13" name="Google Shape;313;p18"/>
          <p:cNvSpPr/>
          <p:nvPr/>
        </p:nvSpPr>
        <p:spPr>
          <a:xfrm>
            <a:off x="2561146" y="4565675"/>
            <a:ext cx="422816" cy="432047"/>
          </a:xfrm>
          <a:prstGeom prst="mathPlus">
            <a:avLst>
              <a:gd fmla="val 23520" name="adj1"/>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14" name="Google Shape;314;p18"/>
          <p:cNvSpPr/>
          <p:nvPr/>
        </p:nvSpPr>
        <p:spPr>
          <a:xfrm>
            <a:off x="5122623" y="2780927"/>
            <a:ext cx="432047" cy="426273"/>
          </a:xfrm>
          <a:prstGeom prst="mathEqual">
            <a:avLst>
              <a:gd fmla="val 23520" name="adj1"/>
              <a:gd fmla="val 11760" name="adj2"/>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315" name="Google Shape;315;p18"/>
          <p:cNvSpPr/>
          <p:nvPr/>
        </p:nvSpPr>
        <p:spPr>
          <a:xfrm>
            <a:off x="5122623" y="4598723"/>
            <a:ext cx="432047" cy="426273"/>
          </a:xfrm>
          <a:prstGeom prst="mathEqual">
            <a:avLst>
              <a:gd fmla="val 23520" name="adj1"/>
              <a:gd fmla="val 11760" name="adj2"/>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pic>
        <p:nvPicPr>
          <p:cNvPr descr="http://ak0.picdn.net/shutterstock/videos/3855458/preview/stock-footage-brown-horse-eating-grass-on-the-field-under-the-warm-evening-sun.jpg" id="316" name="Google Shape;316;p18"/>
          <p:cNvPicPr preferRelativeResize="0"/>
          <p:nvPr/>
        </p:nvPicPr>
        <p:blipFill rotWithShape="1">
          <a:blip r:embed="rId6">
            <a:alphaModFix/>
          </a:blip>
          <a:srcRect b="0" l="33164" r="0" t="0"/>
          <a:stretch/>
        </p:blipFill>
        <p:spPr>
          <a:xfrm>
            <a:off x="5843782" y="4077071"/>
            <a:ext cx="1511088" cy="1285807"/>
          </a:xfrm>
          <a:prstGeom prst="rect">
            <a:avLst/>
          </a:prstGeom>
          <a:noFill/>
          <a:ln>
            <a:noFill/>
          </a:ln>
        </p:spPr>
      </p:pic>
      <p:sp>
        <p:nvSpPr>
          <p:cNvPr id="317" name="Google Shape;317;p18"/>
          <p:cNvSpPr txBox="1"/>
          <p:nvPr/>
        </p:nvSpPr>
        <p:spPr>
          <a:xfrm rot="1094957">
            <a:off x="7663949" y="4027028"/>
            <a:ext cx="1008111" cy="15696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400"/>
              <a:buFont typeface="Verdana"/>
              <a:buNone/>
            </a:pPr>
            <a:r>
              <a:rPr b="1" i="0" lang="en-CA" sz="9600" u="none" cap="none" strike="noStrike">
                <a:solidFill>
                  <a:srgbClr val="393B3F"/>
                </a:solidFill>
                <a:latin typeface="Verdana"/>
                <a:ea typeface="Verdana"/>
                <a:cs typeface="Verdana"/>
                <a:sym typeface="Verdana"/>
              </a:rPr>
              <a:t>?</a:t>
            </a:r>
            <a:endParaRPr/>
          </a:p>
        </p:txBody>
      </p:sp>
      <p:sp>
        <p:nvSpPr>
          <p:cNvPr id="318" name="Google Shape;318;p18"/>
          <p:cNvSpPr txBox="1"/>
          <p:nvPr/>
        </p:nvSpPr>
        <p:spPr>
          <a:xfrm rot="-1068677">
            <a:off x="7452203" y="1572434"/>
            <a:ext cx="1008112" cy="15696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400"/>
              <a:buFont typeface="Verdana"/>
              <a:buNone/>
            </a:pPr>
            <a:r>
              <a:rPr b="1" i="0" lang="en-CA" sz="9600" u="none" cap="none" strike="noStrike">
                <a:solidFill>
                  <a:srgbClr val="393B3F"/>
                </a:solidFill>
                <a:latin typeface="Verdana"/>
                <a:ea typeface="Verdana"/>
                <a:cs typeface="Verdana"/>
                <a:sym typeface="Verdana"/>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nvSpPr>
        <p:spPr>
          <a:xfrm>
            <a:off x="539552" y="1568986"/>
            <a:ext cx="8064896" cy="144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50"/>
              <a:buFont typeface="Verdana"/>
              <a:buNone/>
            </a:pPr>
            <a:r>
              <a:rPr b="0" i="0" lang="en-CA" sz="1800" u="none" cap="none" strike="noStrike">
                <a:solidFill>
                  <a:srgbClr val="393B3F"/>
                </a:solidFill>
                <a:latin typeface="Verdana"/>
                <a:ea typeface="Verdana"/>
                <a:cs typeface="Verdana"/>
                <a:sym typeface="Verdana"/>
              </a:rPr>
              <a:t>Traits are determined by specific </a:t>
            </a:r>
            <a:r>
              <a:rPr b="1" i="1" lang="en-CA" sz="1800" u="none" cap="none" strike="noStrike">
                <a:solidFill>
                  <a:srgbClr val="393B3F"/>
                </a:solidFill>
                <a:latin typeface="Verdana"/>
                <a:ea typeface="Verdana"/>
                <a:cs typeface="Verdana"/>
                <a:sym typeface="Verdana"/>
              </a:rPr>
              <a:t>genes</a:t>
            </a:r>
            <a:r>
              <a:rPr lang="en-CA" sz="1800">
                <a:solidFill>
                  <a:srgbClr val="393B3F"/>
                </a:solidFill>
                <a:latin typeface="Verdana"/>
                <a:ea typeface="Verdana"/>
                <a:cs typeface="Verdana"/>
                <a:sym typeface="Verdana"/>
              </a:rPr>
              <a:t>, or segments of DNA</a:t>
            </a:r>
            <a:r>
              <a:rPr b="0" i="0" lang="en-CA" sz="1800" u="none" cap="none" strike="noStrike">
                <a:solidFill>
                  <a:srgbClr val="393B3F"/>
                </a:solidFill>
                <a:latin typeface="Verdana"/>
                <a:ea typeface="Verdana"/>
                <a:cs typeface="Verdana"/>
                <a:sym typeface="Verdana"/>
              </a:rPr>
              <a:t>. Different variations of genes are known as </a:t>
            </a:r>
            <a:r>
              <a:rPr b="1" i="1" lang="en-CA" sz="1800" cap="none" strike="noStrike">
                <a:solidFill>
                  <a:srgbClr val="393B3F"/>
                </a:solidFill>
                <a:latin typeface="Verdana"/>
                <a:ea typeface="Verdana"/>
                <a:cs typeface="Verdana"/>
                <a:sym typeface="Verdana"/>
              </a:rPr>
              <a:t>alleles</a:t>
            </a:r>
            <a:r>
              <a:rPr b="0" i="0" lang="en-CA" sz="1800" u="none" cap="none" strike="noStrike">
                <a:solidFill>
                  <a:srgbClr val="393B3F"/>
                </a:solidFill>
                <a:latin typeface="Verdana"/>
                <a:ea typeface="Verdana"/>
                <a:cs typeface="Verdana"/>
                <a:sym typeface="Verdana"/>
              </a:rPr>
              <a:t>. In most cases, one allele is </a:t>
            </a:r>
            <a:r>
              <a:rPr lang="en-CA" sz="1800" u="none" cap="none" strike="noStrike">
                <a:solidFill>
                  <a:srgbClr val="393B3F"/>
                </a:solidFill>
                <a:latin typeface="Verdana"/>
                <a:ea typeface="Verdana"/>
                <a:cs typeface="Verdana"/>
                <a:sym typeface="Verdana"/>
              </a:rPr>
              <a:t>dominant </a:t>
            </a:r>
            <a:r>
              <a:rPr b="0" i="0" lang="en-CA" sz="1800" u="none" cap="none" strike="noStrike">
                <a:solidFill>
                  <a:srgbClr val="393B3F"/>
                </a:solidFill>
                <a:latin typeface="Verdana"/>
                <a:ea typeface="Verdana"/>
                <a:cs typeface="Verdana"/>
                <a:sym typeface="Verdana"/>
              </a:rPr>
              <a:t>over the other, influencing the way such genes are expressed…</a:t>
            </a:r>
            <a:endParaRPr b="0" i="0" sz="1800" u="none" cap="none" strike="noStrike">
              <a:solidFill>
                <a:srgbClr val="393B3F"/>
              </a:solidFill>
              <a:latin typeface="Verdana"/>
              <a:ea typeface="Verdana"/>
              <a:cs typeface="Verdana"/>
              <a:sym typeface="Verdana"/>
            </a:endParaRPr>
          </a:p>
          <a:p>
            <a:pPr indent="-342900" lvl="0" marL="457200" marR="0" rtl="0" algn="l">
              <a:lnSpc>
                <a:spcPct val="100000"/>
              </a:lnSpc>
              <a:spcBef>
                <a:spcPts val="100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The </a:t>
            </a:r>
            <a:r>
              <a:rPr b="1" lang="en-CA" sz="1800">
                <a:solidFill>
                  <a:srgbClr val="393B3F"/>
                </a:solidFill>
                <a:latin typeface="Verdana"/>
                <a:ea typeface="Verdana"/>
                <a:cs typeface="Verdana"/>
                <a:sym typeface="Verdana"/>
              </a:rPr>
              <a:t>dominant </a:t>
            </a:r>
            <a:r>
              <a:rPr lang="en-CA" sz="1800">
                <a:solidFill>
                  <a:srgbClr val="393B3F"/>
                </a:solidFill>
                <a:latin typeface="Verdana"/>
                <a:ea typeface="Verdana"/>
                <a:cs typeface="Verdana"/>
                <a:sym typeface="Verdana"/>
              </a:rPr>
              <a:t>allele (represented by capital letter) is </a:t>
            </a:r>
            <a:r>
              <a:rPr b="1" lang="en-CA" sz="1800">
                <a:solidFill>
                  <a:srgbClr val="393B3F"/>
                </a:solidFill>
                <a:latin typeface="Verdana"/>
                <a:ea typeface="Verdana"/>
                <a:cs typeface="Verdana"/>
                <a:sym typeface="Verdana"/>
              </a:rPr>
              <a:t>always expressed when present</a:t>
            </a:r>
            <a:endParaRPr b="1" sz="1800">
              <a:solidFill>
                <a:srgbClr val="393B3F"/>
              </a:solidFill>
              <a:latin typeface="Verdana"/>
              <a:ea typeface="Verdana"/>
              <a:cs typeface="Verdana"/>
              <a:sym typeface="Verdana"/>
            </a:endParaRPr>
          </a:p>
          <a:p>
            <a:pPr indent="-342900" lvl="0" marL="457200" marR="0" rtl="0" algn="l">
              <a:lnSpc>
                <a:spcPct val="100000"/>
              </a:lnSpc>
              <a:spcBef>
                <a:spcPts val="1000"/>
              </a:spcBef>
              <a:spcAft>
                <a:spcPts val="1000"/>
              </a:spcAft>
              <a:buClr>
                <a:srgbClr val="393B3F"/>
              </a:buClr>
              <a:buSzPts val="1800"/>
              <a:buFont typeface="Verdana"/>
              <a:buChar char="➢"/>
            </a:pPr>
            <a:r>
              <a:rPr lang="en-CA" sz="1800">
                <a:solidFill>
                  <a:srgbClr val="393B3F"/>
                </a:solidFill>
                <a:latin typeface="Verdana"/>
                <a:ea typeface="Verdana"/>
                <a:cs typeface="Verdana"/>
                <a:sym typeface="Verdana"/>
              </a:rPr>
              <a:t>A </a:t>
            </a:r>
            <a:r>
              <a:rPr b="1" lang="en-CA" sz="1800">
                <a:solidFill>
                  <a:srgbClr val="393B3F"/>
                </a:solidFill>
                <a:latin typeface="Verdana"/>
                <a:ea typeface="Verdana"/>
                <a:cs typeface="Verdana"/>
                <a:sym typeface="Verdana"/>
              </a:rPr>
              <a:t>recessive </a:t>
            </a:r>
            <a:r>
              <a:rPr lang="en-CA" sz="1800">
                <a:solidFill>
                  <a:srgbClr val="393B3F"/>
                </a:solidFill>
                <a:latin typeface="Verdana"/>
                <a:ea typeface="Verdana"/>
                <a:cs typeface="Verdana"/>
                <a:sym typeface="Verdana"/>
              </a:rPr>
              <a:t>allele (represented by </a:t>
            </a:r>
            <a:r>
              <a:rPr lang="en-CA" sz="1800">
                <a:solidFill>
                  <a:srgbClr val="393B3F"/>
                </a:solidFill>
                <a:latin typeface="Verdana"/>
                <a:ea typeface="Verdana"/>
                <a:cs typeface="Verdana"/>
                <a:sym typeface="Verdana"/>
              </a:rPr>
              <a:t>lowercase</a:t>
            </a:r>
            <a:r>
              <a:rPr lang="en-CA" sz="1800">
                <a:solidFill>
                  <a:srgbClr val="393B3F"/>
                </a:solidFill>
                <a:latin typeface="Verdana"/>
                <a:ea typeface="Verdana"/>
                <a:cs typeface="Verdana"/>
                <a:sym typeface="Verdana"/>
              </a:rPr>
              <a:t> letter) is only </a:t>
            </a:r>
            <a:r>
              <a:rPr b="1" lang="en-CA" sz="1800">
                <a:solidFill>
                  <a:srgbClr val="393B3F"/>
                </a:solidFill>
                <a:latin typeface="Verdana"/>
                <a:ea typeface="Verdana"/>
                <a:cs typeface="Verdana"/>
                <a:sym typeface="Verdana"/>
              </a:rPr>
              <a:t>expressed in the absence of the dominant allele. </a:t>
            </a:r>
            <a:endParaRPr b="1" sz="1800">
              <a:solidFill>
                <a:srgbClr val="393B3F"/>
              </a:solidFill>
              <a:latin typeface="Verdana"/>
              <a:ea typeface="Verdana"/>
              <a:cs typeface="Verdana"/>
              <a:sym typeface="Verdana"/>
            </a:endParaRPr>
          </a:p>
        </p:txBody>
      </p:sp>
      <p:pic>
        <p:nvPicPr>
          <p:cNvPr descr="http://images.sciencedaily.com/2008/01/080130170343-large.jpg" id="324" name="Google Shape;324;p19"/>
          <p:cNvPicPr preferRelativeResize="0"/>
          <p:nvPr/>
        </p:nvPicPr>
        <p:blipFill rotWithShape="1">
          <a:blip r:embed="rId3">
            <a:alphaModFix/>
          </a:blip>
          <a:srcRect b="0" l="0" r="0" t="0"/>
          <a:stretch/>
        </p:blipFill>
        <p:spPr>
          <a:xfrm>
            <a:off x="5312252" y="4153647"/>
            <a:ext cx="2167100" cy="1449003"/>
          </a:xfrm>
          <a:prstGeom prst="rect">
            <a:avLst/>
          </a:prstGeom>
          <a:noFill/>
          <a:ln>
            <a:noFill/>
          </a:ln>
        </p:spPr>
      </p:pic>
      <p:pic>
        <p:nvPicPr>
          <p:cNvPr descr="http://blogs.scientificamerican.com/science-sushi/files/2013/01/brown_eye.jpg" id="325" name="Google Shape;325;p19"/>
          <p:cNvPicPr preferRelativeResize="0"/>
          <p:nvPr/>
        </p:nvPicPr>
        <p:blipFill rotWithShape="1">
          <a:blip r:embed="rId4">
            <a:alphaModFix/>
          </a:blip>
          <a:srcRect b="0" l="0" r="0" t="0"/>
          <a:stretch/>
        </p:blipFill>
        <p:spPr>
          <a:xfrm>
            <a:off x="1558100" y="4091302"/>
            <a:ext cx="2167105" cy="1446550"/>
          </a:xfrm>
          <a:prstGeom prst="rect">
            <a:avLst/>
          </a:prstGeom>
          <a:noFill/>
          <a:ln>
            <a:noFill/>
          </a:ln>
        </p:spPr>
      </p:pic>
      <p:sp>
        <p:nvSpPr>
          <p:cNvPr id="326" name="Google Shape;326;p19"/>
          <p:cNvSpPr txBox="1"/>
          <p:nvPr/>
        </p:nvSpPr>
        <p:spPr>
          <a:xfrm>
            <a:off x="725675" y="5601425"/>
            <a:ext cx="7775400" cy="7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The allele that encodes brown eyes </a:t>
            </a:r>
            <a:r>
              <a:rPr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 for example, is dominant over the recessive allele that encodes blue eyes (b). </a:t>
            </a:r>
            <a:endParaRPr sz="1200"/>
          </a:p>
        </p:txBody>
      </p:sp>
      <p:sp>
        <p:nvSpPr>
          <p:cNvPr id="327" name="Google Shape;327;p19"/>
          <p:cNvSpPr txBox="1"/>
          <p:nvPr/>
        </p:nvSpPr>
        <p:spPr>
          <a:xfrm>
            <a:off x="1403648" y="1012666"/>
            <a:ext cx="6336703" cy="40010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sng" cap="none" strike="noStrike">
                <a:solidFill>
                  <a:srgbClr val="393B3F"/>
                </a:solidFill>
                <a:latin typeface="Verdana"/>
                <a:ea typeface="Verdana"/>
                <a:cs typeface="Verdana"/>
                <a:sym typeface="Verdana"/>
              </a:rPr>
              <a:t>GENES, ALLELES AND TRAITS</a:t>
            </a:r>
            <a:endParaRPr u="sng"/>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p:nvPr/>
        </p:nvSpPr>
        <p:spPr>
          <a:xfrm>
            <a:off x="607575" y="3030250"/>
            <a:ext cx="7920900" cy="1371600"/>
          </a:xfrm>
          <a:prstGeom prst="rect">
            <a:avLst/>
          </a:prstGeom>
          <a:solidFill>
            <a:schemeClr val="lt1"/>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333" name="Google Shape;333;p20"/>
          <p:cNvSpPr txBox="1"/>
          <p:nvPr/>
        </p:nvSpPr>
        <p:spPr>
          <a:xfrm>
            <a:off x="589425" y="1732675"/>
            <a:ext cx="7983600" cy="33141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00000"/>
              </a:lnSpc>
              <a:spcBef>
                <a:spcPts val="0"/>
              </a:spcBef>
              <a:spcAft>
                <a:spcPts val="0"/>
              </a:spcAft>
              <a:buClr>
                <a:srgbClr val="393B3F"/>
              </a:buClr>
              <a:buSzPts val="1900"/>
              <a:buFont typeface="Verdana"/>
              <a:buChar char="➢"/>
            </a:pPr>
            <a:r>
              <a:rPr b="0" i="0" lang="en-CA" sz="1900" u="none" cap="none" strike="noStrike">
                <a:solidFill>
                  <a:srgbClr val="393B3F"/>
                </a:solidFill>
                <a:latin typeface="Verdana"/>
                <a:ea typeface="Verdana"/>
                <a:cs typeface="Verdana"/>
                <a:sym typeface="Verdana"/>
              </a:rPr>
              <a:t>This means that although we receive genes from both parents, our characteristics are </a:t>
            </a:r>
            <a:r>
              <a:rPr lang="en-CA" sz="1900">
                <a:solidFill>
                  <a:srgbClr val="393B3F"/>
                </a:solidFill>
                <a:latin typeface="Verdana"/>
                <a:ea typeface="Verdana"/>
                <a:cs typeface="Verdana"/>
                <a:sym typeface="Verdana"/>
              </a:rPr>
              <a:t>NOT</a:t>
            </a:r>
            <a:r>
              <a:rPr b="0" i="0" lang="en-CA" sz="1900" u="none" cap="none" strike="noStrike">
                <a:solidFill>
                  <a:srgbClr val="393B3F"/>
                </a:solidFill>
                <a:latin typeface="Verdana"/>
                <a:ea typeface="Verdana"/>
                <a:cs typeface="Verdana"/>
                <a:sym typeface="Verdana"/>
              </a:rPr>
              <a:t> determined by the “blending” of our parents traits</a:t>
            </a:r>
            <a:r>
              <a:rPr lang="en-CA" sz="1900">
                <a:solidFill>
                  <a:srgbClr val="393B3F"/>
                </a:solidFill>
                <a:latin typeface="Verdana"/>
                <a:ea typeface="Verdana"/>
                <a:cs typeface="Verdana"/>
                <a:sym typeface="Verdana"/>
              </a:rPr>
              <a:t>. It is determined by the dominant vs. recessive interaction of the alleles we </a:t>
            </a:r>
            <a:r>
              <a:rPr lang="en-CA" sz="1900">
                <a:solidFill>
                  <a:srgbClr val="393B3F"/>
                </a:solidFill>
                <a:latin typeface="Verdana"/>
                <a:ea typeface="Verdana"/>
                <a:cs typeface="Verdana"/>
                <a:sym typeface="Verdana"/>
              </a:rPr>
              <a:t>receive.</a:t>
            </a:r>
            <a:r>
              <a:rPr lang="en-CA" sz="1900">
                <a:solidFill>
                  <a:srgbClr val="393B3F"/>
                </a:solidFill>
                <a:latin typeface="Verdana"/>
                <a:ea typeface="Verdana"/>
                <a:cs typeface="Verdana"/>
                <a:sym typeface="Verdana"/>
              </a:rPr>
              <a:t> </a:t>
            </a:r>
            <a:endParaRPr b="0" i="0" sz="1900" u="none" cap="none" strike="noStrike">
              <a:solidFill>
                <a:srgbClr val="393B3F"/>
              </a:solidFill>
              <a:latin typeface="Verdana"/>
              <a:ea typeface="Verdana"/>
              <a:cs typeface="Verdana"/>
              <a:sym typeface="Verdana"/>
            </a:endParaRPr>
          </a:p>
          <a:p>
            <a:pPr indent="-349250" lvl="0" marL="457200" marR="0" rtl="0" algn="l">
              <a:lnSpc>
                <a:spcPct val="100000"/>
              </a:lnSpc>
              <a:spcBef>
                <a:spcPts val="1000"/>
              </a:spcBef>
              <a:spcAft>
                <a:spcPts val="0"/>
              </a:spcAft>
              <a:buClr>
                <a:srgbClr val="393B3F"/>
              </a:buClr>
              <a:buSzPts val="1900"/>
              <a:buFont typeface="Verdana"/>
              <a:buChar char="➢"/>
            </a:pPr>
            <a:r>
              <a:rPr b="1" lang="en-CA" sz="1900">
                <a:solidFill>
                  <a:srgbClr val="393B3F"/>
                </a:solidFill>
                <a:latin typeface="Verdana"/>
                <a:ea typeface="Verdana"/>
                <a:cs typeface="Verdana"/>
                <a:sym typeface="Verdana"/>
              </a:rPr>
              <a:t>Phenotype</a:t>
            </a:r>
            <a:r>
              <a:rPr lang="en-CA" sz="1900">
                <a:solidFill>
                  <a:srgbClr val="393B3F"/>
                </a:solidFill>
                <a:latin typeface="Verdana"/>
                <a:ea typeface="Verdana"/>
                <a:cs typeface="Verdana"/>
                <a:sym typeface="Verdana"/>
              </a:rPr>
              <a:t> refers to the </a:t>
            </a:r>
            <a:r>
              <a:rPr b="1" lang="en-CA" sz="1900">
                <a:solidFill>
                  <a:srgbClr val="393B3F"/>
                </a:solidFill>
                <a:latin typeface="Verdana"/>
                <a:ea typeface="Verdana"/>
                <a:cs typeface="Verdana"/>
                <a:sym typeface="Verdana"/>
              </a:rPr>
              <a:t>outward expressio</a:t>
            </a:r>
            <a:r>
              <a:rPr lang="en-CA" sz="1900">
                <a:solidFill>
                  <a:srgbClr val="393B3F"/>
                </a:solidFill>
                <a:latin typeface="Verdana"/>
                <a:ea typeface="Verdana"/>
                <a:cs typeface="Verdana"/>
                <a:sym typeface="Verdana"/>
              </a:rPr>
              <a:t>n of traits. For example, having brown eyes or having blue eyes.</a:t>
            </a:r>
            <a:endParaRPr sz="1900">
              <a:solidFill>
                <a:srgbClr val="393B3F"/>
              </a:solidFill>
              <a:latin typeface="Verdana"/>
              <a:ea typeface="Verdana"/>
              <a:cs typeface="Verdana"/>
              <a:sym typeface="Verdana"/>
            </a:endParaRPr>
          </a:p>
          <a:p>
            <a:pPr indent="-349250" lvl="0" marL="457200" marR="0" rtl="0" algn="l">
              <a:lnSpc>
                <a:spcPct val="100000"/>
              </a:lnSpc>
              <a:spcBef>
                <a:spcPts val="1000"/>
              </a:spcBef>
              <a:spcAft>
                <a:spcPts val="0"/>
              </a:spcAft>
              <a:buClr>
                <a:srgbClr val="393B3F"/>
              </a:buClr>
              <a:buSzPts val="1900"/>
              <a:buFont typeface="Verdana"/>
              <a:buChar char="➢"/>
            </a:pPr>
            <a:r>
              <a:rPr b="1" lang="en-CA" sz="1900">
                <a:solidFill>
                  <a:srgbClr val="393B3F"/>
                </a:solidFill>
                <a:latin typeface="Verdana"/>
                <a:ea typeface="Verdana"/>
                <a:cs typeface="Verdana"/>
                <a:sym typeface="Verdana"/>
              </a:rPr>
              <a:t>Genotype</a:t>
            </a:r>
            <a:r>
              <a:rPr lang="en-CA" sz="1900">
                <a:solidFill>
                  <a:srgbClr val="393B3F"/>
                </a:solidFill>
                <a:latin typeface="Verdana"/>
                <a:ea typeface="Verdana"/>
                <a:cs typeface="Verdana"/>
                <a:sym typeface="Verdana"/>
              </a:rPr>
              <a:t> on the other hand refers to the </a:t>
            </a:r>
            <a:r>
              <a:rPr b="1" lang="en-CA" sz="1900">
                <a:solidFill>
                  <a:srgbClr val="393B3F"/>
                </a:solidFill>
                <a:latin typeface="Verdana"/>
                <a:ea typeface="Verdana"/>
                <a:cs typeface="Verdana"/>
                <a:sym typeface="Verdana"/>
              </a:rPr>
              <a:t>combination of alleles</a:t>
            </a:r>
            <a:r>
              <a:rPr lang="en-CA" sz="1900">
                <a:solidFill>
                  <a:srgbClr val="393B3F"/>
                </a:solidFill>
                <a:latin typeface="Verdana"/>
                <a:ea typeface="Verdana"/>
                <a:cs typeface="Verdana"/>
                <a:sym typeface="Verdana"/>
              </a:rPr>
              <a:t> an individual has for a given trait. </a:t>
            </a:r>
            <a:endParaRPr sz="1900">
              <a:solidFill>
                <a:srgbClr val="393B3F"/>
              </a:solidFill>
              <a:latin typeface="Verdana"/>
              <a:ea typeface="Verdana"/>
              <a:cs typeface="Verdana"/>
              <a:sym typeface="Verdana"/>
            </a:endParaRPr>
          </a:p>
          <a:p>
            <a:pPr indent="-349250" lvl="0" marL="457200" marR="0" rtl="0" algn="l">
              <a:lnSpc>
                <a:spcPct val="100000"/>
              </a:lnSpc>
              <a:spcBef>
                <a:spcPts val="1000"/>
              </a:spcBef>
              <a:spcAft>
                <a:spcPts val="0"/>
              </a:spcAft>
              <a:buClr>
                <a:srgbClr val="393B3F"/>
              </a:buClr>
              <a:buSzPts val="1900"/>
              <a:buFont typeface="Verdana"/>
              <a:buChar char="➢"/>
            </a:pPr>
            <a:r>
              <a:rPr lang="en-CA" sz="1900">
                <a:solidFill>
                  <a:srgbClr val="393B3F"/>
                </a:solidFill>
                <a:latin typeface="Verdana"/>
                <a:ea typeface="Verdana"/>
                <a:cs typeface="Verdana"/>
                <a:sym typeface="Verdana"/>
              </a:rPr>
              <a:t>For example, your teacher’s </a:t>
            </a:r>
            <a:r>
              <a:rPr b="1" lang="en-CA" sz="1900">
                <a:solidFill>
                  <a:srgbClr val="393B3F"/>
                </a:solidFill>
                <a:latin typeface="Verdana"/>
                <a:ea typeface="Verdana"/>
                <a:cs typeface="Verdana"/>
                <a:sym typeface="Verdana"/>
              </a:rPr>
              <a:t>genotype for eye color is ‘bb’</a:t>
            </a:r>
            <a:r>
              <a:rPr lang="en-CA" sz="1900">
                <a:solidFill>
                  <a:srgbClr val="393B3F"/>
                </a:solidFill>
                <a:latin typeface="Verdana"/>
                <a:ea typeface="Verdana"/>
                <a:cs typeface="Verdana"/>
                <a:sym typeface="Verdana"/>
              </a:rPr>
              <a:t>. Since she only has recessive alleles, this means that her </a:t>
            </a:r>
            <a:r>
              <a:rPr b="1" lang="en-CA" sz="1900">
                <a:solidFill>
                  <a:srgbClr val="393B3F"/>
                </a:solidFill>
                <a:latin typeface="Verdana"/>
                <a:ea typeface="Verdana"/>
                <a:cs typeface="Verdana"/>
                <a:sym typeface="Verdana"/>
              </a:rPr>
              <a:t>phenotype is ‘having blue eyes’</a:t>
            </a:r>
            <a:endParaRPr b="1" sz="19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None/>
            </a:pPr>
            <a:r>
              <a:t/>
            </a:r>
            <a:endParaRPr i="1" sz="1800">
              <a:solidFill>
                <a:srgbClr val="393B3F"/>
              </a:solidFill>
              <a:latin typeface="Verdana"/>
              <a:ea typeface="Verdana"/>
              <a:cs typeface="Verdana"/>
              <a:sym typeface="Verdana"/>
            </a:endParaRPr>
          </a:p>
        </p:txBody>
      </p:sp>
      <p:sp>
        <p:nvSpPr>
          <p:cNvPr id="334" name="Google Shape;334;p20"/>
          <p:cNvSpPr txBox="1"/>
          <p:nvPr/>
        </p:nvSpPr>
        <p:spPr>
          <a:xfrm>
            <a:off x="1403698" y="821666"/>
            <a:ext cx="6336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lang="en-CA" sz="2000" u="sng">
                <a:solidFill>
                  <a:srgbClr val="393B3F"/>
                </a:solidFill>
                <a:latin typeface="Verdana"/>
                <a:ea typeface="Verdana"/>
                <a:cs typeface="Verdana"/>
                <a:sym typeface="Verdana"/>
              </a:rPr>
              <a:t>PHENOTYPE VS. GENOTYPE</a:t>
            </a:r>
            <a:endParaRPr u="sng"/>
          </a:p>
        </p:txBody>
      </p:sp>
      <p:sp>
        <p:nvSpPr>
          <p:cNvPr id="335" name="Google Shape;335;p20"/>
          <p:cNvSpPr txBox="1"/>
          <p:nvPr/>
        </p:nvSpPr>
        <p:spPr>
          <a:xfrm>
            <a:off x="2851200" y="5900600"/>
            <a:ext cx="523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336" name="Google Shape;336;p20"/>
          <p:cNvSpPr txBox="1"/>
          <p:nvPr/>
        </p:nvSpPr>
        <p:spPr>
          <a:xfrm>
            <a:off x="352225" y="5702850"/>
            <a:ext cx="8866500" cy="6771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i="1" lang="en-CA" sz="1600">
                <a:solidFill>
                  <a:srgbClr val="393B3F"/>
                </a:solidFill>
                <a:latin typeface="Verdana"/>
                <a:ea typeface="Verdana"/>
                <a:cs typeface="Verdana"/>
                <a:sym typeface="Verdana"/>
              </a:rPr>
              <a:t>Note: A phenotype isn’t always a visible trait like color. It could be a behaviour or a physiological trait, such as ‘able to digest lactose’ or ‘not able to digest lactose. </a:t>
            </a:r>
            <a:endParaRPr i="1" sz="1600">
              <a:solidFill>
                <a:srgbClr val="393B3F"/>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21"/>
          <p:cNvPicPr preferRelativeResize="0"/>
          <p:nvPr/>
        </p:nvPicPr>
        <p:blipFill rotWithShape="1">
          <a:blip r:embed="rId3">
            <a:alphaModFix/>
          </a:blip>
          <a:srcRect b="0" l="0" r="0" t="0"/>
          <a:stretch/>
        </p:blipFill>
        <p:spPr>
          <a:xfrm>
            <a:off x="466300" y="941050"/>
            <a:ext cx="7893225" cy="5012300"/>
          </a:xfrm>
          <a:prstGeom prst="rect">
            <a:avLst/>
          </a:prstGeom>
          <a:noFill/>
          <a:ln>
            <a:noFill/>
          </a:ln>
        </p:spPr>
      </p:pic>
      <p:sp>
        <p:nvSpPr>
          <p:cNvPr id="342" name="Google Shape;342;p21"/>
          <p:cNvSpPr txBox="1"/>
          <p:nvPr/>
        </p:nvSpPr>
        <p:spPr>
          <a:xfrm>
            <a:off x="4615639" y="3433067"/>
            <a:ext cx="3671880" cy="230832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This child’s dad donated an allele encoding brown eyes (B). Her mom donated an allele encoding blue eyes (</a:t>
            </a:r>
            <a:r>
              <a:rPr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 Because the “brown eye” allele or “B” is dominant to the “blue eye” allele or “b”, her eyes appear brown rather than blue. </a:t>
            </a:r>
            <a:endParaRPr/>
          </a:p>
        </p:txBody>
      </p:sp>
      <p:sp>
        <p:nvSpPr>
          <p:cNvPr id="343" name="Google Shape;343;p21"/>
          <p:cNvSpPr txBox="1"/>
          <p:nvPr/>
        </p:nvSpPr>
        <p:spPr>
          <a:xfrm>
            <a:off x="886932" y="1124762"/>
            <a:ext cx="35817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CA" sz="2800">
                <a:solidFill>
                  <a:srgbClr val="393B3F"/>
                </a:solidFill>
                <a:latin typeface="Verdana"/>
                <a:ea typeface="Verdana"/>
                <a:cs typeface="Verdana"/>
                <a:sym typeface="Verdana"/>
              </a:rPr>
              <a:t>Another </a:t>
            </a:r>
            <a:r>
              <a:rPr b="1" i="0" lang="en-CA" sz="2800" u="none" cap="none" strike="noStrike">
                <a:solidFill>
                  <a:srgbClr val="393B3F"/>
                </a:solidFill>
                <a:latin typeface="Verdana"/>
                <a:ea typeface="Verdana"/>
                <a:cs typeface="Verdana"/>
                <a:sym typeface="Verdana"/>
              </a:rPr>
              <a:t>Example: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2"/>
          <p:cNvSpPr txBox="1"/>
          <p:nvPr/>
        </p:nvSpPr>
        <p:spPr>
          <a:xfrm>
            <a:off x="993274" y="4490608"/>
            <a:ext cx="6990000" cy="1938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100" u="none" cap="none" strike="noStrike">
                <a:solidFill>
                  <a:srgbClr val="393B3F"/>
                </a:solidFill>
                <a:latin typeface="Verdana"/>
                <a:ea typeface="Verdana"/>
                <a:cs typeface="Verdana"/>
                <a:sym typeface="Verdana"/>
              </a:rPr>
              <a:t>If traits are influenced by the interaction of two alleles (one from the mom, one from the dad), and one allele is always dominant over the other, how many potential allele combinations are there for each trait?</a:t>
            </a:r>
            <a:endParaRPr sz="2100"/>
          </a:p>
        </p:txBody>
      </p:sp>
      <p:pic>
        <p:nvPicPr>
          <p:cNvPr descr="http://www.broadinstitute.org/files/news/images/2011/chromosome.jpg" id="349" name="Google Shape;349;p22"/>
          <p:cNvPicPr preferRelativeResize="0"/>
          <p:nvPr/>
        </p:nvPicPr>
        <p:blipFill rotWithShape="1">
          <a:blip r:embed="rId3">
            <a:alphaModFix/>
          </a:blip>
          <a:srcRect b="0" l="0" r="0" t="0"/>
          <a:stretch/>
        </p:blipFill>
        <p:spPr>
          <a:xfrm>
            <a:off x="3109138" y="2634448"/>
            <a:ext cx="2485325" cy="1589100"/>
          </a:xfrm>
          <a:prstGeom prst="rect">
            <a:avLst/>
          </a:prstGeom>
          <a:noFill/>
          <a:ln>
            <a:noFill/>
          </a:ln>
        </p:spPr>
      </p:pic>
      <p:sp>
        <p:nvSpPr>
          <p:cNvPr id="350" name="Google Shape;350;p22"/>
          <p:cNvSpPr txBox="1"/>
          <p:nvPr/>
        </p:nvSpPr>
        <p:spPr>
          <a:xfrm>
            <a:off x="1365173" y="1124866"/>
            <a:ext cx="6336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lang="en-CA" sz="2000" u="sng">
                <a:solidFill>
                  <a:srgbClr val="393B3F"/>
                </a:solidFill>
                <a:latin typeface="Verdana"/>
                <a:ea typeface="Verdana"/>
                <a:cs typeface="Verdana"/>
                <a:sym typeface="Verdana"/>
              </a:rPr>
              <a:t>ALLELE COMBINATIONS</a:t>
            </a:r>
            <a:endParaRPr u="sng"/>
          </a:p>
        </p:txBody>
      </p:sp>
      <p:sp>
        <p:nvSpPr>
          <p:cNvPr id="351" name="Google Shape;351;p22"/>
          <p:cNvSpPr txBox="1"/>
          <p:nvPr/>
        </p:nvSpPr>
        <p:spPr>
          <a:xfrm>
            <a:off x="943500" y="1725375"/>
            <a:ext cx="7466700" cy="10503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2"/>
              </a:buClr>
              <a:buSzPts val="1900"/>
              <a:buFont typeface="Verdana"/>
              <a:buChar char="➢"/>
            </a:pPr>
            <a:r>
              <a:rPr lang="en-CA" sz="1900">
                <a:solidFill>
                  <a:schemeClr val="dk2"/>
                </a:solidFill>
                <a:latin typeface="Verdana"/>
                <a:ea typeface="Verdana"/>
                <a:cs typeface="Verdana"/>
                <a:sym typeface="Verdana"/>
              </a:rPr>
              <a:t>Homozygous</a:t>
            </a:r>
            <a:r>
              <a:rPr lang="en-CA" sz="1900">
                <a:solidFill>
                  <a:schemeClr val="dk2"/>
                </a:solidFill>
                <a:latin typeface="Verdana"/>
                <a:ea typeface="Verdana"/>
                <a:cs typeface="Verdana"/>
                <a:sym typeface="Verdana"/>
              </a:rPr>
              <a:t> - having two of the same alleles</a:t>
            </a:r>
            <a:endParaRPr sz="1900">
              <a:solidFill>
                <a:schemeClr val="dk2"/>
              </a:solidFill>
              <a:latin typeface="Verdana"/>
              <a:ea typeface="Verdana"/>
              <a:cs typeface="Verdana"/>
              <a:sym typeface="Verdana"/>
            </a:endParaRPr>
          </a:p>
          <a:p>
            <a:pPr indent="-349250" lvl="0" marL="457200" rtl="0" algn="l">
              <a:spcBef>
                <a:spcPts val="0"/>
              </a:spcBef>
              <a:spcAft>
                <a:spcPts val="0"/>
              </a:spcAft>
              <a:buClr>
                <a:schemeClr val="dk2"/>
              </a:buClr>
              <a:buSzPts val="1900"/>
              <a:buFont typeface="Verdana"/>
              <a:buChar char="➢"/>
            </a:pPr>
            <a:r>
              <a:rPr lang="en-CA" sz="1900">
                <a:solidFill>
                  <a:schemeClr val="dk2"/>
                </a:solidFill>
                <a:latin typeface="Verdana"/>
                <a:ea typeface="Verdana"/>
                <a:cs typeface="Verdana"/>
                <a:sym typeface="Verdana"/>
              </a:rPr>
              <a:t>Heterozygous - having two different alleles</a:t>
            </a:r>
            <a:endParaRPr sz="1900">
              <a:solidFill>
                <a:schemeClr val="dk2"/>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3"/>
          <p:cNvSpPr txBox="1"/>
          <p:nvPr/>
        </p:nvSpPr>
        <p:spPr>
          <a:xfrm>
            <a:off x="671325" y="2607350"/>
            <a:ext cx="5658900" cy="364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600"/>
              <a:buFont typeface="Verdana"/>
              <a:buNone/>
            </a:pPr>
            <a:r>
              <a:rPr b="1" i="0" lang="en-CA" sz="1900" cap="none" strike="noStrike">
                <a:solidFill>
                  <a:srgbClr val="393B3F"/>
                </a:solidFill>
                <a:latin typeface="Verdana"/>
                <a:ea typeface="Verdana"/>
                <a:cs typeface="Verdana"/>
                <a:sym typeface="Verdana"/>
              </a:rPr>
              <a:t>BB (homozygous dominant)</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Both parents g</a:t>
            </a:r>
            <a:r>
              <a:rPr lang="en-CA" sz="1900">
                <a:solidFill>
                  <a:srgbClr val="393B3F"/>
                </a:solidFill>
                <a:latin typeface="Verdana"/>
                <a:ea typeface="Verdana"/>
                <a:cs typeface="Verdana"/>
                <a:sym typeface="Verdana"/>
              </a:rPr>
              <a:t>ave</a:t>
            </a:r>
            <a:r>
              <a:rPr b="0" i="0" lang="en-CA" sz="1900" cap="none" strike="noStrike">
                <a:solidFill>
                  <a:srgbClr val="393B3F"/>
                </a:solidFill>
                <a:latin typeface="Verdana"/>
                <a:ea typeface="Verdana"/>
                <a:cs typeface="Verdana"/>
                <a:sym typeface="Verdana"/>
              </a:rPr>
              <a:t> a dominant allele</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Results in dominant phenotype </a:t>
            </a:r>
            <a:endParaRPr sz="1900"/>
          </a:p>
          <a:p>
            <a:pPr indent="0" lvl="0" marL="0" marR="0" rtl="0" algn="l">
              <a:lnSpc>
                <a:spcPct val="100000"/>
              </a:lnSpc>
              <a:spcBef>
                <a:spcPts val="0"/>
              </a:spcBef>
              <a:spcAft>
                <a:spcPts val="0"/>
              </a:spcAft>
              <a:buClr>
                <a:srgbClr val="000000"/>
              </a:buClr>
              <a:buSzPts val="2400"/>
              <a:buFont typeface="Arial"/>
              <a:buNone/>
            </a:pPr>
            <a:r>
              <a:t/>
            </a:r>
            <a:endParaRPr b="1" i="0" sz="1900"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rPr b="1" i="0" lang="en-CA" sz="1900" cap="none" strike="noStrike">
                <a:solidFill>
                  <a:srgbClr val="393B3F"/>
                </a:solidFill>
                <a:latin typeface="Verdana"/>
                <a:ea typeface="Verdana"/>
                <a:cs typeface="Verdana"/>
                <a:sym typeface="Verdana"/>
              </a:rPr>
              <a:t>Bb (heterozygous)</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One parent gives a dominant allele, the other parent gives a recessive allele</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Results in dominant phenotype</a:t>
            </a:r>
            <a:endParaRPr sz="1900"/>
          </a:p>
          <a:p>
            <a:pPr indent="0" lvl="0" marL="0" marR="0" rtl="0" algn="l">
              <a:lnSpc>
                <a:spcPct val="100000"/>
              </a:lnSpc>
              <a:spcBef>
                <a:spcPts val="0"/>
              </a:spcBef>
              <a:spcAft>
                <a:spcPts val="0"/>
              </a:spcAft>
              <a:buClr>
                <a:srgbClr val="000000"/>
              </a:buClr>
              <a:buSzPts val="2400"/>
              <a:buFont typeface="Arial"/>
              <a:buNone/>
            </a:pPr>
            <a:r>
              <a:t/>
            </a:r>
            <a:endParaRPr b="1" i="0" sz="1900"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rPr b="1" i="0" lang="en-CA" sz="1900" cap="none" strike="noStrike">
                <a:solidFill>
                  <a:srgbClr val="393B3F"/>
                </a:solidFill>
                <a:latin typeface="Verdana"/>
                <a:ea typeface="Verdana"/>
                <a:cs typeface="Verdana"/>
                <a:sym typeface="Verdana"/>
              </a:rPr>
              <a:t>bb (homozygous recessive)</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Both parents give a recessive allele</a:t>
            </a:r>
            <a:endParaRPr sz="1900"/>
          </a:p>
          <a:p>
            <a:pPr indent="-311150" lvl="0" marL="342900" marR="0" rtl="0" algn="l">
              <a:lnSpc>
                <a:spcPct val="100000"/>
              </a:lnSpc>
              <a:spcBef>
                <a:spcPts val="0"/>
              </a:spcBef>
              <a:spcAft>
                <a:spcPts val="0"/>
              </a:spcAft>
              <a:buClr>
                <a:srgbClr val="393B3F"/>
              </a:buClr>
              <a:buSzPts val="1900"/>
              <a:buFont typeface="Courier New"/>
              <a:buChar char="o"/>
            </a:pPr>
            <a:r>
              <a:rPr b="0" i="0" lang="en-CA" sz="1900" cap="none" strike="noStrike">
                <a:solidFill>
                  <a:srgbClr val="393B3F"/>
                </a:solidFill>
                <a:latin typeface="Verdana"/>
                <a:ea typeface="Verdana"/>
                <a:cs typeface="Verdana"/>
                <a:sym typeface="Verdana"/>
              </a:rPr>
              <a:t>Results in recessive phenotype</a:t>
            </a:r>
            <a:endParaRPr sz="1900"/>
          </a:p>
        </p:txBody>
      </p:sp>
      <p:sp>
        <p:nvSpPr>
          <p:cNvPr id="357" name="Google Shape;357;p23"/>
          <p:cNvSpPr/>
          <p:nvPr/>
        </p:nvSpPr>
        <p:spPr>
          <a:xfrm>
            <a:off x="-2437380" y="-142940"/>
            <a:ext cx="6408600" cy="420000"/>
          </a:xfrm>
          <a:prstGeom prst="rect">
            <a:avLst/>
          </a:prstGeom>
          <a:noFill/>
          <a:ln cap="flat" cmpd="sng" w="15875">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358" name="Google Shape;358;p23"/>
          <p:cNvSpPr txBox="1"/>
          <p:nvPr/>
        </p:nvSpPr>
        <p:spPr>
          <a:xfrm>
            <a:off x="716600" y="441350"/>
            <a:ext cx="8011800" cy="11760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chemeClr val="dk2"/>
                </a:solidFill>
                <a:latin typeface="Verdana"/>
                <a:ea typeface="Verdana"/>
                <a:cs typeface="Verdana"/>
                <a:sym typeface="Verdana"/>
              </a:rPr>
              <a:t>Zygosity:</a:t>
            </a:r>
            <a:endParaRPr b="1" sz="1900">
              <a:solidFill>
                <a:schemeClr val="dk2"/>
              </a:solidFill>
              <a:latin typeface="Verdana"/>
              <a:ea typeface="Verdana"/>
              <a:cs typeface="Verdana"/>
              <a:sym typeface="Verdana"/>
            </a:endParaRPr>
          </a:p>
          <a:p>
            <a:pPr indent="0" lvl="0" marL="0" rtl="0" algn="l">
              <a:spcBef>
                <a:spcPts val="0"/>
              </a:spcBef>
              <a:spcAft>
                <a:spcPts val="0"/>
              </a:spcAft>
              <a:buNone/>
            </a:pPr>
            <a:r>
              <a:rPr b="1" lang="en-CA" sz="1900">
                <a:solidFill>
                  <a:schemeClr val="dk2"/>
                </a:solidFill>
                <a:latin typeface="Verdana"/>
                <a:ea typeface="Verdana"/>
                <a:cs typeface="Verdana"/>
                <a:sym typeface="Verdana"/>
              </a:rPr>
              <a:t>Homozygous</a:t>
            </a:r>
            <a:r>
              <a:rPr lang="en-CA" sz="1900">
                <a:solidFill>
                  <a:schemeClr val="dk2"/>
                </a:solidFill>
                <a:latin typeface="Verdana"/>
                <a:ea typeface="Verdana"/>
                <a:cs typeface="Verdana"/>
                <a:sym typeface="Verdana"/>
              </a:rPr>
              <a:t> means having two of the </a:t>
            </a:r>
            <a:r>
              <a:rPr i="1" lang="en-CA" sz="1900">
                <a:solidFill>
                  <a:schemeClr val="dk2"/>
                </a:solidFill>
                <a:latin typeface="Verdana"/>
                <a:ea typeface="Verdana"/>
                <a:cs typeface="Verdana"/>
                <a:sym typeface="Verdana"/>
              </a:rPr>
              <a:t>same</a:t>
            </a:r>
            <a:r>
              <a:rPr lang="en-CA" sz="1900">
                <a:solidFill>
                  <a:schemeClr val="dk2"/>
                </a:solidFill>
                <a:latin typeface="Verdana"/>
                <a:ea typeface="Verdana"/>
                <a:cs typeface="Verdana"/>
                <a:sym typeface="Verdana"/>
              </a:rPr>
              <a:t> alleles</a:t>
            </a:r>
            <a:endParaRPr sz="1900">
              <a:solidFill>
                <a:schemeClr val="dk2"/>
              </a:solidFill>
              <a:latin typeface="Verdana"/>
              <a:ea typeface="Verdana"/>
              <a:cs typeface="Verdana"/>
              <a:sym typeface="Verdana"/>
            </a:endParaRPr>
          </a:p>
          <a:p>
            <a:pPr indent="0" lvl="0" marL="0" rtl="0" algn="l">
              <a:spcBef>
                <a:spcPts val="0"/>
              </a:spcBef>
              <a:spcAft>
                <a:spcPts val="0"/>
              </a:spcAft>
              <a:buNone/>
            </a:pPr>
            <a:r>
              <a:rPr b="1" lang="en-CA" sz="1900">
                <a:solidFill>
                  <a:schemeClr val="dk2"/>
                </a:solidFill>
                <a:latin typeface="Verdana"/>
                <a:ea typeface="Verdana"/>
                <a:cs typeface="Verdana"/>
                <a:sym typeface="Verdana"/>
              </a:rPr>
              <a:t>Heterozygous</a:t>
            </a:r>
            <a:r>
              <a:rPr lang="en-CA" sz="1900">
                <a:solidFill>
                  <a:schemeClr val="dk2"/>
                </a:solidFill>
                <a:latin typeface="Verdana"/>
                <a:ea typeface="Verdana"/>
                <a:cs typeface="Verdana"/>
                <a:sym typeface="Verdana"/>
              </a:rPr>
              <a:t> means having two </a:t>
            </a:r>
            <a:r>
              <a:rPr i="1" lang="en-CA" sz="1900">
                <a:solidFill>
                  <a:schemeClr val="dk2"/>
                </a:solidFill>
                <a:latin typeface="Verdana"/>
                <a:ea typeface="Verdana"/>
                <a:cs typeface="Verdana"/>
                <a:sym typeface="Verdana"/>
              </a:rPr>
              <a:t>different</a:t>
            </a:r>
            <a:r>
              <a:rPr lang="en-CA" sz="1900">
                <a:solidFill>
                  <a:schemeClr val="dk2"/>
                </a:solidFill>
                <a:latin typeface="Verdana"/>
                <a:ea typeface="Verdana"/>
                <a:cs typeface="Verdana"/>
                <a:sym typeface="Verdana"/>
              </a:rPr>
              <a:t> alleles</a:t>
            </a:r>
            <a:endParaRPr sz="1900">
              <a:solidFill>
                <a:schemeClr val="dk2"/>
              </a:solidFill>
              <a:latin typeface="Verdana"/>
              <a:ea typeface="Verdana"/>
              <a:cs typeface="Verdana"/>
              <a:sym typeface="Verdana"/>
            </a:endParaRPr>
          </a:p>
        </p:txBody>
      </p:sp>
      <p:sp>
        <p:nvSpPr>
          <p:cNvPr id="359" name="Google Shape;359;p23"/>
          <p:cNvSpPr txBox="1"/>
          <p:nvPr/>
        </p:nvSpPr>
        <p:spPr>
          <a:xfrm>
            <a:off x="553225" y="1699000"/>
            <a:ext cx="84201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900">
                <a:solidFill>
                  <a:srgbClr val="393B3F"/>
                </a:solidFill>
                <a:latin typeface="Verdana"/>
                <a:ea typeface="Verdana"/>
                <a:cs typeface="Verdana"/>
                <a:sym typeface="Verdana"/>
              </a:rPr>
              <a:t>For simple dominant-recessive traits t</a:t>
            </a:r>
            <a:r>
              <a:rPr lang="en-CA" sz="1900">
                <a:solidFill>
                  <a:srgbClr val="393B3F"/>
                </a:solidFill>
                <a:latin typeface="Verdana"/>
                <a:ea typeface="Verdana"/>
                <a:cs typeface="Verdana"/>
                <a:sym typeface="Verdana"/>
              </a:rPr>
              <a:t>here are three possible allele combinations:</a:t>
            </a:r>
            <a:endParaRPr/>
          </a:p>
        </p:txBody>
      </p:sp>
      <p:pic>
        <p:nvPicPr>
          <p:cNvPr descr="http://blogs.scientificamerican.com/science-sushi/files/2013/01/brown_eye.jpg" id="360" name="Google Shape;360;p23"/>
          <p:cNvPicPr preferRelativeResize="0"/>
          <p:nvPr/>
        </p:nvPicPr>
        <p:blipFill rotWithShape="1">
          <a:blip r:embed="rId3">
            <a:alphaModFix/>
          </a:blip>
          <a:srcRect b="0" l="0" r="0" t="0"/>
          <a:stretch/>
        </p:blipFill>
        <p:spPr>
          <a:xfrm>
            <a:off x="6330225" y="2510775"/>
            <a:ext cx="1843875" cy="1230800"/>
          </a:xfrm>
          <a:prstGeom prst="rect">
            <a:avLst/>
          </a:prstGeom>
          <a:noFill/>
          <a:ln>
            <a:noFill/>
          </a:ln>
        </p:spPr>
      </p:pic>
      <p:pic>
        <p:nvPicPr>
          <p:cNvPr descr="http://blogs.scientificamerican.com/science-sushi/files/2013/01/brown_eye.jpg" id="361" name="Google Shape;361;p23"/>
          <p:cNvPicPr preferRelativeResize="0"/>
          <p:nvPr/>
        </p:nvPicPr>
        <p:blipFill rotWithShape="1">
          <a:blip r:embed="rId3">
            <a:alphaModFix/>
          </a:blip>
          <a:srcRect b="0" l="0" r="0" t="0"/>
          <a:stretch/>
        </p:blipFill>
        <p:spPr>
          <a:xfrm>
            <a:off x="6330225" y="3818225"/>
            <a:ext cx="1843875" cy="1230800"/>
          </a:xfrm>
          <a:prstGeom prst="rect">
            <a:avLst/>
          </a:prstGeom>
          <a:noFill/>
          <a:ln>
            <a:noFill/>
          </a:ln>
        </p:spPr>
      </p:pic>
      <p:pic>
        <p:nvPicPr>
          <p:cNvPr descr="http://images.sciencedaily.com/2008/01/080130170343-large.jpg" id="362" name="Google Shape;362;p23"/>
          <p:cNvPicPr preferRelativeResize="0"/>
          <p:nvPr/>
        </p:nvPicPr>
        <p:blipFill rotWithShape="1">
          <a:blip r:embed="rId4">
            <a:alphaModFix/>
          </a:blip>
          <a:srcRect b="0" l="0" r="0" t="0"/>
          <a:stretch/>
        </p:blipFill>
        <p:spPr>
          <a:xfrm>
            <a:off x="6333334" y="5125675"/>
            <a:ext cx="1840765" cy="1230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24"/>
          <p:cNvPicPr preferRelativeResize="0"/>
          <p:nvPr/>
        </p:nvPicPr>
        <p:blipFill rotWithShape="1">
          <a:blip r:embed="rId3">
            <a:alphaModFix/>
          </a:blip>
          <a:srcRect b="5016" l="0" r="0" t="11657"/>
          <a:stretch/>
        </p:blipFill>
        <p:spPr>
          <a:xfrm>
            <a:off x="712113" y="1876625"/>
            <a:ext cx="7570976" cy="4205650"/>
          </a:xfrm>
          <a:prstGeom prst="rect">
            <a:avLst/>
          </a:prstGeom>
          <a:noFill/>
          <a:ln>
            <a:noFill/>
          </a:ln>
        </p:spPr>
      </p:pic>
      <p:sp>
        <p:nvSpPr>
          <p:cNvPr id="369" name="Google Shape;369;p24"/>
          <p:cNvSpPr txBox="1"/>
          <p:nvPr/>
        </p:nvSpPr>
        <p:spPr>
          <a:xfrm>
            <a:off x="1322988" y="877475"/>
            <a:ext cx="6349200" cy="5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400">
                <a:solidFill>
                  <a:schemeClr val="dk2"/>
                </a:solidFill>
                <a:latin typeface="Verdana"/>
                <a:ea typeface="Verdana"/>
                <a:cs typeface="Verdana"/>
                <a:sym typeface="Verdana"/>
              </a:rPr>
              <a:t>Genotype, Phenotype and Zygosity</a:t>
            </a:r>
            <a:endParaRPr b="1" sz="2400">
              <a:solidFill>
                <a:schemeClr val="dk2"/>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5"/>
          <p:cNvSpPr txBox="1"/>
          <p:nvPr/>
        </p:nvSpPr>
        <p:spPr>
          <a:xfrm>
            <a:off x="971600" y="1477769"/>
            <a:ext cx="7056900" cy="83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50"/>
              <a:buFont typeface="Verdana"/>
              <a:buNone/>
            </a:pPr>
            <a:r>
              <a:rPr b="0" i="0" lang="en-CA" sz="2200" u="none" cap="none" strike="noStrike">
                <a:solidFill>
                  <a:srgbClr val="393B3F"/>
                </a:solidFill>
                <a:latin typeface="Verdana"/>
                <a:ea typeface="Verdana"/>
                <a:cs typeface="Verdana"/>
                <a:sym typeface="Verdana"/>
              </a:rPr>
              <a:t>The idea of dominant and recessive alleles was first described by Gregor Mendel…</a:t>
            </a:r>
            <a:endParaRPr/>
          </a:p>
        </p:txBody>
      </p:sp>
      <p:pic>
        <p:nvPicPr>
          <p:cNvPr descr="http://media-2.web.britannica.com/eb-media/96/118096-004-547374A3.jpg" id="375" name="Google Shape;375;p25"/>
          <p:cNvPicPr preferRelativeResize="0"/>
          <p:nvPr/>
        </p:nvPicPr>
        <p:blipFill rotWithShape="1">
          <a:blip r:embed="rId3">
            <a:alphaModFix/>
          </a:blip>
          <a:srcRect b="0" l="0" r="0" t="0"/>
          <a:stretch/>
        </p:blipFill>
        <p:spPr>
          <a:xfrm>
            <a:off x="599073" y="2668648"/>
            <a:ext cx="2574000" cy="3489000"/>
          </a:xfrm>
          <a:prstGeom prst="rect">
            <a:avLst/>
          </a:prstGeom>
          <a:noFill/>
          <a:ln>
            <a:noFill/>
          </a:ln>
        </p:spPr>
      </p:pic>
      <p:sp>
        <p:nvSpPr>
          <p:cNvPr id="376" name="Google Shape;376;p25"/>
          <p:cNvSpPr txBox="1"/>
          <p:nvPr/>
        </p:nvSpPr>
        <p:spPr>
          <a:xfrm>
            <a:off x="3305375" y="2308775"/>
            <a:ext cx="5286600" cy="38487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lang="en-CA" sz="1800">
                <a:solidFill>
                  <a:srgbClr val="393B3F"/>
                </a:solidFill>
                <a:latin typeface="Verdana"/>
                <a:ea typeface="Verdana"/>
                <a:cs typeface="Verdana"/>
                <a:sym typeface="Verdana"/>
              </a:rPr>
              <a:t>He conducted test crosses with peas of different phenotypes and r</a:t>
            </a:r>
            <a:r>
              <a:rPr b="0" i="0" lang="en-CA" sz="1800" u="none" cap="none" strike="noStrike">
                <a:solidFill>
                  <a:srgbClr val="393B3F"/>
                </a:solidFill>
                <a:latin typeface="Verdana"/>
                <a:ea typeface="Verdana"/>
                <a:cs typeface="Verdana"/>
                <a:sym typeface="Verdana"/>
              </a:rPr>
              <a:t>ealized that for each trait, offspring displayed </a:t>
            </a:r>
            <a:r>
              <a:rPr lang="en-CA" sz="1800">
                <a:solidFill>
                  <a:srgbClr val="393B3F"/>
                </a:solidFill>
                <a:latin typeface="Verdana"/>
                <a:ea typeface="Verdana"/>
                <a:cs typeface="Verdana"/>
                <a:sym typeface="Verdana"/>
              </a:rPr>
              <a:t>either the maternal or paternal phenotype </a:t>
            </a:r>
            <a:r>
              <a:rPr b="0" i="0" lang="en-CA" sz="1800" u="none" cap="none" strike="noStrike">
                <a:solidFill>
                  <a:srgbClr val="393B3F"/>
                </a:solidFill>
                <a:latin typeface="Verdana"/>
                <a:ea typeface="Verdana"/>
                <a:cs typeface="Verdana"/>
                <a:sym typeface="Verdana"/>
              </a:rPr>
              <a:t>rather than a blending of the two.</a:t>
            </a:r>
            <a:endParaRPr sz="1800"/>
          </a:p>
          <a:p>
            <a:pPr indent="-285750" lvl="0" marL="285750" marR="0" rtl="0" algn="l">
              <a:lnSpc>
                <a:spcPct val="100000"/>
              </a:lnSpc>
              <a:spcBef>
                <a:spcPts val="100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E.g. a </a:t>
            </a:r>
            <a:r>
              <a:rPr b="1" i="0" lang="en-CA" sz="1800" u="none" cap="none" strike="noStrike">
                <a:solidFill>
                  <a:srgbClr val="393B3F"/>
                </a:solidFill>
                <a:latin typeface="Verdana"/>
                <a:ea typeface="Verdana"/>
                <a:cs typeface="Verdana"/>
                <a:sym typeface="Verdana"/>
              </a:rPr>
              <a:t>true-breeding </a:t>
            </a:r>
            <a:r>
              <a:rPr i="0" lang="en-CA" sz="1800" u="none" cap="none" strike="noStrike">
                <a:solidFill>
                  <a:srgbClr val="393B3F"/>
                </a:solidFill>
                <a:latin typeface="Verdana"/>
                <a:ea typeface="Verdana"/>
                <a:cs typeface="Verdana"/>
                <a:sym typeface="Verdana"/>
              </a:rPr>
              <a:t>(</a:t>
            </a:r>
            <a:r>
              <a:rPr lang="en-CA" sz="1800">
                <a:solidFill>
                  <a:srgbClr val="393B3F"/>
                </a:solidFill>
                <a:latin typeface="Verdana"/>
                <a:ea typeface="Verdana"/>
                <a:cs typeface="Verdana"/>
                <a:sym typeface="Verdana"/>
              </a:rPr>
              <a:t>i.e. homozygous)</a:t>
            </a:r>
            <a:r>
              <a:rPr b="0" i="0" lang="en-CA" sz="1800" u="none" cap="none" strike="noStrike">
                <a:solidFill>
                  <a:srgbClr val="393B3F"/>
                </a:solidFill>
                <a:latin typeface="Verdana"/>
                <a:ea typeface="Verdana"/>
                <a:cs typeface="Verdana"/>
                <a:sym typeface="Verdana"/>
              </a:rPr>
              <a:t> plant with purple flowers crossed with a </a:t>
            </a:r>
            <a:r>
              <a:rPr b="1" i="0" lang="en-CA" sz="1800" u="none" cap="none" strike="noStrike">
                <a:solidFill>
                  <a:srgbClr val="393B3F"/>
                </a:solidFill>
                <a:latin typeface="Verdana"/>
                <a:ea typeface="Verdana"/>
                <a:cs typeface="Verdana"/>
                <a:sym typeface="Verdana"/>
              </a:rPr>
              <a:t>true-breeding </a:t>
            </a:r>
            <a:r>
              <a:rPr i="0" lang="en-CA" sz="1800" u="none" cap="none" strike="noStrike">
                <a:solidFill>
                  <a:srgbClr val="393B3F"/>
                </a:solidFill>
                <a:latin typeface="Verdana"/>
                <a:ea typeface="Verdana"/>
                <a:cs typeface="Verdana"/>
                <a:sym typeface="Verdana"/>
              </a:rPr>
              <a:t>(i.e. </a:t>
            </a:r>
            <a:r>
              <a:rPr lang="en-CA" sz="1800">
                <a:solidFill>
                  <a:srgbClr val="393B3F"/>
                </a:solidFill>
                <a:latin typeface="Verdana"/>
                <a:ea typeface="Verdana"/>
                <a:cs typeface="Verdana"/>
                <a:sym typeface="Verdana"/>
              </a:rPr>
              <a:t>homozygous)</a:t>
            </a:r>
            <a:r>
              <a:rPr i="0" lang="en-CA" sz="1800" u="none" cap="none" strike="noStrike">
                <a:solidFill>
                  <a:srgbClr val="393B3F"/>
                </a:solidFill>
                <a:latin typeface="Verdana"/>
                <a:ea typeface="Verdana"/>
                <a:cs typeface="Verdana"/>
                <a:sym typeface="Verdana"/>
              </a:rPr>
              <a:t> </a:t>
            </a:r>
            <a:r>
              <a:rPr b="0" i="0" lang="en-CA" sz="1800" u="none" cap="none" strike="noStrike">
                <a:solidFill>
                  <a:srgbClr val="393B3F"/>
                </a:solidFill>
                <a:latin typeface="Verdana"/>
                <a:ea typeface="Verdana"/>
                <a:cs typeface="Verdana"/>
                <a:sym typeface="Verdana"/>
              </a:rPr>
              <a:t>plant with white flowers always produced offspring with purple flowers, not light purple as previously suggested by the blending theory of inheritance</a:t>
            </a:r>
            <a:endParaRPr sz="1800"/>
          </a:p>
          <a:p>
            <a:pPr indent="-285750" lvl="0" marL="285750" marR="0" rtl="0" algn="l">
              <a:lnSpc>
                <a:spcPct val="100000"/>
              </a:lnSpc>
              <a:spcBef>
                <a:spcPts val="100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Thus, he concluded that purple flowers were dominant to white</a:t>
            </a:r>
            <a:endParaRPr sz="1800"/>
          </a:p>
        </p:txBody>
      </p:sp>
      <p:sp>
        <p:nvSpPr>
          <p:cNvPr id="377" name="Google Shape;377;p25"/>
          <p:cNvSpPr txBox="1"/>
          <p:nvPr/>
        </p:nvSpPr>
        <p:spPr>
          <a:xfrm>
            <a:off x="1619696" y="954586"/>
            <a:ext cx="5904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Mendelian Genetics</a:t>
            </a:r>
            <a:endParaRPr u="sng"/>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26"/>
          <p:cNvPicPr preferRelativeResize="0"/>
          <p:nvPr/>
        </p:nvPicPr>
        <p:blipFill rotWithShape="1">
          <a:blip r:embed="rId3">
            <a:alphaModFix/>
          </a:blip>
          <a:srcRect b="0" l="0" r="0" t="0"/>
          <a:stretch/>
        </p:blipFill>
        <p:spPr>
          <a:xfrm>
            <a:off x="1273779" y="1276250"/>
            <a:ext cx="6596432" cy="4305510"/>
          </a:xfrm>
          <a:prstGeom prst="rect">
            <a:avLst/>
          </a:prstGeom>
          <a:noFill/>
          <a:ln>
            <a:noFill/>
          </a:ln>
        </p:spPr>
      </p:pic>
      <p:sp>
        <p:nvSpPr>
          <p:cNvPr id="383" name="Google Shape;383;p26"/>
          <p:cNvSpPr txBox="1"/>
          <p:nvPr/>
        </p:nvSpPr>
        <p:spPr>
          <a:xfrm>
            <a:off x="980700" y="674800"/>
            <a:ext cx="6330600" cy="954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0" i="0" lang="en-CA" sz="2800" u="none" cap="none" strike="noStrike">
                <a:solidFill>
                  <a:srgbClr val="393B3F"/>
                </a:solidFill>
                <a:latin typeface="Verdana"/>
                <a:ea typeface="Verdana"/>
                <a:cs typeface="Verdana"/>
                <a:sym typeface="Verdana"/>
              </a:rPr>
              <a:t>Some traits studied by Mendel</a:t>
            </a:r>
            <a:r>
              <a:rPr b="0" i="0" lang="en-CA" sz="2000" u="none" cap="none" strike="noStrike">
                <a:solidFill>
                  <a:srgbClr val="393B3F"/>
                </a:solidFill>
                <a:latin typeface="Verdana"/>
                <a:ea typeface="Verdana"/>
                <a:cs typeface="Verdana"/>
                <a:sym typeface="Verdana"/>
              </a:rPr>
              <a:t>:</a:t>
            </a:r>
            <a:endParaRPr/>
          </a:p>
        </p:txBody>
      </p:sp>
      <p:sp>
        <p:nvSpPr>
          <p:cNvPr id="384" name="Google Shape;384;p26"/>
          <p:cNvSpPr txBox="1"/>
          <p:nvPr/>
        </p:nvSpPr>
        <p:spPr>
          <a:xfrm>
            <a:off x="674125" y="5539700"/>
            <a:ext cx="7926900" cy="11511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450"/>
              <a:buFont typeface="Verdana"/>
              <a:buNone/>
            </a:pPr>
            <a:r>
              <a:rPr b="0" i="1" lang="en-CA" sz="1600" u="none" cap="none" strike="noStrike">
                <a:solidFill>
                  <a:srgbClr val="393B3F"/>
                </a:solidFill>
                <a:latin typeface="Verdana"/>
                <a:ea typeface="Verdana"/>
                <a:cs typeface="Verdana"/>
                <a:sym typeface="Verdana"/>
              </a:rPr>
              <a:t>Each trait is controlled by a single gene or set of alleles </a:t>
            </a:r>
            <a:r>
              <a:rPr i="1" lang="en-CA" sz="1600">
                <a:solidFill>
                  <a:srgbClr val="393B3F"/>
                </a:solidFill>
                <a:latin typeface="Verdana"/>
                <a:ea typeface="Verdana"/>
                <a:cs typeface="Verdana"/>
                <a:sym typeface="Verdana"/>
              </a:rPr>
              <a:t>that, fortunately for Mendel, had a simple dominant-recessive relationship </a:t>
            </a:r>
            <a:endParaRPr i="1" sz="16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450"/>
              <a:buFont typeface="Verdana"/>
              <a:buNone/>
            </a:pPr>
            <a:r>
              <a:rPr i="1" lang="en-CA" sz="1600">
                <a:solidFill>
                  <a:srgbClr val="393B3F"/>
                </a:solidFill>
                <a:latin typeface="Verdana"/>
                <a:ea typeface="Verdana"/>
                <a:cs typeface="Verdana"/>
                <a:sym typeface="Verdana"/>
              </a:rPr>
              <a:t>(as we will see later, this is not always the case which would have really messed things up for him)</a:t>
            </a:r>
            <a:endParaRPr i="1" sz="1600">
              <a:solidFill>
                <a:srgbClr val="393B3F"/>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7"/>
          <p:cNvSpPr txBox="1"/>
          <p:nvPr/>
        </p:nvSpPr>
        <p:spPr>
          <a:xfrm>
            <a:off x="698425" y="1124750"/>
            <a:ext cx="7675500" cy="46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Mendel’s crosses yielded some very interesting patterns…</a:t>
            </a:r>
            <a:endParaRPr/>
          </a:p>
        </p:txBody>
      </p:sp>
      <p:grpSp>
        <p:nvGrpSpPr>
          <p:cNvPr id="390" name="Google Shape;390;p27"/>
          <p:cNvGrpSpPr/>
          <p:nvPr/>
        </p:nvGrpSpPr>
        <p:grpSpPr>
          <a:xfrm>
            <a:off x="516620" y="2388588"/>
            <a:ext cx="8039100" cy="2990700"/>
            <a:chOff x="516620" y="2388588"/>
            <a:chExt cx="8039100" cy="2990700"/>
          </a:xfrm>
        </p:grpSpPr>
        <p:pic>
          <p:nvPicPr>
            <p:cNvPr id="391" name="Google Shape;391;p27"/>
            <p:cNvPicPr preferRelativeResize="0"/>
            <p:nvPr/>
          </p:nvPicPr>
          <p:blipFill rotWithShape="1">
            <a:blip r:embed="rId3">
              <a:alphaModFix/>
            </a:blip>
            <a:srcRect b="0" l="0" r="0" t="0"/>
            <a:stretch/>
          </p:blipFill>
          <p:spPr>
            <a:xfrm>
              <a:off x="516620" y="2388588"/>
              <a:ext cx="8039100" cy="2990700"/>
            </a:xfrm>
            <a:prstGeom prst="rect">
              <a:avLst/>
            </a:prstGeom>
            <a:noFill/>
            <a:ln>
              <a:noFill/>
            </a:ln>
          </p:spPr>
        </p:pic>
        <p:sp>
          <p:nvSpPr>
            <p:cNvPr id="392" name="Google Shape;392;p27"/>
            <p:cNvSpPr txBox="1"/>
            <p:nvPr/>
          </p:nvSpPr>
          <p:spPr>
            <a:xfrm>
              <a:off x="553075" y="2669450"/>
              <a:ext cx="20076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(P = Parental)</a:t>
              </a:r>
              <a:endParaRPr sz="1300">
                <a:solidFill>
                  <a:schemeClr val="dk2"/>
                </a:solidFill>
                <a:latin typeface="Verdana"/>
                <a:ea typeface="Verdana"/>
                <a:cs typeface="Verdana"/>
                <a:sym typeface="Verdana"/>
              </a:endParaRPr>
            </a:p>
          </p:txBody>
        </p:sp>
        <p:sp>
          <p:nvSpPr>
            <p:cNvPr id="393" name="Google Shape;393;p27"/>
            <p:cNvSpPr txBox="1"/>
            <p:nvPr/>
          </p:nvSpPr>
          <p:spPr>
            <a:xfrm>
              <a:off x="553075" y="3464275"/>
              <a:ext cx="21075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(F1 = First filial)</a:t>
              </a:r>
              <a:endParaRPr sz="1300">
                <a:solidFill>
                  <a:schemeClr val="dk2"/>
                </a:solidFill>
                <a:latin typeface="Verdana"/>
                <a:ea typeface="Verdana"/>
                <a:cs typeface="Verdana"/>
                <a:sym typeface="Verdana"/>
              </a:endParaRPr>
            </a:p>
          </p:txBody>
        </p:sp>
        <p:sp>
          <p:nvSpPr>
            <p:cNvPr id="394" name="Google Shape;394;p27"/>
            <p:cNvSpPr txBox="1"/>
            <p:nvPr/>
          </p:nvSpPr>
          <p:spPr>
            <a:xfrm>
              <a:off x="553075" y="4670375"/>
              <a:ext cx="21075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(F2 = Second filial)</a:t>
              </a:r>
              <a:endParaRPr sz="1300">
                <a:solidFill>
                  <a:schemeClr val="dk2"/>
                </a:solidFill>
                <a:latin typeface="Verdana"/>
                <a:ea typeface="Verdana"/>
                <a:cs typeface="Verdana"/>
                <a:sym typeface="Verdan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8"/>
          <p:cNvSpPr txBox="1"/>
          <p:nvPr/>
        </p:nvSpPr>
        <p:spPr>
          <a:xfrm>
            <a:off x="1331640" y="2189182"/>
            <a:ext cx="6408712" cy="181588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0" i="0" lang="en-CA" sz="2800" u="none" cap="none" strike="noStrike">
                <a:solidFill>
                  <a:srgbClr val="393B3F"/>
                </a:solidFill>
                <a:latin typeface="Verdana"/>
                <a:ea typeface="Verdana"/>
                <a:cs typeface="Verdana"/>
                <a:sym typeface="Verdana"/>
              </a:rPr>
              <a:t>How could traits that were not present in the F1 generation re-appear in the F2 generation? And why in such a predictable ratio?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9"/>
          <p:cNvSpPr txBox="1"/>
          <p:nvPr/>
        </p:nvSpPr>
        <p:spPr>
          <a:xfrm>
            <a:off x="755575" y="1508591"/>
            <a:ext cx="7669359"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Because all of the offspring from the initial cross (F1 gen.) are round, we know that round is dominant to wrinkled. </a:t>
            </a:r>
            <a:endParaRPr/>
          </a:p>
          <a:p>
            <a:pPr indent="-285750" lvl="0" marL="285750" marR="0" rtl="0" algn="l">
              <a:lnSpc>
                <a:spcPct val="100000"/>
              </a:lnSpc>
              <a:spcBef>
                <a:spcPts val="1000"/>
              </a:spcBef>
              <a:spcAft>
                <a:spcPts val="100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Parents are “purebred”; thus, the genotype of round parental plants is RR, and that of wrinkled parental plants is rr</a:t>
            </a:r>
            <a:endParaRPr/>
          </a:p>
        </p:txBody>
      </p:sp>
      <p:sp>
        <p:nvSpPr>
          <p:cNvPr id="405" name="Google Shape;405;p29"/>
          <p:cNvSpPr txBox="1"/>
          <p:nvPr/>
        </p:nvSpPr>
        <p:spPr>
          <a:xfrm>
            <a:off x="3277155" y="3507150"/>
            <a:ext cx="2181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lang="en-CA" sz="2000">
                <a:solidFill>
                  <a:srgbClr val="393B3F"/>
                </a:solidFill>
                <a:latin typeface="Verdana"/>
                <a:ea typeface="Verdana"/>
                <a:cs typeface="Verdana"/>
                <a:sym typeface="Verdana"/>
              </a:rPr>
              <a:t>Cross: </a:t>
            </a:r>
            <a:r>
              <a:rPr b="1" i="0" lang="en-CA" sz="2000" u="none" cap="none" strike="noStrike">
                <a:solidFill>
                  <a:srgbClr val="393B3F"/>
                </a:solidFill>
                <a:latin typeface="Verdana"/>
                <a:ea typeface="Verdana"/>
                <a:cs typeface="Verdana"/>
                <a:sym typeface="Verdana"/>
              </a:rPr>
              <a:t>RR x rr</a:t>
            </a:r>
            <a:endParaRPr/>
          </a:p>
        </p:txBody>
      </p:sp>
      <p:pic>
        <p:nvPicPr>
          <p:cNvPr id="406" name="Google Shape;406;p29"/>
          <p:cNvPicPr preferRelativeResize="0"/>
          <p:nvPr/>
        </p:nvPicPr>
        <p:blipFill rotWithShape="1">
          <a:blip r:embed="rId3">
            <a:alphaModFix/>
          </a:blip>
          <a:srcRect b="0" l="0" r="0" t="0"/>
          <a:stretch/>
        </p:blipFill>
        <p:spPr>
          <a:xfrm>
            <a:off x="748173" y="3905139"/>
            <a:ext cx="7719669" cy="2448271"/>
          </a:xfrm>
          <a:prstGeom prst="rect">
            <a:avLst/>
          </a:prstGeom>
          <a:noFill/>
          <a:ln>
            <a:noFill/>
          </a:ln>
        </p:spPr>
      </p:pic>
      <p:sp>
        <p:nvSpPr>
          <p:cNvPr id="407" name="Google Shape;407;p29"/>
          <p:cNvSpPr/>
          <p:nvPr/>
        </p:nvSpPr>
        <p:spPr>
          <a:xfrm>
            <a:off x="2673253" y="3507150"/>
            <a:ext cx="3389700" cy="400200"/>
          </a:xfrm>
          <a:prstGeom prst="rect">
            <a:avLst/>
          </a:prstGeom>
          <a:noFill/>
          <a:ln cap="flat" cmpd="sng" w="5715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08" name="Google Shape;408;p29"/>
          <p:cNvSpPr txBox="1"/>
          <p:nvPr/>
        </p:nvSpPr>
        <p:spPr>
          <a:xfrm>
            <a:off x="2123727" y="980728"/>
            <a:ext cx="4968551" cy="40010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sng" cap="none" strike="noStrike">
                <a:solidFill>
                  <a:srgbClr val="393B3F"/>
                </a:solidFill>
                <a:latin typeface="Verdana"/>
                <a:ea typeface="Verdana"/>
                <a:cs typeface="Verdana"/>
                <a:sym typeface="Verdana"/>
              </a:rPr>
              <a:t>MENDEL’S TEST CROSSES:</a:t>
            </a:r>
            <a:endParaRPr u="sng"/>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0"/>
          <p:cNvSpPr txBox="1"/>
          <p:nvPr/>
        </p:nvSpPr>
        <p:spPr>
          <a:xfrm>
            <a:off x="899591" y="1477233"/>
            <a:ext cx="7344815"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Parents are RR (round) and rr (wrinkled), and F1 offspring are all Rr (round):</a:t>
            </a:r>
            <a:endParaRPr/>
          </a:p>
        </p:txBody>
      </p:sp>
      <p:pic>
        <p:nvPicPr>
          <p:cNvPr id="414" name="Google Shape;414;p30"/>
          <p:cNvPicPr preferRelativeResize="0"/>
          <p:nvPr/>
        </p:nvPicPr>
        <p:blipFill rotWithShape="1">
          <a:blip r:embed="rId3">
            <a:alphaModFix/>
          </a:blip>
          <a:srcRect b="0" l="0" r="0" t="0"/>
          <a:stretch/>
        </p:blipFill>
        <p:spPr>
          <a:xfrm>
            <a:off x="1778722" y="2629360"/>
            <a:ext cx="5586556" cy="2310556"/>
          </a:xfrm>
          <a:prstGeom prst="rect">
            <a:avLst/>
          </a:prstGeom>
          <a:noFill/>
          <a:ln>
            <a:noFill/>
          </a:ln>
        </p:spPr>
      </p:pic>
      <p:sp>
        <p:nvSpPr>
          <p:cNvPr id="415" name="Google Shape;415;p30"/>
          <p:cNvSpPr txBox="1"/>
          <p:nvPr/>
        </p:nvSpPr>
        <p:spPr>
          <a:xfrm>
            <a:off x="899591" y="5293657"/>
            <a:ext cx="7200799" cy="10156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Now that we know the genotype of F1 individuals, we can use the same process to determine the genotype of F2 individuals…</a:t>
            </a:r>
            <a:endParaRPr/>
          </a:p>
        </p:txBody>
      </p:sp>
      <p:sp>
        <p:nvSpPr>
          <p:cNvPr id="416" name="Google Shape;416;p30"/>
          <p:cNvSpPr/>
          <p:nvPr/>
        </p:nvSpPr>
        <p:spPr>
          <a:xfrm>
            <a:off x="1403698" y="2488296"/>
            <a:ext cx="6336600" cy="2625300"/>
          </a:xfrm>
          <a:prstGeom prst="rect">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17" name="Google Shape;417;p30"/>
          <p:cNvSpPr txBox="1"/>
          <p:nvPr/>
        </p:nvSpPr>
        <p:spPr>
          <a:xfrm>
            <a:off x="2123727" y="908720"/>
            <a:ext cx="5040559" cy="36933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1" i="0" lang="en-CA" sz="1800" u="none" cap="none" strike="noStrike">
                <a:solidFill>
                  <a:srgbClr val="393B3F"/>
                </a:solidFill>
                <a:latin typeface="Verdana"/>
                <a:ea typeface="Verdana"/>
                <a:cs typeface="Verdana"/>
                <a:sym typeface="Verdana"/>
              </a:rPr>
              <a:t>MENDEL’S TEST CROSSES CONT’D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1"/>
          <p:cNvSpPr txBox="1"/>
          <p:nvPr/>
        </p:nvSpPr>
        <p:spPr>
          <a:xfrm>
            <a:off x="1691680" y="1484783"/>
            <a:ext cx="5832648" cy="11079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50"/>
              <a:buFont typeface="Verdana"/>
              <a:buNone/>
            </a:pPr>
            <a:r>
              <a:rPr b="0" i="0" lang="en-CA" sz="2200" u="none" cap="none" strike="noStrike">
                <a:solidFill>
                  <a:srgbClr val="393B3F"/>
                </a:solidFill>
                <a:latin typeface="Verdana"/>
                <a:ea typeface="Verdana"/>
                <a:cs typeface="Verdana"/>
                <a:sym typeface="Verdana"/>
              </a:rPr>
              <a:t>Recall that the F2 generation are the offspring of a cross between individuals of the F1 generation:</a:t>
            </a:r>
            <a:endParaRPr/>
          </a:p>
        </p:txBody>
      </p:sp>
      <p:pic>
        <p:nvPicPr>
          <p:cNvPr id="423" name="Google Shape;423;p31"/>
          <p:cNvPicPr preferRelativeResize="0"/>
          <p:nvPr/>
        </p:nvPicPr>
        <p:blipFill rotWithShape="1">
          <a:blip r:embed="rId3">
            <a:alphaModFix/>
          </a:blip>
          <a:srcRect b="0" l="0" r="0" t="0"/>
          <a:stretch/>
        </p:blipFill>
        <p:spPr>
          <a:xfrm>
            <a:off x="1935047" y="2852935"/>
            <a:ext cx="5345914" cy="3168351"/>
          </a:xfrm>
          <a:prstGeom prst="rect">
            <a:avLst/>
          </a:prstGeom>
          <a:noFill/>
          <a:ln>
            <a:noFill/>
          </a:ln>
        </p:spPr>
      </p:pic>
      <p:sp>
        <p:nvSpPr>
          <p:cNvPr id="424" name="Google Shape;424;p31"/>
          <p:cNvSpPr txBox="1"/>
          <p:nvPr/>
        </p:nvSpPr>
        <p:spPr>
          <a:xfrm>
            <a:off x="2295086" y="971436"/>
            <a:ext cx="4653177" cy="36933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1" i="0" lang="en-CA" sz="1800" u="none" cap="none" strike="noStrike">
                <a:solidFill>
                  <a:srgbClr val="393B3F"/>
                </a:solidFill>
                <a:latin typeface="Verdana"/>
                <a:ea typeface="Verdana"/>
                <a:cs typeface="Verdana"/>
                <a:sym typeface="Verdana"/>
              </a:rPr>
              <a:t>MENDEL’S TEST CROSSES CONT’D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2"/>
          <p:cNvSpPr txBox="1"/>
          <p:nvPr/>
        </p:nvSpPr>
        <p:spPr>
          <a:xfrm>
            <a:off x="3462155" y="1464713"/>
            <a:ext cx="2219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lang="en-CA" sz="2000">
                <a:solidFill>
                  <a:srgbClr val="393B3F"/>
                </a:solidFill>
                <a:latin typeface="Verdana"/>
                <a:ea typeface="Verdana"/>
                <a:cs typeface="Verdana"/>
                <a:sym typeface="Verdana"/>
              </a:rPr>
              <a:t>Cross: </a:t>
            </a:r>
            <a:r>
              <a:rPr b="1" i="0" lang="en-CA" sz="2000" u="none" cap="none" strike="noStrike">
                <a:solidFill>
                  <a:srgbClr val="393B3F"/>
                </a:solidFill>
                <a:latin typeface="Verdana"/>
                <a:ea typeface="Verdana"/>
                <a:cs typeface="Verdana"/>
                <a:sym typeface="Verdana"/>
              </a:rPr>
              <a:t>Rr x Rr </a:t>
            </a:r>
            <a:endParaRPr/>
          </a:p>
        </p:txBody>
      </p:sp>
      <p:pic>
        <p:nvPicPr>
          <p:cNvPr id="430" name="Google Shape;430;p32"/>
          <p:cNvPicPr preferRelativeResize="0"/>
          <p:nvPr/>
        </p:nvPicPr>
        <p:blipFill rotWithShape="1">
          <a:blip r:embed="rId3">
            <a:alphaModFix/>
          </a:blip>
          <a:srcRect b="0" l="0" r="0" t="0"/>
          <a:stretch/>
        </p:blipFill>
        <p:spPr>
          <a:xfrm>
            <a:off x="971600" y="4595589"/>
            <a:ext cx="7329581" cy="1641722"/>
          </a:xfrm>
          <a:prstGeom prst="rect">
            <a:avLst/>
          </a:prstGeom>
          <a:noFill/>
          <a:ln>
            <a:noFill/>
          </a:ln>
        </p:spPr>
      </p:pic>
      <p:sp>
        <p:nvSpPr>
          <p:cNvPr id="431" name="Google Shape;431;p32"/>
          <p:cNvSpPr txBox="1"/>
          <p:nvPr/>
        </p:nvSpPr>
        <p:spPr>
          <a:xfrm>
            <a:off x="2226825" y="932523"/>
            <a:ext cx="4752527" cy="36933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1" i="0" lang="en-CA" sz="1800" u="none" cap="none" strike="noStrike">
                <a:solidFill>
                  <a:srgbClr val="393B3F"/>
                </a:solidFill>
                <a:latin typeface="Verdana"/>
                <a:ea typeface="Verdana"/>
                <a:cs typeface="Verdana"/>
                <a:sym typeface="Verdana"/>
              </a:rPr>
              <a:t>MENDEL’S TEST CROSSES CONT’D</a:t>
            </a:r>
            <a:endParaRPr/>
          </a:p>
        </p:txBody>
      </p:sp>
      <p:sp>
        <p:nvSpPr>
          <p:cNvPr id="432" name="Google Shape;432;p32"/>
          <p:cNvSpPr/>
          <p:nvPr/>
        </p:nvSpPr>
        <p:spPr>
          <a:xfrm>
            <a:off x="1916199" y="2027779"/>
            <a:ext cx="5634600" cy="2349899"/>
          </a:xfrm>
          <a:prstGeom prst="rect">
            <a:avLst/>
          </a:prstGeom>
          <a:solidFill>
            <a:srgbClr val="FFFFFF"/>
          </a:solidFill>
          <a:ln cap="flat" cmpd="sng" w="9525">
            <a:solidFill>
              <a:srgbClr val="434343">
                <a:alpha val="0"/>
              </a:srgbClr>
            </a:solidFill>
            <a:prstDash val="solid"/>
            <a:round/>
            <a:headEnd len="sm" w="sm" type="none"/>
            <a:tailEnd len="sm" w="sm" type="none"/>
          </a:ln>
        </p:spPr>
      </p:sp>
      <p:pic>
        <p:nvPicPr>
          <p:cNvPr id="433" name="Google Shape;433;p32"/>
          <p:cNvPicPr preferRelativeResize="0"/>
          <p:nvPr/>
        </p:nvPicPr>
        <p:blipFill rotWithShape="1">
          <a:blip r:embed="rId4">
            <a:alphaModFix/>
          </a:blip>
          <a:srcRect b="0" l="0" r="0" t="0"/>
          <a:stretch/>
        </p:blipFill>
        <p:spPr>
          <a:xfrm>
            <a:off x="3305600" y="2027775"/>
            <a:ext cx="2594974" cy="2479449"/>
          </a:xfrm>
          <a:prstGeom prst="rect">
            <a:avLst/>
          </a:prstGeom>
          <a:noFill/>
          <a:ln cap="flat" cmpd="sng" w="19050">
            <a:solidFill>
              <a:srgbClr val="999999"/>
            </a:solidFill>
            <a:prstDash val="solid"/>
            <a:round/>
            <a:headEnd len="sm" w="sm" type="none"/>
            <a:tailEnd len="sm" w="sm" type="none"/>
          </a:ln>
        </p:spPr>
      </p:pic>
      <p:sp>
        <p:nvSpPr>
          <p:cNvPr id="434" name="Google Shape;434;p32"/>
          <p:cNvSpPr/>
          <p:nvPr/>
        </p:nvSpPr>
        <p:spPr>
          <a:xfrm>
            <a:off x="2908240" y="1464700"/>
            <a:ext cx="3389700" cy="400200"/>
          </a:xfrm>
          <a:prstGeom prst="rect">
            <a:avLst/>
          </a:prstGeom>
          <a:noFill/>
          <a:ln cap="flat" cmpd="sng" w="5715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3"/>
          <p:cNvSpPr txBox="1"/>
          <p:nvPr/>
        </p:nvSpPr>
        <p:spPr>
          <a:xfrm>
            <a:off x="683568" y="1052736"/>
            <a:ext cx="7704855" cy="230832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So, as long as we know the genotype of individuals being crossed, we can determine the ratio and potential genotypes of their offspring. </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This is done through the use of a </a:t>
            </a:r>
            <a:endParaRPr/>
          </a:p>
          <a:p>
            <a:pPr indent="0" lvl="0" marL="0" marR="0" rtl="0" algn="ctr">
              <a:lnSpc>
                <a:spcPct val="100000"/>
              </a:lnSpc>
              <a:spcBef>
                <a:spcPts val="0"/>
              </a:spcBef>
              <a:spcAft>
                <a:spcPts val="0"/>
              </a:spcAft>
              <a:buClr>
                <a:srgbClr val="393B3F"/>
              </a:buClr>
              <a:buSzPts val="600"/>
              <a:buFont typeface="Verdana"/>
              <a:buNone/>
            </a:pPr>
            <a:r>
              <a:rPr b="1" i="1" lang="en-CA" sz="2400">
                <a:solidFill>
                  <a:srgbClr val="393B3F"/>
                </a:solidFill>
                <a:latin typeface="Verdana"/>
                <a:ea typeface="Verdana"/>
                <a:cs typeface="Verdana"/>
                <a:sym typeface="Verdana"/>
              </a:rPr>
              <a:t>Punnett</a:t>
            </a:r>
            <a:r>
              <a:rPr b="1" i="1" lang="en-CA" sz="2400" u="none" cap="none" strike="noStrike">
                <a:solidFill>
                  <a:srgbClr val="393B3F"/>
                </a:solidFill>
                <a:latin typeface="Verdana"/>
                <a:ea typeface="Verdana"/>
                <a:cs typeface="Verdana"/>
                <a:sym typeface="Verdana"/>
              </a:rPr>
              <a:t> Square</a:t>
            </a:r>
            <a:r>
              <a:rPr b="0" i="0" lang="en-CA" sz="2400" u="none" cap="none" strike="noStrike">
                <a:solidFill>
                  <a:srgbClr val="393B3F"/>
                </a:solidFill>
                <a:latin typeface="Verdana"/>
                <a:ea typeface="Verdana"/>
                <a:cs typeface="Verdana"/>
                <a:sym typeface="Verdana"/>
              </a:rPr>
              <a:t>:</a:t>
            </a:r>
            <a:endParaRPr/>
          </a:p>
        </p:txBody>
      </p:sp>
      <p:pic>
        <p:nvPicPr>
          <p:cNvPr id="440" name="Google Shape;440;p33"/>
          <p:cNvPicPr preferRelativeResize="0"/>
          <p:nvPr/>
        </p:nvPicPr>
        <p:blipFill rotWithShape="1">
          <a:blip r:embed="rId3">
            <a:alphaModFix/>
          </a:blip>
          <a:srcRect b="0" l="0" r="0" t="0"/>
          <a:stretch/>
        </p:blipFill>
        <p:spPr>
          <a:xfrm>
            <a:off x="2195734" y="3582403"/>
            <a:ext cx="4897755" cy="2726916"/>
          </a:xfrm>
          <a:prstGeom prst="rect">
            <a:avLst/>
          </a:prstGeom>
          <a:noFill/>
          <a:ln>
            <a:noFill/>
          </a:ln>
        </p:spPr>
      </p:pic>
      <p:sp>
        <p:nvSpPr>
          <p:cNvPr id="441" name="Google Shape;441;p33"/>
          <p:cNvSpPr/>
          <p:nvPr/>
        </p:nvSpPr>
        <p:spPr>
          <a:xfrm>
            <a:off x="1763688" y="3501103"/>
            <a:ext cx="5688632" cy="2808217"/>
          </a:xfrm>
          <a:prstGeom prst="rect">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34"/>
          <p:cNvPicPr preferRelativeResize="0"/>
          <p:nvPr/>
        </p:nvPicPr>
        <p:blipFill rotWithShape="1">
          <a:blip r:embed="rId3">
            <a:alphaModFix/>
          </a:blip>
          <a:srcRect b="0" l="0" r="0" t="0"/>
          <a:stretch/>
        </p:blipFill>
        <p:spPr>
          <a:xfrm>
            <a:off x="2200427" y="1422069"/>
            <a:ext cx="4897755" cy="2726916"/>
          </a:xfrm>
          <a:prstGeom prst="rect">
            <a:avLst/>
          </a:prstGeom>
          <a:noFill/>
          <a:ln>
            <a:noFill/>
          </a:ln>
        </p:spPr>
      </p:pic>
      <p:sp>
        <p:nvSpPr>
          <p:cNvPr id="447" name="Google Shape;447;p34"/>
          <p:cNvSpPr/>
          <p:nvPr/>
        </p:nvSpPr>
        <p:spPr>
          <a:xfrm>
            <a:off x="1768381" y="1340767"/>
            <a:ext cx="5688600" cy="2808300"/>
          </a:xfrm>
          <a:prstGeom prst="rect">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48" name="Google Shape;448;p34"/>
          <p:cNvSpPr txBox="1"/>
          <p:nvPr/>
        </p:nvSpPr>
        <p:spPr>
          <a:xfrm>
            <a:off x="971600" y="4379525"/>
            <a:ext cx="7200799" cy="15696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Because of the particular way in which chromosomes align during metaphase I of meiosis, each of the four allele combinations is as likely as the other.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5"/>
          <p:cNvSpPr/>
          <p:nvPr/>
        </p:nvSpPr>
        <p:spPr>
          <a:xfrm>
            <a:off x="1115616" y="2564903"/>
            <a:ext cx="6984776" cy="1656183"/>
          </a:xfrm>
          <a:prstGeom prst="rect">
            <a:avLst/>
          </a:prstGeom>
          <a:solidFill>
            <a:schemeClr val="accent4"/>
          </a:solidFill>
          <a:ln cap="flat" cmpd="sng" w="1587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54" name="Google Shape;454;p35"/>
          <p:cNvSpPr txBox="1"/>
          <p:nvPr/>
        </p:nvSpPr>
        <p:spPr>
          <a:xfrm>
            <a:off x="611560" y="1340767"/>
            <a:ext cx="7884367"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Collectively, these ideas are referred to as </a:t>
            </a:r>
            <a:endParaRPr sz="24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600"/>
              <a:buFont typeface="Verdana"/>
              <a:buNone/>
            </a:pPr>
            <a:r>
              <a:rPr b="1" i="1" lang="en-CA" sz="2400" u="none" cap="none" strike="noStrike">
                <a:solidFill>
                  <a:srgbClr val="393B3F"/>
                </a:solidFill>
                <a:latin typeface="Verdana"/>
                <a:ea typeface="Verdana"/>
                <a:cs typeface="Verdana"/>
                <a:sym typeface="Verdana"/>
              </a:rPr>
              <a:t>The Law of Segregation</a:t>
            </a:r>
            <a:r>
              <a:rPr b="0" i="0" lang="en-CA" sz="2400" u="none" cap="none" strike="noStrike">
                <a:solidFill>
                  <a:srgbClr val="393B3F"/>
                </a:solidFill>
                <a:latin typeface="Verdana"/>
                <a:ea typeface="Verdana"/>
                <a:cs typeface="Verdana"/>
                <a:sym typeface="Verdana"/>
              </a:rPr>
              <a:t>:</a:t>
            </a:r>
            <a:endParaRPr/>
          </a:p>
        </p:txBody>
      </p:sp>
      <p:sp>
        <p:nvSpPr>
          <p:cNvPr id="455" name="Google Shape;455;p35"/>
          <p:cNvSpPr txBox="1"/>
          <p:nvPr/>
        </p:nvSpPr>
        <p:spPr>
          <a:xfrm>
            <a:off x="1403648" y="2780927"/>
            <a:ext cx="6480719" cy="132343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1" lang="en-CA" sz="2000" u="none" cap="none" strike="noStrike">
                <a:solidFill>
                  <a:srgbClr val="393B3F"/>
                </a:solidFill>
                <a:latin typeface="Verdana"/>
                <a:ea typeface="Verdana"/>
                <a:cs typeface="Verdana"/>
                <a:sym typeface="Verdana"/>
              </a:rPr>
              <a:t>All individuals have two copies of each gene. These copies segregate randomly during gamete formation, and each gamete receives one copy of every gene. </a:t>
            </a:r>
            <a:endParaRPr/>
          </a:p>
        </p:txBody>
      </p:sp>
      <p:sp>
        <p:nvSpPr>
          <p:cNvPr id="456" name="Google Shape;456;p35"/>
          <p:cNvSpPr txBox="1"/>
          <p:nvPr/>
        </p:nvSpPr>
        <p:spPr>
          <a:xfrm>
            <a:off x="1115616" y="4797151"/>
            <a:ext cx="6984776"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The Law of Segregation forms the basis of modern theories of inheritance.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6"/>
          <p:cNvSpPr/>
          <p:nvPr/>
        </p:nvSpPr>
        <p:spPr>
          <a:xfrm>
            <a:off x="816500" y="1683801"/>
            <a:ext cx="6976800" cy="1110300"/>
          </a:xfrm>
          <a:prstGeom prst="rect">
            <a:avLst/>
          </a:prstGeom>
          <a:solidFill>
            <a:schemeClr val="accent4"/>
          </a:solidFill>
          <a:ln cap="flat" cmpd="sng" w="1587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63" name="Google Shape;463;p36"/>
          <p:cNvSpPr txBox="1"/>
          <p:nvPr/>
        </p:nvSpPr>
        <p:spPr>
          <a:xfrm>
            <a:off x="816500" y="1204475"/>
            <a:ext cx="73938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chemeClr val="dk1"/>
                </a:solidFill>
                <a:latin typeface="Verdana"/>
                <a:ea typeface="Verdana"/>
                <a:cs typeface="Verdana"/>
                <a:sym typeface="Verdana"/>
              </a:rPr>
              <a:t>Furthermore, Mendel observed that …</a:t>
            </a:r>
            <a:endParaRPr sz="1800">
              <a:solidFill>
                <a:schemeClr val="dk1"/>
              </a:solidFill>
              <a:latin typeface="Verdana"/>
              <a:ea typeface="Verdana"/>
              <a:cs typeface="Verdana"/>
              <a:sym typeface="Verdana"/>
            </a:endParaRPr>
          </a:p>
          <a:p>
            <a:pPr indent="0" lvl="0" marL="0" rtl="0" algn="l">
              <a:spcBef>
                <a:spcPts val="0"/>
              </a:spcBef>
              <a:spcAft>
                <a:spcPts val="0"/>
              </a:spcAft>
              <a:buNone/>
            </a:pPr>
            <a:r>
              <a:t/>
            </a:r>
            <a:endParaRPr sz="1800">
              <a:solidFill>
                <a:schemeClr val="dk1"/>
              </a:solidFill>
              <a:latin typeface="Verdana"/>
              <a:ea typeface="Verdana"/>
              <a:cs typeface="Verdana"/>
              <a:sym typeface="Verdana"/>
            </a:endParaRPr>
          </a:p>
          <a:p>
            <a:pPr indent="0" lvl="0" marL="0" rtl="0" algn="l">
              <a:spcBef>
                <a:spcPts val="0"/>
              </a:spcBef>
              <a:spcAft>
                <a:spcPts val="0"/>
              </a:spcAft>
              <a:buNone/>
            </a:pPr>
            <a:r>
              <a:rPr lang="en-CA" sz="1800">
                <a:solidFill>
                  <a:schemeClr val="dk1"/>
                </a:solidFill>
                <a:latin typeface="Verdana"/>
                <a:ea typeface="Verdana"/>
                <a:cs typeface="Verdana"/>
                <a:sym typeface="Verdana"/>
              </a:rPr>
              <a:t>…when true-breeding parents with contrasting traits are crossed together, only one form of the trait appears in the next generation.</a:t>
            </a:r>
            <a:endParaRPr sz="1800">
              <a:solidFill>
                <a:schemeClr val="dk1"/>
              </a:solidFill>
              <a:latin typeface="Verdana"/>
              <a:ea typeface="Verdana"/>
              <a:cs typeface="Verdana"/>
              <a:sym typeface="Verdana"/>
            </a:endParaRPr>
          </a:p>
          <a:p>
            <a:pPr indent="0" lvl="0" marL="0" rtl="0" algn="ctr">
              <a:spcBef>
                <a:spcPts val="0"/>
              </a:spcBef>
              <a:spcAft>
                <a:spcPts val="0"/>
              </a:spcAft>
              <a:buNone/>
            </a:pPr>
            <a:r>
              <a:t/>
            </a:r>
            <a:endParaRPr b="1" sz="1800">
              <a:solidFill>
                <a:schemeClr val="dk1"/>
              </a:solidFill>
              <a:highlight>
                <a:srgbClr val="FEFEFE"/>
              </a:highlight>
              <a:latin typeface="Verdana"/>
              <a:ea typeface="Verdana"/>
              <a:cs typeface="Verdana"/>
              <a:sym typeface="Verdana"/>
            </a:endParaRPr>
          </a:p>
          <a:p>
            <a:pPr indent="0" lvl="0" marL="0" rtl="0" algn="ctr">
              <a:spcBef>
                <a:spcPts val="0"/>
              </a:spcBef>
              <a:spcAft>
                <a:spcPts val="0"/>
              </a:spcAft>
              <a:buNone/>
            </a:pPr>
            <a:r>
              <a:rPr b="1" i="1" lang="en-CA" sz="2300">
                <a:solidFill>
                  <a:srgbClr val="3F3F3F"/>
                </a:solidFill>
                <a:highlight>
                  <a:srgbClr val="FEFEFE"/>
                </a:highlight>
                <a:latin typeface="Verdana"/>
                <a:ea typeface="Verdana"/>
                <a:cs typeface="Verdana"/>
                <a:sym typeface="Verdana"/>
              </a:rPr>
              <a:t>This is called the Law of Dominance.</a:t>
            </a:r>
            <a:endParaRPr b="1" i="1" sz="2300">
              <a:solidFill>
                <a:srgbClr val="3F3F3F"/>
              </a:solidFill>
              <a:highlight>
                <a:srgbClr val="FEFEFE"/>
              </a:highlight>
              <a:latin typeface="Verdana"/>
              <a:ea typeface="Verdana"/>
              <a:cs typeface="Verdana"/>
              <a:sym typeface="Verdana"/>
            </a:endParaRPr>
          </a:p>
        </p:txBody>
      </p:sp>
      <p:grpSp>
        <p:nvGrpSpPr>
          <p:cNvPr id="464" name="Google Shape;464;p36"/>
          <p:cNvGrpSpPr/>
          <p:nvPr/>
        </p:nvGrpSpPr>
        <p:grpSpPr>
          <a:xfrm>
            <a:off x="1345098" y="3614596"/>
            <a:ext cx="6336600" cy="2625300"/>
            <a:chOff x="1403698" y="2288446"/>
            <a:chExt cx="6336600" cy="2625300"/>
          </a:xfrm>
        </p:grpSpPr>
        <p:pic>
          <p:nvPicPr>
            <p:cNvPr id="465" name="Google Shape;465;p36"/>
            <p:cNvPicPr preferRelativeResize="0"/>
            <p:nvPr/>
          </p:nvPicPr>
          <p:blipFill rotWithShape="1">
            <a:blip r:embed="rId3">
              <a:alphaModFix/>
            </a:blip>
            <a:srcRect b="0" l="0" r="0" t="0"/>
            <a:stretch/>
          </p:blipFill>
          <p:spPr>
            <a:xfrm>
              <a:off x="1778722" y="2429510"/>
              <a:ext cx="5586556" cy="2310556"/>
            </a:xfrm>
            <a:prstGeom prst="rect">
              <a:avLst/>
            </a:prstGeom>
            <a:noFill/>
            <a:ln>
              <a:noFill/>
            </a:ln>
          </p:spPr>
        </p:pic>
        <p:sp>
          <p:nvSpPr>
            <p:cNvPr id="466" name="Google Shape;466;p36"/>
            <p:cNvSpPr/>
            <p:nvPr/>
          </p:nvSpPr>
          <p:spPr>
            <a:xfrm>
              <a:off x="1403698" y="2288446"/>
              <a:ext cx="6336600" cy="2625300"/>
            </a:xfrm>
            <a:prstGeom prst="rect">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7"/>
          <p:cNvSpPr txBox="1"/>
          <p:nvPr/>
        </p:nvSpPr>
        <p:spPr>
          <a:xfrm>
            <a:off x="708500" y="837150"/>
            <a:ext cx="7854900" cy="7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lang="en-CA" sz="1500">
                <a:solidFill>
                  <a:srgbClr val="393B3F"/>
                </a:solidFill>
                <a:latin typeface="Verdana"/>
                <a:ea typeface="Verdana"/>
                <a:cs typeface="Verdana"/>
                <a:sym typeface="Verdana"/>
              </a:rPr>
              <a:t>Altogether, Mendel’s experiments on pea plants allowed him to develop the following </a:t>
            </a:r>
            <a:r>
              <a:rPr b="1" lang="en-CA" sz="1500">
                <a:solidFill>
                  <a:srgbClr val="393B3F"/>
                </a:solidFill>
                <a:latin typeface="Verdana"/>
                <a:ea typeface="Verdana"/>
                <a:cs typeface="Verdana"/>
                <a:sym typeface="Verdana"/>
              </a:rPr>
              <a:t>three laws</a:t>
            </a:r>
            <a:r>
              <a:rPr lang="en-CA" sz="1500">
                <a:solidFill>
                  <a:srgbClr val="393B3F"/>
                </a:solidFill>
                <a:latin typeface="Verdana"/>
                <a:ea typeface="Verdana"/>
                <a:cs typeface="Verdana"/>
                <a:sym typeface="Verdana"/>
              </a:rPr>
              <a:t>. We have addresses the first two so far. The Law of Independent Assortment will be looked at in the next topic. </a:t>
            </a:r>
            <a:endParaRPr b="1" sz="1500"/>
          </a:p>
        </p:txBody>
      </p:sp>
      <p:pic>
        <p:nvPicPr>
          <p:cNvPr id="473" name="Google Shape;473;p37"/>
          <p:cNvPicPr preferRelativeResize="0"/>
          <p:nvPr/>
        </p:nvPicPr>
        <p:blipFill>
          <a:blip r:embed="rId3">
            <a:alphaModFix/>
          </a:blip>
          <a:stretch>
            <a:fillRect/>
          </a:stretch>
        </p:blipFill>
        <p:spPr>
          <a:xfrm>
            <a:off x="394500" y="1545150"/>
            <a:ext cx="8482911" cy="5105950"/>
          </a:xfrm>
          <a:prstGeom prst="rect">
            <a:avLst/>
          </a:prstGeom>
          <a:noFill/>
          <a:ln>
            <a:noFill/>
          </a:ln>
        </p:spPr>
      </p:pic>
      <p:sp>
        <p:nvSpPr>
          <p:cNvPr id="474" name="Google Shape;474;p37"/>
          <p:cNvSpPr/>
          <p:nvPr/>
        </p:nvSpPr>
        <p:spPr>
          <a:xfrm>
            <a:off x="3274950" y="2757575"/>
            <a:ext cx="4935600" cy="2808300"/>
          </a:xfrm>
          <a:prstGeom prst="rect">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8"/>
          <p:cNvSpPr txBox="1"/>
          <p:nvPr/>
        </p:nvSpPr>
        <p:spPr>
          <a:xfrm>
            <a:off x="840150" y="1645575"/>
            <a:ext cx="7548900" cy="1291200"/>
          </a:xfrm>
          <a:prstGeom prst="rect">
            <a:avLst/>
          </a:prstGeom>
          <a:noFill/>
          <a:ln cap="flat" cmpd="sng" w="9525">
            <a:solidFill>
              <a:srgbClr val="999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lang="en-CA" sz="1800">
                <a:solidFill>
                  <a:srgbClr val="393B3F"/>
                </a:solidFill>
                <a:latin typeface="Verdana"/>
                <a:ea typeface="Verdana"/>
                <a:cs typeface="Verdana"/>
                <a:sym typeface="Verdana"/>
              </a:rPr>
              <a:t>Because of the Law of Segregation, as long as the </a:t>
            </a:r>
            <a:r>
              <a:rPr b="1" i="1" lang="en-CA" sz="1800">
                <a:solidFill>
                  <a:srgbClr val="393B3F"/>
                </a:solidFill>
                <a:latin typeface="Verdana"/>
                <a:ea typeface="Verdana"/>
                <a:cs typeface="Verdana"/>
                <a:sym typeface="Verdana"/>
              </a:rPr>
              <a:t>mode of inheritance</a:t>
            </a:r>
            <a:r>
              <a:rPr lang="en-CA" sz="1800">
                <a:solidFill>
                  <a:srgbClr val="393B3F"/>
                </a:solidFill>
                <a:latin typeface="Verdana"/>
                <a:ea typeface="Verdana"/>
                <a:cs typeface="Verdana"/>
                <a:sym typeface="Verdana"/>
              </a:rPr>
              <a:t> of a particular trait and the genotypes of two parents are known, we can use a Punnett Square to determine the possible genotypes of offspring.</a:t>
            </a:r>
            <a:endParaRPr sz="1800">
              <a:latin typeface="Verdana"/>
              <a:ea typeface="Verdana"/>
              <a:cs typeface="Verdana"/>
              <a:sym typeface="Verdana"/>
            </a:endParaRPr>
          </a:p>
        </p:txBody>
      </p:sp>
      <p:sp>
        <p:nvSpPr>
          <p:cNvPr id="481" name="Google Shape;481;p38"/>
          <p:cNvSpPr txBox="1"/>
          <p:nvPr/>
        </p:nvSpPr>
        <p:spPr>
          <a:xfrm>
            <a:off x="1053450" y="3313625"/>
            <a:ext cx="7236900" cy="2618400"/>
          </a:xfrm>
          <a:prstGeom prst="rect">
            <a:avLst/>
          </a:prstGeom>
          <a:noFill/>
          <a:ln>
            <a:noFill/>
          </a:ln>
        </p:spPr>
        <p:txBody>
          <a:bodyPr anchorCtr="0" anchor="t" bIns="45700" lIns="91425" spcFirstLastPara="1" rIns="91425" wrap="square" tIns="45700">
            <a:noAutofit/>
          </a:bodyPr>
          <a:lstStyle/>
          <a:p>
            <a:pPr indent="-368300" lvl="0" marL="457200" marR="0" rtl="0" algn="l">
              <a:lnSpc>
                <a:spcPct val="100000"/>
              </a:lnSpc>
              <a:spcBef>
                <a:spcPts val="0"/>
              </a:spcBef>
              <a:spcAft>
                <a:spcPts val="0"/>
              </a:spcAft>
              <a:buSzPts val="2200"/>
              <a:buChar char="●"/>
            </a:pPr>
            <a:r>
              <a:rPr lang="en-CA" sz="2200" u="sng">
                <a:solidFill>
                  <a:srgbClr val="393B3F"/>
                </a:solidFill>
                <a:latin typeface="Verdana"/>
                <a:ea typeface="Verdana"/>
                <a:cs typeface="Verdana"/>
                <a:sym typeface="Verdana"/>
              </a:rPr>
              <a:t>Autosomal dominant mode of inheritance</a:t>
            </a:r>
            <a:r>
              <a:rPr lang="en-CA" sz="2200">
                <a:solidFill>
                  <a:srgbClr val="393B3F"/>
                </a:solidFill>
                <a:latin typeface="Verdana"/>
                <a:ea typeface="Verdana"/>
                <a:cs typeface="Verdana"/>
                <a:sym typeface="Verdana"/>
              </a:rPr>
              <a:t> = trait is dominant &amp; inherited on an autosome (as opposed to the sex chromosomes)</a:t>
            </a:r>
            <a:endParaRPr sz="22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2200">
              <a:solidFill>
                <a:srgbClr val="393B3F"/>
              </a:solidFill>
              <a:latin typeface="Verdana"/>
              <a:ea typeface="Verdana"/>
              <a:cs typeface="Verdana"/>
              <a:sym typeface="Verdana"/>
            </a:endParaRPr>
          </a:p>
          <a:p>
            <a:pPr indent="-368300" lvl="0" marL="457200" marR="0" rtl="0" algn="l">
              <a:lnSpc>
                <a:spcPct val="100000"/>
              </a:lnSpc>
              <a:spcBef>
                <a:spcPts val="0"/>
              </a:spcBef>
              <a:spcAft>
                <a:spcPts val="0"/>
              </a:spcAft>
              <a:buSzPts val="2200"/>
              <a:buChar char="●"/>
            </a:pPr>
            <a:r>
              <a:rPr lang="en-CA" sz="2200" u="sng">
                <a:solidFill>
                  <a:srgbClr val="393B3F"/>
                </a:solidFill>
                <a:latin typeface="Verdana"/>
                <a:ea typeface="Verdana"/>
                <a:cs typeface="Verdana"/>
                <a:sym typeface="Verdana"/>
              </a:rPr>
              <a:t>Autosomal recessive mode of inheritance</a:t>
            </a:r>
            <a:r>
              <a:rPr lang="en-CA" sz="2200">
                <a:solidFill>
                  <a:srgbClr val="393B3F"/>
                </a:solidFill>
                <a:latin typeface="Verdana"/>
                <a:ea typeface="Verdana"/>
                <a:cs typeface="Verdana"/>
                <a:sym typeface="Verdana"/>
              </a:rPr>
              <a:t> = trait is recessive &amp; inherited on an autosome (as opposed to the sex chromosomes) </a:t>
            </a:r>
            <a:endParaRPr sz="2200"/>
          </a:p>
        </p:txBody>
      </p:sp>
      <p:sp>
        <p:nvSpPr>
          <p:cNvPr id="482" name="Google Shape;482;p38"/>
          <p:cNvSpPr txBox="1"/>
          <p:nvPr/>
        </p:nvSpPr>
        <p:spPr>
          <a:xfrm>
            <a:off x="2123727" y="980728"/>
            <a:ext cx="4968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lang="en-CA" sz="2000" u="sng">
                <a:solidFill>
                  <a:srgbClr val="393B3F"/>
                </a:solidFill>
                <a:latin typeface="Verdana"/>
                <a:ea typeface="Verdana"/>
                <a:cs typeface="Verdana"/>
                <a:sym typeface="Verdana"/>
              </a:rPr>
              <a:t>MODE OF INHERITANCE</a:t>
            </a:r>
            <a:endParaRPr u="sng"/>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9"/>
          <p:cNvSpPr txBox="1"/>
          <p:nvPr/>
        </p:nvSpPr>
        <p:spPr>
          <a:xfrm>
            <a:off x="617966" y="1440315"/>
            <a:ext cx="51846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Example</a:t>
            </a:r>
            <a:r>
              <a:rPr b="1" lang="en-CA" sz="2400">
                <a:solidFill>
                  <a:srgbClr val="393B3F"/>
                </a:solidFill>
                <a:latin typeface="Verdana"/>
                <a:ea typeface="Verdana"/>
                <a:cs typeface="Verdana"/>
                <a:sym typeface="Verdana"/>
              </a:rPr>
              <a:t>:</a:t>
            </a:r>
            <a:endParaRPr/>
          </a:p>
        </p:txBody>
      </p:sp>
      <p:sp>
        <p:nvSpPr>
          <p:cNvPr id="488" name="Google Shape;488;p39"/>
          <p:cNvSpPr txBox="1"/>
          <p:nvPr/>
        </p:nvSpPr>
        <p:spPr>
          <a:xfrm>
            <a:off x="617975" y="1902025"/>
            <a:ext cx="8080800" cy="234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1900" u="none" cap="none" strike="noStrike">
                <a:solidFill>
                  <a:srgbClr val="393B3F"/>
                </a:solidFill>
                <a:latin typeface="Verdana"/>
                <a:ea typeface="Verdana"/>
                <a:cs typeface="Verdana"/>
                <a:sym typeface="Verdana"/>
              </a:rPr>
              <a:t>In mice, black fur is inherited in an </a:t>
            </a:r>
            <a:r>
              <a:rPr lang="en-CA" sz="1900" u="none" cap="none" strike="noStrike">
                <a:solidFill>
                  <a:srgbClr val="393B3F"/>
                </a:solidFill>
                <a:latin typeface="Verdana"/>
                <a:ea typeface="Verdana"/>
                <a:cs typeface="Verdana"/>
                <a:sym typeface="Verdana"/>
              </a:rPr>
              <a:t>autosomal domina</a:t>
            </a:r>
            <a:r>
              <a:rPr lang="en-CA" sz="1900">
                <a:solidFill>
                  <a:srgbClr val="393B3F"/>
                </a:solidFill>
                <a:latin typeface="Verdana"/>
                <a:ea typeface="Verdana"/>
                <a:cs typeface="Verdana"/>
                <a:sym typeface="Verdana"/>
              </a:rPr>
              <a:t>nt</a:t>
            </a:r>
            <a:r>
              <a:rPr b="1" i="1" lang="en-CA" sz="1900">
                <a:solidFill>
                  <a:srgbClr val="393B3F"/>
                </a:solidFill>
                <a:latin typeface="Verdana"/>
                <a:ea typeface="Verdana"/>
                <a:cs typeface="Verdana"/>
                <a:sym typeface="Verdana"/>
              </a:rPr>
              <a:t> </a:t>
            </a:r>
            <a:r>
              <a:rPr lang="en-CA" sz="1900">
                <a:solidFill>
                  <a:srgbClr val="393B3F"/>
                </a:solidFill>
                <a:latin typeface="Verdana"/>
                <a:ea typeface="Verdana"/>
                <a:cs typeface="Verdana"/>
                <a:sym typeface="Verdana"/>
              </a:rPr>
              <a:t>manner (black fur is </a:t>
            </a:r>
            <a:r>
              <a:rPr b="0" i="0" lang="en-CA" sz="1900" u="none" cap="none" strike="noStrike">
                <a:solidFill>
                  <a:srgbClr val="393B3F"/>
                </a:solidFill>
                <a:latin typeface="Verdana"/>
                <a:ea typeface="Verdana"/>
                <a:cs typeface="Verdana"/>
                <a:sym typeface="Verdana"/>
              </a:rPr>
              <a:t>dominant to brown fur).</a:t>
            </a:r>
            <a:r>
              <a:rPr lang="en-CA" sz="1900">
                <a:solidFill>
                  <a:srgbClr val="393B3F"/>
                </a:solidFill>
                <a:latin typeface="Verdana"/>
                <a:ea typeface="Verdana"/>
                <a:cs typeface="Verdana"/>
                <a:sym typeface="Verdana"/>
              </a:rPr>
              <a:t>.. </a:t>
            </a:r>
            <a:endParaRPr b="0" i="0" sz="19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arenR"/>
            </a:pPr>
            <a:r>
              <a:rPr lang="en-CA" sz="1600">
                <a:solidFill>
                  <a:srgbClr val="393B3F"/>
                </a:solidFill>
                <a:latin typeface="Verdana"/>
                <a:ea typeface="Verdana"/>
                <a:cs typeface="Verdana"/>
                <a:sym typeface="Verdana"/>
              </a:rPr>
              <a:t>List the genotypes of a black mouse and a brown mouse.</a:t>
            </a:r>
            <a:endParaRPr sz="1600">
              <a:solidFill>
                <a:srgbClr val="393B3F"/>
              </a:solidFill>
              <a:latin typeface="Verdana"/>
              <a:ea typeface="Verdana"/>
              <a:cs typeface="Verdana"/>
              <a:sym typeface="Verdana"/>
            </a:endParaRPr>
          </a:p>
          <a:p>
            <a:pPr indent="0" lvl="0" marL="457200" marR="0" rtl="0" algn="l">
              <a:lnSpc>
                <a:spcPct val="150000"/>
              </a:lnSpc>
              <a:spcBef>
                <a:spcPts val="1000"/>
              </a:spcBef>
              <a:spcAft>
                <a:spcPts val="0"/>
              </a:spcAft>
              <a:buNone/>
            </a:pPr>
            <a:r>
              <a:rPr lang="en-CA" sz="1600">
                <a:solidFill>
                  <a:srgbClr val="393B3F"/>
                </a:solidFill>
                <a:latin typeface="Verdana"/>
                <a:ea typeface="Verdana"/>
                <a:cs typeface="Verdana"/>
                <a:sym typeface="Verdana"/>
              </a:rPr>
              <a:t> </a:t>
            </a:r>
            <a:endParaRPr sz="30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1000"/>
              </a:spcAft>
              <a:buClr>
                <a:srgbClr val="393B3F"/>
              </a:buClr>
              <a:buSzPts val="1600"/>
              <a:buFont typeface="Verdana"/>
              <a:buAutoNum type="alphaLcParenR"/>
            </a:pPr>
            <a:r>
              <a:rPr b="0" i="0" lang="en-CA" sz="1600" u="none" cap="none" strike="noStrike">
                <a:solidFill>
                  <a:srgbClr val="393B3F"/>
                </a:solidFill>
                <a:latin typeface="Verdana"/>
                <a:ea typeface="Verdana"/>
                <a:cs typeface="Verdana"/>
                <a:sym typeface="Verdana"/>
              </a:rPr>
              <a:t>If a heterozygous black mouse is crossed with a brown mouse, what is the probability that their offspring will have black fur? Brown fur? </a:t>
            </a:r>
            <a:endParaRPr sz="1600"/>
          </a:p>
        </p:txBody>
      </p:sp>
      <p:sp>
        <p:nvSpPr>
          <p:cNvPr id="489" name="Google Shape;489;p39"/>
          <p:cNvSpPr txBox="1"/>
          <p:nvPr/>
        </p:nvSpPr>
        <p:spPr>
          <a:xfrm>
            <a:off x="1835696" y="836712"/>
            <a:ext cx="5760640" cy="52321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CA" sz="2800" u="sng">
                <a:solidFill>
                  <a:srgbClr val="393B3F"/>
                </a:solidFill>
                <a:latin typeface="Verdana"/>
                <a:ea typeface="Verdana"/>
                <a:cs typeface="Verdana"/>
                <a:sym typeface="Verdana"/>
              </a:rPr>
              <a:t>Single Trait</a:t>
            </a:r>
            <a:r>
              <a:rPr b="1" i="0" lang="en-CA" sz="2800" u="sng" cap="none" strike="noStrike">
                <a:solidFill>
                  <a:srgbClr val="393B3F"/>
                </a:solidFill>
                <a:latin typeface="Verdana"/>
                <a:ea typeface="Verdana"/>
                <a:cs typeface="Verdana"/>
                <a:sym typeface="Verdana"/>
              </a:rPr>
              <a:t> Crosses</a:t>
            </a:r>
            <a:endParaRPr u="sng"/>
          </a:p>
        </p:txBody>
      </p:sp>
      <p:sp>
        <p:nvSpPr>
          <p:cNvPr id="490" name="Google Shape;490;p39"/>
          <p:cNvSpPr txBox="1"/>
          <p:nvPr/>
        </p:nvSpPr>
        <p:spPr>
          <a:xfrm>
            <a:off x="1114438" y="2912700"/>
            <a:ext cx="7384800" cy="7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rgbClr val="A64D79"/>
                </a:solidFill>
                <a:latin typeface="Verdana"/>
                <a:ea typeface="Verdana"/>
                <a:cs typeface="Verdana"/>
                <a:sym typeface="Verdana"/>
              </a:rPr>
              <a:t>Possible genotypes for a </a:t>
            </a:r>
            <a:r>
              <a:rPr lang="en-CA" sz="1700">
                <a:solidFill>
                  <a:srgbClr val="A64D79"/>
                </a:solidFill>
                <a:latin typeface="Verdana"/>
                <a:ea typeface="Verdana"/>
                <a:cs typeface="Verdana"/>
                <a:sym typeface="Verdana"/>
              </a:rPr>
              <a:t>black</a:t>
            </a:r>
            <a:r>
              <a:rPr lang="en-CA" sz="1700">
                <a:solidFill>
                  <a:srgbClr val="A64D79"/>
                </a:solidFill>
                <a:latin typeface="Verdana"/>
                <a:ea typeface="Verdana"/>
                <a:cs typeface="Verdana"/>
                <a:sym typeface="Verdana"/>
              </a:rPr>
              <a:t> mouse: BB or Bb</a:t>
            </a:r>
            <a:endParaRPr sz="1700">
              <a:solidFill>
                <a:srgbClr val="A64D79"/>
              </a:solidFill>
              <a:latin typeface="Verdana"/>
              <a:ea typeface="Verdana"/>
              <a:cs typeface="Verdana"/>
              <a:sym typeface="Verdana"/>
            </a:endParaRPr>
          </a:p>
          <a:p>
            <a:pPr indent="0" lvl="0" marL="0" rtl="0" algn="l">
              <a:spcBef>
                <a:spcPts val="0"/>
              </a:spcBef>
              <a:spcAft>
                <a:spcPts val="0"/>
              </a:spcAft>
              <a:buNone/>
            </a:pPr>
            <a:r>
              <a:rPr lang="en-CA" sz="1700">
                <a:solidFill>
                  <a:srgbClr val="A64D79"/>
                </a:solidFill>
                <a:latin typeface="Verdana"/>
                <a:ea typeface="Verdana"/>
                <a:cs typeface="Verdana"/>
                <a:sym typeface="Verdana"/>
              </a:rPr>
              <a:t>Possible genotype of a brown mouse: bb</a:t>
            </a:r>
            <a:endParaRPr sz="1700">
              <a:solidFill>
                <a:srgbClr val="A64D79"/>
              </a:solidFill>
              <a:latin typeface="Verdana"/>
              <a:ea typeface="Verdana"/>
              <a:cs typeface="Verdana"/>
              <a:sym typeface="Verdana"/>
            </a:endParaRPr>
          </a:p>
        </p:txBody>
      </p:sp>
      <p:grpSp>
        <p:nvGrpSpPr>
          <p:cNvPr id="491" name="Google Shape;491;p39"/>
          <p:cNvGrpSpPr/>
          <p:nvPr/>
        </p:nvGrpSpPr>
        <p:grpSpPr>
          <a:xfrm>
            <a:off x="941300" y="4027200"/>
            <a:ext cx="7757400" cy="2572436"/>
            <a:chOff x="941300" y="4027200"/>
            <a:chExt cx="7757400" cy="2572436"/>
          </a:xfrm>
        </p:grpSpPr>
        <p:pic>
          <p:nvPicPr>
            <p:cNvPr descr="http://www.isgtw.org/sites/default/files/img_2011/Black_Mouse.JPG" id="492" name="Google Shape;492;p39"/>
            <p:cNvPicPr preferRelativeResize="0"/>
            <p:nvPr/>
          </p:nvPicPr>
          <p:blipFill rotWithShape="1">
            <a:blip r:embed="rId3">
              <a:alphaModFix/>
            </a:blip>
            <a:srcRect b="20840" l="0" r="35676" t="11579"/>
            <a:stretch/>
          </p:blipFill>
          <p:spPr>
            <a:xfrm>
              <a:off x="941300" y="4249455"/>
              <a:ext cx="855774" cy="509435"/>
            </a:xfrm>
            <a:prstGeom prst="rect">
              <a:avLst/>
            </a:prstGeom>
            <a:noFill/>
            <a:ln>
              <a:noFill/>
            </a:ln>
          </p:spPr>
        </p:pic>
        <p:pic>
          <p:nvPicPr>
            <p:cNvPr descr="http://1.bp.blogspot.com/-UECQlRDdIzc/UE1KbHtCvtI/AAAAAAAAJEs/ncLuqZ3QQb4/s640/cute+mouse.jpg" id="493" name="Google Shape;493;p39"/>
            <p:cNvPicPr preferRelativeResize="0"/>
            <p:nvPr/>
          </p:nvPicPr>
          <p:blipFill rotWithShape="1">
            <a:blip r:embed="rId4">
              <a:alphaModFix/>
            </a:blip>
            <a:srcRect b="0" l="0" r="0" t="0"/>
            <a:stretch/>
          </p:blipFill>
          <p:spPr>
            <a:xfrm>
              <a:off x="2335863" y="4249457"/>
              <a:ext cx="747014" cy="478850"/>
            </a:xfrm>
            <a:prstGeom prst="rect">
              <a:avLst/>
            </a:prstGeom>
            <a:noFill/>
            <a:ln>
              <a:noFill/>
            </a:ln>
          </p:spPr>
        </p:pic>
        <p:sp>
          <p:nvSpPr>
            <p:cNvPr id="494" name="Google Shape;494;p39"/>
            <p:cNvSpPr/>
            <p:nvPr/>
          </p:nvSpPr>
          <p:spPr>
            <a:xfrm>
              <a:off x="1735337" y="4282008"/>
              <a:ext cx="552600" cy="444300"/>
            </a:xfrm>
            <a:prstGeom prst="mathMultiply">
              <a:avLst>
                <a:gd fmla="val 23520" name="adj1"/>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495" name="Google Shape;495;p39"/>
            <p:cNvSpPr/>
            <p:nvPr/>
          </p:nvSpPr>
          <p:spPr>
            <a:xfrm>
              <a:off x="3082882" y="4266716"/>
              <a:ext cx="552600" cy="444300"/>
            </a:xfrm>
            <a:prstGeom prst="mathEqual">
              <a:avLst>
                <a:gd fmla="val 23520" name="adj1"/>
                <a:gd fmla="val 11760" name="adj2"/>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496" name="Google Shape;496;p39"/>
            <p:cNvSpPr txBox="1"/>
            <p:nvPr/>
          </p:nvSpPr>
          <p:spPr>
            <a:xfrm>
              <a:off x="3621673" y="4027200"/>
              <a:ext cx="419400" cy="70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200"/>
                <a:buFont typeface="Verdana"/>
                <a:buNone/>
              </a:pPr>
              <a:r>
                <a:rPr b="1" i="0" lang="en-CA" sz="5200" u="none" cap="none" strike="noStrike">
                  <a:solidFill>
                    <a:srgbClr val="393B3F"/>
                  </a:solidFill>
                  <a:latin typeface="Verdana"/>
                  <a:ea typeface="Verdana"/>
                  <a:cs typeface="Verdana"/>
                  <a:sym typeface="Verdana"/>
                </a:rPr>
                <a:t>?</a:t>
              </a:r>
              <a:endParaRPr sz="100"/>
            </a:p>
          </p:txBody>
        </p:sp>
        <p:pic>
          <p:nvPicPr>
            <p:cNvPr id="497" name="Google Shape;497;p39"/>
            <p:cNvPicPr preferRelativeResize="0"/>
            <p:nvPr/>
          </p:nvPicPr>
          <p:blipFill rotWithShape="1">
            <a:blip r:embed="rId5">
              <a:alphaModFix/>
            </a:blip>
            <a:srcRect b="14848" l="65897" r="0" t="10009"/>
            <a:stretch/>
          </p:blipFill>
          <p:spPr>
            <a:xfrm>
              <a:off x="1188963" y="4731825"/>
              <a:ext cx="1645325" cy="1750625"/>
            </a:xfrm>
            <a:prstGeom prst="rect">
              <a:avLst/>
            </a:prstGeom>
            <a:noFill/>
            <a:ln>
              <a:noFill/>
            </a:ln>
          </p:spPr>
        </p:pic>
        <p:cxnSp>
          <p:nvCxnSpPr>
            <p:cNvPr id="498" name="Google Shape;498;p39"/>
            <p:cNvCxnSpPr/>
            <p:nvPr/>
          </p:nvCxnSpPr>
          <p:spPr>
            <a:xfrm>
              <a:off x="941302" y="5620350"/>
              <a:ext cx="1692300" cy="0"/>
            </a:xfrm>
            <a:prstGeom prst="straightConnector1">
              <a:avLst/>
            </a:prstGeom>
            <a:noFill/>
            <a:ln cap="flat" cmpd="sng" w="9525">
              <a:solidFill>
                <a:schemeClr val="accent1"/>
              </a:solidFill>
              <a:prstDash val="solid"/>
              <a:round/>
              <a:headEnd len="sm" w="sm" type="none"/>
              <a:tailEnd len="sm" w="sm" type="none"/>
            </a:ln>
          </p:spPr>
        </p:cxnSp>
        <p:cxnSp>
          <p:nvCxnSpPr>
            <p:cNvPr id="499" name="Google Shape;499;p39"/>
            <p:cNvCxnSpPr/>
            <p:nvPr/>
          </p:nvCxnSpPr>
          <p:spPr>
            <a:xfrm>
              <a:off x="1600772" y="5231336"/>
              <a:ext cx="0" cy="1368300"/>
            </a:xfrm>
            <a:prstGeom prst="straightConnector1">
              <a:avLst/>
            </a:prstGeom>
            <a:noFill/>
            <a:ln cap="flat" cmpd="sng" w="9525">
              <a:solidFill>
                <a:schemeClr val="accent1"/>
              </a:solidFill>
              <a:prstDash val="solid"/>
              <a:round/>
              <a:headEnd len="sm" w="sm" type="none"/>
              <a:tailEnd len="sm" w="sm" type="none"/>
            </a:ln>
          </p:spPr>
        </p:cxnSp>
        <p:sp>
          <p:nvSpPr>
            <p:cNvPr id="500" name="Google Shape;500;p39"/>
            <p:cNvSpPr txBox="1"/>
            <p:nvPr/>
          </p:nvSpPr>
          <p:spPr>
            <a:xfrm>
              <a:off x="4667900" y="4347350"/>
              <a:ext cx="4030800" cy="1677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2"/>
                  </a:solidFill>
                  <a:latin typeface="Verdana"/>
                  <a:ea typeface="Verdana"/>
                  <a:cs typeface="Verdana"/>
                  <a:sym typeface="Verdana"/>
                </a:rPr>
                <a:t>The probability of having black fur is 2/4 = </a:t>
              </a:r>
              <a:r>
                <a:rPr lang="en-CA" sz="1900">
                  <a:solidFill>
                    <a:schemeClr val="dk2"/>
                  </a:solidFill>
                  <a:latin typeface="Verdana"/>
                  <a:ea typeface="Verdana"/>
                  <a:cs typeface="Verdana"/>
                  <a:sym typeface="Verdana"/>
                </a:rPr>
                <a:t>1/2</a:t>
              </a:r>
              <a:r>
                <a:rPr lang="en-CA" sz="1900">
                  <a:solidFill>
                    <a:schemeClr val="dk2"/>
                  </a:solidFill>
                  <a:latin typeface="Verdana"/>
                  <a:ea typeface="Verdana"/>
                  <a:cs typeface="Verdana"/>
                  <a:sym typeface="Verdana"/>
                </a:rPr>
                <a:t>  or 0.50.</a:t>
              </a:r>
              <a:endParaRPr sz="1900">
                <a:solidFill>
                  <a:schemeClr val="dk2"/>
                </a:solidFill>
                <a:latin typeface="Verdana"/>
                <a:ea typeface="Verdana"/>
                <a:cs typeface="Verdana"/>
                <a:sym typeface="Verdana"/>
              </a:endParaRPr>
            </a:p>
            <a:p>
              <a:pPr indent="0" lvl="0" marL="0" rtl="0" algn="l">
                <a:spcBef>
                  <a:spcPts val="0"/>
                </a:spcBef>
                <a:spcAft>
                  <a:spcPts val="0"/>
                </a:spcAft>
                <a:buNone/>
              </a:pPr>
              <a:r>
                <a:t/>
              </a:r>
              <a:endParaRPr sz="1300">
                <a:solidFill>
                  <a:schemeClr val="dk2"/>
                </a:solidFill>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rPr lang="en-CA" sz="1900">
                  <a:solidFill>
                    <a:schemeClr val="dk2"/>
                  </a:solidFill>
                  <a:latin typeface="Verdana"/>
                  <a:ea typeface="Verdana"/>
                  <a:cs typeface="Verdana"/>
                  <a:sym typeface="Verdana"/>
                </a:rPr>
                <a:t>The probability of having brown fur is  also 2/4 = 1/2  or 0.50.</a:t>
              </a:r>
              <a:endParaRPr sz="1900">
                <a:solidFill>
                  <a:schemeClr val="dk2"/>
                </a:solidFill>
                <a:latin typeface="Verdana"/>
                <a:ea typeface="Verdana"/>
                <a:cs typeface="Verdana"/>
                <a:sym typeface="Verdana"/>
              </a:endParaRPr>
            </a:p>
          </p:txBody>
        </p:sp>
        <p:sp>
          <p:nvSpPr>
            <p:cNvPr id="501" name="Google Shape;501;p39"/>
            <p:cNvSpPr/>
            <p:nvPr/>
          </p:nvSpPr>
          <p:spPr>
            <a:xfrm>
              <a:off x="1652200" y="5620350"/>
              <a:ext cx="419400" cy="7902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02" name="Google Shape;502;p39"/>
            <p:cNvSpPr/>
            <p:nvPr/>
          </p:nvSpPr>
          <p:spPr>
            <a:xfrm>
              <a:off x="2071600" y="5620350"/>
              <a:ext cx="419400" cy="790200"/>
            </a:xfrm>
            <a:prstGeom prst="rect">
              <a:avLst/>
            </a:prstGeom>
            <a:solidFill>
              <a:srgbClr val="9C734A">
                <a:alpha val="64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0"/>
          <p:cNvSpPr txBox="1"/>
          <p:nvPr/>
        </p:nvSpPr>
        <p:spPr>
          <a:xfrm>
            <a:off x="834674" y="808650"/>
            <a:ext cx="7211100" cy="1938900"/>
          </a:xfrm>
          <a:prstGeom prst="rect">
            <a:avLst/>
          </a:prstGeom>
          <a:noFill/>
          <a:ln>
            <a:noFill/>
          </a:ln>
        </p:spPr>
        <p:txBody>
          <a:bodyPr anchorCtr="0" anchor="t" bIns="45700" lIns="91425" spcFirstLastPara="1" rIns="91425" wrap="square" tIns="45700">
            <a:noAutofit/>
          </a:bodyPr>
          <a:lstStyle/>
          <a:p>
            <a:pPr indent="-361950" lvl="0" marL="457200" marR="0" rtl="0" algn="l">
              <a:lnSpc>
                <a:spcPct val="100000"/>
              </a:lnSpc>
              <a:spcBef>
                <a:spcPts val="0"/>
              </a:spcBef>
              <a:spcAft>
                <a:spcPts val="0"/>
              </a:spcAft>
              <a:buClr>
                <a:srgbClr val="393B3F"/>
              </a:buClr>
              <a:buSzPts val="2100"/>
              <a:buFont typeface="Verdana"/>
              <a:buAutoNum type="alphaLcParenR" startAt="3"/>
            </a:pPr>
            <a:r>
              <a:rPr b="0" i="0" lang="en-CA" sz="2100" u="none" cap="none" strike="noStrike">
                <a:solidFill>
                  <a:srgbClr val="393B3F"/>
                </a:solidFill>
                <a:latin typeface="Verdana"/>
                <a:ea typeface="Verdana"/>
                <a:cs typeface="Verdana"/>
                <a:sym typeface="Verdana"/>
              </a:rPr>
              <a:t>If two heterozygous black mice are crossed, </a:t>
            </a:r>
            <a:r>
              <a:rPr lang="en-CA" sz="2100">
                <a:solidFill>
                  <a:srgbClr val="393B3F"/>
                </a:solidFill>
                <a:latin typeface="Verdana"/>
                <a:ea typeface="Verdana"/>
                <a:cs typeface="Verdana"/>
                <a:sym typeface="Verdana"/>
              </a:rPr>
              <a:t>what will be the </a:t>
            </a:r>
            <a:r>
              <a:rPr b="1" lang="en-CA" sz="2100">
                <a:solidFill>
                  <a:srgbClr val="393B3F"/>
                </a:solidFill>
                <a:latin typeface="Verdana"/>
                <a:ea typeface="Verdana"/>
                <a:cs typeface="Verdana"/>
                <a:sym typeface="Verdana"/>
              </a:rPr>
              <a:t>genotypic and phenotypic ratio</a:t>
            </a:r>
            <a:r>
              <a:rPr lang="en-CA" sz="2100">
                <a:solidFill>
                  <a:srgbClr val="393B3F"/>
                </a:solidFill>
                <a:latin typeface="Verdana"/>
                <a:ea typeface="Verdana"/>
                <a:cs typeface="Verdana"/>
                <a:sym typeface="Verdana"/>
              </a:rPr>
              <a:t> of their offspring?</a:t>
            </a:r>
            <a:endParaRPr sz="2100"/>
          </a:p>
        </p:txBody>
      </p:sp>
      <p:grpSp>
        <p:nvGrpSpPr>
          <p:cNvPr id="508" name="Google Shape;508;p40"/>
          <p:cNvGrpSpPr/>
          <p:nvPr/>
        </p:nvGrpSpPr>
        <p:grpSpPr>
          <a:xfrm>
            <a:off x="1171452" y="1877251"/>
            <a:ext cx="5526624" cy="989501"/>
            <a:chOff x="921727" y="3766601"/>
            <a:chExt cx="5526624" cy="989501"/>
          </a:xfrm>
        </p:grpSpPr>
        <p:pic>
          <p:nvPicPr>
            <p:cNvPr descr="http://www.isgtw.org/sites/default/files/img_2011/Black_Mouse.JPG" id="509" name="Google Shape;509;p40"/>
            <p:cNvPicPr preferRelativeResize="0"/>
            <p:nvPr/>
          </p:nvPicPr>
          <p:blipFill rotWithShape="1">
            <a:blip r:embed="rId3">
              <a:alphaModFix/>
            </a:blip>
            <a:srcRect b="20840" l="0" r="35676" t="11579"/>
            <a:stretch/>
          </p:blipFill>
          <p:spPr>
            <a:xfrm>
              <a:off x="921727" y="3766601"/>
              <a:ext cx="1842186" cy="971651"/>
            </a:xfrm>
            <a:prstGeom prst="rect">
              <a:avLst/>
            </a:prstGeom>
            <a:noFill/>
            <a:ln>
              <a:noFill/>
            </a:ln>
          </p:spPr>
        </p:pic>
        <p:pic>
          <p:nvPicPr>
            <p:cNvPr descr="http://www.isgtw.org/sites/default/files/img_2011/Black_Mouse.JPG" id="510" name="Google Shape;510;p40"/>
            <p:cNvPicPr preferRelativeResize="0"/>
            <p:nvPr/>
          </p:nvPicPr>
          <p:blipFill rotWithShape="1">
            <a:blip r:embed="rId3">
              <a:alphaModFix/>
            </a:blip>
            <a:srcRect b="20840" l="0" r="35676" t="11579"/>
            <a:stretch/>
          </p:blipFill>
          <p:spPr>
            <a:xfrm>
              <a:off x="3098858" y="3784451"/>
              <a:ext cx="1842186" cy="971651"/>
            </a:xfrm>
            <a:prstGeom prst="rect">
              <a:avLst/>
            </a:prstGeom>
            <a:noFill/>
            <a:ln>
              <a:noFill/>
            </a:ln>
          </p:spPr>
        </p:pic>
        <p:sp>
          <p:nvSpPr>
            <p:cNvPr id="511" name="Google Shape;511;p40"/>
            <p:cNvSpPr/>
            <p:nvPr/>
          </p:nvSpPr>
          <p:spPr>
            <a:xfrm>
              <a:off x="2596443" y="4089545"/>
              <a:ext cx="558300" cy="397800"/>
            </a:xfrm>
            <a:prstGeom prst="mathMultiply">
              <a:avLst>
                <a:gd fmla="val 23520" name="adj1"/>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512" name="Google Shape;512;p40"/>
            <p:cNvSpPr/>
            <p:nvPr/>
          </p:nvSpPr>
          <p:spPr>
            <a:xfrm>
              <a:off x="5009373" y="4089545"/>
              <a:ext cx="558300" cy="397800"/>
            </a:xfrm>
            <a:prstGeom prst="mathEqual">
              <a:avLst>
                <a:gd fmla="val 23520" name="adj1"/>
                <a:gd fmla="val 11760" name="adj2"/>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513" name="Google Shape;513;p40"/>
            <p:cNvSpPr txBox="1"/>
            <p:nvPr/>
          </p:nvSpPr>
          <p:spPr>
            <a:xfrm>
              <a:off x="5890050" y="3808570"/>
              <a:ext cx="558300" cy="88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2200"/>
                <a:buFont typeface="Verdana"/>
                <a:buNone/>
              </a:pPr>
              <a:r>
                <a:rPr b="1" i="0" lang="en-CA" sz="5900" u="none" cap="none" strike="noStrike">
                  <a:solidFill>
                    <a:srgbClr val="393B3F"/>
                  </a:solidFill>
                  <a:latin typeface="Verdana"/>
                  <a:ea typeface="Verdana"/>
                  <a:cs typeface="Verdana"/>
                  <a:sym typeface="Verdana"/>
                </a:rPr>
                <a:t>?</a:t>
              </a:r>
              <a:endParaRPr sz="100"/>
            </a:p>
          </p:txBody>
        </p:sp>
      </p:grpSp>
      <p:grpSp>
        <p:nvGrpSpPr>
          <p:cNvPr id="514" name="Google Shape;514;p40"/>
          <p:cNvGrpSpPr/>
          <p:nvPr/>
        </p:nvGrpSpPr>
        <p:grpSpPr>
          <a:xfrm>
            <a:off x="970850" y="3310075"/>
            <a:ext cx="4931500" cy="2526000"/>
            <a:chOff x="970850" y="3310075"/>
            <a:chExt cx="4931500" cy="2526000"/>
          </a:xfrm>
        </p:grpSpPr>
        <p:sp>
          <p:nvSpPr>
            <p:cNvPr id="515" name="Google Shape;515;p40"/>
            <p:cNvSpPr txBox="1"/>
            <p:nvPr/>
          </p:nvSpPr>
          <p:spPr>
            <a:xfrm>
              <a:off x="3241650" y="3414775"/>
              <a:ext cx="2660700" cy="23166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chemeClr val="dk2"/>
                  </a:solidFill>
                  <a:latin typeface="Verdana"/>
                  <a:ea typeface="Verdana"/>
                  <a:cs typeface="Verdana"/>
                  <a:sym typeface="Verdana"/>
                </a:rPr>
                <a:t>Genotypic ratio:</a:t>
              </a:r>
              <a:endParaRPr b="1" sz="1900">
                <a:solidFill>
                  <a:schemeClr val="dk2"/>
                </a:solidFill>
                <a:latin typeface="Verdana"/>
                <a:ea typeface="Verdana"/>
                <a:cs typeface="Verdana"/>
                <a:sym typeface="Verdana"/>
              </a:endParaRPr>
            </a:p>
            <a:p>
              <a:pPr indent="0" lvl="0" marL="0" rtl="0" algn="l">
                <a:spcBef>
                  <a:spcPts val="0"/>
                </a:spcBef>
                <a:spcAft>
                  <a:spcPts val="0"/>
                </a:spcAft>
                <a:buNone/>
              </a:pPr>
              <a:r>
                <a:t/>
              </a:r>
              <a:endParaRPr sz="200">
                <a:solidFill>
                  <a:schemeClr val="dk2"/>
                </a:solidFill>
                <a:latin typeface="Verdana"/>
                <a:ea typeface="Verdana"/>
                <a:cs typeface="Verdana"/>
                <a:sym typeface="Verdana"/>
              </a:endParaRPr>
            </a:p>
            <a:p>
              <a:pPr indent="0" lvl="0" marL="0" rtl="0" algn="l">
                <a:spcBef>
                  <a:spcPts val="0"/>
                </a:spcBef>
                <a:spcAft>
                  <a:spcPts val="0"/>
                </a:spcAft>
                <a:buNone/>
              </a:pPr>
              <a:r>
                <a:rPr lang="en-CA" sz="1900">
                  <a:solidFill>
                    <a:schemeClr val="dk2"/>
                  </a:solidFill>
                  <a:latin typeface="Verdana"/>
                  <a:ea typeface="Verdana"/>
                  <a:cs typeface="Verdana"/>
                  <a:sym typeface="Verdana"/>
                </a:rPr>
                <a:t> 1  :  2  :  1</a:t>
              </a:r>
              <a:endParaRPr sz="1900">
                <a:solidFill>
                  <a:schemeClr val="dk2"/>
                </a:solidFill>
                <a:latin typeface="Verdana"/>
                <a:ea typeface="Verdana"/>
                <a:cs typeface="Verdana"/>
                <a:sym typeface="Verdana"/>
              </a:endParaRPr>
            </a:p>
            <a:p>
              <a:pPr indent="0" lvl="0" marL="0" rtl="0" algn="l">
                <a:spcBef>
                  <a:spcPts val="0"/>
                </a:spcBef>
                <a:spcAft>
                  <a:spcPts val="0"/>
                </a:spcAft>
                <a:buNone/>
              </a:pPr>
              <a:r>
                <a:rPr lang="en-CA" sz="1900">
                  <a:solidFill>
                    <a:schemeClr val="dk2"/>
                  </a:solidFill>
                  <a:latin typeface="Verdana"/>
                  <a:ea typeface="Verdana"/>
                  <a:cs typeface="Verdana"/>
                  <a:sym typeface="Verdana"/>
                </a:rPr>
                <a:t>BB : Bb : bb</a:t>
              </a:r>
              <a:endParaRPr sz="1900">
                <a:solidFill>
                  <a:schemeClr val="dk2"/>
                </a:solidFill>
                <a:latin typeface="Verdana"/>
                <a:ea typeface="Verdana"/>
                <a:cs typeface="Verdana"/>
                <a:sym typeface="Verdana"/>
              </a:endParaRPr>
            </a:p>
            <a:p>
              <a:pPr indent="0" lvl="0" marL="0" rtl="0" algn="l">
                <a:spcBef>
                  <a:spcPts val="0"/>
                </a:spcBef>
                <a:spcAft>
                  <a:spcPts val="0"/>
                </a:spcAft>
                <a:buNone/>
              </a:pPr>
              <a:r>
                <a:t/>
              </a:r>
              <a:endParaRPr sz="1900">
                <a:solidFill>
                  <a:schemeClr val="dk2"/>
                </a:solidFill>
                <a:latin typeface="Verdana"/>
                <a:ea typeface="Verdana"/>
                <a:cs typeface="Verdana"/>
                <a:sym typeface="Verdana"/>
              </a:endParaRPr>
            </a:p>
            <a:p>
              <a:pPr indent="0" lvl="0" marL="0" rtl="0" algn="l">
                <a:spcBef>
                  <a:spcPts val="0"/>
                </a:spcBef>
                <a:spcAft>
                  <a:spcPts val="0"/>
                </a:spcAft>
                <a:buNone/>
              </a:pPr>
              <a:r>
                <a:rPr b="1" lang="en-CA" sz="1900">
                  <a:solidFill>
                    <a:schemeClr val="dk2"/>
                  </a:solidFill>
                  <a:latin typeface="Verdana"/>
                  <a:ea typeface="Verdana"/>
                  <a:cs typeface="Verdana"/>
                  <a:sym typeface="Verdana"/>
                </a:rPr>
                <a:t>Pheno</a:t>
              </a:r>
              <a:r>
                <a:rPr b="1" lang="en-CA" sz="1900">
                  <a:solidFill>
                    <a:schemeClr val="dk2"/>
                  </a:solidFill>
                  <a:latin typeface="Verdana"/>
                  <a:ea typeface="Verdana"/>
                  <a:cs typeface="Verdana"/>
                  <a:sym typeface="Verdana"/>
                </a:rPr>
                <a:t>typic ratio:</a:t>
              </a:r>
              <a:endParaRPr b="1" sz="1900">
                <a:solidFill>
                  <a:schemeClr val="dk2"/>
                </a:solidFill>
                <a:latin typeface="Verdana"/>
                <a:ea typeface="Verdana"/>
                <a:cs typeface="Verdana"/>
                <a:sym typeface="Verdana"/>
              </a:endParaRPr>
            </a:p>
            <a:p>
              <a:pPr indent="0" lvl="0" marL="0" rtl="0" algn="l">
                <a:spcBef>
                  <a:spcPts val="0"/>
                </a:spcBef>
                <a:spcAft>
                  <a:spcPts val="0"/>
                </a:spcAft>
                <a:buNone/>
              </a:pPr>
              <a:r>
                <a:rPr lang="en-CA" sz="1900">
                  <a:solidFill>
                    <a:schemeClr val="dk2"/>
                  </a:solidFill>
                  <a:latin typeface="Verdana"/>
                  <a:ea typeface="Verdana"/>
                  <a:cs typeface="Verdana"/>
                  <a:sym typeface="Verdana"/>
                </a:rPr>
                <a:t>   3    :    1</a:t>
              </a:r>
              <a:endParaRPr sz="1900">
                <a:solidFill>
                  <a:schemeClr val="dk2"/>
                </a:solidFill>
                <a:latin typeface="Verdana"/>
                <a:ea typeface="Verdana"/>
                <a:cs typeface="Verdana"/>
                <a:sym typeface="Verdana"/>
              </a:endParaRPr>
            </a:p>
            <a:p>
              <a:pPr indent="0" lvl="0" marL="0" rtl="0" algn="l">
                <a:spcBef>
                  <a:spcPts val="0"/>
                </a:spcBef>
                <a:spcAft>
                  <a:spcPts val="0"/>
                </a:spcAft>
                <a:buNone/>
              </a:pPr>
              <a:r>
                <a:rPr lang="en-CA" sz="1900">
                  <a:solidFill>
                    <a:schemeClr val="dk2"/>
                  </a:solidFill>
                  <a:latin typeface="Verdana"/>
                  <a:ea typeface="Verdana"/>
                  <a:cs typeface="Verdana"/>
                  <a:sym typeface="Verdana"/>
                </a:rPr>
                <a:t>Black : brown</a:t>
              </a:r>
              <a:endParaRPr sz="1900">
                <a:solidFill>
                  <a:schemeClr val="dk2"/>
                </a:solidFill>
                <a:latin typeface="Verdana"/>
                <a:ea typeface="Verdana"/>
                <a:cs typeface="Verdana"/>
                <a:sym typeface="Verdana"/>
              </a:endParaRPr>
            </a:p>
          </p:txBody>
        </p:sp>
        <p:grpSp>
          <p:nvGrpSpPr>
            <p:cNvPr id="516" name="Google Shape;516;p40"/>
            <p:cNvGrpSpPr/>
            <p:nvPr/>
          </p:nvGrpSpPr>
          <p:grpSpPr>
            <a:xfrm>
              <a:off x="970850" y="3310075"/>
              <a:ext cx="2497897" cy="2526000"/>
              <a:chOff x="880125" y="2611575"/>
              <a:chExt cx="2497897" cy="2526000"/>
            </a:xfrm>
          </p:grpSpPr>
          <p:grpSp>
            <p:nvGrpSpPr>
              <p:cNvPr id="517" name="Google Shape;517;p40"/>
              <p:cNvGrpSpPr/>
              <p:nvPr/>
            </p:nvGrpSpPr>
            <p:grpSpPr>
              <a:xfrm>
                <a:off x="880125" y="2611575"/>
                <a:ext cx="2497897" cy="2526000"/>
                <a:chOff x="889178" y="3483576"/>
                <a:chExt cx="3669600" cy="2526000"/>
              </a:xfrm>
            </p:grpSpPr>
            <p:sp>
              <p:nvSpPr>
                <p:cNvPr id="518" name="Google Shape;518;p40"/>
                <p:cNvSpPr txBox="1"/>
                <p:nvPr/>
              </p:nvSpPr>
              <p:spPr>
                <a:xfrm>
                  <a:off x="889178" y="3483576"/>
                  <a:ext cx="3669600" cy="25260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CA" sz="2400">
                      <a:solidFill>
                        <a:schemeClr val="dk2"/>
                      </a:solidFill>
                      <a:latin typeface="Verdana"/>
                      <a:ea typeface="Verdana"/>
                      <a:cs typeface="Verdana"/>
                      <a:sym typeface="Verdana"/>
                    </a:rPr>
                    <a:t>Bb x Bb</a:t>
                  </a:r>
                  <a:endParaRPr sz="2400">
                    <a:solidFill>
                      <a:schemeClr val="dk2"/>
                    </a:solidFill>
                    <a:latin typeface="Verdana"/>
                    <a:ea typeface="Verdana"/>
                    <a:cs typeface="Verdana"/>
                    <a:sym typeface="Verdana"/>
                  </a:endParaRPr>
                </a:p>
                <a:p>
                  <a:pPr indent="45720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B      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a:t>
                  </a:r>
                  <a:r>
                    <a:rPr lang="en-CA" sz="2400">
                      <a:solidFill>
                        <a:schemeClr val="dk2"/>
                      </a:solidFill>
                      <a:latin typeface="Verdana"/>
                      <a:ea typeface="Verdana"/>
                      <a:cs typeface="Verdana"/>
                      <a:sym typeface="Verdana"/>
                    </a:rPr>
                    <a:t>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a:t>
                  </a:r>
                  <a:endParaRPr sz="2400">
                    <a:solidFill>
                      <a:schemeClr val="dk2"/>
                    </a:solidFill>
                    <a:latin typeface="Verdana"/>
                    <a:ea typeface="Verdana"/>
                    <a:cs typeface="Verdana"/>
                    <a:sym typeface="Verdana"/>
                  </a:endParaRPr>
                </a:p>
              </p:txBody>
            </p:sp>
            <p:grpSp>
              <p:nvGrpSpPr>
                <p:cNvPr id="519" name="Google Shape;519;p40"/>
                <p:cNvGrpSpPr/>
                <p:nvPr/>
              </p:nvGrpSpPr>
              <p:grpSpPr>
                <a:xfrm>
                  <a:off x="966645" y="4350233"/>
                  <a:ext cx="2844856" cy="1613910"/>
                  <a:chOff x="1662475" y="3850636"/>
                  <a:chExt cx="2311200" cy="1368300"/>
                </a:xfrm>
              </p:grpSpPr>
              <p:cxnSp>
                <p:nvCxnSpPr>
                  <p:cNvPr id="520" name="Google Shape;520;p40"/>
                  <p:cNvCxnSpPr/>
                  <p:nvPr/>
                </p:nvCxnSpPr>
                <p:spPr>
                  <a:xfrm>
                    <a:off x="2000447" y="3850636"/>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21" name="Google Shape;521;p40"/>
                  <p:cNvCxnSpPr/>
                  <p:nvPr/>
                </p:nvCxnSpPr>
                <p:spPr>
                  <a:xfrm rot="10800000">
                    <a:off x="1662475" y="4117822"/>
                    <a:ext cx="2311200" cy="15300"/>
                  </a:xfrm>
                  <a:prstGeom prst="straightConnector1">
                    <a:avLst/>
                  </a:prstGeom>
                  <a:noFill/>
                  <a:ln cap="flat" cmpd="sng" w="9525">
                    <a:solidFill>
                      <a:schemeClr val="accent1"/>
                    </a:solidFill>
                    <a:prstDash val="solid"/>
                    <a:round/>
                    <a:headEnd len="sm" w="sm" type="none"/>
                    <a:tailEnd len="sm" w="sm" type="none"/>
                  </a:ln>
                </p:spPr>
              </p:cxnSp>
            </p:grpSp>
          </p:grpSp>
          <p:sp>
            <p:nvSpPr>
              <p:cNvPr id="522" name="Google Shape;522;p40"/>
              <p:cNvSpPr/>
              <p:nvPr/>
            </p:nvSpPr>
            <p:spPr>
              <a:xfrm>
                <a:off x="1452350" y="3947675"/>
                <a:ext cx="669600" cy="1189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23" name="Google Shape;523;p40"/>
              <p:cNvSpPr/>
              <p:nvPr/>
            </p:nvSpPr>
            <p:spPr>
              <a:xfrm rot="-5400000">
                <a:off x="2268050" y="3801700"/>
                <a:ext cx="582300" cy="8745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24" name="Google Shape;524;p40"/>
              <p:cNvSpPr/>
              <p:nvPr/>
            </p:nvSpPr>
            <p:spPr>
              <a:xfrm>
                <a:off x="2121950" y="4525275"/>
                <a:ext cx="874500" cy="612300"/>
              </a:xfrm>
              <a:prstGeom prst="rect">
                <a:avLst/>
              </a:prstGeom>
              <a:solidFill>
                <a:srgbClr val="9C734A">
                  <a:alpha val="64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grpSp>
      <p:sp>
        <p:nvSpPr>
          <p:cNvPr id="525" name="Google Shape;525;p40"/>
          <p:cNvSpPr txBox="1"/>
          <p:nvPr/>
        </p:nvSpPr>
        <p:spPr>
          <a:xfrm>
            <a:off x="6104100" y="3227125"/>
            <a:ext cx="2476500" cy="29166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CA" sz="1500">
                <a:solidFill>
                  <a:schemeClr val="dk1"/>
                </a:solidFill>
                <a:latin typeface="Verdana"/>
                <a:ea typeface="Verdana"/>
                <a:cs typeface="Verdana"/>
                <a:sym typeface="Verdana"/>
              </a:rPr>
              <a:t>Note:</a:t>
            </a:r>
            <a:endParaRPr b="1" i="1" sz="1500">
              <a:solidFill>
                <a:schemeClr val="dk1"/>
              </a:solidFill>
              <a:latin typeface="Verdana"/>
              <a:ea typeface="Verdana"/>
              <a:cs typeface="Verdana"/>
              <a:sym typeface="Verdana"/>
            </a:endParaRPr>
          </a:p>
          <a:p>
            <a:pPr indent="0" lvl="0" marL="0" rtl="0" algn="l">
              <a:spcBef>
                <a:spcPts val="0"/>
              </a:spcBef>
              <a:spcAft>
                <a:spcPts val="0"/>
              </a:spcAft>
              <a:buNone/>
            </a:pPr>
            <a:r>
              <a:rPr lang="en-CA" sz="1500">
                <a:solidFill>
                  <a:schemeClr val="dk1"/>
                </a:solidFill>
                <a:latin typeface="Verdana"/>
                <a:ea typeface="Verdana"/>
                <a:cs typeface="Verdana"/>
                <a:sym typeface="Verdana"/>
              </a:rPr>
              <a:t>A 1:2:1 genotypic ratio and/or a 3:1 phenotypic ratio is highly indicative that we are dealing with a</a:t>
            </a:r>
            <a:r>
              <a:rPr b="1" lang="en-CA" sz="1500">
                <a:solidFill>
                  <a:schemeClr val="dk1"/>
                </a:solidFill>
                <a:latin typeface="Verdana"/>
                <a:ea typeface="Verdana"/>
                <a:cs typeface="Verdana"/>
                <a:sym typeface="Verdana"/>
              </a:rPr>
              <a:t> monohybrid cross, </a:t>
            </a:r>
            <a:r>
              <a:rPr lang="en-CA" sz="1500">
                <a:solidFill>
                  <a:schemeClr val="dk1"/>
                </a:solidFill>
                <a:latin typeface="Verdana"/>
                <a:ea typeface="Verdana"/>
                <a:cs typeface="Verdana"/>
                <a:sym typeface="Verdana"/>
              </a:rPr>
              <a:t>which is a cross between two organisms that are </a:t>
            </a:r>
            <a:r>
              <a:rPr b="1" lang="en-CA" sz="1500">
                <a:solidFill>
                  <a:schemeClr val="dk1"/>
                </a:solidFill>
                <a:latin typeface="Verdana"/>
                <a:ea typeface="Verdana"/>
                <a:cs typeface="Verdana"/>
                <a:sym typeface="Verdana"/>
              </a:rPr>
              <a:t>both heterozygous for a single trait</a:t>
            </a:r>
            <a:r>
              <a:rPr lang="en-CA" sz="1500">
                <a:solidFill>
                  <a:schemeClr val="dk1"/>
                </a:solidFill>
                <a:latin typeface="Verdana"/>
                <a:ea typeface="Verdana"/>
                <a:cs typeface="Verdana"/>
                <a:sym typeface="Verdana"/>
              </a:rPr>
              <a:t>.</a:t>
            </a:r>
            <a:endParaRPr sz="1500">
              <a:solidFill>
                <a:schemeClr val="dk1"/>
              </a:solidFill>
              <a:latin typeface="Verdana"/>
              <a:ea typeface="Verdana"/>
              <a:cs typeface="Verdana"/>
              <a:sym typeface="Verdana"/>
            </a:endParaRPr>
          </a:p>
          <a:p>
            <a:pPr indent="0" lvl="0" marL="0" rtl="0" algn="l">
              <a:spcBef>
                <a:spcPts val="0"/>
              </a:spcBef>
              <a:spcAft>
                <a:spcPts val="0"/>
              </a:spcAft>
              <a:buNone/>
            </a:pPr>
            <a:r>
              <a:t/>
            </a:r>
            <a:endParaRPr sz="15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1"/>
          <p:cNvSpPr txBox="1"/>
          <p:nvPr/>
        </p:nvSpPr>
        <p:spPr>
          <a:xfrm>
            <a:off x="509175" y="743000"/>
            <a:ext cx="5442900" cy="10158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00000"/>
              </a:lnSpc>
              <a:spcBef>
                <a:spcPts val="0"/>
              </a:spcBef>
              <a:spcAft>
                <a:spcPts val="0"/>
              </a:spcAft>
              <a:buClr>
                <a:srgbClr val="393B3F"/>
              </a:buClr>
              <a:buSzPts val="2000"/>
              <a:buFont typeface="Verdana"/>
              <a:buAutoNum type="alphaLcParenR" startAt="4"/>
            </a:pPr>
            <a:r>
              <a:rPr b="0" i="0" lang="en-CA" sz="2000" u="none" cap="none" strike="noStrike">
                <a:solidFill>
                  <a:srgbClr val="393B3F"/>
                </a:solidFill>
                <a:latin typeface="Verdana"/>
                <a:ea typeface="Verdana"/>
                <a:cs typeface="Verdana"/>
                <a:sym typeface="Verdana"/>
              </a:rPr>
              <a:t>Is it possible for a homozygous black mouse and a heterozygous black mouse to have </a:t>
            </a:r>
            <a:r>
              <a:rPr lang="en-CA" sz="2000">
                <a:solidFill>
                  <a:srgbClr val="393B3F"/>
                </a:solidFill>
                <a:latin typeface="Verdana"/>
                <a:ea typeface="Verdana"/>
                <a:cs typeface="Verdana"/>
                <a:sym typeface="Verdana"/>
              </a:rPr>
              <a:t>‘children’ that are brown? How about </a:t>
            </a:r>
            <a:r>
              <a:rPr b="0" i="0" lang="en-CA" sz="2000" u="none" cap="none" strike="noStrike">
                <a:solidFill>
                  <a:srgbClr val="393B3F"/>
                </a:solidFill>
                <a:latin typeface="Verdana"/>
                <a:ea typeface="Verdana"/>
                <a:cs typeface="Verdana"/>
                <a:sym typeface="Verdana"/>
              </a:rPr>
              <a:t>“grandchildren” that are brown?</a:t>
            </a:r>
            <a:endParaRPr/>
          </a:p>
        </p:txBody>
      </p:sp>
      <p:pic>
        <p:nvPicPr>
          <p:cNvPr id="531" name="Google Shape;531;p41"/>
          <p:cNvPicPr preferRelativeResize="0"/>
          <p:nvPr/>
        </p:nvPicPr>
        <p:blipFill rotWithShape="1">
          <a:blip r:embed="rId3">
            <a:alphaModFix/>
          </a:blip>
          <a:srcRect b="0" l="0" r="0" t="0"/>
          <a:stretch/>
        </p:blipFill>
        <p:spPr>
          <a:xfrm>
            <a:off x="6097225" y="100925"/>
            <a:ext cx="2505600" cy="2644100"/>
          </a:xfrm>
          <a:prstGeom prst="rect">
            <a:avLst/>
          </a:prstGeom>
          <a:noFill/>
          <a:ln>
            <a:noFill/>
          </a:ln>
        </p:spPr>
      </p:pic>
      <p:grpSp>
        <p:nvGrpSpPr>
          <p:cNvPr id="532" name="Google Shape;532;p41"/>
          <p:cNvGrpSpPr/>
          <p:nvPr/>
        </p:nvGrpSpPr>
        <p:grpSpPr>
          <a:xfrm>
            <a:off x="509175" y="2539000"/>
            <a:ext cx="3617150" cy="4059100"/>
            <a:chOff x="509175" y="2539000"/>
            <a:chExt cx="3617150" cy="4059100"/>
          </a:xfrm>
        </p:grpSpPr>
        <p:sp>
          <p:nvSpPr>
            <p:cNvPr id="533" name="Google Shape;533;p41"/>
            <p:cNvSpPr txBox="1"/>
            <p:nvPr/>
          </p:nvSpPr>
          <p:spPr>
            <a:xfrm>
              <a:off x="509175" y="2539000"/>
              <a:ext cx="2497800" cy="25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400">
                  <a:solidFill>
                    <a:schemeClr val="dk2"/>
                  </a:solidFill>
                  <a:latin typeface="Verdana"/>
                  <a:ea typeface="Verdana"/>
                  <a:cs typeface="Verdana"/>
                  <a:sym typeface="Verdana"/>
                </a:rPr>
                <a:t>		</a:t>
              </a:r>
              <a:r>
                <a:rPr lang="en-CA" sz="2400">
                  <a:solidFill>
                    <a:schemeClr val="dk2"/>
                  </a:solidFill>
                  <a:latin typeface="Verdana"/>
                  <a:ea typeface="Verdana"/>
                  <a:cs typeface="Verdana"/>
                  <a:sym typeface="Verdana"/>
                </a:rPr>
                <a:t>BB x Bb</a:t>
              </a:r>
              <a:endParaRPr sz="2400">
                <a:solidFill>
                  <a:schemeClr val="dk2"/>
                </a:solidFill>
                <a:latin typeface="Verdana"/>
                <a:ea typeface="Verdana"/>
                <a:cs typeface="Verdana"/>
                <a:sym typeface="Verdana"/>
              </a:endParaRPr>
            </a:p>
            <a:p>
              <a:pPr indent="457200" lvl="0" marL="0" rtl="0" algn="l">
                <a:spcBef>
                  <a:spcPts val="0"/>
                </a:spcBef>
                <a:spcAft>
                  <a:spcPts val="0"/>
                </a:spcAft>
                <a:buNone/>
              </a:pPr>
              <a:r>
                <a:t/>
              </a:r>
              <a:endParaRPr sz="2400">
                <a:solidFill>
                  <a:schemeClr val="dk2"/>
                </a:solidFill>
                <a:latin typeface="Verdana"/>
                <a:ea typeface="Verdana"/>
                <a:cs typeface="Verdana"/>
                <a:sym typeface="Verdana"/>
              </a:endParaRPr>
            </a:p>
            <a:p>
              <a:pPr indent="457200" lvl="0" marL="0" rtl="0" algn="l">
                <a:spcBef>
                  <a:spcPts val="0"/>
                </a:spcBef>
                <a:spcAft>
                  <a:spcPts val="0"/>
                </a:spcAft>
                <a:buNone/>
              </a:pPr>
              <a:r>
                <a:rPr lang="en-CA" sz="2400">
                  <a:solidFill>
                    <a:schemeClr val="dk2"/>
                  </a:solidFill>
                  <a:latin typeface="Verdana"/>
                  <a:ea typeface="Verdana"/>
                  <a:cs typeface="Verdana"/>
                  <a:sym typeface="Verdana"/>
                </a:rPr>
                <a:t>	 B      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a:solidFill>
                  <a:schemeClr val="dk2"/>
                </a:solidFill>
                <a:latin typeface="Verdana"/>
                <a:ea typeface="Verdana"/>
                <a:cs typeface="Verdana"/>
                <a:sym typeface="Verdana"/>
              </a:endParaRPr>
            </a:p>
            <a:p>
              <a:pPr indent="45720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45720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a:t>
              </a:r>
              <a:endParaRPr sz="2400">
                <a:solidFill>
                  <a:schemeClr val="dk2"/>
                </a:solidFill>
                <a:latin typeface="Verdana"/>
                <a:ea typeface="Verdana"/>
                <a:cs typeface="Verdana"/>
                <a:sym typeface="Verdana"/>
              </a:endParaRPr>
            </a:p>
          </p:txBody>
        </p:sp>
        <p:grpSp>
          <p:nvGrpSpPr>
            <p:cNvPr id="534" name="Google Shape;534;p41"/>
            <p:cNvGrpSpPr/>
            <p:nvPr/>
          </p:nvGrpSpPr>
          <p:grpSpPr>
            <a:xfrm>
              <a:off x="1070425" y="3496432"/>
              <a:ext cx="1936554" cy="1613910"/>
              <a:chOff x="1662475" y="3850636"/>
              <a:chExt cx="2311200" cy="1368300"/>
            </a:xfrm>
          </p:grpSpPr>
          <p:cxnSp>
            <p:nvCxnSpPr>
              <p:cNvPr id="535" name="Google Shape;535;p41"/>
              <p:cNvCxnSpPr/>
              <p:nvPr/>
            </p:nvCxnSpPr>
            <p:spPr>
              <a:xfrm>
                <a:off x="2000447" y="3850636"/>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36" name="Google Shape;536;p41"/>
              <p:cNvCxnSpPr/>
              <p:nvPr/>
            </p:nvCxnSpPr>
            <p:spPr>
              <a:xfrm rot="10800000">
                <a:off x="1662475" y="4117822"/>
                <a:ext cx="2311200" cy="15300"/>
              </a:xfrm>
              <a:prstGeom prst="straightConnector1">
                <a:avLst/>
              </a:prstGeom>
              <a:noFill/>
              <a:ln cap="flat" cmpd="sng" w="9525">
                <a:solidFill>
                  <a:schemeClr val="accent1"/>
                </a:solidFill>
                <a:prstDash val="solid"/>
                <a:round/>
                <a:headEnd len="sm" w="sm" type="none"/>
                <a:tailEnd len="sm" w="sm" type="none"/>
              </a:ln>
            </p:spPr>
          </p:cxnSp>
        </p:grpSp>
        <p:sp>
          <p:nvSpPr>
            <p:cNvPr id="537" name="Google Shape;537;p41"/>
            <p:cNvSpPr/>
            <p:nvPr/>
          </p:nvSpPr>
          <p:spPr>
            <a:xfrm>
              <a:off x="1498700" y="3920550"/>
              <a:ext cx="1449600" cy="1189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38" name="Google Shape;538;p41"/>
            <p:cNvSpPr txBox="1"/>
            <p:nvPr/>
          </p:nvSpPr>
          <p:spPr>
            <a:xfrm>
              <a:off x="561425" y="5321300"/>
              <a:ext cx="3564900" cy="12768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chemeClr val="dk2"/>
                  </a:solidFill>
                  <a:latin typeface="Verdana"/>
                  <a:ea typeface="Verdana"/>
                  <a:cs typeface="Verdana"/>
                  <a:sym typeface="Verdana"/>
                </a:rPr>
                <a:t>No children will be brown, because each possible combination has at least one dominant black allele.  </a:t>
              </a:r>
              <a:endParaRPr sz="1800">
                <a:solidFill>
                  <a:schemeClr val="dk2"/>
                </a:solidFill>
                <a:latin typeface="Verdana"/>
                <a:ea typeface="Verdana"/>
                <a:cs typeface="Verdana"/>
                <a:sym typeface="Verdana"/>
              </a:endParaRPr>
            </a:p>
          </p:txBody>
        </p:sp>
      </p:grpSp>
      <p:grpSp>
        <p:nvGrpSpPr>
          <p:cNvPr id="539" name="Google Shape;539;p41"/>
          <p:cNvGrpSpPr/>
          <p:nvPr/>
        </p:nvGrpSpPr>
        <p:grpSpPr>
          <a:xfrm>
            <a:off x="2864338" y="2693225"/>
            <a:ext cx="5879462" cy="3975650"/>
            <a:chOff x="2864338" y="2693225"/>
            <a:chExt cx="5879462" cy="3975650"/>
          </a:xfrm>
        </p:grpSpPr>
        <p:grpSp>
          <p:nvGrpSpPr>
            <p:cNvPr id="540" name="Google Shape;540;p41"/>
            <p:cNvGrpSpPr/>
            <p:nvPr/>
          </p:nvGrpSpPr>
          <p:grpSpPr>
            <a:xfrm>
              <a:off x="4469400" y="3567207"/>
              <a:ext cx="4274400" cy="3101668"/>
              <a:chOff x="561425" y="3496432"/>
              <a:chExt cx="4274400" cy="3101668"/>
            </a:xfrm>
          </p:grpSpPr>
          <p:grpSp>
            <p:nvGrpSpPr>
              <p:cNvPr id="541" name="Google Shape;541;p41"/>
              <p:cNvGrpSpPr/>
              <p:nvPr/>
            </p:nvGrpSpPr>
            <p:grpSpPr>
              <a:xfrm>
                <a:off x="1070425" y="3496432"/>
                <a:ext cx="1936554" cy="1613910"/>
                <a:chOff x="1662475" y="3850636"/>
                <a:chExt cx="2311200" cy="1368300"/>
              </a:xfrm>
            </p:grpSpPr>
            <p:cxnSp>
              <p:nvCxnSpPr>
                <p:cNvPr id="542" name="Google Shape;542;p41"/>
                <p:cNvCxnSpPr/>
                <p:nvPr/>
              </p:nvCxnSpPr>
              <p:spPr>
                <a:xfrm>
                  <a:off x="2000447" y="3850636"/>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43" name="Google Shape;543;p41"/>
                <p:cNvCxnSpPr/>
                <p:nvPr/>
              </p:nvCxnSpPr>
              <p:spPr>
                <a:xfrm rot="10800000">
                  <a:off x="1662475" y="4117822"/>
                  <a:ext cx="2311200" cy="15300"/>
                </a:xfrm>
                <a:prstGeom prst="straightConnector1">
                  <a:avLst/>
                </a:prstGeom>
                <a:noFill/>
                <a:ln cap="flat" cmpd="sng" w="9525">
                  <a:solidFill>
                    <a:schemeClr val="accent1"/>
                  </a:solidFill>
                  <a:prstDash val="solid"/>
                  <a:round/>
                  <a:headEnd len="sm" w="sm" type="none"/>
                  <a:tailEnd len="sm" w="sm" type="none"/>
                </a:ln>
              </p:spPr>
            </p:cxnSp>
          </p:grpSp>
          <p:sp>
            <p:nvSpPr>
              <p:cNvPr id="544" name="Google Shape;544;p41"/>
              <p:cNvSpPr txBox="1"/>
              <p:nvPr/>
            </p:nvSpPr>
            <p:spPr>
              <a:xfrm>
                <a:off x="561425" y="5321300"/>
                <a:ext cx="4274400" cy="12768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chemeClr val="dk2"/>
                    </a:solidFill>
                    <a:latin typeface="Verdana"/>
                    <a:ea typeface="Verdana"/>
                    <a:cs typeface="Verdana"/>
                    <a:sym typeface="Verdana"/>
                  </a:rPr>
                  <a:t>If two of the heterozygous children from the F1 generation reproduce, they will have a ¼ chance of having brown offspring. So yes!</a:t>
                </a:r>
                <a:endParaRPr sz="1800">
                  <a:solidFill>
                    <a:schemeClr val="dk2"/>
                  </a:solidFill>
                  <a:latin typeface="Verdana"/>
                  <a:ea typeface="Verdana"/>
                  <a:cs typeface="Verdana"/>
                  <a:sym typeface="Verdana"/>
                </a:endParaRPr>
              </a:p>
            </p:txBody>
          </p:sp>
        </p:grpSp>
        <p:sp>
          <p:nvSpPr>
            <p:cNvPr id="545" name="Google Shape;545;p41"/>
            <p:cNvSpPr txBox="1"/>
            <p:nvPr/>
          </p:nvSpPr>
          <p:spPr>
            <a:xfrm>
              <a:off x="4835275" y="2693225"/>
              <a:ext cx="2497800" cy="25260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CA" sz="2400">
                  <a:solidFill>
                    <a:schemeClr val="dk2"/>
                  </a:solidFill>
                  <a:latin typeface="Verdana"/>
                  <a:ea typeface="Verdana"/>
                  <a:cs typeface="Verdana"/>
                  <a:sym typeface="Verdana"/>
                </a:rPr>
                <a:t>Bb x Bb</a:t>
              </a:r>
              <a:endParaRPr sz="2400">
                <a:solidFill>
                  <a:schemeClr val="dk2"/>
                </a:solidFill>
                <a:latin typeface="Verdana"/>
                <a:ea typeface="Verdana"/>
                <a:cs typeface="Verdana"/>
                <a:sym typeface="Verdana"/>
              </a:endParaRPr>
            </a:p>
            <a:p>
              <a:pPr indent="45720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B      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a:t>
              </a:r>
              <a:endParaRPr sz="2400">
                <a:solidFill>
                  <a:schemeClr val="dk2"/>
                </a:solidFill>
                <a:latin typeface="Verdana"/>
                <a:ea typeface="Verdana"/>
                <a:cs typeface="Verdana"/>
                <a:sym typeface="Verdana"/>
              </a:endParaRPr>
            </a:p>
          </p:txBody>
        </p:sp>
        <p:sp>
          <p:nvSpPr>
            <p:cNvPr id="546" name="Google Shape;546;p41"/>
            <p:cNvSpPr/>
            <p:nvPr/>
          </p:nvSpPr>
          <p:spPr>
            <a:xfrm rot="-1856534">
              <a:off x="2741150" y="3838915"/>
              <a:ext cx="2875877" cy="317393"/>
            </a:xfrm>
            <a:prstGeom prst="rightArrow">
              <a:avLst>
                <a:gd fmla="val 50000" name="adj1"/>
                <a:gd fmla="val 50000" name="adj2"/>
              </a:avLst>
            </a:prstGeom>
            <a:solidFill>
              <a:srgbClr val="B7B7B7"/>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nvGrpSpPr>
            <p:cNvPr id="547" name="Google Shape;547;p41"/>
            <p:cNvGrpSpPr/>
            <p:nvPr/>
          </p:nvGrpSpPr>
          <p:grpSpPr>
            <a:xfrm>
              <a:off x="5312125" y="3973600"/>
              <a:ext cx="1544100" cy="1189900"/>
              <a:chOff x="1452350" y="3947675"/>
              <a:chExt cx="1544100" cy="1189900"/>
            </a:xfrm>
          </p:grpSpPr>
          <p:sp>
            <p:nvSpPr>
              <p:cNvPr id="548" name="Google Shape;548;p41"/>
              <p:cNvSpPr/>
              <p:nvPr/>
            </p:nvSpPr>
            <p:spPr>
              <a:xfrm>
                <a:off x="1452350" y="3947675"/>
                <a:ext cx="669600" cy="1189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49" name="Google Shape;549;p41"/>
              <p:cNvSpPr/>
              <p:nvPr/>
            </p:nvSpPr>
            <p:spPr>
              <a:xfrm rot="-5400000">
                <a:off x="2268050" y="3801700"/>
                <a:ext cx="582300" cy="8745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50" name="Google Shape;550;p41"/>
              <p:cNvSpPr/>
              <p:nvPr/>
            </p:nvSpPr>
            <p:spPr>
              <a:xfrm>
                <a:off x="2121950" y="4525275"/>
                <a:ext cx="874500" cy="612300"/>
              </a:xfrm>
              <a:prstGeom prst="rect">
                <a:avLst/>
              </a:prstGeom>
              <a:solidFill>
                <a:srgbClr val="9C734A">
                  <a:alpha val="64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2"/>
          <p:cNvSpPr txBox="1"/>
          <p:nvPr/>
        </p:nvSpPr>
        <p:spPr>
          <a:xfrm>
            <a:off x="509175" y="743000"/>
            <a:ext cx="5442900" cy="10158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00000"/>
              </a:lnSpc>
              <a:spcBef>
                <a:spcPts val="0"/>
              </a:spcBef>
              <a:spcAft>
                <a:spcPts val="0"/>
              </a:spcAft>
              <a:buClr>
                <a:srgbClr val="393B3F"/>
              </a:buClr>
              <a:buSzPts val="2000"/>
              <a:buFont typeface="Verdana"/>
              <a:buAutoNum type="alphaLcParenR" startAt="4"/>
            </a:pPr>
            <a:r>
              <a:rPr b="0" i="0" lang="en-CA" sz="2000" u="none" cap="none" strike="noStrike">
                <a:solidFill>
                  <a:srgbClr val="393B3F"/>
                </a:solidFill>
                <a:latin typeface="Verdana"/>
                <a:ea typeface="Verdana"/>
                <a:cs typeface="Verdana"/>
                <a:sym typeface="Verdana"/>
              </a:rPr>
              <a:t>Is it possible for a homozygous black mouse and a heterozygous black mouse to have </a:t>
            </a:r>
            <a:r>
              <a:rPr lang="en-CA" sz="2000">
                <a:solidFill>
                  <a:srgbClr val="393B3F"/>
                </a:solidFill>
                <a:latin typeface="Verdana"/>
                <a:ea typeface="Verdana"/>
                <a:cs typeface="Verdana"/>
                <a:sym typeface="Verdana"/>
              </a:rPr>
              <a:t>‘children’ that are brown? How about </a:t>
            </a:r>
            <a:r>
              <a:rPr b="0" i="0" lang="en-CA" sz="2000" u="none" cap="none" strike="noStrike">
                <a:solidFill>
                  <a:srgbClr val="393B3F"/>
                </a:solidFill>
                <a:latin typeface="Verdana"/>
                <a:ea typeface="Verdana"/>
                <a:cs typeface="Verdana"/>
                <a:sym typeface="Verdana"/>
              </a:rPr>
              <a:t>“grandchildren” that are brown?</a:t>
            </a:r>
            <a:endParaRPr/>
          </a:p>
        </p:txBody>
      </p:sp>
      <p:pic>
        <p:nvPicPr>
          <p:cNvPr id="556" name="Google Shape;556;p42"/>
          <p:cNvPicPr preferRelativeResize="0"/>
          <p:nvPr/>
        </p:nvPicPr>
        <p:blipFill rotWithShape="1">
          <a:blip r:embed="rId3">
            <a:alphaModFix/>
          </a:blip>
          <a:srcRect b="0" l="0" r="0" t="0"/>
          <a:stretch/>
        </p:blipFill>
        <p:spPr>
          <a:xfrm>
            <a:off x="6097225" y="100925"/>
            <a:ext cx="2505600" cy="2644100"/>
          </a:xfrm>
          <a:prstGeom prst="rect">
            <a:avLst/>
          </a:prstGeom>
          <a:noFill/>
          <a:ln>
            <a:noFill/>
          </a:ln>
        </p:spPr>
      </p:pic>
      <p:grpSp>
        <p:nvGrpSpPr>
          <p:cNvPr id="557" name="Google Shape;557;p42"/>
          <p:cNvGrpSpPr/>
          <p:nvPr/>
        </p:nvGrpSpPr>
        <p:grpSpPr>
          <a:xfrm>
            <a:off x="4469400" y="2693225"/>
            <a:ext cx="4274400" cy="3975650"/>
            <a:chOff x="4469400" y="2693225"/>
            <a:chExt cx="4274400" cy="3975650"/>
          </a:xfrm>
        </p:grpSpPr>
        <p:grpSp>
          <p:nvGrpSpPr>
            <p:cNvPr id="558" name="Google Shape;558;p42"/>
            <p:cNvGrpSpPr/>
            <p:nvPr/>
          </p:nvGrpSpPr>
          <p:grpSpPr>
            <a:xfrm>
              <a:off x="4469400" y="3567207"/>
              <a:ext cx="4274400" cy="3101668"/>
              <a:chOff x="561425" y="3496432"/>
              <a:chExt cx="4274400" cy="3101668"/>
            </a:xfrm>
          </p:grpSpPr>
          <p:grpSp>
            <p:nvGrpSpPr>
              <p:cNvPr id="559" name="Google Shape;559;p42"/>
              <p:cNvGrpSpPr/>
              <p:nvPr/>
            </p:nvGrpSpPr>
            <p:grpSpPr>
              <a:xfrm>
                <a:off x="1070425" y="3496432"/>
                <a:ext cx="1936554" cy="1613910"/>
                <a:chOff x="1662475" y="3850636"/>
                <a:chExt cx="2311200" cy="1368300"/>
              </a:xfrm>
            </p:grpSpPr>
            <p:cxnSp>
              <p:nvCxnSpPr>
                <p:cNvPr id="560" name="Google Shape;560;p42"/>
                <p:cNvCxnSpPr/>
                <p:nvPr/>
              </p:nvCxnSpPr>
              <p:spPr>
                <a:xfrm>
                  <a:off x="2000447" y="3850636"/>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61" name="Google Shape;561;p42"/>
                <p:cNvCxnSpPr/>
                <p:nvPr/>
              </p:nvCxnSpPr>
              <p:spPr>
                <a:xfrm rot="10800000">
                  <a:off x="1662475" y="4117822"/>
                  <a:ext cx="2311200" cy="15300"/>
                </a:xfrm>
                <a:prstGeom prst="straightConnector1">
                  <a:avLst/>
                </a:prstGeom>
                <a:noFill/>
                <a:ln cap="flat" cmpd="sng" w="9525">
                  <a:solidFill>
                    <a:schemeClr val="accent1"/>
                  </a:solidFill>
                  <a:prstDash val="solid"/>
                  <a:round/>
                  <a:headEnd len="sm" w="sm" type="none"/>
                  <a:tailEnd len="sm" w="sm" type="none"/>
                </a:ln>
              </p:spPr>
            </p:cxnSp>
          </p:grpSp>
          <p:sp>
            <p:nvSpPr>
              <p:cNvPr id="562" name="Google Shape;562;p42"/>
              <p:cNvSpPr txBox="1"/>
              <p:nvPr/>
            </p:nvSpPr>
            <p:spPr>
              <a:xfrm>
                <a:off x="561425" y="5321300"/>
                <a:ext cx="4274400" cy="12768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chemeClr val="dk2"/>
                    </a:solidFill>
                    <a:latin typeface="Verdana"/>
                    <a:ea typeface="Verdana"/>
                    <a:cs typeface="Verdana"/>
                    <a:sym typeface="Verdana"/>
                  </a:rPr>
                  <a:t>If two of the heterozygous children from the F1 generation reproduce, they will have a ¼ chance of having brown offspring. So yes!</a:t>
                </a:r>
                <a:endParaRPr sz="1800">
                  <a:solidFill>
                    <a:schemeClr val="dk2"/>
                  </a:solidFill>
                  <a:latin typeface="Verdana"/>
                  <a:ea typeface="Verdana"/>
                  <a:cs typeface="Verdana"/>
                  <a:sym typeface="Verdana"/>
                </a:endParaRPr>
              </a:p>
            </p:txBody>
          </p:sp>
        </p:grpSp>
        <p:sp>
          <p:nvSpPr>
            <p:cNvPr id="563" name="Google Shape;563;p42"/>
            <p:cNvSpPr txBox="1"/>
            <p:nvPr/>
          </p:nvSpPr>
          <p:spPr>
            <a:xfrm>
              <a:off x="4835275" y="2693225"/>
              <a:ext cx="2497800" cy="25260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CA" sz="2400">
                  <a:solidFill>
                    <a:schemeClr val="dk2"/>
                  </a:solidFill>
                  <a:latin typeface="Verdana"/>
                  <a:ea typeface="Verdana"/>
                  <a:cs typeface="Verdana"/>
                  <a:sym typeface="Verdana"/>
                </a:rPr>
                <a:t>Bb x Bb</a:t>
              </a:r>
              <a:endParaRPr sz="2400">
                <a:solidFill>
                  <a:schemeClr val="dk2"/>
                </a:solidFill>
                <a:latin typeface="Verdana"/>
                <a:ea typeface="Verdana"/>
                <a:cs typeface="Verdana"/>
                <a:sym typeface="Verdana"/>
              </a:endParaRPr>
            </a:p>
            <a:p>
              <a:pPr indent="45720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B      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t/>
              </a:r>
              <a:endParaRPr sz="11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b   Bb    bb</a:t>
              </a:r>
              <a:endParaRPr sz="2400">
                <a:solidFill>
                  <a:schemeClr val="dk2"/>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a:p>
              <a:pPr indent="0" lvl="0" marL="0" rtl="0" algn="l">
                <a:spcBef>
                  <a:spcPts val="0"/>
                </a:spcBef>
                <a:spcAft>
                  <a:spcPts val="0"/>
                </a:spcAft>
                <a:buNone/>
              </a:pPr>
              <a:r>
                <a:rPr lang="en-CA" sz="2400">
                  <a:solidFill>
                    <a:schemeClr val="dk2"/>
                  </a:solidFill>
                  <a:latin typeface="Verdana"/>
                  <a:ea typeface="Verdana"/>
                  <a:cs typeface="Verdana"/>
                  <a:sym typeface="Verdana"/>
                </a:rPr>
                <a:t>  </a:t>
              </a:r>
              <a:endParaRPr sz="2400">
                <a:solidFill>
                  <a:schemeClr val="dk2"/>
                </a:solidFill>
                <a:latin typeface="Verdana"/>
                <a:ea typeface="Verdana"/>
                <a:cs typeface="Verdana"/>
                <a:sym typeface="Verdana"/>
              </a:endParaRPr>
            </a:p>
          </p:txBody>
        </p:sp>
        <p:grpSp>
          <p:nvGrpSpPr>
            <p:cNvPr id="564" name="Google Shape;564;p42"/>
            <p:cNvGrpSpPr/>
            <p:nvPr/>
          </p:nvGrpSpPr>
          <p:grpSpPr>
            <a:xfrm>
              <a:off x="5312125" y="3973600"/>
              <a:ext cx="1544100" cy="1189900"/>
              <a:chOff x="1452350" y="3947675"/>
              <a:chExt cx="1544100" cy="1189900"/>
            </a:xfrm>
          </p:grpSpPr>
          <p:sp>
            <p:nvSpPr>
              <p:cNvPr id="565" name="Google Shape;565;p42"/>
              <p:cNvSpPr/>
              <p:nvPr/>
            </p:nvSpPr>
            <p:spPr>
              <a:xfrm>
                <a:off x="1452350" y="3947675"/>
                <a:ext cx="669600" cy="1189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66" name="Google Shape;566;p42"/>
              <p:cNvSpPr/>
              <p:nvPr/>
            </p:nvSpPr>
            <p:spPr>
              <a:xfrm rot="-5400000">
                <a:off x="2268050" y="3801700"/>
                <a:ext cx="582300" cy="8745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567" name="Google Shape;567;p42"/>
              <p:cNvSpPr/>
              <p:nvPr/>
            </p:nvSpPr>
            <p:spPr>
              <a:xfrm>
                <a:off x="2121950" y="4525275"/>
                <a:ext cx="874500" cy="612300"/>
              </a:xfrm>
              <a:prstGeom prst="rect">
                <a:avLst/>
              </a:prstGeom>
              <a:solidFill>
                <a:srgbClr val="9C734A">
                  <a:alpha val="64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grpSp>
      <p:sp>
        <p:nvSpPr>
          <p:cNvPr id="568" name="Google Shape;568;p42"/>
          <p:cNvSpPr txBox="1"/>
          <p:nvPr/>
        </p:nvSpPr>
        <p:spPr>
          <a:xfrm>
            <a:off x="924300" y="3189525"/>
            <a:ext cx="3093300" cy="2476500"/>
          </a:xfrm>
          <a:prstGeom prst="rect">
            <a:avLst/>
          </a:prstGeom>
          <a:solidFill>
            <a:schemeClr val="accent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chemeClr val="dk1"/>
                </a:solidFill>
                <a:latin typeface="Verdana"/>
                <a:ea typeface="Verdana"/>
                <a:cs typeface="Verdana"/>
                <a:sym typeface="Verdana"/>
              </a:rPr>
              <a:t>We just observed how recessive phenotypes can ‘skip’ generations. This is because they are being masked by the dominant allele, but they are still present and will show up if paired with another recessive allele. </a:t>
            </a:r>
            <a:endParaRPr sz="17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3"/>
          <p:cNvSpPr txBox="1"/>
          <p:nvPr/>
        </p:nvSpPr>
        <p:spPr>
          <a:xfrm>
            <a:off x="1403648" y="764704"/>
            <a:ext cx="6480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Test Crosses</a:t>
            </a:r>
            <a:endParaRPr u="sng"/>
          </a:p>
        </p:txBody>
      </p:sp>
      <p:sp>
        <p:nvSpPr>
          <p:cNvPr id="574" name="Google Shape;574;p43"/>
          <p:cNvSpPr txBox="1"/>
          <p:nvPr/>
        </p:nvSpPr>
        <p:spPr>
          <a:xfrm>
            <a:off x="611560" y="1287924"/>
            <a:ext cx="7920900" cy="96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75"/>
              <a:buFont typeface="Verdana"/>
              <a:buNone/>
            </a:pPr>
            <a:r>
              <a:rPr b="0" i="0" lang="en-CA" sz="1900" u="none" cap="none" strike="noStrike">
                <a:solidFill>
                  <a:srgbClr val="393B3F"/>
                </a:solidFill>
                <a:latin typeface="Verdana"/>
                <a:ea typeface="Verdana"/>
                <a:cs typeface="Verdana"/>
                <a:sym typeface="Verdana"/>
              </a:rPr>
              <a:t>An individual with the dominant phenotype could be either homozygous (BB) or heterozygous (Bb). By performing a </a:t>
            </a:r>
            <a:r>
              <a:rPr b="1" i="0" lang="en-CA" sz="1900" u="none" cap="none" strike="noStrike">
                <a:solidFill>
                  <a:srgbClr val="393B3F"/>
                </a:solidFill>
                <a:latin typeface="Verdana"/>
                <a:ea typeface="Verdana"/>
                <a:cs typeface="Verdana"/>
                <a:sym typeface="Verdana"/>
              </a:rPr>
              <a:t>test cross</a:t>
            </a:r>
            <a:r>
              <a:rPr b="0" i="0" lang="en-CA" sz="1900" u="none" cap="none" strike="noStrike">
                <a:solidFill>
                  <a:srgbClr val="393B3F"/>
                </a:solidFill>
                <a:latin typeface="Verdana"/>
                <a:ea typeface="Verdana"/>
                <a:cs typeface="Verdana"/>
                <a:sym typeface="Verdana"/>
              </a:rPr>
              <a:t>, we can determine the true genotype of such individuals.</a:t>
            </a:r>
            <a:endParaRPr/>
          </a:p>
        </p:txBody>
      </p:sp>
      <p:pic>
        <p:nvPicPr>
          <p:cNvPr id="575" name="Google Shape;575;p43"/>
          <p:cNvPicPr preferRelativeResize="0"/>
          <p:nvPr/>
        </p:nvPicPr>
        <p:blipFill rotWithShape="1">
          <a:blip r:embed="rId3">
            <a:alphaModFix/>
          </a:blip>
          <a:srcRect b="0" l="0" r="0" t="0"/>
          <a:stretch/>
        </p:blipFill>
        <p:spPr>
          <a:xfrm>
            <a:off x="2123727" y="3140967"/>
            <a:ext cx="4824535" cy="2329796"/>
          </a:xfrm>
          <a:prstGeom prst="rect">
            <a:avLst/>
          </a:prstGeom>
          <a:noFill/>
          <a:ln>
            <a:noFill/>
          </a:ln>
        </p:spPr>
      </p:pic>
      <p:cxnSp>
        <p:nvCxnSpPr>
          <p:cNvPr id="576" name="Google Shape;576;p43"/>
          <p:cNvCxnSpPr/>
          <p:nvPr/>
        </p:nvCxnSpPr>
        <p:spPr>
          <a:xfrm>
            <a:off x="2123727" y="4221088"/>
            <a:ext cx="1692300" cy="0"/>
          </a:xfrm>
          <a:prstGeom prst="straightConnector1">
            <a:avLst/>
          </a:prstGeom>
          <a:noFill/>
          <a:ln cap="flat" cmpd="sng" w="9525">
            <a:solidFill>
              <a:schemeClr val="accent1"/>
            </a:solidFill>
            <a:prstDash val="solid"/>
            <a:round/>
            <a:headEnd len="sm" w="sm" type="none"/>
            <a:tailEnd len="sm" w="sm" type="none"/>
          </a:ln>
        </p:spPr>
      </p:cxnSp>
      <p:cxnSp>
        <p:nvCxnSpPr>
          <p:cNvPr id="577" name="Google Shape;577;p43"/>
          <p:cNvCxnSpPr/>
          <p:nvPr/>
        </p:nvCxnSpPr>
        <p:spPr>
          <a:xfrm>
            <a:off x="2519772" y="3861048"/>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78" name="Google Shape;578;p43"/>
          <p:cNvCxnSpPr/>
          <p:nvPr/>
        </p:nvCxnSpPr>
        <p:spPr>
          <a:xfrm>
            <a:off x="5256076" y="4221089"/>
            <a:ext cx="1692300" cy="0"/>
          </a:xfrm>
          <a:prstGeom prst="straightConnector1">
            <a:avLst/>
          </a:prstGeom>
          <a:noFill/>
          <a:ln cap="flat" cmpd="sng" w="9525">
            <a:solidFill>
              <a:schemeClr val="accent1"/>
            </a:solidFill>
            <a:prstDash val="solid"/>
            <a:round/>
            <a:headEnd len="sm" w="sm" type="none"/>
            <a:tailEnd len="sm" w="sm" type="none"/>
          </a:ln>
        </p:spPr>
      </p:cxnSp>
      <p:cxnSp>
        <p:nvCxnSpPr>
          <p:cNvPr id="579" name="Google Shape;579;p43"/>
          <p:cNvCxnSpPr/>
          <p:nvPr/>
        </p:nvCxnSpPr>
        <p:spPr>
          <a:xfrm>
            <a:off x="5688123" y="3861048"/>
            <a:ext cx="0" cy="1368300"/>
          </a:xfrm>
          <a:prstGeom prst="straightConnector1">
            <a:avLst/>
          </a:prstGeom>
          <a:noFill/>
          <a:ln cap="flat" cmpd="sng" w="9525">
            <a:solidFill>
              <a:schemeClr val="accent1"/>
            </a:solidFill>
            <a:prstDash val="solid"/>
            <a:round/>
            <a:headEnd len="sm" w="sm" type="none"/>
            <a:tailEnd len="sm" w="sm" type="none"/>
          </a:ln>
        </p:spPr>
      </p:cxnSp>
      <p:sp>
        <p:nvSpPr>
          <p:cNvPr id="580" name="Google Shape;580;p43"/>
          <p:cNvSpPr txBox="1"/>
          <p:nvPr/>
        </p:nvSpPr>
        <p:spPr>
          <a:xfrm>
            <a:off x="899583" y="2444123"/>
            <a:ext cx="72729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1" i="0" lang="en-CA" sz="1800" u="none" cap="none" strike="noStrike">
                <a:solidFill>
                  <a:srgbClr val="393B3F"/>
                </a:solidFill>
                <a:latin typeface="Verdana"/>
                <a:ea typeface="Verdana"/>
                <a:cs typeface="Verdana"/>
                <a:sym typeface="Verdana"/>
              </a:rPr>
              <a:t>Cross the unknown individual (B</a:t>
            </a:r>
            <a:r>
              <a:rPr b="1" lang="en-CA" sz="1800" u="sng">
                <a:solidFill>
                  <a:srgbClr val="393B3F"/>
                </a:solidFill>
                <a:latin typeface="Verdana"/>
                <a:ea typeface="Verdana"/>
                <a:cs typeface="Verdana"/>
                <a:sym typeface="Verdana"/>
              </a:rPr>
              <a:t>?</a:t>
            </a:r>
            <a:r>
              <a:rPr b="1" lang="en-CA" sz="1800">
                <a:solidFill>
                  <a:srgbClr val="393B3F"/>
                </a:solidFill>
                <a:latin typeface="Verdana"/>
                <a:ea typeface="Verdana"/>
                <a:cs typeface="Verdana"/>
                <a:sym typeface="Verdana"/>
              </a:rPr>
              <a:t>)</a:t>
            </a:r>
            <a:r>
              <a:rPr b="1" i="0" lang="en-CA" sz="1800" u="none" cap="none" strike="noStrike">
                <a:solidFill>
                  <a:srgbClr val="393B3F"/>
                </a:solidFill>
                <a:latin typeface="Verdana"/>
                <a:ea typeface="Verdana"/>
                <a:cs typeface="Verdana"/>
                <a:sym typeface="Verdana"/>
              </a:rPr>
              <a:t> with an individual who displays the </a:t>
            </a:r>
            <a:r>
              <a:rPr b="1" i="0" lang="en-CA" sz="1800" u="sng" cap="none" strike="noStrike">
                <a:solidFill>
                  <a:srgbClr val="393B3F"/>
                </a:solidFill>
                <a:latin typeface="Verdana"/>
                <a:ea typeface="Verdana"/>
                <a:cs typeface="Verdana"/>
                <a:sym typeface="Verdana"/>
              </a:rPr>
              <a:t>recessive phenotype (bb)</a:t>
            </a:r>
            <a:r>
              <a:rPr b="1" i="0" lang="en-CA" sz="1800" u="none" cap="none" strike="noStrike">
                <a:solidFill>
                  <a:srgbClr val="393B3F"/>
                </a:solidFill>
                <a:latin typeface="Verdana"/>
                <a:ea typeface="Verdana"/>
                <a:cs typeface="Verdana"/>
                <a:sym typeface="Verdana"/>
              </a:rPr>
              <a:t> </a:t>
            </a:r>
            <a:r>
              <a:rPr b="0" i="0" lang="en-CA" sz="1800" u="none" cap="none" strike="noStrike">
                <a:solidFill>
                  <a:srgbClr val="393B3F"/>
                </a:solidFill>
                <a:latin typeface="Verdana"/>
                <a:ea typeface="Verdana"/>
                <a:cs typeface="Verdana"/>
                <a:sym typeface="Verdana"/>
              </a:rPr>
              <a:t>(because their genotype is known):</a:t>
            </a:r>
            <a:endParaRPr/>
          </a:p>
        </p:txBody>
      </p:sp>
      <p:sp>
        <p:nvSpPr>
          <p:cNvPr id="581" name="Google Shape;581;p43"/>
          <p:cNvSpPr txBox="1"/>
          <p:nvPr/>
        </p:nvSpPr>
        <p:spPr>
          <a:xfrm>
            <a:off x="1114875" y="5291000"/>
            <a:ext cx="3410700" cy="8658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700" u="none" cap="none" strike="noStrike">
                <a:solidFill>
                  <a:srgbClr val="393B3F"/>
                </a:solidFill>
                <a:latin typeface="Verdana"/>
                <a:ea typeface="Verdana"/>
                <a:cs typeface="Verdana"/>
                <a:sym typeface="Verdana"/>
              </a:rPr>
              <a:t>If the unknown was homozygous, all offspring will show dominant phenotype</a:t>
            </a:r>
            <a:endParaRPr sz="1700"/>
          </a:p>
        </p:txBody>
      </p:sp>
      <p:sp>
        <p:nvSpPr>
          <p:cNvPr id="582" name="Google Shape;582;p43"/>
          <p:cNvSpPr txBox="1"/>
          <p:nvPr/>
        </p:nvSpPr>
        <p:spPr>
          <a:xfrm>
            <a:off x="4668975" y="5291000"/>
            <a:ext cx="3410700" cy="8658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700" u="none" cap="none" strike="noStrike">
                <a:solidFill>
                  <a:srgbClr val="393B3F"/>
                </a:solidFill>
                <a:latin typeface="Verdana"/>
                <a:ea typeface="Verdana"/>
                <a:cs typeface="Verdana"/>
                <a:sym typeface="Verdana"/>
              </a:rPr>
              <a:t>If heterozygous, </a:t>
            </a:r>
            <a:r>
              <a:rPr lang="en-CA" sz="1700">
                <a:solidFill>
                  <a:srgbClr val="393B3F"/>
                </a:solidFill>
                <a:latin typeface="Verdana"/>
                <a:ea typeface="Verdana"/>
                <a:cs typeface="Verdana"/>
                <a:sym typeface="Verdana"/>
              </a:rPr>
              <a:t>some (typically half) </a:t>
            </a:r>
            <a:r>
              <a:rPr b="0" i="0" lang="en-CA" sz="1700" u="none" cap="none" strike="noStrike">
                <a:solidFill>
                  <a:srgbClr val="393B3F"/>
                </a:solidFill>
                <a:latin typeface="Verdana"/>
                <a:ea typeface="Verdana"/>
                <a:cs typeface="Verdana"/>
                <a:sym typeface="Verdana"/>
              </a:rPr>
              <a:t>offspring will show recessive phenotype</a:t>
            </a:r>
            <a:endParaRPr sz="1700"/>
          </a:p>
        </p:txBody>
      </p:sp>
      <p:sp>
        <p:nvSpPr>
          <p:cNvPr id="583" name="Google Shape;583;p43"/>
          <p:cNvSpPr txBox="1"/>
          <p:nvPr/>
        </p:nvSpPr>
        <p:spPr>
          <a:xfrm>
            <a:off x="461725" y="3519425"/>
            <a:ext cx="1478700" cy="14967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1"/>
                </a:solidFill>
                <a:latin typeface="Verdana"/>
                <a:ea typeface="Verdana"/>
                <a:cs typeface="Verdana"/>
                <a:sym typeface="Verdana"/>
              </a:rPr>
              <a:t>There are two possible outcomes:</a:t>
            </a:r>
            <a:endParaRPr sz="1900">
              <a:solidFill>
                <a:schemeClr val="dk1"/>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txBox="1"/>
          <p:nvPr/>
        </p:nvSpPr>
        <p:spPr>
          <a:xfrm>
            <a:off x="1403650" y="658550"/>
            <a:ext cx="6480600" cy="629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Test Crosses</a:t>
            </a:r>
            <a:endParaRPr u="sng"/>
          </a:p>
        </p:txBody>
      </p:sp>
      <p:pic>
        <p:nvPicPr>
          <p:cNvPr id="589" name="Google Shape;589;p44"/>
          <p:cNvPicPr preferRelativeResize="0"/>
          <p:nvPr/>
        </p:nvPicPr>
        <p:blipFill rotWithShape="1">
          <a:blip r:embed="rId3">
            <a:alphaModFix/>
          </a:blip>
          <a:srcRect b="0" l="0" r="0" t="0"/>
          <a:stretch/>
        </p:blipFill>
        <p:spPr>
          <a:xfrm>
            <a:off x="1978577" y="1118017"/>
            <a:ext cx="4824535" cy="2329796"/>
          </a:xfrm>
          <a:prstGeom prst="rect">
            <a:avLst/>
          </a:prstGeom>
          <a:noFill/>
          <a:ln>
            <a:noFill/>
          </a:ln>
        </p:spPr>
      </p:pic>
      <p:cxnSp>
        <p:nvCxnSpPr>
          <p:cNvPr id="590" name="Google Shape;590;p44"/>
          <p:cNvCxnSpPr/>
          <p:nvPr/>
        </p:nvCxnSpPr>
        <p:spPr>
          <a:xfrm>
            <a:off x="1978577" y="2198138"/>
            <a:ext cx="1692300" cy="0"/>
          </a:xfrm>
          <a:prstGeom prst="straightConnector1">
            <a:avLst/>
          </a:prstGeom>
          <a:noFill/>
          <a:ln cap="flat" cmpd="sng" w="9525">
            <a:solidFill>
              <a:schemeClr val="accent1"/>
            </a:solidFill>
            <a:prstDash val="solid"/>
            <a:round/>
            <a:headEnd len="sm" w="sm" type="none"/>
            <a:tailEnd len="sm" w="sm" type="none"/>
          </a:ln>
        </p:spPr>
      </p:cxnSp>
      <p:cxnSp>
        <p:nvCxnSpPr>
          <p:cNvPr id="591" name="Google Shape;591;p44"/>
          <p:cNvCxnSpPr/>
          <p:nvPr/>
        </p:nvCxnSpPr>
        <p:spPr>
          <a:xfrm>
            <a:off x="2374622" y="1838098"/>
            <a:ext cx="0" cy="1368300"/>
          </a:xfrm>
          <a:prstGeom prst="straightConnector1">
            <a:avLst/>
          </a:prstGeom>
          <a:noFill/>
          <a:ln cap="flat" cmpd="sng" w="9525">
            <a:solidFill>
              <a:schemeClr val="accent1"/>
            </a:solidFill>
            <a:prstDash val="solid"/>
            <a:round/>
            <a:headEnd len="sm" w="sm" type="none"/>
            <a:tailEnd len="sm" w="sm" type="none"/>
          </a:ln>
        </p:spPr>
      </p:cxnSp>
      <p:cxnSp>
        <p:nvCxnSpPr>
          <p:cNvPr id="592" name="Google Shape;592;p44"/>
          <p:cNvCxnSpPr/>
          <p:nvPr/>
        </p:nvCxnSpPr>
        <p:spPr>
          <a:xfrm>
            <a:off x="5110926" y="2198139"/>
            <a:ext cx="1692300" cy="0"/>
          </a:xfrm>
          <a:prstGeom prst="straightConnector1">
            <a:avLst/>
          </a:prstGeom>
          <a:noFill/>
          <a:ln cap="flat" cmpd="sng" w="9525">
            <a:solidFill>
              <a:schemeClr val="accent1"/>
            </a:solidFill>
            <a:prstDash val="solid"/>
            <a:round/>
            <a:headEnd len="sm" w="sm" type="none"/>
            <a:tailEnd len="sm" w="sm" type="none"/>
          </a:ln>
        </p:spPr>
      </p:cxnSp>
      <p:cxnSp>
        <p:nvCxnSpPr>
          <p:cNvPr id="593" name="Google Shape;593;p44"/>
          <p:cNvCxnSpPr/>
          <p:nvPr/>
        </p:nvCxnSpPr>
        <p:spPr>
          <a:xfrm>
            <a:off x="5542973" y="1838098"/>
            <a:ext cx="0" cy="1368300"/>
          </a:xfrm>
          <a:prstGeom prst="straightConnector1">
            <a:avLst/>
          </a:prstGeom>
          <a:noFill/>
          <a:ln cap="flat" cmpd="sng" w="9525">
            <a:solidFill>
              <a:schemeClr val="accent1"/>
            </a:solidFill>
            <a:prstDash val="solid"/>
            <a:round/>
            <a:headEnd len="sm" w="sm" type="none"/>
            <a:tailEnd len="sm" w="sm" type="none"/>
          </a:ln>
        </p:spPr>
      </p:cxnSp>
      <p:sp>
        <p:nvSpPr>
          <p:cNvPr id="594" name="Google Shape;594;p44"/>
          <p:cNvSpPr txBox="1"/>
          <p:nvPr/>
        </p:nvSpPr>
        <p:spPr>
          <a:xfrm>
            <a:off x="969725" y="3268050"/>
            <a:ext cx="3410700" cy="7053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500" u="none" cap="none" strike="noStrike">
                <a:solidFill>
                  <a:srgbClr val="393B3F"/>
                </a:solidFill>
                <a:latin typeface="Verdana"/>
                <a:ea typeface="Verdana"/>
                <a:cs typeface="Verdana"/>
                <a:sym typeface="Verdana"/>
              </a:rPr>
              <a:t>If the unknown was homozygous, all offspring will show dominant phenotype</a:t>
            </a:r>
            <a:endParaRPr sz="1500"/>
          </a:p>
        </p:txBody>
      </p:sp>
      <p:sp>
        <p:nvSpPr>
          <p:cNvPr id="595" name="Google Shape;595;p44"/>
          <p:cNvSpPr txBox="1"/>
          <p:nvPr/>
        </p:nvSpPr>
        <p:spPr>
          <a:xfrm>
            <a:off x="4523825" y="3268050"/>
            <a:ext cx="3410700" cy="756000"/>
          </a:xfrm>
          <a:prstGeom prst="rect">
            <a:avLst/>
          </a:prstGeom>
          <a:solidFill>
            <a:srgbClr val="FFF2CC"/>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500" u="none" cap="none" strike="noStrike">
                <a:solidFill>
                  <a:srgbClr val="393B3F"/>
                </a:solidFill>
                <a:latin typeface="Verdana"/>
                <a:ea typeface="Verdana"/>
                <a:cs typeface="Verdana"/>
                <a:sym typeface="Verdana"/>
              </a:rPr>
              <a:t>If heterozygous, </a:t>
            </a:r>
            <a:r>
              <a:rPr lang="en-CA" sz="1500">
                <a:solidFill>
                  <a:srgbClr val="393B3F"/>
                </a:solidFill>
                <a:latin typeface="Verdana"/>
                <a:ea typeface="Verdana"/>
                <a:cs typeface="Verdana"/>
                <a:sym typeface="Verdana"/>
              </a:rPr>
              <a:t>some (typically half) </a:t>
            </a:r>
            <a:r>
              <a:rPr b="0" i="0" lang="en-CA" sz="1500" u="none" cap="none" strike="noStrike">
                <a:solidFill>
                  <a:srgbClr val="393B3F"/>
                </a:solidFill>
                <a:latin typeface="Verdana"/>
                <a:ea typeface="Verdana"/>
                <a:cs typeface="Verdana"/>
                <a:sym typeface="Verdana"/>
              </a:rPr>
              <a:t>offspring will show recessive phenotype</a:t>
            </a:r>
            <a:endParaRPr sz="1500"/>
          </a:p>
        </p:txBody>
      </p:sp>
      <p:sp>
        <p:nvSpPr>
          <p:cNvPr id="596" name="Google Shape;596;p44"/>
          <p:cNvSpPr txBox="1"/>
          <p:nvPr/>
        </p:nvSpPr>
        <p:spPr>
          <a:xfrm>
            <a:off x="316575" y="1496475"/>
            <a:ext cx="1478700" cy="14967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1"/>
                </a:solidFill>
                <a:latin typeface="Verdana"/>
                <a:ea typeface="Verdana"/>
                <a:cs typeface="Verdana"/>
                <a:sym typeface="Verdana"/>
              </a:rPr>
              <a:t>There are two possible outcomes:</a:t>
            </a:r>
            <a:endParaRPr sz="1900">
              <a:solidFill>
                <a:schemeClr val="dk1"/>
              </a:solidFill>
              <a:latin typeface="Verdana"/>
              <a:ea typeface="Verdana"/>
              <a:cs typeface="Verdana"/>
              <a:sym typeface="Verdana"/>
            </a:endParaRPr>
          </a:p>
        </p:txBody>
      </p:sp>
      <p:sp>
        <p:nvSpPr>
          <p:cNvPr id="597" name="Google Shape;597;p44"/>
          <p:cNvSpPr txBox="1"/>
          <p:nvPr/>
        </p:nvSpPr>
        <p:spPr>
          <a:xfrm>
            <a:off x="996925" y="4215550"/>
            <a:ext cx="5216100" cy="23298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CA" sz="1500">
                <a:solidFill>
                  <a:schemeClr val="dk1"/>
                </a:solidFill>
                <a:latin typeface="Verdana"/>
                <a:ea typeface="Verdana"/>
                <a:cs typeface="Verdana"/>
                <a:sym typeface="Verdana"/>
              </a:rPr>
              <a:t>Note: This will typically require sufficient number of offspring so we can feel confident about which outcome we are </a:t>
            </a:r>
            <a:r>
              <a:rPr i="1" lang="en-CA" sz="1500">
                <a:solidFill>
                  <a:schemeClr val="dk1"/>
                </a:solidFill>
                <a:latin typeface="Verdana"/>
                <a:ea typeface="Verdana"/>
                <a:cs typeface="Verdana"/>
                <a:sym typeface="Verdana"/>
              </a:rPr>
              <a:t>observing</a:t>
            </a:r>
            <a:r>
              <a:rPr i="1" lang="en-CA" sz="1500">
                <a:solidFill>
                  <a:schemeClr val="dk1"/>
                </a:solidFill>
                <a:latin typeface="Verdana"/>
                <a:ea typeface="Verdana"/>
                <a:cs typeface="Verdana"/>
                <a:sym typeface="Verdana"/>
              </a:rPr>
              <a:t>. If the recessive phenotype is present, this is sufficient to conclude that the unknown must have been heterozygous. But we need a good number of offspring showing only the dominant phenotype to feel confident declaring the unknown homozygous, to rule out it </a:t>
            </a:r>
            <a:r>
              <a:rPr i="1" lang="en-CA" sz="1500">
                <a:solidFill>
                  <a:schemeClr val="dk1"/>
                </a:solidFill>
                <a:latin typeface="Verdana"/>
                <a:ea typeface="Verdana"/>
                <a:cs typeface="Verdana"/>
                <a:sym typeface="Verdana"/>
              </a:rPr>
              <a:t>occurring</a:t>
            </a:r>
            <a:r>
              <a:rPr i="1" lang="en-CA" sz="1500">
                <a:solidFill>
                  <a:schemeClr val="dk1"/>
                </a:solidFill>
                <a:latin typeface="Verdana"/>
                <a:ea typeface="Verdana"/>
                <a:cs typeface="Verdana"/>
                <a:sym typeface="Verdana"/>
              </a:rPr>
              <a:t> due to random chance. </a:t>
            </a:r>
            <a:endParaRPr i="1" sz="1500">
              <a:solidFill>
                <a:schemeClr val="dk1"/>
              </a:solidFill>
              <a:latin typeface="Verdana"/>
              <a:ea typeface="Verdana"/>
              <a:cs typeface="Verdana"/>
              <a:sym typeface="Verdana"/>
            </a:endParaRPr>
          </a:p>
        </p:txBody>
      </p:sp>
      <p:pic>
        <p:nvPicPr>
          <p:cNvPr descr="Defines and explains a testcross using Mende's pea colors. &#10;&#10;This project was created with Explain Everything™ Interactive Whiteboard for iPad." id="598" name="Google Shape;598;p44" title="Testcross Explained">
            <a:hlinkClick r:id="rId4"/>
          </p:cNvPr>
          <p:cNvPicPr preferRelativeResize="0"/>
          <p:nvPr/>
        </p:nvPicPr>
        <p:blipFill>
          <a:blip r:embed="rId5">
            <a:alphaModFix/>
          </a:blip>
          <a:stretch>
            <a:fillRect/>
          </a:stretch>
        </p:blipFill>
        <p:spPr>
          <a:xfrm>
            <a:off x="6059700" y="4626483"/>
            <a:ext cx="3002650" cy="16889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000"/>
                                        <p:tgtEl>
                                          <p:spTgt spid="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5"/>
          <p:cNvSpPr txBox="1"/>
          <p:nvPr/>
        </p:nvSpPr>
        <p:spPr>
          <a:xfrm>
            <a:off x="815525" y="894450"/>
            <a:ext cx="7493100" cy="126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2600">
                <a:solidFill>
                  <a:schemeClr val="dk2"/>
                </a:solidFill>
                <a:latin typeface="Verdana"/>
                <a:ea typeface="Verdana"/>
                <a:cs typeface="Verdana"/>
                <a:sym typeface="Verdana"/>
              </a:rPr>
              <a:t>Inheritance and Punnett Squares Recap</a:t>
            </a:r>
            <a:endParaRPr b="1" sz="2600">
              <a:solidFill>
                <a:schemeClr val="dk2"/>
              </a:solidFill>
              <a:latin typeface="Verdana"/>
              <a:ea typeface="Verdana"/>
              <a:cs typeface="Verdana"/>
              <a:sym typeface="Verdana"/>
            </a:endParaRPr>
          </a:p>
        </p:txBody>
      </p:sp>
      <p:pic>
        <p:nvPicPr>
          <p:cNvPr descr="View full lesson: http://ed.ted.com/lessons/how-mendel-s-pea-plants-helped-us-understand-genetics-hortensia-jimenez-diaz&#10;&#10;Each father and mother pass down traits to their children, who inherit combinations of their dominant or recessive alleles. But how do we know so much about genetics today? Hortensia Jiménez Díaz explains how studying pea plants revealed why you may have blue eyes.&#10;&#10;Lesson by Hortensia Jiménez Díaz, animation by Cinematic Sweden." id="605" name="Google Shape;605;p45" title="How Mendel's pea plants helped us understand genetics - Hortensia Jiménez Díaz">
            <a:hlinkClick r:id="rId3"/>
          </p:cNvPr>
          <p:cNvPicPr preferRelativeResize="0"/>
          <p:nvPr/>
        </p:nvPicPr>
        <p:blipFill>
          <a:blip r:embed="rId4">
            <a:alphaModFix/>
          </a:blip>
          <a:stretch>
            <a:fillRect/>
          </a:stretch>
        </p:blipFill>
        <p:spPr>
          <a:xfrm>
            <a:off x="596900" y="2854438"/>
            <a:ext cx="3048000" cy="1714500"/>
          </a:xfrm>
          <a:prstGeom prst="rect">
            <a:avLst/>
          </a:prstGeom>
          <a:noFill/>
          <a:ln>
            <a:noFill/>
          </a:ln>
        </p:spPr>
      </p:pic>
      <p:pic>
        <p:nvPicPr>
          <p:cNvPr descr="Learn how to use a Punnett square to solve a Mendelian monohybrid cross with one of the Amoeba Sister's favorite classroom pets: hairless guinea pigs. This video has a handout here: http://www.amoebasisters.com/handouts.html&#10;&#10;Support us on Patreon! http://www.patreon.com/amoebasisters&#10;&#10;Our FREE resources:&#10;GIFs: http://www.amoebasisters.com/gifs.html&#10;Handouts: http://www.amoebasisters.com/handouts.html&#10;Comics: http://www.amoebasisters.com/parameciumparlorcomics&#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www.amoebasisters.com/store.html&#10;&#10;The Amoeba Sisters videos demystify science with humor and relevance. The videos center on Pinky's certification and experience in teaching science at the high school level. Pinky's teacher certification is in grades 4-8 science and 8-12 composite science (encompassing biology, chemistry, and physics). Amoeba Sisters videos only cover concepts that Pinky is certified to teach. For more information about The Amoeba Sisters, visit: http://www.amoebasisters.com/about-us.html&#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We take pride in our AWESOME community, and we welcome feedback and discussion.  However, please remember that this is an education channel. See YouTube's community guidelines https://www.youtube.com/yt/policyandsafety/communityguidelines.html and YouTube's policy center https://support.google.com/youtube/topic/2676378?hl=en&amp;ref_topic=6151248.  We also reserve the right to remove comments with vulgar language.&#10;&#10;Music is this video is listed free to use/no attribution required from the YouTube audio library https://www.youtube.com/audiolibrary/music?feature=blog&#10;&#10;We have YouTube's community contributed subtitles feature on to allow translations for different languages. YouTube automatically credits the different language contributors below (unless the contributor had opted out of being credited). We are thankful for those that contribute different languages. If you have a concern about community contributed contributions, please contact us." id="606" name="Google Shape;606;p45" title="Monohybrids and the Punnett Square Guinea Pigs">
            <a:hlinkClick r:id="rId5"/>
          </p:cNvPr>
          <p:cNvPicPr preferRelativeResize="0"/>
          <p:nvPr/>
        </p:nvPicPr>
        <p:blipFill>
          <a:blip r:embed="rId6">
            <a:alphaModFix/>
          </a:blip>
          <a:stretch>
            <a:fillRect/>
          </a:stretch>
        </p:blipFill>
        <p:spPr>
          <a:xfrm>
            <a:off x="3952450" y="2020463"/>
            <a:ext cx="4509974" cy="3382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6"/>
          <p:cNvSpPr txBox="1"/>
          <p:nvPr/>
        </p:nvSpPr>
        <p:spPr>
          <a:xfrm>
            <a:off x="827575" y="3008825"/>
            <a:ext cx="7476000" cy="3309900"/>
          </a:xfrm>
          <a:prstGeom prst="rect">
            <a:avLst/>
          </a:prstGeom>
          <a:noFill/>
          <a:ln>
            <a:noFill/>
          </a:ln>
        </p:spPr>
        <p:txBody>
          <a:bodyPr anchorCtr="0" anchor="t" bIns="45700" lIns="91425" spcFirstLastPara="1" rIns="91425" wrap="square" tIns="45700">
            <a:noAutofit/>
          </a:bodyPr>
          <a:lstStyle/>
          <a:p>
            <a:pPr indent="-306473" lvl="0" marL="342900" rtl="0" algn="l">
              <a:lnSpc>
                <a:spcPct val="115000"/>
              </a:lnSpc>
              <a:spcBef>
                <a:spcPts val="40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Two trait crosses including dihybrid crosses</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Independent assortment</a:t>
            </a:r>
            <a:endParaRPr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CA" sz="2000">
                <a:solidFill>
                  <a:srgbClr val="3F3F3F"/>
                </a:solidFill>
                <a:latin typeface="Verdana"/>
                <a:ea typeface="Verdana"/>
                <a:cs typeface="Verdana"/>
                <a:sym typeface="Verdana"/>
              </a:rPr>
              <a:t>Textbook pgs. 591-593</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613" name="Google Shape;613;p46"/>
          <p:cNvSpPr txBox="1"/>
          <p:nvPr/>
        </p:nvSpPr>
        <p:spPr>
          <a:xfrm>
            <a:off x="1289275" y="201725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CA" sz="2800">
                <a:solidFill>
                  <a:srgbClr val="4D4F55"/>
                </a:solidFill>
                <a:latin typeface="Verdana"/>
                <a:ea typeface="Verdana"/>
                <a:cs typeface="Verdana"/>
                <a:sym typeface="Verdana"/>
              </a:rPr>
              <a:t>TOPIC 2: TWO TRAIT CROSSES </a:t>
            </a:r>
            <a:endParaRPr sz="4000">
              <a:solidFill>
                <a:srgbClr val="4D4F55"/>
              </a:solidFill>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7"/>
          <p:cNvSpPr txBox="1"/>
          <p:nvPr/>
        </p:nvSpPr>
        <p:spPr>
          <a:xfrm>
            <a:off x="1187624" y="908720"/>
            <a:ext cx="6768751" cy="52321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Dihybrid Crosses</a:t>
            </a:r>
            <a:endParaRPr u="sng"/>
          </a:p>
        </p:txBody>
      </p:sp>
      <p:sp>
        <p:nvSpPr>
          <p:cNvPr id="619" name="Google Shape;619;p47"/>
          <p:cNvSpPr txBox="1"/>
          <p:nvPr/>
        </p:nvSpPr>
        <p:spPr>
          <a:xfrm>
            <a:off x="1043608" y="1556791"/>
            <a:ext cx="7200799" cy="10156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Mendel also conducted experiments to determine whether the pattern of segregation of alleles for one gene had any influence on that of another gene…</a:t>
            </a:r>
            <a:endParaRPr/>
          </a:p>
        </p:txBody>
      </p:sp>
      <p:pic>
        <p:nvPicPr>
          <p:cNvPr id="620" name="Google Shape;620;p47"/>
          <p:cNvPicPr preferRelativeResize="0"/>
          <p:nvPr/>
        </p:nvPicPr>
        <p:blipFill rotWithShape="1">
          <a:blip r:embed="rId3">
            <a:alphaModFix/>
          </a:blip>
          <a:srcRect b="0" l="0" r="0" t="0"/>
          <a:stretch/>
        </p:blipFill>
        <p:spPr>
          <a:xfrm>
            <a:off x="827583" y="2705064"/>
            <a:ext cx="3240359" cy="3479647"/>
          </a:xfrm>
          <a:prstGeom prst="rect">
            <a:avLst/>
          </a:prstGeom>
          <a:noFill/>
          <a:ln>
            <a:noFill/>
          </a:ln>
        </p:spPr>
      </p:pic>
      <p:sp>
        <p:nvSpPr>
          <p:cNvPr id="621" name="Google Shape;621;p47"/>
          <p:cNvSpPr txBox="1"/>
          <p:nvPr/>
        </p:nvSpPr>
        <p:spPr>
          <a:xfrm>
            <a:off x="4211960" y="3558494"/>
            <a:ext cx="4320480"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2000" u="sng" cap="none" strike="noStrike">
                <a:solidFill>
                  <a:srgbClr val="393B3F"/>
                </a:solidFill>
                <a:latin typeface="Verdana"/>
                <a:ea typeface="Verdana"/>
                <a:cs typeface="Verdana"/>
                <a:sym typeface="Verdana"/>
              </a:rPr>
              <a:t>E.g. Plant size and pod colour:</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Are plants with the “tall” allele just as likely to have the allele that encodes green pods as the allele that encodes yellow pods? </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8"/>
          <p:cNvSpPr txBox="1"/>
          <p:nvPr/>
        </p:nvSpPr>
        <p:spPr>
          <a:xfrm>
            <a:off x="1259632" y="1124744"/>
            <a:ext cx="6840760"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Two true-breeding plants for two different traits are crossed…</a:t>
            </a:r>
            <a:endParaRPr/>
          </a:p>
        </p:txBody>
      </p:sp>
      <p:pic>
        <p:nvPicPr>
          <p:cNvPr id="628" name="Google Shape;628;p48"/>
          <p:cNvPicPr preferRelativeResize="0"/>
          <p:nvPr/>
        </p:nvPicPr>
        <p:blipFill rotWithShape="1">
          <a:blip r:embed="rId3">
            <a:alphaModFix/>
          </a:blip>
          <a:srcRect b="0" l="0" r="0" t="0"/>
          <a:stretch/>
        </p:blipFill>
        <p:spPr>
          <a:xfrm>
            <a:off x="1429469" y="2122908"/>
            <a:ext cx="6238874" cy="2962275"/>
          </a:xfrm>
          <a:prstGeom prst="rect">
            <a:avLst/>
          </a:prstGeom>
          <a:noFill/>
          <a:ln>
            <a:noFill/>
          </a:ln>
        </p:spPr>
      </p:pic>
      <p:sp>
        <p:nvSpPr>
          <p:cNvPr id="629" name="Google Shape;629;p48"/>
          <p:cNvSpPr txBox="1"/>
          <p:nvPr/>
        </p:nvSpPr>
        <p:spPr>
          <a:xfrm>
            <a:off x="5099148" y="5498067"/>
            <a:ext cx="2592287" cy="5232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700"/>
              <a:buFont typeface="Verdana"/>
              <a:buNone/>
            </a:pPr>
            <a:r>
              <a:rPr b="1" i="0" lang="en-CA" sz="2800" u="none" cap="none" strike="noStrike">
                <a:solidFill>
                  <a:schemeClr val="lt1"/>
                </a:solidFill>
                <a:latin typeface="Verdana"/>
                <a:ea typeface="Verdana"/>
                <a:cs typeface="Verdana"/>
                <a:sym typeface="Verdana"/>
              </a:rPr>
              <a:t>ttgg</a:t>
            </a:r>
            <a:endParaRPr/>
          </a:p>
        </p:txBody>
      </p:sp>
      <p:pic>
        <p:nvPicPr>
          <p:cNvPr id="630" name="Google Shape;630;p48"/>
          <p:cNvPicPr preferRelativeResize="0"/>
          <p:nvPr/>
        </p:nvPicPr>
        <p:blipFill rotWithShape="1">
          <a:blip r:embed="rId4">
            <a:alphaModFix/>
          </a:blip>
          <a:srcRect b="0" l="0" r="0" t="0"/>
          <a:stretch/>
        </p:blipFill>
        <p:spPr>
          <a:xfrm>
            <a:off x="2012627" y="5380019"/>
            <a:ext cx="5223667" cy="86067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pic>
        <p:nvPicPr>
          <p:cNvPr id="635" name="Google Shape;635;p49"/>
          <p:cNvPicPr preferRelativeResize="0"/>
          <p:nvPr/>
        </p:nvPicPr>
        <p:blipFill rotWithShape="1">
          <a:blip r:embed="rId3">
            <a:alphaModFix/>
          </a:blip>
          <a:srcRect b="0" l="0" r="0" t="0"/>
          <a:stretch/>
        </p:blipFill>
        <p:spPr>
          <a:xfrm>
            <a:off x="2032975" y="908720"/>
            <a:ext cx="4961730" cy="1743897"/>
          </a:xfrm>
          <a:prstGeom prst="rect">
            <a:avLst/>
          </a:prstGeom>
          <a:noFill/>
          <a:ln>
            <a:noFill/>
          </a:ln>
        </p:spPr>
      </p:pic>
      <p:pic>
        <p:nvPicPr>
          <p:cNvPr id="636" name="Google Shape;636;p49"/>
          <p:cNvPicPr preferRelativeResize="0"/>
          <p:nvPr/>
        </p:nvPicPr>
        <p:blipFill rotWithShape="1">
          <a:blip r:embed="rId4">
            <a:alphaModFix/>
          </a:blip>
          <a:srcRect b="0" l="0" r="0" t="0"/>
          <a:stretch/>
        </p:blipFill>
        <p:spPr>
          <a:xfrm>
            <a:off x="1187624" y="3292407"/>
            <a:ext cx="6743185" cy="3088919"/>
          </a:xfrm>
          <a:prstGeom prst="rect">
            <a:avLst/>
          </a:prstGeom>
          <a:noFill/>
          <a:ln>
            <a:noFill/>
          </a:ln>
        </p:spPr>
      </p:pic>
      <p:sp>
        <p:nvSpPr>
          <p:cNvPr id="637" name="Google Shape;637;p49"/>
          <p:cNvSpPr txBox="1"/>
          <p:nvPr/>
        </p:nvSpPr>
        <p:spPr>
          <a:xfrm>
            <a:off x="2026153" y="2879918"/>
            <a:ext cx="4968551" cy="46166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600"/>
              <a:buFont typeface="Verdana"/>
              <a:buNone/>
            </a:pPr>
            <a:r>
              <a:rPr b="1" i="0" lang="en-CA" sz="2400" u="none" cap="none" strike="noStrike">
                <a:solidFill>
                  <a:schemeClr val="dk1"/>
                </a:solidFill>
                <a:latin typeface="Verdana"/>
                <a:ea typeface="Verdana"/>
                <a:cs typeface="Verdana"/>
                <a:sym typeface="Verdana"/>
              </a:rPr>
              <a:t>F1 Generation: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0"/>
          <p:cNvSpPr txBox="1"/>
          <p:nvPr/>
        </p:nvSpPr>
        <p:spPr>
          <a:xfrm>
            <a:off x="971600" y="2104111"/>
            <a:ext cx="7200799" cy="224676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700"/>
              <a:buFont typeface="Verdana"/>
              <a:buNone/>
            </a:pPr>
            <a:r>
              <a:rPr b="0" i="0" lang="en-CA" sz="2800" u="none" cap="none" strike="noStrike">
                <a:solidFill>
                  <a:schemeClr val="dk1"/>
                </a:solidFill>
                <a:latin typeface="Verdana"/>
                <a:ea typeface="Verdana"/>
                <a:cs typeface="Verdana"/>
                <a:sym typeface="Verdana"/>
              </a:rPr>
              <a:t>Like in the F2 generation of Mendel’s monohybrid crosses, crossing of </a:t>
            </a:r>
            <a:endParaRPr/>
          </a:p>
          <a:p>
            <a:pPr indent="0" lvl="0" marL="0" marR="0" rtl="0" algn="ctr">
              <a:lnSpc>
                <a:spcPct val="100000"/>
              </a:lnSpc>
              <a:spcBef>
                <a:spcPts val="0"/>
              </a:spcBef>
              <a:spcAft>
                <a:spcPts val="0"/>
              </a:spcAft>
              <a:buClr>
                <a:schemeClr val="dk1"/>
              </a:buClr>
              <a:buSzPts val="700"/>
              <a:buFont typeface="Verdana"/>
              <a:buNone/>
            </a:pPr>
            <a:r>
              <a:rPr b="0" i="0" lang="en-CA" sz="2800" u="none" cap="none" strike="noStrike">
                <a:solidFill>
                  <a:schemeClr val="dk1"/>
                </a:solidFill>
                <a:latin typeface="Verdana"/>
                <a:ea typeface="Verdana"/>
                <a:cs typeface="Verdana"/>
                <a:sym typeface="Verdana"/>
              </a:rPr>
              <a:t>F1 individuals produces a predictable phenotypic ratio in the F2 generation of dihybrid crosses as well…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51"/>
          <p:cNvPicPr preferRelativeResize="0"/>
          <p:nvPr/>
        </p:nvPicPr>
        <p:blipFill rotWithShape="1">
          <a:blip r:embed="rId3">
            <a:alphaModFix/>
          </a:blip>
          <a:srcRect b="0" l="0" r="0" t="0"/>
          <a:stretch/>
        </p:blipFill>
        <p:spPr>
          <a:xfrm>
            <a:off x="1907703" y="836712"/>
            <a:ext cx="5400599" cy="1769533"/>
          </a:xfrm>
          <a:prstGeom prst="rect">
            <a:avLst/>
          </a:prstGeom>
          <a:noFill/>
          <a:ln>
            <a:noFill/>
          </a:ln>
        </p:spPr>
      </p:pic>
      <p:pic>
        <p:nvPicPr>
          <p:cNvPr id="648" name="Google Shape;648;p51"/>
          <p:cNvPicPr preferRelativeResize="0"/>
          <p:nvPr/>
        </p:nvPicPr>
        <p:blipFill rotWithShape="1">
          <a:blip r:embed="rId4">
            <a:alphaModFix/>
          </a:blip>
          <a:srcRect b="0" l="0" r="0" t="0"/>
          <a:stretch/>
        </p:blipFill>
        <p:spPr>
          <a:xfrm>
            <a:off x="899591" y="3212975"/>
            <a:ext cx="7357290" cy="3274068"/>
          </a:xfrm>
          <a:prstGeom prst="rect">
            <a:avLst/>
          </a:prstGeom>
          <a:noFill/>
          <a:ln>
            <a:noFill/>
          </a:ln>
        </p:spPr>
      </p:pic>
      <p:sp>
        <p:nvSpPr>
          <p:cNvPr id="649" name="Google Shape;649;p51"/>
          <p:cNvSpPr txBox="1"/>
          <p:nvPr/>
        </p:nvSpPr>
        <p:spPr>
          <a:xfrm>
            <a:off x="1973475" y="2780927"/>
            <a:ext cx="5112567" cy="46166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600"/>
              <a:buFont typeface="Verdana"/>
              <a:buNone/>
            </a:pPr>
            <a:r>
              <a:rPr b="1" i="0" lang="en-CA" sz="2400" u="none" cap="none" strike="noStrike">
                <a:solidFill>
                  <a:schemeClr val="dk1"/>
                </a:solidFill>
                <a:latin typeface="Verdana"/>
                <a:ea typeface="Verdana"/>
                <a:cs typeface="Verdana"/>
                <a:sym typeface="Verdana"/>
              </a:rPr>
              <a:t>F2 Generation: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2"/>
          <p:cNvSpPr/>
          <p:nvPr/>
        </p:nvSpPr>
        <p:spPr>
          <a:xfrm>
            <a:off x="755575" y="4077071"/>
            <a:ext cx="7560839" cy="1440160"/>
          </a:xfrm>
          <a:prstGeom prst="rect">
            <a:avLst/>
          </a:prstGeom>
          <a:solidFill>
            <a:schemeClr val="accent4"/>
          </a:solidFill>
          <a:ln cap="flat" cmpd="sng" w="158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655" name="Google Shape;655;p52"/>
          <p:cNvSpPr txBox="1"/>
          <p:nvPr/>
        </p:nvSpPr>
        <p:spPr>
          <a:xfrm>
            <a:off x="1043608" y="1313473"/>
            <a:ext cx="6984776" cy="132343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Because such crosses consistently yielded this 9:3:3:1 ratio, Mendel concluded that the segregation of alleles for one gene had no influence on the segregation of alleles for another gene…</a:t>
            </a:r>
            <a:endParaRPr/>
          </a:p>
        </p:txBody>
      </p:sp>
      <p:sp>
        <p:nvSpPr>
          <p:cNvPr id="656" name="Google Shape;656;p52"/>
          <p:cNvSpPr txBox="1"/>
          <p:nvPr/>
        </p:nvSpPr>
        <p:spPr>
          <a:xfrm>
            <a:off x="755575" y="3068959"/>
            <a:ext cx="7560839"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This is known as Mendel’s Second Law, or the </a:t>
            </a:r>
            <a:r>
              <a:rPr b="1" i="1" lang="en-CA" sz="2400" u="none" cap="none" strike="noStrike">
                <a:solidFill>
                  <a:srgbClr val="393B3F"/>
                </a:solidFill>
                <a:latin typeface="Verdana"/>
                <a:ea typeface="Verdana"/>
                <a:cs typeface="Verdana"/>
                <a:sym typeface="Verdana"/>
              </a:rPr>
              <a:t>Law of Independent Assortment</a:t>
            </a:r>
            <a:r>
              <a:rPr b="0" i="0" lang="en-CA" sz="2400" u="none" cap="none" strike="noStrike">
                <a:solidFill>
                  <a:srgbClr val="393B3F"/>
                </a:solidFill>
                <a:latin typeface="Verdana"/>
                <a:ea typeface="Verdana"/>
                <a:cs typeface="Verdana"/>
                <a:sym typeface="Verdana"/>
              </a:rPr>
              <a:t>: </a:t>
            </a:r>
            <a:endParaRPr/>
          </a:p>
        </p:txBody>
      </p:sp>
      <p:sp>
        <p:nvSpPr>
          <p:cNvPr id="657" name="Google Shape;657;p52"/>
          <p:cNvSpPr txBox="1"/>
          <p:nvPr/>
        </p:nvSpPr>
        <p:spPr>
          <a:xfrm>
            <a:off x="755575" y="4293096"/>
            <a:ext cx="7560839" cy="10156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1" lang="en-CA" sz="2000" u="none" cap="none" strike="noStrike">
                <a:solidFill>
                  <a:srgbClr val="393B3F"/>
                </a:solidFill>
                <a:latin typeface="Verdana"/>
                <a:ea typeface="Verdana"/>
                <a:cs typeface="Verdana"/>
                <a:sym typeface="Verdana"/>
              </a:rPr>
              <a:t>The two alleles for one gene segregate independently of alleles for other genes during gamete formation.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3"/>
          <p:cNvSpPr/>
          <p:nvPr/>
        </p:nvSpPr>
        <p:spPr>
          <a:xfrm>
            <a:off x="791550" y="1270300"/>
            <a:ext cx="3740100" cy="1164600"/>
          </a:xfrm>
          <a:prstGeom prst="rect">
            <a:avLst/>
          </a:prstGeom>
          <a:solidFill>
            <a:schemeClr val="accent4"/>
          </a:solidFill>
          <a:ln cap="flat" cmpd="sng" w="158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663" name="Google Shape;663;p53"/>
          <p:cNvSpPr txBox="1"/>
          <p:nvPr/>
        </p:nvSpPr>
        <p:spPr>
          <a:xfrm>
            <a:off x="791550" y="779928"/>
            <a:ext cx="7560900" cy="53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1" lang="en-CA" sz="2400" u="none" cap="none" strike="noStrike">
                <a:solidFill>
                  <a:srgbClr val="393B3F"/>
                </a:solidFill>
                <a:latin typeface="Verdana"/>
                <a:ea typeface="Verdana"/>
                <a:cs typeface="Verdana"/>
                <a:sym typeface="Verdana"/>
              </a:rPr>
              <a:t>Law of Independent Assortment</a:t>
            </a:r>
            <a:r>
              <a:rPr b="0" i="0" lang="en-CA" sz="2400" u="none" cap="none" strike="noStrike">
                <a:solidFill>
                  <a:srgbClr val="393B3F"/>
                </a:solidFill>
                <a:latin typeface="Verdana"/>
                <a:ea typeface="Verdana"/>
                <a:cs typeface="Verdana"/>
                <a:sym typeface="Verdana"/>
              </a:rPr>
              <a:t> </a:t>
            </a:r>
            <a:endParaRPr/>
          </a:p>
        </p:txBody>
      </p:sp>
      <p:sp>
        <p:nvSpPr>
          <p:cNvPr id="664" name="Google Shape;664;p53"/>
          <p:cNvSpPr txBox="1"/>
          <p:nvPr/>
        </p:nvSpPr>
        <p:spPr>
          <a:xfrm>
            <a:off x="900550" y="1386150"/>
            <a:ext cx="3585600" cy="84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1" lang="en-CA" sz="1600" u="none" cap="none" strike="noStrike">
                <a:solidFill>
                  <a:srgbClr val="393B3F"/>
                </a:solidFill>
                <a:latin typeface="Verdana"/>
                <a:ea typeface="Verdana"/>
                <a:cs typeface="Verdana"/>
                <a:sym typeface="Verdana"/>
              </a:rPr>
              <a:t>The two alleles for one gene segregate independently of alleles for other genes during gamete formation.</a:t>
            </a:r>
            <a:endParaRPr sz="1000"/>
          </a:p>
        </p:txBody>
      </p:sp>
      <p:pic>
        <p:nvPicPr>
          <p:cNvPr id="665" name="Google Shape;665;p53"/>
          <p:cNvPicPr preferRelativeResize="0"/>
          <p:nvPr/>
        </p:nvPicPr>
        <p:blipFill rotWithShape="1">
          <a:blip r:embed="rId3">
            <a:alphaModFix/>
          </a:blip>
          <a:srcRect b="3939" l="0" r="0" t="0"/>
          <a:stretch/>
        </p:blipFill>
        <p:spPr>
          <a:xfrm>
            <a:off x="1316800" y="4290300"/>
            <a:ext cx="6510399" cy="2500500"/>
          </a:xfrm>
          <a:prstGeom prst="rect">
            <a:avLst/>
          </a:prstGeom>
          <a:noFill/>
          <a:ln>
            <a:noFill/>
          </a:ln>
        </p:spPr>
      </p:pic>
      <p:pic>
        <p:nvPicPr>
          <p:cNvPr id="666" name="Google Shape;666;p53"/>
          <p:cNvPicPr preferRelativeResize="0"/>
          <p:nvPr/>
        </p:nvPicPr>
        <p:blipFill rotWithShape="1">
          <a:blip r:embed="rId4">
            <a:alphaModFix/>
          </a:blip>
          <a:srcRect b="12065" l="0" r="0" t="0"/>
          <a:stretch/>
        </p:blipFill>
        <p:spPr>
          <a:xfrm>
            <a:off x="4613250" y="1224525"/>
            <a:ext cx="4530750" cy="2816750"/>
          </a:xfrm>
          <a:prstGeom prst="rect">
            <a:avLst/>
          </a:prstGeom>
          <a:noFill/>
          <a:ln>
            <a:noFill/>
          </a:ln>
        </p:spPr>
      </p:pic>
      <p:sp>
        <p:nvSpPr>
          <p:cNvPr id="667" name="Google Shape;667;p53"/>
          <p:cNvSpPr txBox="1"/>
          <p:nvPr/>
        </p:nvSpPr>
        <p:spPr>
          <a:xfrm>
            <a:off x="754050" y="2657825"/>
            <a:ext cx="3815100" cy="17895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500">
                <a:solidFill>
                  <a:schemeClr val="dk2"/>
                </a:solidFill>
                <a:latin typeface="Verdana"/>
                <a:ea typeface="Verdana"/>
                <a:cs typeface="Verdana"/>
                <a:sym typeface="Verdana"/>
              </a:rPr>
              <a:t>Recall </a:t>
            </a:r>
            <a:r>
              <a:rPr lang="en-CA" sz="1500">
                <a:solidFill>
                  <a:schemeClr val="dk2"/>
                </a:solidFill>
                <a:latin typeface="Verdana"/>
                <a:ea typeface="Verdana"/>
                <a:cs typeface="Verdana"/>
                <a:sym typeface="Verdana"/>
              </a:rPr>
              <a:t>these diagrams from your notes on meiosis II where we discussed how chromosomes line up independently of one another during metaphase I. Take a moment to reflect on how this connects to the Law of Independent Assortment.</a:t>
            </a:r>
            <a:endParaRPr sz="1500">
              <a:solidFill>
                <a:schemeClr val="dk2"/>
              </a:solidFill>
              <a:latin typeface="Verdana"/>
              <a:ea typeface="Verdana"/>
              <a:cs typeface="Verdana"/>
              <a:sym typeface="Verdan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p54"/>
          <p:cNvPicPr preferRelativeResize="0"/>
          <p:nvPr/>
        </p:nvPicPr>
        <p:blipFill>
          <a:blip r:embed="rId3">
            <a:alphaModFix/>
          </a:blip>
          <a:stretch>
            <a:fillRect/>
          </a:stretch>
        </p:blipFill>
        <p:spPr>
          <a:xfrm>
            <a:off x="394500" y="1545150"/>
            <a:ext cx="8482911" cy="5105950"/>
          </a:xfrm>
          <a:prstGeom prst="rect">
            <a:avLst/>
          </a:prstGeom>
          <a:noFill/>
          <a:ln>
            <a:noFill/>
          </a:ln>
        </p:spPr>
      </p:pic>
      <p:sp>
        <p:nvSpPr>
          <p:cNvPr id="674" name="Google Shape;674;p54"/>
          <p:cNvSpPr/>
          <p:nvPr/>
        </p:nvSpPr>
        <p:spPr>
          <a:xfrm>
            <a:off x="3102350" y="2693975"/>
            <a:ext cx="5634900" cy="3797100"/>
          </a:xfrm>
          <a:prstGeom prst="rect">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675" name="Google Shape;675;p54"/>
          <p:cNvSpPr txBox="1"/>
          <p:nvPr/>
        </p:nvSpPr>
        <p:spPr>
          <a:xfrm>
            <a:off x="562100" y="804800"/>
            <a:ext cx="81477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400">
                <a:solidFill>
                  <a:schemeClr val="dk2"/>
                </a:solidFill>
                <a:latin typeface="Verdana"/>
                <a:ea typeface="Verdana"/>
                <a:cs typeface="Verdana"/>
                <a:sym typeface="Verdana"/>
              </a:rPr>
              <a:t>Now we have addressed all three laws of Mendel:</a:t>
            </a:r>
            <a:endParaRPr sz="2400">
              <a:solidFill>
                <a:schemeClr val="dk2"/>
              </a:solidFill>
              <a:latin typeface="Verdana"/>
              <a:ea typeface="Verdana"/>
              <a:cs typeface="Verdana"/>
              <a:sym typeface="Verdan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5"/>
          <p:cNvSpPr txBox="1"/>
          <p:nvPr/>
        </p:nvSpPr>
        <p:spPr>
          <a:xfrm>
            <a:off x="634825" y="705825"/>
            <a:ext cx="8184300" cy="269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93B3F"/>
              </a:buClr>
              <a:buSzPts val="600"/>
              <a:buFont typeface="Verdana"/>
              <a:buNone/>
            </a:pPr>
            <a:r>
              <a:rPr b="1" lang="en-CA" sz="1900">
                <a:solidFill>
                  <a:srgbClr val="393B3F"/>
                </a:solidFill>
                <a:latin typeface="Verdana"/>
                <a:ea typeface="Verdana"/>
                <a:cs typeface="Verdana"/>
                <a:sym typeface="Verdana"/>
              </a:rPr>
              <a:t>TWO TRAIT CROSSES</a:t>
            </a:r>
            <a:endParaRPr sz="700"/>
          </a:p>
          <a:p>
            <a:pPr indent="0" lvl="0" marL="0" marR="0" rtl="0" algn="l">
              <a:lnSpc>
                <a:spcPct val="100000"/>
              </a:lnSpc>
              <a:spcBef>
                <a:spcPts val="0"/>
              </a:spcBef>
              <a:spcAft>
                <a:spcPts val="0"/>
              </a:spcAft>
              <a:buClr>
                <a:srgbClr val="393B3F"/>
              </a:buClr>
              <a:buSzPts val="600"/>
              <a:buFont typeface="Verdana"/>
              <a:buNone/>
            </a:pPr>
            <a:r>
              <a:rPr b="1" i="0" lang="en-CA" sz="1700" u="none" cap="none" strike="noStrike">
                <a:solidFill>
                  <a:srgbClr val="393B3F"/>
                </a:solidFill>
                <a:latin typeface="Verdana"/>
                <a:ea typeface="Verdana"/>
                <a:cs typeface="Verdana"/>
                <a:sym typeface="Verdana"/>
              </a:rPr>
              <a:t>Example 1:</a:t>
            </a:r>
            <a:endParaRPr sz="700"/>
          </a:p>
          <a:p>
            <a:pPr indent="0" lvl="0" marL="0" marR="0" rtl="0" algn="l">
              <a:lnSpc>
                <a:spcPct val="100000"/>
              </a:lnSpc>
              <a:spcBef>
                <a:spcPts val="0"/>
              </a:spcBef>
              <a:spcAft>
                <a:spcPts val="0"/>
              </a:spcAft>
              <a:buClr>
                <a:srgbClr val="000000"/>
              </a:buClr>
              <a:buSzPts val="2400"/>
              <a:buFont typeface="Arial"/>
              <a:buNone/>
            </a:pPr>
            <a:r>
              <a:t/>
            </a:r>
            <a:endParaRPr b="1" i="0" sz="18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rPr b="0" i="0" lang="en-CA" u="none" cap="none" strike="noStrike">
                <a:solidFill>
                  <a:srgbClr val="393B3F"/>
                </a:solidFill>
                <a:latin typeface="Verdana"/>
                <a:ea typeface="Verdana"/>
                <a:cs typeface="Verdana"/>
                <a:sym typeface="Verdana"/>
              </a:rPr>
              <a:t>In tomatoes, red fruit is dominant to yellow fruit, and tall plants are dominant to short plants. A plant that is heterozygous for both traits is crossed with a plant that is heterozygous for the gene encoding height, </a:t>
            </a:r>
            <a:r>
              <a:rPr lang="en-CA">
                <a:solidFill>
                  <a:srgbClr val="393B3F"/>
                </a:solidFill>
                <a:latin typeface="Verdana"/>
                <a:ea typeface="Verdana"/>
                <a:cs typeface="Verdana"/>
                <a:sym typeface="Verdana"/>
              </a:rPr>
              <a:t>and homozygous recessive for the gene encoding fruit colour</a:t>
            </a:r>
            <a:r>
              <a:rPr b="0" i="0" lang="en-CA" u="none" cap="none" strike="noStrike">
                <a:solidFill>
                  <a:srgbClr val="393B3F"/>
                </a:solidFill>
                <a:latin typeface="Verdana"/>
                <a:ea typeface="Verdana"/>
                <a:cs typeface="Verdana"/>
                <a:sym typeface="Verdana"/>
              </a:rPr>
              <a:t>.</a:t>
            </a:r>
            <a:endParaRPr/>
          </a:p>
          <a:p>
            <a:pPr indent="0" lvl="0" marL="0" marR="0" rtl="0" algn="l">
              <a:lnSpc>
                <a:spcPct val="100000"/>
              </a:lnSpc>
              <a:spcBef>
                <a:spcPts val="0"/>
              </a:spcBef>
              <a:spcAft>
                <a:spcPts val="0"/>
              </a:spcAft>
              <a:buClr>
                <a:srgbClr val="000000"/>
              </a:buClr>
              <a:buSzPts val="2400"/>
              <a:buFont typeface="Arial"/>
              <a:buNone/>
            </a:pPr>
            <a:r>
              <a:t/>
            </a:r>
            <a:endParaRPr b="0" i="0" sz="1600" u="none" cap="none" strike="noStrike">
              <a:solidFill>
                <a:srgbClr val="393B3F"/>
              </a:solidFill>
              <a:latin typeface="Verdana"/>
              <a:ea typeface="Verdana"/>
              <a:cs typeface="Verdana"/>
              <a:sym typeface="Verdana"/>
            </a:endParaRPr>
          </a:p>
          <a:p>
            <a:pPr indent="-419100" lvl="0" marL="457200" marR="0" rtl="0" algn="l">
              <a:lnSpc>
                <a:spcPct val="100000"/>
              </a:lnSpc>
              <a:spcBef>
                <a:spcPts val="0"/>
              </a:spcBef>
              <a:spcAft>
                <a:spcPts val="0"/>
              </a:spcAft>
              <a:buClr>
                <a:srgbClr val="393B3F"/>
              </a:buClr>
              <a:buSzPts val="1400"/>
              <a:buFont typeface="Verdana"/>
              <a:buAutoNum type="alphaLcParenR"/>
            </a:pPr>
            <a:r>
              <a:rPr b="0" i="0" lang="en-CA" u="none" cap="none" strike="noStrike">
                <a:solidFill>
                  <a:srgbClr val="393B3F"/>
                </a:solidFill>
                <a:latin typeface="Verdana"/>
                <a:ea typeface="Verdana"/>
                <a:cs typeface="Verdana"/>
                <a:sym typeface="Verdana"/>
              </a:rPr>
              <a:t>What are the phenotypes &amp; genotypes of the plants being crossed?</a:t>
            </a:r>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sp>
        <p:nvSpPr>
          <p:cNvPr id="681" name="Google Shape;681;p55"/>
          <p:cNvSpPr txBox="1"/>
          <p:nvPr/>
        </p:nvSpPr>
        <p:spPr>
          <a:xfrm>
            <a:off x="761025" y="3021325"/>
            <a:ext cx="7485600" cy="197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solidFill>
                  <a:srgbClr val="A64D79"/>
                </a:solidFill>
                <a:latin typeface="Verdana"/>
                <a:ea typeface="Verdana"/>
                <a:cs typeface="Verdana"/>
                <a:sym typeface="Verdana"/>
              </a:rPr>
              <a:t>‘Red fruit is dominant to yellow’ so let’s use ‘R’ to represent red and ‘r’ to represent the yellow allele.</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latin typeface="Verdana"/>
                <a:ea typeface="Verdana"/>
                <a:cs typeface="Verdana"/>
                <a:sym typeface="Verdana"/>
              </a:rPr>
              <a:t>Similarly, if ‘tall is dominant to short’ let’s use ‘T’ to represent the tall allele and ‘t’ to represent the short allele. </a:t>
            </a:r>
            <a:endParaRPr>
              <a:solidFill>
                <a:srgbClr val="A64D79"/>
              </a:solidFill>
              <a:latin typeface="Verdana"/>
              <a:ea typeface="Verdana"/>
              <a:cs typeface="Verdana"/>
              <a:sym typeface="Verdana"/>
            </a:endParaRPr>
          </a:p>
          <a:p>
            <a:pPr indent="0" lvl="0" marL="0" rtl="0" algn="l">
              <a:spcBef>
                <a:spcPts val="0"/>
              </a:spcBef>
              <a:spcAft>
                <a:spcPts val="0"/>
              </a:spcAft>
              <a:buNone/>
            </a:pPr>
            <a:r>
              <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latin typeface="Verdana"/>
                <a:ea typeface="Verdana"/>
                <a:cs typeface="Verdana"/>
                <a:sym typeface="Verdana"/>
              </a:rPr>
              <a:t>So the parents phenotypes and genotypes are:</a:t>
            </a:r>
            <a:endParaRPr>
              <a:solidFill>
                <a:srgbClr val="A64D79"/>
              </a:solidFill>
              <a:latin typeface="Verdana"/>
              <a:ea typeface="Verdana"/>
              <a:cs typeface="Verdana"/>
              <a:sym typeface="Verdana"/>
            </a:endParaRPr>
          </a:p>
          <a:p>
            <a:pPr indent="0" lvl="0" marL="0" rtl="0" algn="l">
              <a:spcBef>
                <a:spcPts val="0"/>
              </a:spcBef>
              <a:spcAft>
                <a:spcPts val="0"/>
              </a:spcAft>
              <a:buNone/>
            </a:pPr>
            <a:r>
              <a:t/>
            </a:r>
            <a:endParaRPr sz="1600">
              <a:solidFill>
                <a:srgbClr val="A64D79"/>
              </a:solidFill>
              <a:latin typeface="Verdana"/>
              <a:ea typeface="Verdana"/>
              <a:cs typeface="Verdana"/>
              <a:sym typeface="Verdana"/>
            </a:endParaRPr>
          </a:p>
          <a:p>
            <a:pPr indent="0" lvl="0" marL="0" rtl="0" algn="l">
              <a:spcBef>
                <a:spcPts val="0"/>
              </a:spcBef>
              <a:spcAft>
                <a:spcPts val="0"/>
              </a:spcAft>
              <a:buNone/>
            </a:pPr>
            <a:r>
              <a:t/>
            </a:r>
            <a:endParaRPr sz="1600">
              <a:solidFill>
                <a:srgbClr val="A64D79"/>
              </a:solidFill>
              <a:latin typeface="Verdana"/>
              <a:ea typeface="Verdana"/>
              <a:cs typeface="Verdana"/>
              <a:sym typeface="Verdana"/>
            </a:endParaRPr>
          </a:p>
        </p:txBody>
      </p:sp>
      <p:graphicFrame>
        <p:nvGraphicFramePr>
          <p:cNvPr id="682" name="Google Shape;682;p55"/>
          <p:cNvGraphicFramePr/>
          <p:nvPr/>
        </p:nvGraphicFramePr>
        <p:xfrm>
          <a:off x="815525" y="4528850"/>
          <a:ext cx="3000000" cy="3000000"/>
        </p:xfrm>
        <a:graphic>
          <a:graphicData uri="http://schemas.openxmlformats.org/drawingml/2006/table">
            <a:tbl>
              <a:tblPr>
                <a:noFill/>
                <a:tableStyleId>{6A1E2D6C-7FDB-4D57-BEA6-0CDAB9F65119}</a:tableStyleId>
              </a:tblPr>
              <a:tblGrid>
                <a:gridCol w="4038950"/>
                <a:gridCol w="1504650"/>
                <a:gridCol w="1695400"/>
              </a:tblGrid>
              <a:tr h="345975">
                <a:tc>
                  <a:txBody>
                    <a:bodyPr/>
                    <a:lstStyle/>
                    <a:p>
                      <a:pPr indent="0" lvl="0" marL="0" rtl="0" algn="l">
                        <a:spcBef>
                          <a:spcPts val="0"/>
                        </a:spcBef>
                        <a:spcAft>
                          <a:spcPts val="0"/>
                        </a:spcAft>
                        <a:buNone/>
                      </a:pPr>
                      <a:r>
                        <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genotype</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phenotype</a:t>
                      </a:r>
                      <a:endParaRPr b="1">
                        <a:solidFill>
                          <a:srgbClr val="A64D79"/>
                        </a:solidFill>
                      </a:endParaRPr>
                    </a:p>
                  </a:txBody>
                  <a:tcPr marT="91425" marB="91425" marR="91425" marL="91425"/>
                </a:tc>
              </a:tr>
              <a:tr h="345975">
                <a:tc>
                  <a:txBody>
                    <a:bodyPr/>
                    <a:lstStyle/>
                    <a:p>
                      <a:pPr indent="0" lvl="0" marL="0" rtl="0" algn="l">
                        <a:spcBef>
                          <a:spcPts val="0"/>
                        </a:spcBef>
                        <a:spcAft>
                          <a:spcPts val="0"/>
                        </a:spcAft>
                        <a:buNone/>
                      </a:pPr>
                      <a:r>
                        <a:rPr lang="en-CA">
                          <a:solidFill>
                            <a:srgbClr val="A64D79"/>
                          </a:solidFill>
                        </a:rPr>
                        <a:t>Plant that is heterozygous for both traits</a:t>
                      </a:r>
                      <a:endParaRPr>
                        <a:solidFill>
                          <a:srgbClr val="A64D79"/>
                        </a:solidFill>
                      </a:endParaRPr>
                    </a:p>
                  </a:txBody>
                  <a:tcPr marT="91425" marB="91425" marR="91425" marL="91425"/>
                </a:tc>
                <a:tc>
                  <a:txBody>
                    <a:bodyPr/>
                    <a:lstStyle/>
                    <a:p>
                      <a:pPr indent="0" lvl="0" marL="0" rtl="0" algn="ctr">
                        <a:spcBef>
                          <a:spcPts val="0"/>
                        </a:spcBef>
                        <a:spcAft>
                          <a:spcPts val="0"/>
                        </a:spcAft>
                        <a:buNone/>
                      </a:pPr>
                      <a:r>
                        <a:rPr lang="en-CA">
                          <a:solidFill>
                            <a:srgbClr val="A64D79"/>
                          </a:solidFill>
                        </a:rPr>
                        <a:t>RrTt</a:t>
                      </a:r>
                      <a:endParaRPr>
                        <a:solidFill>
                          <a:srgbClr val="A64D79"/>
                        </a:solidFill>
                      </a:endParaRPr>
                    </a:p>
                  </a:txBody>
                  <a:tcPr marT="91425" marB="91425" marR="91425" marL="91425"/>
                </a:tc>
                <a:tc>
                  <a:txBody>
                    <a:bodyPr/>
                    <a:lstStyle/>
                    <a:p>
                      <a:pPr indent="0" lvl="0" marL="0" rtl="0" algn="ctr">
                        <a:spcBef>
                          <a:spcPts val="0"/>
                        </a:spcBef>
                        <a:spcAft>
                          <a:spcPts val="0"/>
                        </a:spcAft>
                        <a:buNone/>
                      </a:pPr>
                      <a:r>
                        <a:rPr lang="en-CA">
                          <a:solidFill>
                            <a:srgbClr val="A64D79"/>
                          </a:solidFill>
                        </a:rPr>
                        <a:t>Red and tall</a:t>
                      </a:r>
                      <a:endParaRPr>
                        <a:solidFill>
                          <a:srgbClr val="A64D79"/>
                        </a:solidFill>
                      </a:endParaRPr>
                    </a:p>
                  </a:txBody>
                  <a:tcPr marT="91425" marB="91425" marR="91425" marL="91425"/>
                </a:tc>
              </a:tr>
              <a:tr h="622000">
                <a:tc>
                  <a:txBody>
                    <a:bodyPr/>
                    <a:lstStyle/>
                    <a:p>
                      <a:pPr indent="0" lvl="0" marL="0" rtl="0" algn="l">
                        <a:spcBef>
                          <a:spcPts val="0"/>
                        </a:spcBef>
                        <a:spcAft>
                          <a:spcPts val="0"/>
                        </a:spcAft>
                        <a:buNone/>
                      </a:pPr>
                      <a:r>
                        <a:rPr lang="en-CA">
                          <a:solidFill>
                            <a:srgbClr val="A64D79"/>
                          </a:solidFill>
                        </a:rPr>
                        <a:t>Plant that is heterozygous for height and homozygous recessive for color</a:t>
                      </a:r>
                      <a:endParaRPr>
                        <a:solidFill>
                          <a:srgbClr val="A64D79"/>
                        </a:solidFill>
                      </a:endParaRPr>
                    </a:p>
                  </a:txBody>
                  <a:tcPr marT="91425" marB="91425" marR="91425" marL="91425"/>
                </a:tc>
                <a:tc>
                  <a:txBody>
                    <a:bodyPr/>
                    <a:lstStyle/>
                    <a:p>
                      <a:pPr indent="0" lvl="0" marL="0" rtl="0" algn="ctr">
                        <a:spcBef>
                          <a:spcPts val="0"/>
                        </a:spcBef>
                        <a:spcAft>
                          <a:spcPts val="0"/>
                        </a:spcAft>
                        <a:buNone/>
                      </a:pPr>
                      <a:r>
                        <a:rPr lang="en-CA">
                          <a:solidFill>
                            <a:srgbClr val="A64D79"/>
                          </a:solidFill>
                        </a:rPr>
                        <a:t>rrTt</a:t>
                      </a:r>
                      <a:endParaRPr>
                        <a:solidFill>
                          <a:srgbClr val="A64D79"/>
                        </a:solidFill>
                      </a:endParaRPr>
                    </a:p>
                  </a:txBody>
                  <a:tcPr marT="91425" marB="91425" marR="91425" marL="91425"/>
                </a:tc>
                <a:tc>
                  <a:txBody>
                    <a:bodyPr/>
                    <a:lstStyle/>
                    <a:p>
                      <a:pPr indent="0" lvl="0" marL="0" rtl="0" algn="ctr">
                        <a:spcBef>
                          <a:spcPts val="0"/>
                        </a:spcBef>
                        <a:spcAft>
                          <a:spcPts val="0"/>
                        </a:spcAft>
                        <a:buNone/>
                      </a:pPr>
                      <a:r>
                        <a:rPr lang="en-CA">
                          <a:solidFill>
                            <a:srgbClr val="A64D79"/>
                          </a:solidFill>
                        </a:rPr>
                        <a:t>Yellow and tall</a:t>
                      </a:r>
                      <a:endParaRPr>
                        <a:solidFill>
                          <a:srgbClr val="A64D79"/>
                        </a:solidFill>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56"/>
          <p:cNvSpPr txBox="1"/>
          <p:nvPr/>
        </p:nvSpPr>
        <p:spPr>
          <a:xfrm>
            <a:off x="616775" y="762375"/>
            <a:ext cx="8057100" cy="172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93B3F"/>
              </a:buClr>
              <a:buSzPts val="600"/>
              <a:buFont typeface="Verdana"/>
              <a:buNone/>
            </a:pPr>
            <a:r>
              <a:rPr b="1" lang="en-CA" sz="1900">
                <a:solidFill>
                  <a:srgbClr val="393B3F"/>
                </a:solidFill>
                <a:latin typeface="Verdana"/>
                <a:ea typeface="Verdana"/>
                <a:cs typeface="Verdana"/>
                <a:sym typeface="Verdana"/>
              </a:rPr>
              <a:t>TWO TRAIT CROSSES</a:t>
            </a:r>
            <a:endParaRPr sz="900"/>
          </a:p>
          <a:p>
            <a:pPr indent="0" lvl="0" marL="0" marR="0" rtl="0" algn="l">
              <a:lnSpc>
                <a:spcPct val="100000"/>
              </a:lnSpc>
              <a:spcBef>
                <a:spcPts val="0"/>
              </a:spcBef>
              <a:spcAft>
                <a:spcPts val="0"/>
              </a:spcAft>
              <a:buClr>
                <a:srgbClr val="393B3F"/>
              </a:buClr>
              <a:buSzPts val="600"/>
              <a:buFont typeface="Verdana"/>
              <a:buNone/>
            </a:pPr>
            <a:r>
              <a:rPr b="1" i="0" lang="en-CA" sz="1900" u="none" cap="none" strike="noStrike">
                <a:solidFill>
                  <a:srgbClr val="393B3F"/>
                </a:solidFill>
                <a:latin typeface="Verdana"/>
                <a:ea typeface="Verdana"/>
                <a:cs typeface="Verdana"/>
                <a:sym typeface="Verdana"/>
              </a:rPr>
              <a:t>Example 1:</a:t>
            </a:r>
            <a:endParaRPr sz="900"/>
          </a:p>
          <a:p>
            <a:pPr indent="0" lvl="0" marL="0" marR="0" rtl="0" algn="l">
              <a:lnSpc>
                <a:spcPct val="100000"/>
              </a:lnSpc>
              <a:spcBef>
                <a:spcPts val="0"/>
              </a:spcBef>
              <a:spcAft>
                <a:spcPts val="0"/>
              </a:spcAft>
              <a:buClr>
                <a:srgbClr val="000000"/>
              </a:buClr>
              <a:buSzPts val="2400"/>
              <a:buFont typeface="Arial"/>
              <a:buNone/>
            </a:pPr>
            <a:r>
              <a:t/>
            </a:r>
            <a:endParaRPr b="1" i="0" sz="1600" u="none" cap="none" strike="noStrike">
              <a:solidFill>
                <a:srgbClr val="393B3F"/>
              </a:solidFill>
              <a:latin typeface="Verdana"/>
              <a:ea typeface="Verdana"/>
              <a:cs typeface="Verdana"/>
              <a:sym typeface="Verdana"/>
            </a:endParaRPr>
          </a:p>
          <a:p>
            <a:pPr indent="0" lvl="0" marL="0" rtl="0" algn="l">
              <a:spcBef>
                <a:spcPts val="0"/>
              </a:spcBef>
              <a:spcAft>
                <a:spcPts val="0"/>
              </a:spcAft>
              <a:buClr>
                <a:srgbClr val="393B3F"/>
              </a:buClr>
              <a:buSzPts val="600"/>
              <a:buFont typeface="Verdana"/>
              <a:buNone/>
            </a:pPr>
            <a:r>
              <a:rPr lang="en-CA">
                <a:solidFill>
                  <a:srgbClr val="393B3F"/>
                </a:solidFill>
                <a:latin typeface="Verdana"/>
                <a:ea typeface="Verdana"/>
                <a:cs typeface="Verdana"/>
                <a:sym typeface="Verdana"/>
              </a:rPr>
              <a:t>In tomatoes, red fruit is dominant to yellow fruit, and tall plants are dominant to short plants. A plant that is heterozygous for both traits is crossed with a plant that is heterozygous for the gene encoding height, and homozygous recessive for the gene encoding fruit colour.</a:t>
            </a:r>
            <a:endParaRPr b="0" i="0" sz="1500" u="none" cap="none" strike="noStrike">
              <a:solidFill>
                <a:srgbClr val="393B3F"/>
              </a:solidFill>
              <a:latin typeface="Verdana"/>
              <a:ea typeface="Verdana"/>
              <a:cs typeface="Verdana"/>
              <a:sym typeface="Verdana"/>
            </a:endParaRPr>
          </a:p>
          <a:p>
            <a:pPr indent="0" lvl="0" marL="0" rtl="0" algn="l">
              <a:spcBef>
                <a:spcPts val="0"/>
              </a:spcBef>
              <a:spcAft>
                <a:spcPts val="0"/>
              </a:spcAft>
              <a:buNone/>
            </a:pPr>
            <a:r>
              <a:t/>
            </a:r>
            <a:endParaRPr sz="15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grpSp>
        <p:nvGrpSpPr>
          <p:cNvPr id="688" name="Google Shape;688;p56"/>
          <p:cNvGrpSpPr/>
          <p:nvPr/>
        </p:nvGrpSpPr>
        <p:grpSpPr>
          <a:xfrm>
            <a:off x="4785975" y="2585125"/>
            <a:ext cx="3778800" cy="3782100"/>
            <a:chOff x="4785975" y="2585125"/>
            <a:chExt cx="3778800" cy="3782100"/>
          </a:xfrm>
        </p:grpSpPr>
        <p:sp>
          <p:nvSpPr>
            <p:cNvPr id="689" name="Google Shape;689;p56"/>
            <p:cNvSpPr txBox="1"/>
            <p:nvPr/>
          </p:nvSpPr>
          <p:spPr>
            <a:xfrm>
              <a:off x="4785975" y="2585125"/>
              <a:ext cx="3778800" cy="37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rgbClr val="A64D79"/>
                  </a:solidFill>
                  <a:latin typeface="Verdana"/>
                  <a:ea typeface="Verdana"/>
                  <a:cs typeface="Verdana"/>
                  <a:sym typeface="Verdana"/>
                </a:rPr>
                <a:t>Step 1</a:t>
              </a:r>
              <a:r>
                <a:rPr lang="en-CA">
                  <a:solidFill>
                    <a:srgbClr val="A64D79"/>
                  </a:solidFill>
                  <a:latin typeface="Verdana"/>
                  <a:ea typeface="Verdana"/>
                  <a:cs typeface="Verdana"/>
                  <a:sym typeface="Verdana"/>
                </a:rPr>
                <a:t> with a cross is to identify the genotypes of the parents. This we have already done in part a:</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rPr>
                <a:t>RrTt x rrTt</a:t>
              </a:r>
              <a:endParaRPr>
                <a:solidFill>
                  <a:srgbClr val="A64D79"/>
                </a:solidFill>
              </a:endParaRPr>
            </a:p>
            <a:p>
              <a:pPr indent="0" lvl="0" marL="0" rtl="0" algn="l">
                <a:spcBef>
                  <a:spcPts val="0"/>
                </a:spcBef>
                <a:spcAft>
                  <a:spcPts val="0"/>
                </a:spcAft>
                <a:buNone/>
              </a:pPr>
              <a:r>
                <a:t/>
              </a:r>
              <a:endParaRPr>
                <a:solidFill>
                  <a:srgbClr val="A64D79"/>
                </a:solidFill>
              </a:endParaRPr>
            </a:p>
            <a:p>
              <a:pPr indent="0" lvl="0" marL="0" rtl="0" algn="l">
                <a:spcBef>
                  <a:spcPts val="0"/>
                </a:spcBef>
                <a:spcAft>
                  <a:spcPts val="0"/>
                </a:spcAft>
                <a:buNone/>
              </a:pPr>
              <a:r>
                <a:rPr b="1" lang="en-CA">
                  <a:solidFill>
                    <a:srgbClr val="A64D79"/>
                  </a:solidFill>
                </a:rPr>
                <a:t>Step 2 </a:t>
              </a:r>
              <a:r>
                <a:rPr lang="en-CA">
                  <a:solidFill>
                    <a:srgbClr val="A64D79"/>
                  </a:solidFill>
                </a:rPr>
                <a:t>is to identify the possible gametes and set up the Punnett Square. Not all two trait crosses will require a large 4x4 Punnett Square. Just identify the possible gametes and construct accordingly. </a:t>
              </a:r>
              <a:endParaRPr>
                <a:solidFill>
                  <a:srgbClr val="A64D79"/>
                </a:solidFill>
              </a:endParaRPr>
            </a:p>
            <a:p>
              <a:pPr indent="0" lvl="0" marL="0" rtl="0" algn="l">
                <a:spcBef>
                  <a:spcPts val="0"/>
                </a:spcBef>
                <a:spcAft>
                  <a:spcPts val="0"/>
                </a:spcAft>
                <a:buNone/>
              </a:pPr>
              <a:r>
                <a:t/>
              </a:r>
              <a:endParaRPr>
                <a:solidFill>
                  <a:srgbClr val="A64D79"/>
                </a:solidFill>
              </a:endParaRPr>
            </a:p>
            <a:p>
              <a:pPr indent="0" lvl="0" marL="0" rtl="0" algn="l">
                <a:spcBef>
                  <a:spcPts val="0"/>
                </a:spcBef>
                <a:spcAft>
                  <a:spcPts val="0"/>
                </a:spcAft>
                <a:buNone/>
              </a:pPr>
              <a:r>
                <a:rPr lang="en-CA">
                  <a:solidFill>
                    <a:srgbClr val="A64D79"/>
                  </a:solidFill>
                </a:rPr>
                <a:t>Rr Tt x rrTt</a:t>
              </a:r>
              <a:endParaRPr>
                <a:solidFill>
                  <a:srgbClr val="A64D79"/>
                </a:solidFill>
              </a:endParaRPr>
            </a:p>
            <a:p>
              <a:pPr indent="0" lvl="0" marL="0" rtl="0" algn="l">
                <a:spcBef>
                  <a:spcPts val="0"/>
                </a:spcBef>
                <a:spcAft>
                  <a:spcPts val="0"/>
                </a:spcAft>
                <a:buNone/>
              </a:pPr>
              <a:r>
                <a:t/>
              </a:r>
              <a:endParaRPr>
                <a:solidFill>
                  <a:srgbClr val="A64D79"/>
                </a:solidFill>
              </a:endParaRPr>
            </a:p>
            <a:p>
              <a:pPr indent="0" lvl="0" marL="0" rtl="0" algn="l">
                <a:spcBef>
                  <a:spcPts val="0"/>
                </a:spcBef>
                <a:spcAft>
                  <a:spcPts val="0"/>
                </a:spcAft>
                <a:buNone/>
              </a:pPr>
              <a:r>
                <a:t/>
              </a:r>
              <a:endParaRPr>
                <a:solidFill>
                  <a:srgbClr val="A64D79"/>
                </a:solidFill>
              </a:endParaRPr>
            </a:p>
            <a:p>
              <a:pPr indent="0" lvl="0" marL="0" rtl="0" algn="l">
                <a:spcBef>
                  <a:spcPts val="0"/>
                </a:spcBef>
                <a:spcAft>
                  <a:spcPts val="0"/>
                </a:spcAft>
                <a:buClr>
                  <a:schemeClr val="dk1"/>
                </a:buClr>
                <a:buSzPts val="1100"/>
                <a:buFont typeface="Arial"/>
                <a:buNone/>
              </a:pPr>
              <a:r>
                <a:rPr lang="en-CA">
                  <a:solidFill>
                    <a:srgbClr val="A64D79"/>
                  </a:solidFill>
                </a:rPr>
                <a:t>So parent 1 can make the RT, Rt, rT, and rt gametes, while parent 2 can only make rT and rt gametes. </a:t>
              </a:r>
              <a:endParaRPr>
                <a:solidFill>
                  <a:srgbClr val="A64D79"/>
                </a:solidFill>
              </a:endParaRPr>
            </a:p>
          </p:txBody>
        </p:sp>
        <p:sp>
          <p:nvSpPr>
            <p:cNvPr id="690" name="Google Shape;690;p56"/>
            <p:cNvSpPr/>
            <p:nvPr/>
          </p:nvSpPr>
          <p:spPr>
            <a:xfrm>
              <a:off x="4907425" y="4865350"/>
              <a:ext cx="2793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1" name="Google Shape;691;p56"/>
            <p:cNvSpPr/>
            <p:nvPr/>
          </p:nvSpPr>
          <p:spPr>
            <a:xfrm>
              <a:off x="4961150" y="4865350"/>
              <a:ext cx="3039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2" name="Google Shape;692;p56"/>
            <p:cNvSpPr/>
            <p:nvPr/>
          </p:nvSpPr>
          <p:spPr>
            <a:xfrm flipH="1" rot="10800000">
              <a:off x="5021726" y="5214725"/>
              <a:ext cx="1650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3" name="Google Shape;693;p56"/>
            <p:cNvSpPr/>
            <p:nvPr/>
          </p:nvSpPr>
          <p:spPr>
            <a:xfrm flipH="1" rot="10800000">
              <a:off x="5043300" y="5214725"/>
              <a:ext cx="2277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4" name="Google Shape;694;p56"/>
            <p:cNvSpPr/>
            <p:nvPr/>
          </p:nvSpPr>
          <p:spPr>
            <a:xfrm>
              <a:off x="5482225" y="4865350"/>
              <a:ext cx="1815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5" name="Google Shape;695;p56"/>
            <p:cNvSpPr/>
            <p:nvPr/>
          </p:nvSpPr>
          <p:spPr>
            <a:xfrm>
              <a:off x="5508550" y="4865350"/>
              <a:ext cx="2277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696" name="Google Shape;696;p56"/>
            <p:cNvSpPr txBox="1"/>
            <p:nvPr/>
          </p:nvSpPr>
          <p:spPr>
            <a:xfrm>
              <a:off x="6058075" y="4865350"/>
              <a:ext cx="1630800" cy="54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900">
                  <a:solidFill>
                    <a:srgbClr val="A64D79"/>
                  </a:solidFill>
                  <a:latin typeface="Verdana"/>
                  <a:ea typeface="Verdana"/>
                  <a:cs typeface="Verdana"/>
                  <a:sym typeface="Verdana"/>
                </a:rPr>
                <a:t>There is no need to consider the other four combinations because they will be repeat and will not impact the ratio. </a:t>
              </a:r>
              <a:endParaRPr sz="900">
                <a:solidFill>
                  <a:srgbClr val="A64D79"/>
                </a:solidFill>
                <a:latin typeface="Verdana"/>
                <a:ea typeface="Verdana"/>
                <a:cs typeface="Verdana"/>
                <a:sym typeface="Verdana"/>
              </a:endParaRPr>
            </a:p>
          </p:txBody>
        </p:sp>
      </p:grpSp>
      <p:sp>
        <p:nvSpPr>
          <p:cNvPr id="697" name="Google Shape;697;p56"/>
          <p:cNvSpPr txBox="1"/>
          <p:nvPr/>
        </p:nvSpPr>
        <p:spPr>
          <a:xfrm>
            <a:off x="727500" y="2679375"/>
            <a:ext cx="3000000" cy="220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solidFill>
                  <a:srgbClr val="393B3F"/>
                </a:solidFill>
                <a:latin typeface="Verdana"/>
                <a:ea typeface="Verdana"/>
                <a:cs typeface="Verdana"/>
                <a:sym typeface="Verdana"/>
              </a:rPr>
              <a:t>b. What proportion of offspring will be… </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latin typeface="Verdana"/>
                <a:ea typeface="Verdana"/>
                <a:cs typeface="Verdana"/>
                <a:sym typeface="Verdana"/>
              </a:rPr>
              <a:t>tall with red fruit?</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latin typeface="Verdana"/>
                <a:ea typeface="Verdana"/>
                <a:cs typeface="Verdana"/>
                <a:sym typeface="Verdana"/>
              </a:rPr>
              <a:t>tall with yellow fruit?</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latin typeface="Verdana"/>
                <a:ea typeface="Verdana"/>
                <a:cs typeface="Verdana"/>
                <a:sym typeface="Verdana"/>
              </a:rPr>
              <a:t>short with red fruit?</a:t>
            </a:r>
            <a:endParaRPr>
              <a:solidFill>
                <a:srgbClr val="393B3F"/>
              </a:solidFill>
              <a:latin typeface="Verdana"/>
              <a:ea typeface="Verdana"/>
              <a:cs typeface="Verdana"/>
              <a:sym typeface="Verdana"/>
            </a:endParaRPr>
          </a:p>
          <a:p>
            <a:pPr indent="-317500" lvl="1" marL="914400" rtl="0" algn="l">
              <a:spcBef>
                <a:spcPts val="1000"/>
              </a:spcBef>
              <a:spcAft>
                <a:spcPts val="1000"/>
              </a:spcAft>
              <a:buClr>
                <a:srgbClr val="393B3F"/>
              </a:buClr>
              <a:buSzPts val="1400"/>
              <a:buFont typeface="Verdana"/>
              <a:buChar char="○"/>
            </a:pPr>
            <a:r>
              <a:rPr lang="en-CA">
                <a:solidFill>
                  <a:srgbClr val="393B3F"/>
                </a:solidFill>
                <a:latin typeface="Verdana"/>
                <a:ea typeface="Verdana"/>
                <a:cs typeface="Verdana"/>
                <a:sym typeface="Verdana"/>
              </a:rPr>
              <a:t>short with yellow fruit?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7"/>
          <p:cNvSpPr txBox="1"/>
          <p:nvPr/>
        </p:nvSpPr>
        <p:spPr>
          <a:xfrm>
            <a:off x="616775" y="762375"/>
            <a:ext cx="8057100" cy="172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93B3F"/>
              </a:buClr>
              <a:buSzPts val="600"/>
              <a:buFont typeface="Verdana"/>
              <a:buNone/>
            </a:pPr>
            <a:r>
              <a:rPr b="1" lang="en-CA" sz="1900">
                <a:solidFill>
                  <a:srgbClr val="393B3F"/>
                </a:solidFill>
                <a:latin typeface="Verdana"/>
                <a:ea typeface="Verdana"/>
                <a:cs typeface="Verdana"/>
                <a:sym typeface="Verdana"/>
              </a:rPr>
              <a:t>TWO TRAIT CROSSES</a:t>
            </a:r>
            <a:endParaRPr sz="900"/>
          </a:p>
          <a:p>
            <a:pPr indent="0" lvl="0" marL="0" marR="0" rtl="0" algn="l">
              <a:lnSpc>
                <a:spcPct val="100000"/>
              </a:lnSpc>
              <a:spcBef>
                <a:spcPts val="0"/>
              </a:spcBef>
              <a:spcAft>
                <a:spcPts val="0"/>
              </a:spcAft>
              <a:buClr>
                <a:srgbClr val="393B3F"/>
              </a:buClr>
              <a:buSzPts val="600"/>
              <a:buFont typeface="Verdana"/>
              <a:buNone/>
            </a:pPr>
            <a:r>
              <a:rPr b="1" i="0" lang="en-CA" sz="1900" u="none" cap="none" strike="noStrike">
                <a:solidFill>
                  <a:srgbClr val="393B3F"/>
                </a:solidFill>
                <a:latin typeface="Verdana"/>
                <a:ea typeface="Verdana"/>
                <a:cs typeface="Verdana"/>
                <a:sym typeface="Verdana"/>
              </a:rPr>
              <a:t>Example 1:</a:t>
            </a:r>
            <a:endParaRPr sz="900"/>
          </a:p>
          <a:p>
            <a:pPr indent="0" lvl="0" marL="0" marR="0" rtl="0" algn="l">
              <a:lnSpc>
                <a:spcPct val="100000"/>
              </a:lnSpc>
              <a:spcBef>
                <a:spcPts val="0"/>
              </a:spcBef>
              <a:spcAft>
                <a:spcPts val="0"/>
              </a:spcAft>
              <a:buClr>
                <a:srgbClr val="000000"/>
              </a:buClr>
              <a:buSzPts val="2400"/>
              <a:buFont typeface="Arial"/>
              <a:buNone/>
            </a:pPr>
            <a:r>
              <a:t/>
            </a:r>
            <a:endParaRPr b="1" i="0" sz="1600" u="none" cap="none" strike="noStrike">
              <a:solidFill>
                <a:srgbClr val="393B3F"/>
              </a:solidFill>
              <a:latin typeface="Verdana"/>
              <a:ea typeface="Verdana"/>
              <a:cs typeface="Verdana"/>
              <a:sym typeface="Verdana"/>
            </a:endParaRPr>
          </a:p>
          <a:p>
            <a:pPr indent="0" lvl="0" marL="0" rtl="0" algn="l">
              <a:spcBef>
                <a:spcPts val="0"/>
              </a:spcBef>
              <a:spcAft>
                <a:spcPts val="0"/>
              </a:spcAft>
              <a:buClr>
                <a:srgbClr val="393B3F"/>
              </a:buClr>
              <a:buSzPts val="600"/>
              <a:buFont typeface="Verdana"/>
              <a:buNone/>
            </a:pPr>
            <a:r>
              <a:rPr lang="en-CA">
                <a:solidFill>
                  <a:srgbClr val="393B3F"/>
                </a:solidFill>
                <a:latin typeface="Verdana"/>
                <a:ea typeface="Verdana"/>
                <a:cs typeface="Verdana"/>
                <a:sym typeface="Verdana"/>
              </a:rPr>
              <a:t>In tomatoes, red fruit is dominant to yellow fruit, and tall plants are dominant to short plants. A plant that is heterozygous for both traits is crossed with a plant that is heterozygous for the gene encoding height, and homozygous recessive for the gene encoding fruit colour.</a:t>
            </a:r>
            <a:endParaRPr b="0" i="0" sz="1500" u="none" cap="none" strike="noStrike">
              <a:solidFill>
                <a:srgbClr val="393B3F"/>
              </a:solidFill>
              <a:latin typeface="Verdana"/>
              <a:ea typeface="Verdana"/>
              <a:cs typeface="Verdana"/>
              <a:sym typeface="Verdana"/>
            </a:endParaRPr>
          </a:p>
          <a:p>
            <a:pPr indent="0" lvl="0" marL="0" rtl="0" algn="l">
              <a:spcBef>
                <a:spcPts val="0"/>
              </a:spcBef>
              <a:spcAft>
                <a:spcPts val="0"/>
              </a:spcAft>
              <a:buNone/>
            </a:pPr>
            <a:r>
              <a:t/>
            </a:r>
            <a:endParaRPr sz="15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sp>
        <p:nvSpPr>
          <p:cNvPr id="703" name="Google Shape;703;p57"/>
          <p:cNvSpPr txBox="1"/>
          <p:nvPr/>
        </p:nvSpPr>
        <p:spPr>
          <a:xfrm>
            <a:off x="4785975" y="2585125"/>
            <a:ext cx="3778800" cy="18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rgbClr val="A64D79"/>
                </a:solidFill>
                <a:latin typeface="Verdana"/>
                <a:ea typeface="Verdana"/>
                <a:cs typeface="Verdana"/>
                <a:sym typeface="Verdana"/>
              </a:rPr>
              <a:t>Step 3</a:t>
            </a:r>
            <a:r>
              <a:rPr lang="en-CA">
                <a:solidFill>
                  <a:srgbClr val="A64D79"/>
                </a:solidFill>
                <a:latin typeface="Verdana"/>
                <a:ea typeface="Verdana"/>
                <a:cs typeface="Verdana"/>
                <a:sym typeface="Verdana"/>
              </a:rPr>
              <a:t> Use the gametes to set up and fill out a Punnett Square</a:t>
            </a:r>
            <a:endParaRPr>
              <a:solidFill>
                <a:srgbClr val="A64D79"/>
              </a:solidFill>
              <a:latin typeface="Verdana"/>
              <a:ea typeface="Verdana"/>
              <a:cs typeface="Verdana"/>
              <a:sym typeface="Verdana"/>
            </a:endParaRPr>
          </a:p>
          <a:p>
            <a:pPr indent="0" lvl="0" marL="0" rtl="0" algn="l">
              <a:spcBef>
                <a:spcPts val="0"/>
              </a:spcBef>
              <a:spcAft>
                <a:spcPts val="0"/>
              </a:spcAft>
              <a:buNone/>
            </a:pPr>
            <a:r>
              <a:rPr i="1" lang="en-CA">
                <a:solidFill>
                  <a:srgbClr val="A64D79"/>
                </a:solidFill>
                <a:latin typeface="Verdana"/>
                <a:ea typeface="Verdana"/>
                <a:cs typeface="Verdana"/>
                <a:sym typeface="Verdana"/>
              </a:rPr>
              <a:t>Tip: use lots of space for your Punnett square so you can color code or fill out phenotypes directly in the boxes. </a:t>
            </a:r>
            <a:endParaRPr i="1">
              <a:solidFill>
                <a:srgbClr val="A64D79"/>
              </a:solidFill>
              <a:latin typeface="Verdana"/>
              <a:ea typeface="Verdana"/>
              <a:cs typeface="Verdana"/>
              <a:sym typeface="Verdana"/>
            </a:endParaRPr>
          </a:p>
          <a:p>
            <a:pPr indent="0" lvl="0" marL="0" rtl="0" algn="l">
              <a:spcBef>
                <a:spcPts val="0"/>
              </a:spcBef>
              <a:spcAft>
                <a:spcPts val="0"/>
              </a:spcAft>
              <a:buNone/>
            </a:pPr>
            <a:r>
              <a:t/>
            </a:r>
            <a:endParaRPr>
              <a:solidFill>
                <a:srgbClr val="A64D79"/>
              </a:solidFill>
            </a:endParaRPr>
          </a:p>
        </p:txBody>
      </p:sp>
      <p:graphicFrame>
        <p:nvGraphicFramePr>
          <p:cNvPr id="704" name="Google Shape;704;p57"/>
          <p:cNvGraphicFramePr/>
          <p:nvPr/>
        </p:nvGraphicFramePr>
        <p:xfrm>
          <a:off x="616775" y="3385200"/>
          <a:ext cx="3000000" cy="3000000"/>
        </p:xfrm>
        <a:graphic>
          <a:graphicData uri="http://schemas.openxmlformats.org/drawingml/2006/table">
            <a:tbl>
              <a:tblPr>
                <a:noFill/>
                <a:tableStyleId>{6A1E2D6C-7FDB-4D57-BEA6-0CDAB9F65119}</a:tableStyleId>
              </a:tblPr>
              <a:tblGrid>
                <a:gridCol w="771475"/>
                <a:gridCol w="1595275"/>
                <a:gridCol w="1496250"/>
              </a:tblGrid>
              <a:tr h="5814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CA"/>
                        <a:t>rT</a:t>
                      </a:r>
                      <a:endParaRPr b="1"/>
                    </a:p>
                  </a:txBody>
                  <a:tcPr marT="91425" marB="91425" marR="91425" marL="91425"/>
                </a:tc>
                <a:tc>
                  <a:txBody>
                    <a:bodyPr/>
                    <a:lstStyle/>
                    <a:p>
                      <a:pPr indent="0" lvl="0" marL="0" rtl="0" algn="ctr">
                        <a:spcBef>
                          <a:spcPts val="0"/>
                        </a:spcBef>
                        <a:spcAft>
                          <a:spcPts val="0"/>
                        </a:spcAft>
                        <a:buNone/>
                      </a:pPr>
                      <a:r>
                        <a:rPr b="1" lang="en-CA"/>
                        <a:t>rt</a:t>
                      </a:r>
                      <a:endParaRPr b="1"/>
                    </a:p>
                  </a:txBody>
                  <a:tcPr marT="91425" marB="91425" marR="91425" marL="91425"/>
                </a:tc>
              </a:tr>
              <a:tr h="581450">
                <a:tc>
                  <a:txBody>
                    <a:bodyPr/>
                    <a:lstStyle/>
                    <a:p>
                      <a:pPr indent="0" lvl="0" marL="0" rtl="0" algn="ctr">
                        <a:spcBef>
                          <a:spcPts val="0"/>
                        </a:spcBef>
                        <a:spcAft>
                          <a:spcPts val="0"/>
                        </a:spcAft>
                        <a:buNone/>
                      </a:pPr>
                      <a:r>
                        <a:rPr b="1" lang="en-CA"/>
                        <a:t>RT</a:t>
                      </a:r>
                      <a:endParaRPr b="1"/>
                    </a:p>
                  </a:txBody>
                  <a:tcPr marT="91425" marB="91425" marR="91425" marL="91425"/>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None/>
                      </a:pPr>
                      <a:r>
                        <a:rPr lang="en-CA"/>
                        <a:t>Red and tall</a:t>
                      </a:r>
                      <a:endParaRPr/>
                    </a:p>
                  </a:txBody>
                  <a:tcPr marT="91425" marB="91425" marR="91425" marL="91425">
                    <a:solidFill>
                      <a:srgbClr val="E06666"/>
                    </a:solidFill>
                  </a:tcPr>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Clr>
                          <a:schemeClr val="dk1"/>
                        </a:buClr>
                        <a:buSzPts val="1100"/>
                        <a:buFont typeface="Arial"/>
                        <a:buNone/>
                      </a:pPr>
                      <a:r>
                        <a:rPr lang="en-CA">
                          <a:solidFill>
                            <a:schemeClr val="dk1"/>
                          </a:solidFill>
                        </a:rPr>
                        <a:t>Red and tall</a:t>
                      </a:r>
                      <a:endParaRPr/>
                    </a:p>
                  </a:txBody>
                  <a:tcPr marT="91425" marB="91425" marR="91425" marL="91425">
                    <a:solidFill>
                      <a:srgbClr val="E06666"/>
                    </a:solidFill>
                  </a:tcPr>
                </a:tc>
              </a:tr>
              <a:tr h="581450">
                <a:tc>
                  <a:txBody>
                    <a:bodyPr/>
                    <a:lstStyle/>
                    <a:p>
                      <a:pPr indent="0" lvl="0" marL="0" rtl="0" algn="ctr">
                        <a:spcBef>
                          <a:spcPts val="0"/>
                        </a:spcBef>
                        <a:spcAft>
                          <a:spcPts val="0"/>
                        </a:spcAft>
                        <a:buNone/>
                      </a:pPr>
                      <a:r>
                        <a:rPr b="1" lang="en-CA"/>
                        <a:t>Rt</a:t>
                      </a:r>
                      <a:endParaRPr b="1"/>
                    </a:p>
                  </a:txBody>
                  <a:tcPr marT="91425" marB="91425" marR="91425" marL="91425"/>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Clr>
                          <a:schemeClr val="dk1"/>
                        </a:buClr>
                        <a:buSzPts val="1100"/>
                        <a:buFont typeface="Arial"/>
                        <a:buNone/>
                      </a:pPr>
                      <a:r>
                        <a:rPr lang="en-CA">
                          <a:solidFill>
                            <a:schemeClr val="dk1"/>
                          </a:solidFill>
                        </a:rPr>
                        <a:t>Red and tall</a:t>
                      </a:r>
                      <a:endParaRPr/>
                    </a:p>
                  </a:txBody>
                  <a:tcPr marT="91425" marB="91425" marR="91425" marL="91425">
                    <a:solidFill>
                      <a:srgbClr val="E06666"/>
                    </a:solidFill>
                  </a:tcPr>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Clr>
                          <a:schemeClr val="dk1"/>
                        </a:buClr>
                        <a:buSzPts val="1100"/>
                        <a:buFont typeface="Arial"/>
                        <a:buNone/>
                      </a:pPr>
                      <a:r>
                        <a:rPr lang="en-CA">
                          <a:solidFill>
                            <a:schemeClr val="dk1"/>
                          </a:solidFill>
                        </a:rPr>
                        <a:t>Red and short</a:t>
                      </a:r>
                      <a:endParaRPr/>
                    </a:p>
                  </a:txBody>
                  <a:tcPr marT="91425" marB="91425" marR="91425" marL="91425">
                    <a:solidFill>
                      <a:srgbClr val="F4CCCC"/>
                    </a:solidFill>
                  </a:tcPr>
                </a:tc>
              </a:tr>
              <a:tr h="581450">
                <a:tc>
                  <a:txBody>
                    <a:bodyPr/>
                    <a:lstStyle/>
                    <a:p>
                      <a:pPr indent="0" lvl="0" marL="0" rtl="0" algn="ctr">
                        <a:spcBef>
                          <a:spcPts val="0"/>
                        </a:spcBef>
                        <a:spcAft>
                          <a:spcPts val="0"/>
                        </a:spcAft>
                        <a:buNone/>
                      </a:pPr>
                      <a:r>
                        <a:rPr b="1" lang="en-CA"/>
                        <a:t>rT</a:t>
                      </a:r>
                      <a:endParaRPr b="1"/>
                    </a:p>
                  </a:txBody>
                  <a:tcPr marT="91425" marB="91425" marR="91425" marL="91425"/>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None/>
                      </a:pPr>
                      <a:r>
                        <a:rPr lang="en-CA"/>
                        <a:t>Yellow and tall</a:t>
                      </a:r>
                      <a:endParaRPr/>
                    </a:p>
                  </a:txBody>
                  <a:tcPr marT="91425" marB="91425" marR="91425" marL="91425">
                    <a:solidFill>
                      <a:srgbClr val="FFD966"/>
                    </a:solidFill>
                  </a:tcPr>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None/>
                      </a:pPr>
                      <a:r>
                        <a:rPr lang="en-CA"/>
                        <a:t>Yellow</a:t>
                      </a:r>
                      <a:r>
                        <a:rPr lang="en-CA"/>
                        <a:t> and tall</a:t>
                      </a:r>
                      <a:endParaRPr/>
                    </a:p>
                  </a:txBody>
                  <a:tcPr marT="91425" marB="91425" marR="91425" marL="91425">
                    <a:solidFill>
                      <a:srgbClr val="FFD966"/>
                    </a:solidFill>
                  </a:tcPr>
                </a:tc>
              </a:tr>
              <a:tr h="581450">
                <a:tc>
                  <a:txBody>
                    <a:bodyPr/>
                    <a:lstStyle/>
                    <a:p>
                      <a:pPr indent="0" lvl="0" marL="0" rtl="0" algn="ctr">
                        <a:spcBef>
                          <a:spcPts val="0"/>
                        </a:spcBef>
                        <a:spcAft>
                          <a:spcPts val="0"/>
                        </a:spcAft>
                        <a:buNone/>
                      </a:pPr>
                      <a:r>
                        <a:rPr b="1" lang="en-CA"/>
                        <a:t>rt</a:t>
                      </a:r>
                      <a:endParaRPr b="1"/>
                    </a:p>
                  </a:txBody>
                  <a:tcPr marT="91425" marB="91425" marR="91425" marL="91425"/>
                </a:tc>
                <a:tc>
                  <a:txBody>
                    <a:bodyPr/>
                    <a:lstStyle/>
                    <a:p>
                      <a:pPr indent="0" lvl="0" marL="0" rtl="0" algn="ctr">
                        <a:spcBef>
                          <a:spcPts val="0"/>
                        </a:spcBef>
                        <a:spcAft>
                          <a:spcPts val="0"/>
                        </a:spcAft>
                        <a:buNone/>
                      </a:pPr>
                      <a:r>
                        <a:rPr lang="en-CA"/>
                        <a:t>rrTt</a:t>
                      </a:r>
                      <a:endParaRPr/>
                    </a:p>
                    <a:p>
                      <a:pPr indent="0" lvl="0" marL="0" rtl="0" algn="ctr">
                        <a:spcBef>
                          <a:spcPts val="0"/>
                        </a:spcBef>
                        <a:spcAft>
                          <a:spcPts val="0"/>
                        </a:spcAft>
                        <a:buNone/>
                      </a:pPr>
                      <a:r>
                        <a:rPr lang="en-CA"/>
                        <a:t>Yellow</a:t>
                      </a:r>
                      <a:r>
                        <a:rPr lang="en-CA"/>
                        <a:t> and tall</a:t>
                      </a:r>
                      <a:endParaRPr/>
                    </a:p>
                  </a:txBody>
                  <a:tcPr marT="91425" marB="91425" marR="91425" marL="91425">
                    <a:solidFill>
                      <a:srgbClr val="FFD966"/>
                    </a:solidFill>
                  </a:tcPr>
                </a:tc>
                <a:tc>
                  <a:txBody>
                    <a:bodyPr/>
                    <a:lstStyle/>
                    <a:p>
                      <a:pPr indent="0" lvl="0" marL="0" rtl="0" algn="ctr">
                        <a:spcBef>
                          <a:spcPts val="0"/>
                        </a:spcBef>
                        <a:spcAft>
                          <a:spcPts val="0"/>
                        </a:spcAft>
                        <a:buNone/>
                      </a:pPr>
                      <a:r>
                        <a:rPr lang="en-CA"/>
                        <a:t>r</a:t>
                      </a:r>
                      <a:r>
                        <a:rPr lang="en-CA"/>
                        <a:t>rtt</a:t>
                      </a:r>
                      <a:endParaRPr/>
                    </a:p>
                    <a:p>
                      <a:pPr indent="0" lvl="0" marL="0" rtl="0" algn="ctr">
                        <a:spcBef>
                          <a:spcPts val="0"/>
                        </a:spcBef>
                        <a:spcAft>
                          <a:spcPts val="0"/>
                        </a:spcAft>
                        <a:buNone/>
                      </a:pPr>
                      <a:r>
                        <a:rPr lang="en-CA"/>
                        <a:t>Yellow and short</a:t>
                      </a:r>
                      <a:endParaRPr/>
                    </a:p>
                  </a:txBody>
                  <a:tcPr marT="91425" marB="91425" marR="91425" marL="91425">
                    <a:solidFill>
                      <a:srgbClr val="FFF2CC"/>
                    </a:solidFill>
                  </a:tcPr>
                </a:tc>
              </a:tr>
            </a:tbl>
          </a:graphicData>
        </a:graphic>
      </p:graphicFrame>
      <p:pic>
        <p:nvPicPr>
          <p:cNvPr id="705" name="Google Shape;705;p57"/>
          <p:cNvPicPr preferRelativeResize="0"/>
          <p:nvPr/>
        </p:nvPicPr>
        <p:blipFill>
          <a:blip r:embed="rId3">
            <a:alphaModFix/>
          </a:blip>
          <a:stretch>
            <a:fillRect/>
          </a:stretch>
        </p:blipFill>
        <p:spPr>
          <a:xfrm>
            <a:off x="1314600" y="2599063"/>
            <a:ext cx="1216684" cy="677750"/>
          </a:xfrm>
          <a:prstGeom prst="rect">
            <a:avLst/>
          </a:prstGeom>
          <a:noFill/>
          <a:ln>
            <a:noFill/>
          </a:ln>
        </p:spPr>
      </p:pic>
      <p:sp>
        <p:nvSpPr>
          <p:cNvPr id="706" name="Google Shape;706;p57"/>
          <p:cNvSpPr txBox="1"/>
          <p:nvPr/>
        </p:nvSpPr>
        <p:spPr>
          <a:xfrm>
            <a:off x="4853750" y="3963575"/>
            <a:ext cx="3778800" cy="9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rgbClr val="A64D79"/>
                </a:solidFill>
                <a:latin typeface="Verdana"/>
                <a:ea typeface="Verdana"/>
                <a:cs typeface="Verdana"/>
                <a:sym typeface="Verdana"/>
              </a:rPr>
              <a:t>Step 4</a:t>
            </a:r>
            <a:r>
              <a:rPr lang="en-CA">
                <a:solidFill>
                  <a:srgbClr val="A64D79"/>
                </a:solidFill>
                <a:latin typeface="Verdana"/>
                <a:ea typeface="Verdana"/>
                <a:cs typeface="Verdana"/>
                <a:sym typeface="Verdana"/>
              </a:rPr>
              <a:t> Use information to </a:t>
            </a:r>
            <a:r>
              <a:rPr lang="en-CA">
                <a:solidFill>
                  <a:srgbClr val="A64D79"/>
                </a:solidFill>
                <a:latin typeface="Verdana"/>
                <a:ea typeface="Verdana"/>
                <a:cs typeface="Verdana"/>
                <a:sym typeface="Verdana"/>
              </a:rPr>
              <a:t>answer</a:t>
            </a:r>
            <a:r>
              <a:rPr lang="en-CA">
                <a:solidFill>
                  <a:srgbClr val="A64D79"/>
                </a:solidFill>
                <a:latin typeface="Verdana"/>
                <a:ea typeface="Verdana"/>
                <a:cs typeface="Verdana"/>
                <a:sym typeface="Verdana"/>
              </a:rPr>
              <a:t> question.</a:t>
            </a:r>
            <a:endParaRPr>
              <a:solidFill>
                <a:srgbClr val="A64D79"/>
              </a:solidFill>
              <a:latin typeface="Verdana"/>
              <a:ea typeface="Verdana"/>
              <a:cs typeface="Verdana"/>
              <a:sym typeface="Verdana"/>
            </a:endParaRPr>
          </a:p>
          <a:p>
            <a:pPr indent="0" lvl="0" marL="0" rtl="0" algn="l">
              <a:spcBef>
                <a:spcPts val="0"/>
              </a:spcBef>
              <a:spcAft>
                <a:spcPts val="0"/>
              </a:spcAft>
              <a:buNone/>
            </a:pPr>
            <a:r>
              <a:t/>
            </a:r>
            <a:endParaRPr>
              <a:solidFill>
                <a:srgbClr val="A64D79"/>
              </a:solidFill>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rPr lang="en-CA">
                <a:solidFill>
                  <a:srgbClr val="393B3F"/>
                </a:solidFill>
                <a:latin typeface="Verdana"/>
                <a:ea typeface="Verdana"/>
                <a:cs typeface="Verdana"/>
                <a:sym typeface="Verdana"/>
              </a:rPr>
              <a:t>b. What proportion of offspring will be… </a:t>
            </a:r>
            <a:endParaRPr>
              <a:solidFill>
                <a:srgbClr val="393B3F"/>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highlight>
                  <a:srgbClr val="E06666"/>
                </a:highlight>
                <a:latin typeface="Verdana"/>
                <a:ea typeface="Verdana"/>
                <a:cs typeface="Verdana"/>
                <a:sym typeface="Verdana"/>
              </a:rPr>
              <a:t>tall with red fruit?</a:t>
            </a:r>
            <a:r>
              <a:rPr lang="en-CA">
                <a:solidFill>
                  <a:srgbClr val="393B3F"/>
                </a:solidFill>
                <a:highlight>
                  <a:srgbClr val="FFFFFF"/>
                </a:highlight>
                <a:latin typeface="Verdana"/>
                <a:ea typeface="Verdana"/>
                <a:cs typeface="Verdana"/>
                <a:sym typeface="Verdana"/>
              </a:rPr>
              <a:t> </a:t>
            </a:r>
            <a:r>
              <a:rPr lang="en-CA">
                <a:solidFill>
                  <a:srgbClr val="A64D79"/>
                </a:solidFill>
                <a:latin typeface="Verdana"/>
                <a:ea typeface="Verdana"/>
                <a:cs typeface="Verdana"/>
                <a:sym typeface="Verdana"/>
              </a:rPr>
              <a:t>3/8</a:t>
            </a:r>
            <a:endParaRPr>
              <a:solidFill>
                <a:srgbClr val="A64D79"/>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highlight>
                  <a:srgbClr val="FFD966"/>
                </a:highlight>
                <a:latin typeface="Verdana"/>
                <a:ea typeface="Verdana"/>
                <a:cs typeface="Verdana"/>
                <a:sym typeface="Verdana"/>
              </a:rPr>
              <a:t>tall with yellow fruit?</a:t>
            </a:r>
            <a:r>
              <a:rPr lang="en-CA">
                <a:solidFill>
                  <a:srgbClr val="393B3F"/>
                </a:solidFill>
                <a:latin typeface="Verdana"/>
                <a:ea typeface="Verdana"/>
                <a:cs typeface="Verdana"/>
                <a:sym typeface="Verdana"/>
              </a:rPr>
              <a:t> </a:t>
            </a:r>
            <a:r>
              <a:rPr lang="en-CA">
                <a:solidFill>
                  <a:srgbClr val="A64D79"/>
                </a:solidFill>
                <a:latin typeface="Verdana"/>
                <a:ea typeface="Verdana"/>
                <a:cs typeface="Verdana"/>
                <a:sym typeface="Verdana"/>
              </a:rPr>
              <a:t>3/8</a:t>
            </a:r>
            <a:endParaRPr>
              <a:solidFill>
                <a:srgbClr val="A64D79"/>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highlight>
                  <a:srgbClr val="F4CCCC"/>
                </a:highlight>
                <a:latin typeface="Verdana"/>
                <a:ea typeface="Verdana"/>
                <a:cs typeface="Verdana"/>
                <a:sym typeface="Verdana"/>
              </a:rPr>
              <a:t>short with red fruit?</a:t>
            </a:r>
            <a:r>
              <a:rPr lang="en-CA">
                <a:solidFill>
                  <a:srgbClr val="393B3F"/>
                </a:solidFill>
                <a:latin typeface="Verdana"/>
                <a:ea typeface="Verdana"/>
                <a:cs typeface="Verdana"/>
                <a:sym typeface="Verdana"/>
              </a:rPr>
              <a:t> </a:t>
            </a:r>
            <a:r>
              <a:rPr lang="en-CA">
                <a:solidFill>
                  <a:srgbClr val="A64D79"/>
                </a:solidFill>
                <a:latin typeface="Verdana"/>
                <a:ea typeface="Verdana"/>
                <a:cs typeface="Verdana"/>
                <a:sym typeface="Verdana"/>
              </a:rPr>
              <a:t>1/8</a:t>
            </a:r>
            <a:endParaRPr>
              <a:solidFill>
                <a:srgbClr val="A64D79"/>
              </a:solidFill>
              <a:latin typeface="Verdana"/>
              <a:ea typeface="Verdana"/>
              <a:cs typeface="Verdana"/>
              <a:sym typeface="Verdana"/>
            </a:endParaRPr>
          </a:p>
          <a:p>
            <a:pPr indent="-317500" lvl="1" marL="914400" rtl="0" algn="l">
              <a:spcBef>
                <a:spcPts val="1000"/>
              </a:spcBef>
              <a:spcAft>
                <a:spcPts val="0"/>
              </a:spcAft>
              <a:buClr>
                <a:srgbClr val="393B3F"/>
              </a:buClr>
              <a:buSzPts val="1400"/>
              <a:buFont typeface="Verdana"/>
              <a:buChar char="○"/>
            </a:pPr>
            <a:r>
              <a:rPr lang="en-CA">
                <a:solidFill>
                  <a:srgbClr val="393B3F"/>
                </a:solidFill>
                <a:highlight>
                  <a:srgbClr val="FFF2CC"/>
                </a:highlight>
                <a:latin typeface="Verdana"/>
                <a:ea typeface="Verdana"/>
                <a:cs typeface="Verdana"/>
                <a:sym typeface="Verdana"/>
              </a:rPr>
              <a:t>short with yellow fruit?</a:t>
            </a:r>
            <a:r>
              <a:rPr lang="en-CA">
                <a:solidFill>
                  <a:srgbClr val="393B3F"/>
                </a:solidFill>
                <a:latin typeface="Verdana"/>
                <a:ea typeface="Verdana"/>
                <a:cs typeface="Verdana"/>
                <a:sym typeface="Verdana"/>
              </a:rPr>
              <a:t> </a:t>
            </a:r>
            <a:r>
              <a:rPr lang="en-CA">
                <a:solidFill>
                  <a:srgbClr val="A64D79"/>
                </a:solidFill>
                <a:latin typeface="Verdana"/>
                <a:ea typeface="Verdana"/>
                <a:cs typeface="Verdana"/>
                <a:sym typeface="Verdana"/>
              </a:rPr>
              <a:t>1/8</a:t>
            </a:r>
            <a:endParaRPr>
              <a:solidFill>
                <a:srgbClr val="A64D79"/>
              </a:solidFill>
              <a:latin typeface="Verdana"/>
              <a:ea typeface="Verdana"/>
              <a:cs typeface="Verdana"/>
              <a:sym typeface="Verdana"/>
            </a:endParaRPr>
          </a:p>
          <a:p>
            <a:pPr indent="0" lvl="0" marL="0" rtl="0" algn="l">
              <a:spcBef>
                <a:spcPts val="1000"/>
              </a:spcBef>
              <a:spcAft>
                <a:spcPts val="0"/>
              </a:spcAft>
              <a:buNone/>
            </a:pPr>
            <a:r>
              <a:t/>
            </a:r>
            <a:endParaRPr>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8"/>
          <p:cNvSpPr txBox="1"/>
          <p:nvPr/>
        </p:nvSpPr>
        <p:spPr>
          <a:xfrm>
            <a:off x="815525" y="790250"/>
            <a:ext cx="7128900" cy="239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93B3F"/>
              </a:buClr>
              <a:buSzPts val="600"/>
              <a:buFont typeface="Verdana"/>
              <a:buNone/>
            </a:pPr>
            <a:r>
              <a:rPr b="1" lang="en-CA" sz="1900">
                <a:solidFill>
                  <a:srgbClr val="393B3F"/>
                </a:solidFill>
                <a:latin typeface="Verdana"/>
                <a:ea typeface="Verdana"/>
                <a:cs typeface="Verdana"/>
                <a:sym typeface="Verdana"/>
              </a:rPr>
              <a:t>TWO TRAIT CROSSES</a:t>
            </a:r>
            <a:endParaRPr sz="900"/>
          </a:p>
          <a:p>
            <a:pPr indent="0" lvl="0" marL="0" marR="0" rtl="0" algn="l">
              <a:lnSpc>
                <a:spcPct val="100000"/>
              </a:lnSpc>
              <a:spcBef>
                <a:spcPts val="0"/>
              </a:spcBef>
              <a:spcAft>
                <a:spcPts val="0"/>
              </a:spcAft>
              <a:buClr>
                <a:srgbClr val="393B3F"/>
              </a:buClr>
              <a:buSzPts val="600"/>
              <a:buFont typeface="Verdana"/>
              <a:buNone/>
            </a:pPr>
            <a:r>
              <a:rPr b="1" i="0" lang="en-CA" sz="1900" u="none" cap="none" strike="noStrike">
                <a:solidFill>
                  <a:srgbClr val="393B3F"/>
                </a:solidFill>
                <a:latin typeface="Verdana"/>
                <a:ea typeface="Verdana"/>
                <a:cs typeface="Verdana"/>
                <a:sym typeface="Verdana"/>
              </a:rPr>
              <a:t>Example </a:t>
            </a:r>
            <a:r>
              <a:rPr b="1" lang="en-CA" sz="1900">
                <a:solidFill>
                  <a:srgbClr val="393B3F"/>
                </a:solidFill>
                <a:latin typeface="Verdana"/>
                <a:ea typeface="Verdana"/>
                <a:cs typeface="Verdana"/>
                <a:sym typeface="Verdana"/>
              </a:rPr>
              <a:t>2</a:t>
            </a:r>
            <a:r>
              <a:rPr b="1" i="0" lang="en-CA" sz="1900" u="none" cap="none" strike="noStrike">
                <a:solidFill>
                  <a:srgbClr val="393B3F"/>
                </a:solidFill>
                <a:latin typeface="Verdana"/>
                <a:ea typeface="Verdana"/>
                <a:cs typeface="Verdana"/>
                <a:sym typeface="Verdana"/>
              </a:rPr>
              <a:t>:</a:t>
            </a:r>
            <a:endParaRPr sz="900"/>
          </a:p>
          <a:p>
            <a:pPr indent="0" lvl="0" marL="0" marR="0" rtl="0" algn="l">
              <a:lnSpc>
                <a:spcPct val="100000"/>
              </a:lnSpc>
              <a:spcBef>
                <a:spcPts val="0"/>
              </a:spcBef>
              <a:spcAft>
                <a:spcPts val="0"/>
              </a:spcAft>
              <a:buClr>
                <a:srgbClr val="000000"/>
              </a:buClr>
              <a:buSzPts val="2400"/>
              <a:buFont typeface="Arial"/>
              <a:buNone/>
            </a:pPr>
            <a:r>
              <a:t/>
            </a:r>
            <a:endParaRPr b="1" i="0" sz="18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rPr lang="en-CA">
                <a:latin typeface="Verdana"/>
                <a:ea typeface="Verdana"/>
                <a:cs typeface="Verdana"/>
                <a:sym typeface="Verdana"/>
              </a:rPr>
              <a:t>In summer squash, white fruit color (W) is dominant over yellow fruit color (w) and disk-shaped fruit (D) is dominant over sphere-shaped fruit (d). A plant that produces yellow, disk-shaped fruit is crossed with a plant that produces white, sphere-shaped fruit.</a:t>
            </a:r>
            <a:endParaRPr>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400"/>
              <a:buFont typeface="Arial"/>
              <a:buNone/>
            </a:pPr>
            <a:r>
              <a:t/>
            </a:r>
            <a:endParaRPr b="0" i="0" u="none" cap="none" strike="noStrike">
              <a:solidFill>
                <a:srgbClr val="393B3F"/>
              </a:solidFill>
              <a:latin typeface="Verdana"/>
              <a:ea typeface="Verdana"/>
              <a:cs typeface="Verdana"/>
              <a:sym typeface="Verdana"/>
            </a:endParaRPr>
          </a:p>
          <a:p>
            <a:pPr indent="-419100" lvl="0" marL="457200" marR="0" rtl="0" algn="l">
              <a:lnSpc>
                <a:spcPct val="100000"/>
              </a:lnSpc>
              <a:spcBef>
                <a:spcPts val="0"/>
              </a:spcBef>
              <a:spcAft>
                <a:spcPts val="0"/>
              </a:spcAft>
              <a:buClr>
                <a:srgbClr val="393B3F"/>
              </a:buClr>
              <a:buSzPts val="1400"/>
              <a:buFont typeface="Verdana"/>
              <a:buAutoNum type="alphaLcParenR"/>
            </a:pPr>
            <a:r>
              <a:rPr b="0" i="0" lang="en-CA" u="none" cap="none" strike="noStrike">
                <a:solidFill>
                  <a:srgbClr val="393B3F"/>
                </a:solidFill>
                <a:latin typeface="Verdana"/>
                <a:ea typeface="Verdana"/>
                <a:cs typeface="Verdana"/>
                <a:sym typeface="Verdana"/>
              </a:rPr>
              <a:t>What are the </a:t>
            </a:r>
            <a:r>
              <a:rPr lang="en-CA">
                <a:solidFill>
                  <a:srgbClr val="393B3F"/>
                </a:solidFill>
                <a:latin typeface="Verdana"/>
                <a:ea typeface="Verdana"/>
                <a:cs typeface="Verdana"/>
                <a:sym typeface="Verdana"/>
              </a:rPr>
              <a:t>potential genotypes of the plants being crossed?</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sp>
        <p:nvSpPr>
          <p:cNvPr id="713" name="Google Shape;713;p58"/>
          <p:cNvSpPr txBox="1"/>
          <p:nvPr/>
        </p:nvSpPr>
        <p:spPr>
          <a:xfrm>
            <a:off x="888700" y="3027725"/>
            <a:ext cx="7602000" cy="3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solidFill>
                  <a:srgbClr val="A64D79"/>
                </a:solidFill>
                <a:latin typeface="Verdana"/>
                <a:ea typeface="Verdana"/>
                <a:cs typeface="Verdana"/>
                <a:sym typeface="Verdana"/>
              </a:rPr>
              <a:t>We know that the parents display some of the dominant phenotypes, but we don’t know just yet whether they are homozygous dominant or heterozygous for those traits, since both cases would display the dominant phenotype. We can represent this unknown allele by the line:</a:t>
            </a:r>
            <a:endParaRPr>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457200" lvl="0" marL="1828800" rtl="0" algn="l">
              <a:spcBef>
                <a:spcPts val="0"/>
              </a:spcBef>
              <a:spcAft>
                <a:spcPts val="0"/>
              </a:spcAft>
              <a:buNone/>
            </a:pPr>
            <a:r>
              <a:rPr lang="en-CA">
                <a:solidFill>
                  <a:srgbClr val="A64D79"/>
                </a:solidFill>
                <a:latin typeface="Verdana"/>
                <a:ea typeface="Verdana"/>
                <a:cs typeface="Verdana"/>
                <a:sym typeface="Verdana"/>
              </a:rPr>
              <a:t>wwD_ x W_dd</a:t>
            </a:r>
            <a:endParaRPr>
              <a:solidFill>
                <a:srgbClr val="A64D79"/>
              </a:solidFill>
              <a:latin typeface="Verdana"/>
              <a:ea typeface="Verdana"/>
              <a:cs typeface="Verdana"/>
              <a:sym typeface="Verdana"/>
            </a:endParaRPr>
          </a:p>
        </p:txBody>
      </p:sp>
      <p:sp>
        <p:nvSpPr>
          <p:cNvPr id="714" name="Google Shape;714;p58"/>
          <p:cNvSpPr txBox="1"/>
          <p:nvPr/>
        </p:nvSpPr>
        <p:spPr>
          <a:xfrm>
            <a:off x="754425" y="4501550"/>
            <a:ext cx="773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CA">
                <a:solidFill>
                  <a:srgbClr val="393B3F"/>
                </a:solidFill>
                <a:latin typeface="Verdana"/>
                <a:ea typeface="Verdana"/>
                <a:cs typeface="Verdana"/>
                <a:sym typeface="Verdana"/>
              </a:rPr>
              <a:t>b) Some of the offspring have yellow, sphere-shaped fruit. What does this tell us about the genotypes of the parents?</a:t>
            </a:r>
            <a:endParaRPr/>
          </a:p>
        </p:txBody>
      </p:sp>
      <p:sp>
        <p:nvSpPr>
          <p:cNvPr id="715" name="Google Shape;715;p58"/>
          <p:cNvSpPr txBox="1"/>
          <p:nvPr/>
        </p:nvSpPr>
        <p:spPr>
          <a:xfrm>
            <a:off x="888725" y="5162075"/>
            <a:ext cx="76020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solidFill>
                  <a:srgbClr val="A64D79"/>
                </a:solidFill>
                <a:latin typeface="Verdana"/>
                <a:ea typeface="Verdana"/>
                <a:cs typeface="Verdana"/>
                <a:sym typeface="Verdana"/>
              </a:rPr>
              <a:t>The genotype of these </a:t>
            </a:r>
            <a:r>
              <a:rPr lang="en-CA">
                <a:solidFill>
                  <a:srgbClr val="A64D79"/>
                </a:solidFill>
                <a:latin typeface="Verdana"/>
                <a:ea typeface="Verdana"/>
                <a:cs typeface="Verdana"/>
                <a:sym typeface="Verdana"/>
              </a:rPr>
              <a:t>offspring</a:t>
            </a:r>
            <a:r>
              <a:rPr lang="en-CA">
                <a:solidFill>
                  <a:srgbClr val="A64D79"/>
                </a:solidFill>
                <a:latin typeface="Verdana"/>
                <a:ea typeface="Verdana"/>
                <a:cs typeface="Verdana"/>
                <a:sym typeface="Verdana"/>
              </a:rPr>
              <a:t> with yellow, sphere-shaped fruit must be homozygous recessive for both traits, so wwdd. This is only possible, if BOTH parents had a copy of both w and d alleles.</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latin typeface="Verdana"/>
                <a:ea typeface="Verdana"/>
                <a:cs typeface="Verdana"/>
                <a:sym typeface="Verdana"/>
              </a:rPr>
              <a:t>So the parent cross must be:</a:t>
            </a:r>
            <a:endParaRPr>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457200" lvl="0" marL="1828800" rtl="0" algn="l">
              <a:spcBef>
                <a:spcPts val="0"/>
              </a:spcBef>
              <a:spcAft>
                <a:spcPts val="0"/>
              </a:spcAft>
              <a:buNone/>
            </a:pPr>
            <a:r>
              <a:rPr lang="en-CA">
                <a:solidFill>
                  <a:srgbClr val="A64D79"/>
                </a:solidFill>
                <a:latin typeface="Verdana"/>
                <a:ea typeface="Verdana"/>
                <a:cs typeface="Verdana"/>
                <a:sym typeface="Verdana"/>
              </a:rPr>
              <a:t>wwD</a:t>
            </a:r>
            <a:r>
              <a:rPr lang="en-CA" u="sng">
                <a:solidFill>
                  <a:srgbClr val="A64D79"/>
                </a:solidFill>
                <a:latin typeface="Verdana"/>
                <a:ea typeface="Verdana"/>
                <a:cs typeface="Verdana"/>
                <a:sym typeface="Verdana"/>
              </a:rPr>
              <a:t>d</a:t>
            </a:r>
            <a:r>
              <a:rPr lang="en-CA">
                <a:solidFill>
                  <a:srgbClr val="A64D79"/>
                </a:solidFill>
                <a:latin typeface="Verdana"/>
                <a:ea typeface="Verdana"/>
                <a:cs typeface="Verdana"/>
                <a:sym typeface="Verdana"/>
              </a:rPr>
              <a:t> x W</a:t>
            </a:r>
            <a:r>
              <a:rPr lang="en-CA" u="sng">
                <a:solidFill>
                  <a:srgbClr val="A64D79"/>
                </a:solidFill>
                <a:latin typeface="Verdana"/>
                <a:ea typeface="Verdana"/>
                <a:cs typeface="Verdana"/>
                <a:sym typeface="Verdana"/>
              </a:rPr>
              <a:t>w</a:t>
            </a:r>
            <a:r>
              <a:rPr lang="en-CA">
                <a:solidFill>
                  <a:srgbClr val="A64D79"/>
                </a:solidFill>
                <a:latin typeface="Verdana"/>
                <a:ea typeface="Verdana"/>
                <a:cs typeface="Verdana"/>
                <a:sym typeface="Verdana"/>
              </a:rPr>
              <a:t>dd</a:t>
            </a:r>
            <a:endParaRPr>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59"/>
          <p:cNvSpPr txBox="1"/>
          <p:nvPr/>
        </p:nvSpPr>
        <p:spPr>
          <a:xfrm>
            <a:off x="718325" y="770425"/>
            <a:ext cx="7128900" cy="197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600"/>
              <a:buFont typeface="Verdana"/>
              <a:buNone/>
            </a:pPr>
            <a:r>
              <a:rPr b="1" lang="en-CA" sz="1900">
                <a:solidFill>
                  <a:srgbClr val="393B3F"/>
                </a:solidFill>
                <a:latin typeface="Verdana"/>
                <a:ea typeface="Verdana"/>
                <a:cs typeface="Verdana"/>
                <a:sym typeface="Verdana"/>
              </a:rPr>
              <a:t>TWO TRAIT</a:t>
            </a:r>
            <a:r>
              <a:rPr b="1" i="0" lang="en-CA" sz="1900" u="none" cap="none" strike="noStrike">
                <a:solidFill>
                  <a:srgbClr val="393B3F"/>
                </a:solidFill>
                <a:latin typeface="Verdana"/>
                <a:ea typeface="Verdana"/>
                <a:cs typeface="Verdana"/>
                <a:sym typeface="Verdana"/>
              </a:rPr>
              <a:t> CROSSES</a:t>
            </a:r>
            <a:endParaRPr sz="900"/>
          </a:p>
          <a:p>
            <a:pPr indent="0" lvl="0" marL="0" marR="0" rtl="0" algn="l">
              <a:lnSpc>
                <a:spcPct val="100000"/>
              </a:lnSpc>
              <a:spcBef>
                <a:spcPts val="0"/>
              </a:spcBef>
              <a:spcAft>
                <a:spcPts val="0"/>
              </a:spcAft>
              <a:buClr>
                <a:srgbClr val="393B3F"/>
              </a:buClr>
              <a:buSzPts val="600"/>
              <a:buFont typeface="Verdana"/>
              <a:buNone/>
            </a:pPr>
            <a:r>
              <a:rPr b="1" i="0" lang="en-CA" sz="1900" u="none" cap="none" strike="noStrike">
                <a:solidFill>
                  <a:srgbClr val="393B3F"/>
                </a:solidFill>
                <a:latin typeface="Verdana"/>
                <a:ea typeface="Verdana"/>
                <a:cs typeface="Verdana"/>
                <a:sym typeface="Verdana"/>
              </a:rPr>
              <a:t>Example </a:t>
            </a:r>
            <a:r>
              <a:rPr b="1" lang="en-CA" sz="1900">
                <a:solidFill>
                  <a:srgbClr val="393B3F"/>
                </a:solidFill>
                <a:latin typeface="Verdana"/>
                <a:ea typeface="Verdana"/>
                <a:cs typeface="Verdana"/>
                <a:sym typeface="Verdana"/>
              </a:rPr>
              <a:t>2</a:t>
            </a:r>
            <a:r>
              <a:rPr b="1" i="0" lang="en-CA" sz="1900" u="none" cap="none" strike="noStrike">
                <a:solidFill>
                  <a:srgbClr val="393B3F"/>
                </a:solidFill>
                <a:latin typeface="Verdana"/>
                <a:ea typeface="Verdana"/>
                <a:cs typeface="Verdana"/>
                <a:sym typeface="Verdana"/>
              </a:rPr>
              <a:t>:</a:t>
            </a:r>
            <a:endParaRPr sz="900"/>
          </a:p>
          <a:p>
            <a:pPr indent="0" lvl="0" marL="0" marR="0" rtl="0" algn="l">
              <a:lnSpc>
                <a:spcPct val="100000"/>
              </a:lnSpc>
              <a:spcBef>
                <a:spcPts val="0"/>
              </a:spcBef>
              <a:spcAft>
                <a:spcPts val="0"/>
              </a:spcAft>
              <a:buClr>
                <a:srgbClr val="000000"/>
              </a:buClr>
              <a:buSzPts val="2400"/>
              <a:buFont typeface="Arial"/>
              <a:buNone/>
            </a:pPr>
            <a:r>
              <a:t/>
            </a:r>
            <a:endParaRPr b="1" i="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rPr lang="en-CA">
                <a:latin typeface="Verdana"/>
                <a:ea typeface="Verdana"/>
                <a:cs typeface="Verdana"/>
                <a:sym typeface="Verdana"/>
              </a:rPr>
              <a:t>In summer squash, white fruit color (W) is dominant over yellow fruit color (w) and disk-shaped fruit (D) is dominant over sphere-shaped fruit (d). A plant that produces yellow, disk-shaped fruit is crossed with a plant that produces white, sphere-shaped fruit.</a:t>
            </a:r>
            <a:endParaRPr>
              <a:latin typeface="Verdana"/>
              <a:ea typeface="Verdana"/>
              <a:cs typeface="Verdana"/>
              <a:sym typeface="Verdana"/>
            </a:endParaRPr>
          </a:p>
          <a:p>
            <a:pPr indent="0" lvl="0" marL="0" marR="0" rtl="0" algn="l">
              <a:lnSpc>
                <a:spcPct val="100000"/>
              </a:lnSpc>
              <a:spcBef>
                <a:spcPts val="0"/>
              </a:spcBef>
              <a:spcAft>
                <a:spcPts val="0"/>
              </a:spcAft>
              <a:buClr>
                <a:srgbClr val="393B3F"/>
              </a:buClr>
              <a:buSzPts val="600"/>
              <a:buFont typeface="Verdana"/>
              <a:buNone/>
            </a:pPr>
            <a:r>
              <a:t/>
            </a:r>
            <a:endParaRPr sz="1200">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rPr lang="en-CA">
                <a:solidFill>
                  <a:srgbClr val="393B3F"/>
                </a:solidFill>
                <a:latin typeface="Verdana"/>
                <a:ea typeface="Verdana"/>
                <a:cs typeface="Verdana"/>
                <a:sym typeface="Verdana"/>
              </a:rPr>
              <a:t>c) If this parental cross produces 80 seeds, how many of those seeds would give rise to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2400"/>
              <a:buFont typeface="Arial"/>
              <a:buNone/>
            </a:pPr>
            <a:r>
              <a:t/>
            </a:r>
            <a:endParaRPr>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graphicFrame>
        <p:nvGraphicFramePr>
          <p:cNvPr id="722" name="Google Shape;722;p59"/>
          <p:cNvGraphicFramePr/>
          <p:nvPr/>
        </p:nvGraphicFramePr>
        <p:xfrm>
          <a:off x="4498050" y="3421475"/>
          <a:ext cx="3000000" cy="3000000"/>
        </p:xfrm>
        <a:graphic>
          <a:graphicData uri="http://schemas.openxmlformats.org/drawingml/2006/table">
            <a:tbl>
              <a:tblPr>
                <a:noFill/>
                <a:tableStyleId>{6A1E2D6C-7FDB-4D57-BEA6-0CDAB9F65119}</a:tableStyleId>
              </a:tblPr>
              <a:tblGrid>
                <a:gridCol w="837625"/>
                <a:gridCol w="1659625"/>
                <a:gridCol w="1697000"/>
              </a:tblGrid>
              <a:tr h="530400">
                <a:tc>
                  <a:txBody>
                    <a:bodyPr/>
                    <a:lstStyle/>
                    <a:p>
                      <a:pPr indent="0" lvl="0" marL="0" rtl="0" algn="l">
                        <a:spcBef>
                          <a:spcPts val="0"/>
                        </a:spcBef>
                        <a:spcAft>
                          <a:spcPts val="0"/>
                        </a:spcAft>
                        <a:buNone/>
                      </a:pPr>
                      <a:r>
                        <a:t/>
                      </a:r>
                      <a:endParaRPr>
                        <a:solidFill>
                          <a:srgbClr val="C27BA0"/>
                        </a:solidFill>
                      </a:endParaRPr>
                    </a:p>
                  </a:txBody>
                  <a:tcPr marT="91425" marB="91425" marR="91425" marL="91425"/>
                </a:tc>
                <a:tc>
                  <a:txBody>
                    <a:bodyPr/>
                    <a:lstStyle/>
                    <a:p>
                      <a:pPr indent="0" lvl="0" marL="0" rtl="0" algn="ctr">
                        <a:spcBef>
                          <a:spcPts val="0"/>
                        </a:spcBef>
                        <a:spcAft>
                          <a:spcPts val="0"/>
                        </a:spcAft>
                        <a:buNone/>
                      </a:pPr>
                      <a:r>
                        <a:rPr b="1" lang="en-CA">
                          <a:solidFill>
                            <a:srgbClr val="C27BA0"/>
                          </a:solidFill>
                        </a:rPr>
                        <a:t>Wd</a:t>
                      </a:r>
                      <a:endParaRPr b="1">
                        <a:solidFill>
                          <a:srgbClr val="C27BA0"/>
                        </a:solidFill>
                      </a:endParaRPr>
                    </a:p>
                  </a:txBody>
                  <a:tcPr marT="91425" marB="91425" marR="91425" marL="91425"/>
                </a:tc>
                <a:tc>
                  <a:txBody>
                    <a:bodyPr/>
                    <a:lstStyle/>
                    <a:p>
                      <a:pPr indent="0" lvl="0" marL="0" rtl="0" algn="ctr">
                        <a:spcBef>
                          <a:spcPts val="0"/>
                        </a:spcBef>
                        <a:spcAft>
                          <a:spcPts val="0"/>
                        </a:spcAft>
                        <a:buNone/>
                      </a:pPr>
                      <a:r>
                        <a:rPr b="1" lang="en-CA">
                          <a:solidFill>
                            <a:srgbClr val="C27BA0"/>
                          </a:solidFill>
                        </a:rPr>
                        <a:t>wd</a:t>
                      </a:r>
                      <a:endParaRPr b="1">
                        <a:solidFill>
                          <a:srgbClr val="C27BA0"/>
                        </a:solidFill>
                      </a:endParaRPr>
                    </a:p>
                  </a:txBody>
                  <a:tcPr marT="91425" marB="91425" marR="91425" marL="91425"/>
                </a:tc>
              </a:tr>
              <a:tr h="591200">
                <a:tc>
                  <a:txBody>
                    <a:bodyPr/>
                    <a:lstStyle/>
                    <a:p>
                      <a:pPr indent="0" lvl="0" marL="0" rtl="0" algn="ctr">
                        <a:spcBef>
                          <a:spcPts val="0"/>
                        </a:spcBef>
                        <a:spcAft>
                          <a:spcPts val="0"/>
                        </a:spcAft>
                        <a:buNone/>
                      </a:pPr>
                      <a:r>
                        <a:rPr b="1" lang="en-CA">
                          <a:solidFill>
                            <a:srgbClr val="C27BA0"/>
                          </a:solidFill>
                        </a:rPr>
                        <a:t>wD</a:t>
                      </a:r>
                      <a:endParaRPr b="1">
                        <a:solidFill>
                          <a:srgbClr val="C27BA0"/>
                        </a:solidFill>
                      </a:endParaRPr>
                    </a:p>
                  </a:txBody>
                  <a:tcPr marT="91425" marB="91425" marR="91425" marL="91425"/>
                </a:tc>
                <a:tc>
                  <a:txBody>
                    <a:bodyPr/>
                    <a:lstStyle/>
                    <a:p>
                      <a:pPr indent="0" lvl="0" marL="0" rtl="0" algn="ctr">
                        <a:spcBef>
                          <a:spcPts val="0"/>
                        </a:spcBef>
                        <a:spcAft>
                          <a:spcPts val="0"/>
                        </a:spcAft>
                        <a:buNone/>
                      </a:pPr>
                      <a:r>
                        <a:rPr lang="en-CA">
                          <a:solidFill>
                            <a:srgbClr val="C27BA0"/>
                          </a:solidFill>
                        </a:rPr>
                        <a:t>WwDd</a:t>
                      </a:r>
                      <a:endParaRPr>
                        <a:solidFill>
                          <a:srgbClr val="C27BA0"/>
                        </a:solidFill>
                      </a:endParaRPr>
                    </a:p>
                    <a:p>
                      <a:pPr indent="0" lvl="0" marL="0" rtl="0" algn="ctr">
                        <a:spcBef>
                          <a:spcPts val="0"/>
                        </a:spcBef>
                        <a:spcAft>
                          <a:spcPts val="0"/>
                        </a:spcAft>
                        <a:buNone/>
                      </a:pPr>
                      <a:r>
                        <a:rPr lang="en-CA">
                          <a:solidFill>
                            <a:srgbClr val="C27BA0"/>
                          </a:solidFill>
                        </a:rPr>
                        <a:t>White and disk</a:t>
                      </a:r>
                      <a:endParaRPr>
                        <a:solidFill>
                          <a:srgbClr val="C27BA0"/>
                        </a:solidFill>
                      </a:endParaRPr>
                    </a:p>
                  </a:txBody>
                  <a:tcPr marT="91425" marB="91425" marR="91425" marL="91425">
                    <a:solidFill>
                      <a:srgbClr val="FFFFFF"/>
                    </a:solidFill>
                  </a:tcPr>
                </a:tc>
                <a:tc>
                  <a:txBody>
                    <a:bodyPr/>
                    <a:lstStyle/>
                    <a:p>
                      <a:pPr indent="0" lvl="0" marL="0" rtl="0" algn="ctr">
                        <a:spcBef>
                          <a:spcPts val="0"/>
                        </a:spcBef>
                        <a:spcAft>
                          <a:spcPts val="0"/>
                        </a:spcAft>
                        <a:buNone/>
                      </a:pPr>
                      <a:r>
                        <a:rPr lang="en-CA">
                          <a:solidFill>
                            <a:srgbClr val="C27BA0"/>
                          </a:solidFill>
                        </a:rPr>
                        <a:t>wwDd</a:t>
                      </a:r>
                      <a:endParaRPr>
                        <a:solidFill>
                          <a:srgbClr val="C27BA0"/>
                        </a:solidFill>
                      </a:endParaRPr>
                    </a:p>
                    <a:p>
                      <a:pPr indent="0" lvl="0" marL="0" rtl="0" algn="ctr">
                        <a:spcBef>
                          <a:spcPts val="0"/>
                        </a:spcBef>
                        <a:spcAft>
                          <a:spcPts val="0"/>
                        </a:spcAft>
                        <a:buNone/>
                      </a:pPr>
                      <a:r>
                        <a:rPr lang="en-CA">
                          <a:solidFill>
                            <a:srgbClr val="C27BA0"/>
                          </a:solidFill>
                        </a:rPr>
                        <a:t>Yellow and disk</a:t>
                      </a:r>
                      <a:endParaRPr>
                        <a:solidFill>
                          <a:srgbClr val="C27BA0"/>
                        </a:solidFill>
                      </a:endParaRPr>
                    </a:p>
                  </a:txBody>
                  <a:tcPr marT="91425" marB="91425" marR="91425" marL="91425">
                    <a:solidFill>
                      <a:srgbClr val="FFFFFF"/>
                    </a:solidFill>
                  </a:tcPr>
                </a:tc>
              </a:tr>
              <a:tr h="591200">
                <a:tc>
                  <a:txBody>
                    <a:bodyPr/>
                    <a:lstStyle/>
                    <a:p>
                      <a:pPr indent="0" lvl="0" marL="0" rtl="0" algn="ctr">
                        <a:spcBef>
                          <a:spcPts val="0"/>
                        </a:spcBef>
                        <a:spcAft>
                          <a:spcPts val="0"/>
                        </a:spcAft>
                        <a:buNone/>
                      </a:pPr>
                      <a:r>
                        <a:rPr b="1" lang="en-CA">
                          <a:solidFill>
                            <a:srgbClr val="C27BA0"/>
                          </a:solidFill>
                        </a:rPr>
                        <a:t>wd</a:t>
                      </a:r>
                      <a:endParaRPr b="1">
                        <a:solidFill>
                          <a:srgbClr val="C27BA0"/>
                        </a:solidFill>
                      </a:endParaRPr>
                    </a:p>
                  </a:txBody>
                  <a:tcPr marT="91425" marB="91425" marR="91425" marL="91425"/>
                </a:tc>
                <a:tc>
                  <a:txBody>
                    <a:bodyPr/>
                    <a:lstStyle/>
                    <a:p>
                      <a:pPr indent="0" lvl="0" marL="0" rtl="0" algn="ctr">
                        <a:spcBef>
                          <a:spcPts val="0"/>
                        </a:spcBef>
                        <a:spcAft>
                          <a:spcPts val="0"/>
                        </a:spcAft>
                        <a:buNone/>
                      </a:pPr>
                      <a:r>
                        <a:rPr lang="en-CA">
                          <a:solidFill>
                            <a:srgbClr val="C27BA0"/>
                          </a:solidFill>
                        </a:rPr>
                        <a:t>Wwdd</a:t>
                      </a:r>
                      <a:endParaRPr>
                        <a:solidFill>
                          <a:srgbClr val="C27BA0"/>
                        </a:solidFill>
                      </a:endParaRPr>
                    </a:p>
                    <a:p>
                      <a:pPr indent="0" lvl="0" marL="0" rtl="0" algn="ctr">
                        <a:spcBef>
                          <a:spcPts val="0"/>
                        </a:spcBef>
                        <a:spcAft>
                          <a:spcPts val="0"/>
                        </a:spcAft>
                        <a:buNone/>
                      </a:pPr>
                      <a:r>
                        <a:rPr lang="en-CA">
                          <a:solidFill>
                            <a:srgbClr val="C27BA0"/>
                          </a:solidFill>
                        </a:rPr>
                        <a:t>White and sphere</a:t>
                      </a:r>
                      <a:endParaRPr>
                        <a:solidFill>
                          <a:srgbClr val="C27BA0"/>
                        </a:solidFill>
                      </a:endParaRPr>
                    </a:p>
                  </a:txBody>
                  <a:tcPr marT="91425" marB="91425" marR="91425" marL="91425">
                    <a:solidFill>
                      <a:srgbClr val="FFFFFF"/>
                    </a:solidFill>
                  </a:tcPr>
                </a:tc>
                <a:tc>
                  <a:txBody>
                    <a:bodyPr/>
                    <a:lstStyle/>
                    <a:p>
                      <a:pPr indent="0" lvl="0" marL="0" rtl="0" algn="ctr">
                        <a:spcBef>
                          <a:spcPts val="0"/>
                        </a:spcBef>
                        <a:spcAft>
                          <a:spcPts val="0"/>
                        </a:spcAft>
                        <a:buNone/>
                      </a:pPr>
                      <a:r>
                        <a:rPr lang="en-CA">
                          <a:solidFill>
                            <a:srgbClr val="C27BA0"/>
                          </a:solidFill>
                        </a:rPr>
                        <a:t>wwdd</a:t>
                      </a:r>
                      <a:endParaRPr>
                        <a:solidFill>
                          <a:srgbClr val="C27BA0"/>
                        </a:solidFill>
                      </a:endParaRPr>
                    </a:p>
                    <a:p>
                      <a:pPr indent="0" lvl="0" marL="0" rtl="0" algn="ctr">
                        <a:spcBef>
                          <a:spcPts val="0"/>
                        </a:spcBef>
                        <a:spcAft>
                          <a:spcPts val="0"/>
                        </a:spcAft>
                        <a:buNone/>
                      </a:pPr>
                      <a:r>
                        <a:rPr lang="en-CA">
                          <a:solidFill>
                            <a:srgbClr val="C27BA0"/>
                          </a:solidFill>
                        </a:rPr>
                        <a:t>Yellow and sphere</a:t>
                      </a:r>
                      <a:endParaRPr>
                        <a:solidFill>
                          <a:srgbClr val="C27BA0"/>
                        </a:solidFill>
                      </a:endParaRPr>
                    </a:p>
                  </a:txBody>
                  <a:tcPr marT="91425" marB="91425" marR="91425" marL="91425">
                    <a:solidFill>
                      <a:srgbClr val="FFFFFF"/>
                    </a:solidFill>
                  </a:tcPr>
                </a:tc>
              </a:tr>
            </a:tbl>
          </a:graphicData>
        </a:graphic>
      </p:graphicFrame>
      <p:grpSp>
        <p:nvGrpSpPr>
          <p:cNvPr id="723" name="Google Shape;723;p59"/>
          <p:cNvGrpSpPr/>
          <p:nvPr/>
        </p:nvGrpSpPr>
        <p:grpSpPr>
          <a:xfrm>
            <a:off x="4352250" y="2819350"/>
            <a:ext cx="3665400" cy="470625"/>
            <a:chOff x="814375" y="3033200"/>
            <a:chExt cx="3665400" cy="470625"/>
          </a:xfrm>
        </p:grpSpPr>
        <p:sp>
          <p:nvSpPr>
            <p:cNvPr id="724" name="Google Shape;724;p59"/>
            <p:cNvSpPr/>
            <p:nvPr/>
          </p:nvSpPr>
          <p:spPr>
            <a:xfrm>
              <a:off x="1388250" y="3033200"/>
              <a:ext cx="3423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725" name="Google Shape;725;p59"/>
            <p:cNvSpPr/>
            <p:nvPr/>
          </p:nvSpPr>
          <p:spPr>
            <a:xfrm>
              <a:off x="1441250" y="3033200"/>
              <a:ext cx="4554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726" name="Google Shape;726;p59"/>
            <p:cNvSpPr txBox="1"/>
            <p:nvPr/>
          </p:nvSpPr>
          <p:spPr>
            <a:xfrm>
              <a:off x="814375" y="3103625"/>
              <a:ext cx="3665400" cy="4002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CA">
                  <a:solidFill>
                    <a:srgbClr val="A64D79"/>
                  </a:solidFill>
                  <a:latin typeface="Verdana"/>
                  <a:ea typeface="Verdana"/>
                  <a:cs typeface="Verdana"/>
                  <a:sym typeface="Verdana"/>
                </a:rPr>
                <a:t>wwDd x Wwdd</a:t>
              </a:r>
              <a:endParaRPr/>
            </a:p>
          </p:txBody>
        </p:sp>
        <p:sp>
          <p:nvSpPr>
            <p:cNvPr id="727" name="Google Shape;727;p59"/>
            <p:cNvSpPr/>
            <p:nvPr/>
          </p:nvSpPr>
          <p:spPr>
            <a:xfrm>
              <a:off x="2189075" y="3033200"/>
              <a:ext cx="3171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728" name="Google Shape;728;p59"/>
            <p:cNvSpPr/>
            <p:nvPr/>
          </p:nvSpPr>
          <p:spPr>
            <a:xfrm>
              <a:off x="2351175" y="3033200"/>
              <a:ext cx="213300" cy="191700"/>
            </a:xfrm>
            <a:prstGeom prst="curvedDownArrow">
              <a:avLst>
                <a:gd fmla="val 6553" name="adj1"/>
                <a:gd fmla="val 20055" name="adj2"/>
                <a:gd fmla="val 111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sp>
        <p:nvSpPr>
          <p:cNvPr id="729" name="Google Shape;729;p59"/>
          <p:cNvSpPr txBox="1"/>
          <p:nvPr/>
        </p:nvSpPr>
        <p:spPr>
          <a:xfrm>
            <a:off x="629850" y="3057700"/>
            <a:ext cx="3722400" cy="2678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393B3F"/>
              </a:buClr>
              <a:buSzPts val="1400"/>
              <a:buFont typeface="Verdana"/>
              <a:buChar char="●"/>
            </a:pPr>
            <a:r>
              <a:rPr lang="en-CA">
                <a:solidFill>
                  <a:srgbClr val="393B3F"/>
                </a:solidFill>
                <a:latin typeface="Verdana"/>
                <a:ea typeface="Verdana"/>
                <a:cs typeface="Verdana"/>
                <a:sym typeface="Verdana"/>
              </a:rPr>
              <a:t>White flowering squash?</a:t>
            </a:r>
            <a:endParaRPr>
              <a:solidFill>
                <a:srgbClr val="393B3F"/>
              </a:solidFill>
              <a:latin typeface="Verdana"/>
              <a:ea typeface="Verdana"/>
              <a:cs typeface="Verdana"/>
              <a:sym typeface="Verdana"/>
            </a:endParaRPr>
          </a:p>
          <a:p>
            <a:pPr indent="0" lvl="0" marL="0" rtl="0" algn="l">
              <a:spcBef>
                <a:spcPts val="1000"/>
              </a:spcBef>
              <a:spcAft>
                <a:spcPts val="0"/>
              </a:spcAft>
              <a:buNone/>
            </a:pPr>
            <a:r>
              <a:t/>
            </a:r>
            <a:endParaRPr>
              <a:solidFill>
                <a:srgbClr val="393B3F"/>
              </a:solidFill>
              <a:latin typeface="Verdana"/>
              <a:ea typeface="Verdana"/>
              <a:cs typeface="Verdana"/>
              <a:sym typeface="Verdana"/>
            </a:endParaRPr>
          </a:p>
          <a:p>
            <a:pPr indent="0" lvl="0" marL="0" rtl="0" algn="l">
              <a:spcBef>
                <a:spcPts val="1000"/>
              </a:spcBef>
              <a:spcAft>
                <a:spcPts val="0"/>
              </a:spcAft>
              <a:buNone/>
            </a:pPr>
            <a:r>
              <a:t/>
            </a:r>
            <a:endParaRPr>
              <a:solidFill>
                <a:srgbClr val="393B3F"/>
              </a:solidFill>
              <a:latin typeface="Verdana"/>
              <a:ea typeface="Verdana"/>
              <a:cs typeface="Verdana"/>
              <a:sym typeface="Verdana"/>
            </a:endParaRPr>
          </a:p>
          <a:p>
            <a:pPr indent="0" lvl="0" marL="0" rtl="0" algn="l">
              <a:spcBef>
                <a:spcPts val="1000"/>
              </a:spcBef>
              <a:spcAft>
                <a:spcPts val="0"/>
              </a:spcAft>
              <a:buNone/>
            </a:pPr>
            <a:r>
              <a:t/>
            </a:r>
            <a:endParaRPr>
              <a:solidFill>
                <a:srgbClr val="393B3F"/>
              </a:solidFill>
              <a:latin typeface="Verdana"/>
              <a:ea typeface="Verdana"/>
              <a:cs typeface="Verdana"/>
              <a:sym typeface="Verdana"/>
            </a:endParaRPr>
          </a:p>
          <a:p>
            <a:pPr indent="0" lvl="0" marL="0" rtl="0" algn="l">
              <a:spcBef>
                <a:spcPts val="1000"/>
              </a:spcBef>
              <a:spcAft>
                <a:spcPts val="0"/>
              </a:spcAft>
              <a:buNone/>
            </a:pPr>
            <a:r>
              <a:t/>
            </a:r>
            <a:endParaRPr>
              <a:solidFill>
                <a:srgbClr val="393B3F"/>
              </a:solidFill>
              <a:latin typeface="Verdana"/>
              <a:ea typeface="Verdana"/>
              <a:cs typeface="Verdana"/>
              <a:sym typeface="Verdana"/>
            </a:endParaRPr>
          </a:p>
          <a:p>
            <a:pPr indent="0" lvl="0" marL="457200" rtl="0" algn="l">
              <a:spcBef>
                <a:spcPts val="1000"/>
              </a:spcBef>
              <a:spcAft>
                <a:spcPts val="0"/>
              </a:spcAft>
              <a:buNone/>
            </a:pPr>
            <a:r>
              <a:t/>
            </a:r>
            <a:endParaRPr>
              <a:solidFill>
                <a:srgbClr val="393B3F"/>
              </a:solidFill>
              <a:latin typeface="Verdana"/>
              <a:ea typeface="Verdana"/>
              <a:cs typeface="Verdana"/>
              <a:sym typeface="Verdana"/>
            </a:endParaRPr>
          </a:p>
          <a:p>
            <a:pPr indent="-317500" lvl="0" marL="457200" rtl="0" algn="l">
              <a:spcBef>
                <a:spcPts val="1000"/>
              </a:spcBef>
              <a:spcAft>
                <a:spcPts val="0"/>
              </a:spcAft>
              <a:buClr>
                <a:srgbClr val="393B3F"/>
              </a:buClr>
              <a:buSzPts val="1400"/>
              <a:buFont typeface="Verdana"/>
              <a:buChar char="●"/>
            </a:pPr>
            <a:r>
              <a:rPr lang="en-CA">
                <a:solidFill>
                  <a:srgbClr val="393B3F"/>
                </a:solidFill>
                <a:latin typeface="Verdana"/>
                <a:ea typeface="Verdana"/>
                <a:cs typeface="Verdana"/>
                <a:sym typeface="Verdana"/>
              </a:rPr>
              <a:t>Squash with yellow and sphere-shaped flowers?</a:t>
            </a:r>
            <a:endParaRPr>
              <a:solidFill>
                <a:srgbClr val="393B3F"/>
              </a:solidFill>
              <a:latin typeface="Verdana"/>
              <a:ea typeface="Verdana"/>
              <a:cs typeface="Verdana"/>
              <a:sym typeface="Verdana"/>
            </a:endParaRPr>
          </a:p>
        </p:txBody>
      </p:sp>
      <p:sp>
        <p:nvSpPr>
          <p:cNvPr id="730" name="Google Shape;730;p59"/>
          <p:cNvSpPr txBox="1"/>
          <p:nvPr/>
        </p:nvSpPr>
        <p:spPr>
          <a:xfrm>
            <a:off x="718325" y="3421475"/>
            <a:ext cx="37224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solidFill>
                  <a:srgbClr val="A64D79"/>
                </a:solidFill>
                <a:latin typeface="Verdana"/>
                <a:ea typeface="Verdana"/>
                <a:cs typeface="Verdana"/>
                <a:sym typeface="Verdana"/>
              </a:rPr>
              <a:t>Portion of seeds that will give rise to white flowering squash is 2/4 or ½ or 0.5. To calculate the actual number of squash, we simply multiple the total number by this decimal value:</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latin typeface="Verdana"/>
                <a:ea typeface="Verdana"/>
                <a:cs typeface="Verdana"/>
                <a:sym typeface="Verdana"/>
              </a:rPr>
              <a:t>80 x 0.50 = </a:t>
            </a:r>
            <a:r>
              <a:rPr b="1" lang="en-CA">
                <a:solidFill>
                  <a:srgbClr val="A64D79"/>
                </a:solidFill>
                <a:latin typeface="Verdana"/>
                <a:ea typeface="Verdana"/>
                <a:cs typeface="Verdana"/>
                <a:sym typeface="Verdana"/>
              </a:rPr>
              <a:t>40 squash</a:t>
            </a:r>
            <a:endParaRPr b="1">
              <a:solidFill>
                <a:srgbClr val="A64D79"/>
              </a:solidFill>
              <a:latin typeface="Verdana"/>
              <a:ea typeface="Verdana"/>
              <a:cs typeface="Verdana"/>
              <a:sym typeface="Verdana"/>
            </a:endParaRPr>
          </a:p>
        </p:txBody>
      </p:sp>
      <p:sp>
        <p:nvSpPr>
          <p:cNvPr id="731" name="Google Shape;731;p59"/>
          <p:cNvSpPr txBox="1"/>
          <p:nvPr/>
        </p:nvSpPr>
        <p:spPr>
          <a:xfrm>
            <a:off x="718325" y="5654725"/>
            <a:ext cx="37224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a:solidFill>
                  <a:srgbClr val="A64D79"/>
                </a:solidFill>
                <a:latin typeface="Verdana"/>
                <a:ea typeface="Verdana"/>
                <a:cs typeface="Verdana"/>
                <a:sym typeface="Verdana"/>
              </a:rPr>
              <a:t>¼ = 0.25</a:t>
            </a:r>
            <a:endParaRPr>
              <a:solidFill>
                <a:srgbClr val="A64D79"/>
              </a:solidFill>
              <a:latin typeface="Verdana"/>
              <a:ea typeface="Verdana"/>
              <a:cs typeface="Verdana"/>
              <a:sym typeface="Verdana"/>
            </a:endParaRPr>
          </a:p>
          <a:p>
            <a:pPr indent="0" lvl="0" marL="0" rtl="0" algn="l">
              <a:spcBef>
                <a:spcPts val="0"/>
              </a:spcBef>
              <a:spcAft>
                <a:spcPts val="0"/>
              </a:spcAft>
              <a:buNone/>
            </a:pPr>
            <a:r>
              <a:rPr lang="en-CA">
                <a:solidFill>
                  <a:srgbClr val="A64D79"/>
                </a:solidFill>
                <a:latin typeface="Verdana"/>
                <a:ea typeface="Verdana"/>
                <a:cs typeface="Verdana"/>
                <a:sym typeface="Verdana"/>
              </a:rPr>
              <a:t>0.25 x 80 = </a:t>
            </a:r>
            <a:r>
              <a:rPr b="1" lang="en-CA">
                <a:solidFill>
                  <a:srgbClr val="A64D79"/>
                </a:solidFill>
                <a:latin typeface="Verdana"/>
                <a:ea typeface="Verdana"/>
                <a:cs typeface="Verdana"/>
                <a:sym typeface="Verdana"/>
              </a:rPr>
              <a:t>20 squash</a:t>
            </a:r>
            <a:endParaRPr b="1">
              <a:solidFill>
                <a:srgbClr val="A64D79"/>
              </a:solidFill>
              <a:latin typeface="Verdana"/>
              <a:ea typeface="Verdana"/>
              <a:cs typeface="Verdana"/>
              <a:sym typeface="Verdana"/>
            </a:endParaRPr>
          </a:p>
          <a:p>
            <a:pPr indent="0" lvl="0" marL="0" rtl="0" algn="l">
              <a:spcBef>
                <a:spcPts val="0"/>
              </a:spcBef>
              <a:spcAft>
                <a:spcPts val="0"/>
              </a:spcAft>
              <a:buNone/>
            </a:pPr>
            <a:r>
              <a:t/>
            </a:r>
            <a:endParaRPr b="1">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60"/>
          <p:cNvSpPr txBox="1"/>
          <p:nvPr/>
        </p:nvSpPr>
        <p:spPr>
          <a:xfrm>
            <a:off x="2234400" y="676425"/>
            <a:ext cx="58608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400">
                <a:solidFill>
                  <a:schemeClr val="dk2"/>
                </a:solidFill>
                <a:latin typeface="Verdana"/>
                <a:ea typeface="Verdana"/>
                <a:cs typeface="Verdana"/>
                <a:sym typeface="Verdana"/>
              </a:rPr>
              <a:t>Two Trait Crosses Recap</a:t>
            </a:r>
            <a:endParaRPr b="1" sz="2400">
              <a:solidFill>
                <a:schemeClr val="dk2"/>
              </a:solidFill>
              <a:latin typeface="Verdana"/>
              <a:ea typeface="Verdana"/>
              <a:cs typeface="Verdana"/>
              <a:sym typeface="Verdana"/>
            </a:endParaRPr>
          </a:p>
        </p:txBody>
      </p:sp>
      <p:sp>
        <p:nvSpPr>
          <p:cNvPr id="737" name="Google Shape;737;p60"/>
          <p:cNvSpPr txBox="1"/>
          <p:nvPr/>
        </p:nvSpPr>
        <p:spPr>
          <a:xfrm>
            <a:off x="737600" y="1249875"/>
            <a:ext cx="7707600" cy="16815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Verdana"/>
              <a:buChar char="➢"/>
            </a:pPr>
            <a:r>
              <a:rPr lang="en-CA" sz="2000">
                <a:solidFill>
                  <a:schemeClr val="dk2"/>
                </a:solidFill>
                <a:latin typeface="Verdana"/>
                <a:ea typeface="Verdana"/>
                <a:cs typeface="Verdana"/>
                <a:sym typeface="Verdana"/>
              </a:rPr>
              <a:t>This was a short lesson, but ensure that you do all of the assigned practice before moving on, as more complexity is coming. You want to feel comfortable working with one trait and two trait crosses for these ‘simple’ dominant/recessive allele relationships</a:t>
            </a:r>
            <a:endParaRPr sz="1700">
              <a:solidFill>
                <a:schemeClr val="dk2"/>
              </a:solidFill>
              <a:latin typeface="Verdana"/>
              <a:ea typeface="Verdana"/>
              <a:cs typeface="Verdana"/>
              <a:sym typeface="Verdana"/>
            </a:endParaRPr>
          </a:p>
        </p:txBody>
      </p:sp>
      <p:pic>
        <p:nvPicPr>
          <p:cNvPr descr="Explains a Dihybrid cross with pea color and pod shape, detailing the 9:3:3:1 offspring phenotype ratio expected in a dihybrid cross.&#10;&#10;This project was created with Explain Everything™ Interactive Whiteboard for iPad." id="738" name="Google Shape;738;p60" title="Dihybrid Cross Explained">
            <a:hlinkClick r:id="rId3"/>
          </p:cNvPr>
          <p:cNvPicPr preferRelativeResize="0"/>
          <p:nvPr/>
        </p:nvPicPr>
        <p:blipFill>
          <a:blip r:embed="rId4">
            <a:alphaModFix/>
          </a:blip>
          <a:stretch>
            <a:fillRect/>
          </a:stretch>
        </p:blipFill>
        <p:spPr>
          <a:xfrm>
            <a:off x="589775" y="3015725"/>
            <a:ext cx="3048000" cy="1714500"/>
          </a:xfrm>
          <a:prstGeom prst="rect">
            <a:avLst/>
          </a:prstGeom>
          <a:noFill/>
          <a:ln>
            <a:noFill/>
          </a:ln>
        </p:spPr>
      </p:pic>
      <p:pic>
        <p:nvPicPr>
          <p:cNvPr descr="This video will show how to set up and solve everyone's favorite 16 square Punnett square. Example solves a two trait (two factor) test cross which can then be useful for solving a dihybrid cross on our handout here: http://www.amoebasisters.com/handouts.html This video uses vocabulary that was previously defined in the Amoeba Sisters Monohybrid Crosses video.&#10;&#10;The Amoeba Sisters videos demystify science with humor and relevance. The videos center on Pinky's certification and experience in teaching biology at the high school level. For more information about The Amoeba Sisters, visit: http://www.amoebasisters.com/about-us.html&#10;&#10;REFERENCE:&#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10;⭐We have a menu of our resources that complement our videos! Visit https://docs.google.com/spreadsheets/d/1b3kmAzFEjWgoMKCrkeNCKFYunWk04IuLY93jI4OY0gY/edit?usp=sharing&#10;&#10;Support Us? https://www.amoebasisters.com/support-us&#10;&#10;Our Resources:&#10;Biology Playlist: https://www.youtube.com/playlist?list=PLwL0Myd7Dk1F0iQPGrjehze3eDpco1eVz&#10;GIFs: https://www.amoebasisters.com/gifs.html&#10;Handouts: https://www.amoebasisters.com/handouts.html&#10;Comics: https://www.amoebasisters.com/parameciumparlorcomics&#10;Unlectured Series: https://www.amoebasisters.com/unlectured&#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s://www.amoebasisters.com/store&#10;&#10;TIPS FOR VIEWING EDU YOUTUBE VIDEOS:&#10;Want to learn tips for viewing edu YouTube videos including changing the speed, language, viewing the transcript, etc? https://www.amoebasisters.com/pinkys-ed-tech-favorites/10-youtube-tips-from-an-edu-youtuber-duo&#10;&#10;MUSIC:&#10;Music in this video is listed free to use/no attribution required from the YouTube audio library https://www.youtube.com/audiolibrary/music?feature=blog&#10;&#10;COMMUNITY:&#10;We take pride in our AWESOME community, and we welcome feedback and discussion.  However, please remember that this is an education channel. See YouTube's community guidelines and how YouTube handles comments that are reported by the community. We also reserve the right to remove comments.&#10;&#10;TRANSLATIONS:&#10;While we don't allow dubbing of our videos, we do gladly accept subtitle translations from our community. Some translated subtitles on our videos were translated by the community using YouTube's community-contributed subtitle feature. After the feature was discontinued by YouTube, we have another option for submitting translated subtitles here:  https://www.amoebasisters.com/pinkys-ed-tech-favorites/community-contributed-subtitles We want to thank our amazing community for the generosity of their time in continuing to create translated subtitles. If you have a concern about community contributed contributions, please contact us." id="739" name="Google Shape;739;p60" title="Dihybrid and Two-Trait Crosses">
            <a:hlinkClick r:id="rId5"/>
          </p:cNvPr>
          <p:cNvPicPr preferRelativeResize="0"/>
          <p:nvPr/>
        </p:nvPicPr>
        <p:blipFill>
          <a:blip r:embed="rId6">
            <a:alphaModFix/>
          </a:blip>
          <a:stretch>
            <a:fillRect/>
          </a:stretch>
        </p:blipFill>
        <p:spPr>
          <a:xfrm>
            <a:off x="4729450" y="3083775"/>
            <a:ext cx="3048000" cy="1714500"/>
          </a:xfrm>
          <a:prstGeom prst="rect">
            <a:avLst/>
          </a:prstGeom>
          <a:noFill/>
          <a:ln>
            <a:noFill/>
          </a:ln>
        </p:spPr>
      </p:pic>
      <p:sp>
        <p:nvSpPr>
          <p:cNvPr id="740" name="Google Shape;740;p60"/>
          <p:cNvSpPr txBox="1"/>
          <p:nvPr/>
        </p:nvSpPr>
        <p:spPr>
          <a:xfrm>
            <a:off x="4003325" y="4950675"/>
            <a:ext cx="4626300" cy="12657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CA" sz="1800">
                <a:solidFill>
                  <a:schemeClr val="dk2"/>
                </a:solidFill>
                <a:latin typeface="Verdana"/>
                <a:ea typeface="Verdana"/>
                <a:cs typeface="Verdana"/>
                <a:sym typeface="Verdana"/>
              </a:rPr>
              <a:t>Note: You don’t actually need to do a 4x4 </a:t>
            </a:r>
            <a:r>
              <a:rPr i="1" lang="en-CA" sz="1800">
                <a:solidFill>
                  <a:schemeClr val="dk2"/>
                </a:solidFill>
                <a:latin typeface="Verdana"/>
                <a:ea typeface="Verdana"/>
                <a:cs typeface="Verdana"/>
                <a:sym typeface="Verdana"/>
              </a:rPr>
              <a:t>punnett</a:t>
            </a:r>
            <a:r>
              <a:rPr i="1" lang="en-CA" sz="1800">
                <a:solidFill>
                  <a:schemeClr val="dk2"/>
                </a:solidFill>
                <a:latin typeface="Verdana"/>
                <a:ea typeface="Verdana"/>
                <a:cs typeface="Verdana"/>
                <a:sym typeface="Verdana"/>
              </a:rPr>
              <a:t> square for the example in the second video. If you notice, each column will look the same!</a:t>
            </a:r>
            <a:endParaRPr i="1" sz="18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1000"/>
                                        <p:tgtEl>
                                          <p:spTgt spid="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1000"/>
                                        <p:tgtEl>
                                          <p:spTgt spid="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1"/>
          <p:cNvSpPr txBox="1"/>
          <p:nvPr/>
        </p:nvSpPr>
        <p:spPr>
          <a:xfrm>
            <a:off x="827575" y="2780225"/>
            <a:ext cx="7476000" cy="3309900"/>
          </a:xfrm>
          <a:prstGeom prst="rect">
            <a:avLst/>
          </a:prstGeom>
          <a:noFill/>
          <a:ln>
            <a:noFill/>
          </a:ln>
        </p:spPr>
        <p:txBody>
          <a:bodyPr anchorCtr="0" anchor="t" bIns="45700" lIns="91425" spcFirstLastPara="1" rIns="91425" wrap="square" tIns="45700">
            <a:noAutofit/>
          </a:bodyPr>
          <a:lstStyle/>
          <a:p>
            <a:pPr indent="-306473" lvl="0" marL="342900" rtl="0" algn="l">
              <a:lnSpc>
                <a:spcPct val="115000"/>
              </a:lnSpc>
              <a:spcBef>
                <a:spcPts val="40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Incomplete dominance</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Codominance</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Sex-linked traits</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Multiple alleles </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Blood types</a:t>
            </a:r>
            <a:endParaRPr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10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CA" sz="2000">
                <a:solidFill>
                  <a:srgbClr val="3F3F3F"/>
                </a:solidFill>
                <a:latin typeface="Verdana"/>
                <a:ea typeface="Verdana"/>
                <a:cs typeface="Verdana"/>
                <a:sym typeface="Verdana"/>
              </a:rPr>
              <a:t>Textbook pgs. 594-598 and 601-609</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747" name="Google Shape;747;p61"/>
          <p:cNvSpPr txBox="1"/>
          <p:nvPr/>
        </p:nvSpPr>
        <p:spPr>
          <a:xfrm>
            <a:off x="1289275" y="178865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CA" sz="2800">
                <a:solidFill>
                  <a:srgbClr val="4D4F55"/>
                </a:solidFill>
                <a:latin typeface="Verdana"/>
                <a:ea typeface="Verdana"/>
                <a:cs typeface="Verdana"/>
                <a:sym typeface="Verdana"/>
              </a:rPr>
              <a:t>TOPIC 3: </a:t>
            </a:r>
            <a:endParaRPr b="1" sz="2800">
              <a:solidFill>
                <a:srgbClr val="4D4F55"/>
              </a:solidFill>
              <a:latin typeface="Verdana"/>
              <a:ea typeface="Verdana"/>
              <a:cs typeface="Verdana"/>
              <a:sym typeface="Verdana"/>
            </a:endParaRPr>
          </a:p>
          <a:p>
            <a:pPr indent="0" lvl="0" marL="0" rtl="0" algn="ctr">
              <a:spcBef>
                <a:spcPts val="0"/>
              </a:spcBef>
              <a:spcAft>
                <a:spcPts val="0"/>
              </a:spcAft>
              <a:buNone/>
            </a:pPr>
            <a:r>
              <a:rPr b="1" lang="en-CA" sz="2800">
                <a:solidFill>
                  <a:srgbClr val="4D4F55"/>
                </a:solidFill>
                <a:latin typeface="Verdana"/>
                <a:ea typeface="Verdana"/>
                <a:cs typeface="Verdana"/>
                <a:sym typeface="Verdana"/>
              </a:rPr>
              <a:t>OTHER MODES OF INHERITANCE</a:t>
            </a:r>
            <a:endParaRPr sz="4000">
              <a:solidFill>
                <a:srgbClr val="4D4F55"/>
              </a:solidFill>
              <a:latin typeface="Verdana"/>
              <a:ea typeface="Verdana"/>
              <a:cs typeface="Verdana"/>
              <a:sym typeface="Verdan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2"/>
          <p:cNvSpPr/>
          <p:nvPr/>
        </p:nvSpPr>
        <p:spPr>
          <a:xfrm>
            <a:off x="2627783" y="1916832"/>
            <a:ext cx="3960440" cy="400109"/>
          </a:xfrm>
          <a:prstGeom prst="rect">
            <a:avLst/>
          </a:prstGeom>
          <a:solidFill>
            <a:schemeClr val="accent4"/>
          </a:solidFill>
          <a:ln cap="flat" cmpd="sng" w="15875">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753" name="Google Shape;753;p62"/>
          <p:cNvSpPr txBox="1"/>
          <p:nvPr/>
        </p:nvSpPr>
        <p:spPr>
          <a:xfrm>
            <a:off x="1331640" y="1052736"/>
            <a:ext cx="6552728" cy="52321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i="0" lang="en-CA" sz="2800" u="sng" cap="none" strike="noStrike">
                <a:solidFill>
                  <a:srgbClr val="393B3F"/>
                </a:solidFill>
                <a:latin typeface="Verdana"/>
                <a:ea typeface="Verdana"/>
                <a:cs typeface="Verdana"/>
                <a:sym typeface="Verdana"/>
              </a:rPr>
              <a:t>Other Modes of Inheritance</a:t>
            </a:r>
            <a:endParaRPr u="sng"/>
          </a:p>
        </p:txBody>
      </p:sp>
      <p:sp>
        <p:nvSpPr>
          <p:cNvPr id="754" name="Google Shape;754;p62"/>
          <p:cNvSpPr txBox="1"/>
          <p:nvPr/>
        </p:nvSpPr>
        <p:spPr>
          <a:xfrm>
            <a:off x="2483767" y="1916832"/>
            <a:ext cx="4320480" cy="40010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INCOMPLETE DOMINANCE</a:t>
            </a:r>
            <a:endParaRPr/>
          </a:p>
        </p:txBody>
      </p:sp>
      <p:sp>
        <p:nvSpPr>
          <p:cNvPr id="755" name="Google Shape;755;p62"/>
          <p:cNvSpPr txBox="1"/>
          <p:nvPr/>
        </p:nvSpPr>
        <p:spPr>
          <a:xfrm>
            <a:off x="747200" y="2657825"/>
            <a:ext cx="3960300" cy="3552000"/>
          </a:xfrm>
          <a:prstGeom prst="rect">
            <a:avLst/>
          </a:prstGeom>
          <a:noFill/>
          <a:ln>
            <a:noFill/>
          </a:ln>
        </p:spPr>
        <p:txBody>
          <a:bodyPr anchorCtr="0" anchor="t" bIns="45700" lIns="91425" spcFirstLastPara="1" rIns="91425" wrap="square" tIns="45700">
            <a:noAutofit/>
          </a:bodyPr>
          <a:lstStyle/>
          <a:p>
            <a:pPr indent="-273050" lvl="0" marL="285750" marR="0" rtl="0" algn="l">
              <a:lnSpc>
                <a:spcPct val="100000"/>
              </a:lnSpc>
              <a:spcBef>
                <a:spcPts val="0"/>
              </a:spcBef>
              <a:spcAft>
                <a:spcPts val="0"/>
              </a:spcAft>
              <a:buClr>
                <a:srgbClr val="393B3F"/>
              </a:buClr>
              <a:buSzPts val="1600"/>
              <a:buFont typeface="Courier New"/>
              <a:buChar char="o"/>
            </a:pPr>
            <a:r>
              <a:rPr lang="en-CA" sz="1600">
                <a:solidFill>
                  <a:srgbClr val="393B3F"/>
                </a:solidFill>
                <a:latin typeface="Verdana"/>
                <a:ea typeface="Verdana"/>
                <a:cs typeface="Verdana"/>
                <a:sym typeface="Verdana"/>
              </a:rPr>
              <a:t>Occurs when n</a:t>
            </a:r>
            <a:r>
              <a:rPr b="0" i="0" lang="en-CA" sz="1600" u="none" cap="none" strike="noStrike">
                <a:solidFill>
                  <a:srgbClr val="393B3F"/>
                </a:solidFill>
                <a:latin typeface="Verdana"/>
                <a:ea typeface="Verdana"/>
                <a:cs typeface="Verdana"/>
                <a:sym typeface="Verdana"/>
              </a:rPr>
              <a:t>either allele on a particular gene can </a:t>
            </a:r>
            <a:r>
              <a:rPr lang="en-CA" sz="1600">
                <a:solidFill>
                  <a:srgbClr val="393B3F"/>
                </a:solidFill>
                <a:latin typeface="Verdana"/>
                <a:ea typeface="Verdana"/>
                <a:cs typeface="Verdana"/>
                <a:sym typeface="Verdana"/>
              </a:rPr>
              <a:t>mask</a:t>
            </a:r>
            <a:r>
              <a:rPr b="0" i="0" lang="en-CA" sz="1600" u="none" cap="none" strike="noStrike">
                <a:solidFill>
                  <a:srgbClr val="393B3F"/>
                </a:solidFill>
                <a:latin typeface="Verdana"/>
                <a:ea typeface="Verdana"/>
                <a:cs typeface="Verdana"/>
                <a:sym typeface="Verdana"/>
              </a:rPr>
              <a:t> the presence of the other (i.e. there is </a:t>
            </a:r>
            <a:r>
              <a:rPr b="1" i="0" lang="en-CA" sz="1600" u="none" cap="none" strike="noStrike">
                <a:solidFill>
                  <a:srgbClr val="393B3F"/>
                </a:solidFill>
                <a:latin typeface="Verdana"/>
                <a:ea typeface="Verdana"/>
                <a:cs typeface="Verdana"/>
                <a:sym typeface="Verdana"/>
              </a:rPr>
              <a:t>no true </a:t>
            </a:r>
            <a:r>
              <a:rPr b="1" lang="en-CA" sz="1600">
                <a:solidFill>
                  <a:srgbClr val="393B3F"/>
                </a:solidFill>
                <a:latin typeface="Verdana"/>
                <a:ea typeface="Verdana"/>
                <a:cs typeface="Verdana"/>
                <a:sym typeface="Verdana"/>
              </a:rPr>
              <a:t>“dominant” allele</a:t>
            </a:r>
            <a:r>
              <a:rPr lang="en-CA" sz="1600">
                <a:solidFill>
                  <a:srgbClr val="393B3F"/>
                </a:solidFill>
                <a:latin typeface="Verdana"/>
                <a:ea typeface="Verdana"/>
                <a:cs typeface="Verdana"/>
                <a:sym typeface="Verdana"/>
              </a:rPr>
              <a:t>)</a:t>
            </a:r>
            <a:endParaRPr sz="1600"/>
          </a:p>
          <a:p>
            <a:pPr indent="-273050" lvl="0" marL="285750" marR="0" rtl="0" algn="l">
              <a:lnSpc>
                <a:spcPct val="100000"/>
              </a:lnSpc>
              <a:spcBef>
                <a:spcPts val="1000"/>
              </a:spcBef>
              <a:spcAft>
                <a:spcPts val="0"/>
              </a:spcAft>
              <a:buClr>
                <a:srgbClr val="393B3F"/>
              </a:buClr>
              <a:buSzPts val="1600"/>
              <a:buFont typeface="Courier New"/>
              <a:buChar char="o"/>
            </a:pPr>
            <a:r>
              <a:rPr lang="en-CA" sz="1600">
                <a:solidFill>
                  <a:srgbClr val="393B3F"/>
                </a:solidFill>
                <a:latin typeface="Verdana"/>
                <a:ea typeface="Verdana"/>
                <a:cs typeface="Verdana"/>
                <a:sym typeface="Verdana"/>
              </a:rPr>
              <a:t>T</a:t>
            </a:r>
            <a:r>
              <a:rPr b="0" i="0" lang="en-CA" sz="1600" u="none" cap="none" strike="noStrike">
                <a:solidFill>
                  <a:srgbClr val="393B3F"/>
                </a:solidFill>
                <a:latin typeface="Verdana"/>
                <a:ea typeface="Verdana"/>
                <a:cs typeface="Verdana"/>
                <a:sym typeface="Verdana"/>
              </a:rPr>
              <a:t>wo alleles of the same variety are required to fully express their phenotype; heterozygotes thus display partial expression of each</a:t>
            </a:r>
            <a:r>
              <a:rPr lang="en-CA" sz="1600">
                <a:solidFill>
                  <a:srgbClr val="393B3F"/>
                </a:solidFill>
                <a:latin typeface="Verdana"/>
                <a:ea typeface="Verdana"/>
                <a:cs typeface="Verdana"/>
                <a:sym typeface="Verdana"/>
              </a:rPr>
              <a:t> → we see an </a:t>
            </a:r>
            <a:r>
              <a:rPr b="1" lang="en-CA" sz="1600">
                <a:solidFill>
                  <a:srgbClr val="393B3F"/>
                </a:solidFill>
                <a:latin typeface="Verdana"/>
                <a:ea typeface="Verdana"/>
                <a:cs typeface="Verdana"/>
                <a:sym typeface="Verdana"/>
              </a:rPr>
              <a:t>intermediate phenotype</a:t>
            </a:r>
            <a:endParaRPr b="1" sz="1600"/>
          </a:p>
          <a:p>
            <a:pPr indent="-273050" lvl="0" marL="285750" marR="0" rtl="0" algn="l">
              <a:lnSpc>
                <a:spcPct val="100000"/>
              </a:lnSpc>
              <a:spcBef>
                <a:spcPts val="1000"/>
              </a:spcBef>
              <a:spcAft>
                <a:spcPts val="1000"/>
              </a:spcAft>
              <a:buClr>
                <a:srgbClr val="393B3F"/>
              </a:buClr>
              <a:buSzPts val="1600"/>
              <a:buFont typeface="Courier New"/>
              <a:buChar char="o"/>
            </a:pPr>
            <a:r>
              <a:rPr b="0" i="0" lang="en-CA" sz="1600" u="none" cap="none" strike="noStrike">
                <a:solidFill>
                  <a:srgbClr val="393B3F"/>
                </a:solidFill>
                <a:latin typeface="Verdana"/>
                <a:ea typeface="Verdana"/>
                <a:cs typeface="Verdana"/>
                <a:sym typeface="Verdana"/>
              </a:rPr>
              <a:t>Upper and lowercase letters </a:t>
            </a:r>
            <a:r>
              <a:rPr b="0" i="0" lang="en-CA" sz="1600" u="sng" cap="none" strike="noStrike">
                <a:solidFill>
                  <a:srgbClr val="393B3F"/>
                </a:solidFill>
                <a:latin typeface="Verdana"/>
                <a:ea typeface="Verdana"/>
                <a:cs typeface="Verdana"/>
                <a:sym typeface="Verdana"/>
              </a:rPr>
              <a:t>not used </a:t>
            </a:r>
            <a:r>
              <a:rPr b="0" i="0" lang="en-CA" sz="1600" u="none" cap="none" strike="noStrike">
                <a:solidFill>
                  <a:srgbClr val="393B3F"/>
                </a:solidFill>
                <a:latin typeface="Verdana"/>
                <a:ea typeface="Verdana"/>
                <a:cs typeface="Verdana"/>
                <a:sym typeface="Verdana"/>
              </a:rPr>
              <a:t>when representing incomplete dominance, rather two cap</a:t>
            </a:r>
            <a:r>
              <a:rPr lang="en-CA" sz="1600">
                <a:solidFill>
                  <a:srgbClr val="393B3F"/>
                </a:solidFill>
                <a:latin typeface="Verdana"/>
                <a:ea typeface="Verdana"/>
                <a:cs typeface="Verdana"/>
                <a:sym typeface="Verdana"/>
              </a:rPr>
              <a:t>itals letters.</a:t>
            </a:r>
            <a:endParaRPr sz="1600"/>
          </a:p>
        </p:txBody>
      </p:sp>
      <p:pic>
        <p:nvPicPr>
          <p:cNvPr id="756" name="Google Shape;756;p62"/>
          <p:cNvPicPr preferRelativeResize="0"/>
          <p:nvPr/>
        </p:nvPicPr>
        <p:blipFill rotWithShape="1">
          <a:blip r:embed="rId3">
            <a:alphaModFix/>
          </a:blip>
          <a:srcRect b="0" l="0" r="0" t="0"/>
          <a:stretch/>
        </p:blipFill>
        <p:spPr>
          <a:xfrm>
            <a:off x="5059350" y="3098475"/>
            <a:ext cx="3152750" cy="27708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3"/>
          <p:cNvSpPr txBox="1"/>
          <p:nvPr/>
        </p:nvSpPr>
        <p:spPr>
          <a:xfrm>
            <a:off x="747200" y="992400"/>
            <a:ext cx="7695900" cy="3416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CA" sz="1600">
                <a:solidFill>
                  <a:srgbClr val="393B3F"/>
                </a:solidFill>
                <a:latin typeface="Verdana"/>
                <a:ea typeface="Verdana"/>
                <a:cs typeface="Verdana"/>
                <a:sym typeface="Verdana"/>
              </a:rPr>
              <a:t>Example:</a:t>
            </a:r>
            <a:endParaRPr b="1"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rPr lang="en-CA" sz="1600">
                <a:solidFill>
                  <a:srgbClr val="393B3F"/>
                </a:solidFill>
                <a:latin typeface="Verdana"/>
                <a:ea typeface="Verdana"/>
                <a:cs typeface="Verdana"/>
                <a:sym typeface="Verdana"/>
              </a:rPr>
              <a:t>In some varieties of flowering plants, petal colour is determined by two alleles which demonstrate incomplete dominance. One version of the allele, R</a:t>
            </a:r>
            <a:r>
              <a:rPr baseline="-25000" lang="en-CA" sz="1600">
                <a:solidFill>
                  <a:srgbClr val="393B3F"/>
                </a:solidFill>
                <a:latin typeface="Verdana"/>
                <a:ea typeface="Verdana"/>
                <a:cs typeface="Verdana"/>
                <a:sym typeface="Verdana"/>
              </a:rPr>
              <a:t>1</a:t>
            </a:r>
            <a:r>
              <a:rPr lang="en-CA" sz="1600">
                <a:solidFill>
                  <a:srgbClr val="393B3F"/>
                </a:solidFill>
                <a:latin typeface="Verdana"/>
                <a:ea typeface="Verdana"/>
                <a:cs typeface="Verdana"/>
                <a:sym typeface="Verdana"/>
              </a:rPr>
              <a:t>, encodes red flowers, while another version of the allele, R</a:t>
            </a:r>
            <a:r>
              <a:rPr baseline="-25000" lang="en-CA" sz="1600">
                <a:solidFill>
                  <a:srgbClr val="393B3F"/>
                </a:solidFill>
                <a:latin typeface="Verdana"/>
                <a:ea typeface="Verdana"/>
                <a:cs typeface="Verdana"/>
                <a:sym typeface="Verdana"/>
              </a:rPr>
              <a:t>2</a:t>
            </a:r>
            <a:r>
              <a:rPr lang="en-CA" sz="1600">
                <a:solidFill>
                  <a:srgbClr val="393B3F"/>
                </a:solidFill>
                <a:latin typeface="Verdana"/>
                <a:ea typeface="Verdana"/>
                <a:cs typeface="Verdana"/>
                <a:sym typeface="Verdana"/>
              </a:rPr>
              <a:t>, encodes white flowers.</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Determine the genotype of each of the following plants:</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 plant with red flowers</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 plant with pink flowers</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 plant with white flowers</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A plant with red flowers is crossed with a plant with pink flowers. What proportion of offspring will also have pink flowers?</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None/>
            </a:pPr>
            <a:r>
              <a:t/>
            </a:r>
            <a:endParaRPr sz="1600">
              <a:solidFill>
                <a:srgbClr val="393B3F"/>
              </a:solidFill>
              <a:latin typeface="Verdana"/>
              <a:ea typeface="Verdana"/>
              <a:cs typeface="Verdana"/>
              <a:sym typeface="Verdana"/>
            </a:endParaRPr>
          </a:p>
        </p:txBody>
      </p:sp>
      <p:sp>
        <p:nvSpPr>
          <p:cNvPr id="763" name="Google Shape;763;p63"/>
          <p:cNvSpPr txBox="1"/>
          <p:nvPr/>
        </p:nvSpPr>
        <p:spPr>
          <a:xfrm>
            <a:off x="4732250" y="2943000"/>
            <a:ext cx="972000" cy="97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1</a:t>
            </a: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1</a:t>
            </a:r>
            <a:endParaRPr b="1" baseline="-25000">
              <a:solidFill>
                <a:srgbClr val="A64D79"/>
              </a:solidFill>
              <a:latin typeface="Verdana"/>
              <a:ea typeface="Verdana"/>
              <a:cs typeface="Verdana"/>
              <a:sym typeface="Verdana"/>
            </a:endParaRPr>
          </a:p>
          <a:p>
            <a:pPr indent="0" lvl="0" marL="0" rtl="0" algn="l">
              <a:lnSpc>
                <a:spcPct val="115000"/>
              </a:lnSpc>
              <a:spcBef>
                <a:spcPts val="1000"/>
              </a:spcBef>
              <a:spcAft>
                <a:spcPts val="0"/>
              </a:spcAft>
              <a:buNone/>
            </a:pP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1</a:t>
            </a: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2</a:t>
            </a:r>
            <a:endParaRPr b="1" baseline="-25000">
              <a:solidFill>
                <a:srgbClr val="A64D79"/>
              </a:solidFill>
              <a:latin typeface="Verdana"/>
              <a:ea typeface="Verdana"/>
              <a:cs typeface="Verdana"/>
              <a:sym typeface="Verdana"/>
            </a:endParaRPr>
          </a:p>
          <a:p>
            <a:pPr indent="0" lvl="0" marL="0" rtl="0" algn="l">
              <a:lnSpc>
                <a:spcPct val="115000"/>
              </a:lnSpc>
              <a:spcBef>
                <a:spcPts val="1000"/>
              </a:spcBef>
              <a:spcAft>
                <a:spcPts val="0"/>
              </a:spcAft>
              <a:buClr>
                <a:schemeClr val="dk1"/>
              </a:buClr>
              <a:buSzPts val="1100"/>
              <a:buFont typeface="Arial"/>
              <a:buNone/>
            </a:pP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2</a:t>
            </a: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2</a:t>
            </a:r>
            <a:endParaRPr b="1" baseline="-25000">
              <a:solidFill>
                <a:srgbClr val="A64D79"/>
              </a:solidFill>
              <a:latin typeface="Verdana"/>
              <a:ea typeface="Verdana"/>
              <a:cs typeface="Verdana"/>
              <a:sym typeface="Verdana"/>
            </a:endParaRPr>
          </a:p>
          <a:p>
            <a:pPr indent="0" lvl="0" marL="0" rtl="0" algn="l">
              <a:spcBef>
                <a:spcPts val="1000"/>
              </a:spcBef>
              <a:spcAft>
                <a:spcPts val="0"/>
              </a:spcAft>
              <a:buNone/>
            </a:pPr>
            <a:r>
              <a:t/>
            </a:r>
            <a:endParaRPr b="1" baseline="-25000">
              <a:solidFill>
                <a:srgbClr val="A64D79"/>
              </a:solidFill>
              <a:latin typeface="Verdana"/>
              <a:ea typeface="Verdana"/>
              <a:cs typeface="Verdana"/>
              <a:sym typeface="Verdana"/>
            </a:endParaRPr>
          </a:p>
        </p:txBody>
      </p:sp>
      <p:sp>
        <p:nvSpPr>
          <p:cNvPr id="764" name="Google Shape;764;p63"/>
          <p:cNvSpPr txBox="1"/>
          <p:nvPr/>
        </p:nvSpPr>
        <p:spPr>
          <a:xfrm>
            <a:off x="1053450" y="4593350"/>
            <a:ext cx="7389600" cy="20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100">
                <a:solidFill>
                  <a:schemeClr val="dk2"/>
                </a:solidFill>
                <a:latin typeface="Verdana"/>
                <a:ea typeface="Verdana"/>
                <a:cs typeface="Verdana"/>
                <a:sym typeface="Verdana"/>
              </a:rPr>
              <a:t>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2100">
                <a:solidFill>
                  <a:srgbClr val="A64D79"/>
                </a:solidFill>
                <a:latin typeface="Verdana"/>
                <a:ea typeface="Verdana"/>
                <a:cs typeface="Verdana"/>
                <a:sym typeface="Verdana"/>
              </a:rPr>
              <a:t> x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2</a:t>
            </a:r>
            <a:endParaRPr sz="2100">
              <a:solidFill>
                <a:srgbClr val="A64D79"/>
              </a:solidFill>
              <a:latin typeface="Verdana"/>
              <a:ea typeface="Verdana"/>
              <a:cs typeface="Verdana"/>
              <a:sym typeface="Verdana"/>
            </a:endParaRPr>
          </a:p>
          <a:p>
            <a:pPr indent="457200" lvl="0" marL="0" rtl="0" algn="l">
              <a:spcBef>
                <a:spcPts val="0"/>
              </a:spcBef>
              <a:spcAft>
                <a:spcPts val="0"/>
              </a:spcAft>
              <a:buNone/>
            </a:pPr>
            <a:r>
              <a:t/>
            </a:r>
            <a:endParaRPr sz="2100">
              <a:solidFill>
                <a:srgbClr val="A64D79"/>
              </a:solidFill>
              <a:latin typeface="Verdana"/>
              <a:ea typeface="Verdana"/>
              <a:cs typeface="Verdana"/>
              <a:sym typeface="Verdana"/>
            </a:endParaRPr>
          </a:p>
          <a:p>
            <a:pPr indent="457200" lvl="0" marL="0" rtl="0" algn="l">
              <a:spcBef>
                <a:spcPts val="0"/>
              </a:spcBef>
              <a:spcAft>
                <a:spcPts val="0"/>
              </a:spcAft>
              <a:buNone/>
            </a:pPr>
            <a:r>
              <a:rPr lang="en-CA" sz="2100">
                <a:solidFill>
                  <a:srgbClr val="A64D79"/>
                </a:solidFill>
                <a:latin typeface="Verdana"/>
                <a:ea typeface="Verdana"/>
                <a:cs typeface="Verdana"/>
                <a:sym typeface="Verdana"/>
              </a:rPr>
              <a:t>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2100">
                <a:solidFill>
                  <a:srgbClr val="A64D79"/>
                </a:solidFill>
                <a:latin typeface="Verdana"/>
                <a:ea typeface="Verdana"/>
                <a:cs typeface="Verdana"/>
                <a:sym typeface="Verdana"/>
              </a:rPr>
              <a:t>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2 			</a:t>
            </a:r>
            <a:r>
              <a:rPr lang="en-CA" sz="1600">
                <a:solidFill>
                  <a:srgbClr val="A64D79"/>
                </a:solidFill>
                <a:latin typeface="Verdana"/>
                <a:ea typeface="Verdana"/>
                <a:cs typeface="Verdana"/>
                <a:sym typeface="Verdana"/>
              </a:rPr>
              <a:t>½ = 0.50 will have pink flowers</a:t>
            </a:r>
            <a:endParaRPr sz="2100">
              <a:solidFill>
                <a:srgbClr val="A64D79"/>
              </a:solidFill>
              <a:latin typeface="Verdana"/>
              <a:ea typeface="Verdana"/>
              <a:cs typeface="Verdana"/>
              <a:sym typeface="Verdana"/>
            </a:endParaRPr>
          </a:p>
          <a:p>
            <a:pPr indent="0" lvl="0" marL="0" rtl="0" algn="l">
              <a:spcBef>
                <a:spcPts val="0"/>
              </a:spcBef>
              <a:spcAft>
                <a:spcPts val="0"/>
              </a:spcAft>
              <a:buNone/>
            </a:pPr>
            <a:r>
              <a:t/>
            </a:r>
            <a:endParaRPr sz="1100">
              <a:solidFill>
                <a:srgbClr val="A64D79"/>
              </a:solidFill>
              <a:latin typeface="Verdana"/>
              <a:ea typeface="Verdana"/>
              <a:cs typeface="Verdana"/>
              <a:sym typeface="Verdana"/>
            </a:endParaRPr>
          </a:p>
          <a:p>
            <a:pPr indent="457200" lvl="0" marL="0" rtl="0" algn="l">
              <a:spcBef>
                <a:spcPts val="0"/>
              </a:spcBef>
              <a:spcAft>
                <a:spcPts val="0"/>
              </a:spcAft>
              <a:buNone/>
            </a:pP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2100">
                <a:solidFill>
                  <a:srgbClr val="A64D79"/>
                </a:solidFill>
                <a:latin typeface="Verdana"/>
                <a:ea typeface="Verdana"/>
                <a:cs typeface="Verdana"/>
                <a:sym typeface="Verdana"/>
              </a:rPr>
              <a:t>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2100">
                <a:solidFill>
                  <a:srgbClr val="A64D79"/>
                </a:solidFill>
                <a:latin typeface="Verdana"/>
                <a:ea typeface="Verdana"/>
                <a:cs typeface="Verdana"/>
                <a:sym typeface="Verdana"/>
              </a:rPr>
              <a:t>    </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R</a:t>
            </a:r>
            <a:r>
              <a:rPr baseline="-25000" lang="en-CA" sz="1600">
                <a:solidFill>
                  <a:srgbClr val="A64D79"/>
                </a:solidFill>
                <a:latin typeface="Verdana"/>
                <a:ea typeface="Verdana"/>
                <a:cs typeface="Verdana"/>
                <a:sym typeface="Verdana"/>
              </a:rPr>
              <a:t>2</a:t>
            </a:r>
            <a:endParaRPr sz="21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rPr lang="en-CA" sz="2100">
                <a:solidFill>
                  <a:srgbClr val="A64D79"/>
                </a:solidFill>
                <a:latin typeface="Verdana"/>
                <a:ea typeface="Verdana"/>
                <a:cs typeface="Verdana"/>
                <a:sym typeface="Verdana"/>
              </a:rPr>
              <a:t>  </a:t>
            </a:r>
            <a:endParaRPr sz="2100">
              <a:solidFill>
                <a:srgbClr val="A64D79"/>
              </a:solidFill>
              <a:latin typeface="Verdana"/>
              <a:ea typeface="Verdana"/>
              <a:cs typeface="Verdana"/>
              <a:sym typeface="Verdana"/>
            </a:endParaRPr>
          </a:p>
        </p:txBody>
      </p:sp>
      <p:cxnSp>
        <p:nvCxnSpPr>
          <p:cNvPr id="765" name="Google Shape;765;p63"/>
          <p:cNvCxnSpPr/>
          <p:nvPr/>
        </p:nvCxnSpPr>
        <p:spPr>
          <a:xfrm>
            <a:off x="2010825" y="5273725"/>
            <a:ext cx="0" cy="11760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63"/>
          <p:cNvCxnSpPr/>
          <p:nvPr/>
        </p:nvCxnSpPr>
        <p:spPr>
          <a:xfrm flipH="1">
            <a:off x="1599625" y="5710850"/>
            <a:ext cx="1713600" cy="6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64"/>
          <p:cNvSpPr txBox="1"/>
          <p:nvPr/>
        </p:nvSpPr>
        <p:spPr>
          <a:xfrm>
            <a:off x="747200" y="992400"/>
            <a:ext cx="7695900" cy="244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CA" sz="1600">
                <a:solidFill>
                  <a:srgbClr val="393B3F"/>
                </a:solidFill>
                <a:latin typeface="Verdana"/>
                <a:ea typeface="Verdana"/>
                <a:cs typeface="Verdana"/>
                <a:sym typeface="Verdana"/>
              </a:rPr>
              <a:t>Example:</a:t>
            </a:r>
            <a:endParaRPr b="1"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rPr lang="en-CA" sz="1600">
                <a:solidFill>
                  <a:srgbClr val="393B3F"/>
                </a:solidFill>
                <a:latin typeface="Verdana"/>
                <a:ea typeface="Verdana"/>
                <a:cs typeface="Verdana"/>
                <a:sym typeface="Verdana"/>
              </a:rPr>
              <a:t>In some varieties of flowering plants, petal colour is determined by two alleles which demonstrate incomplete dominance. One version of the allele, R</a:t>
            </a:r>
            <a:r>
              <a:rPr baseline="-25000" lang="en-CA" sz="1600">
                <a:solidFill>
                  <a:srgbClr val="393B3F"/>
                </a:solidFill>
                <a:latin typeface="Verdana"/>
                <a:ea typeface="Verdana"/>
                <a:cs typeface="Verdana"/>
                <a:sym typeface="Verdana"/>
              </a:rPr>
              <a:t>1</a:t>
            </a:r>
            <a:r>
              <a:rPr lang="en-CA" sz="1600">
                <a:solidFill>
                  <a:srgbClr val="393B3F"/>
                </a:solidFill>
                <a:latin typeface="Verdana"/>
                <a:ea typeface="Verdana"/>
                <a:cs typeface="Verdana"/>
                <a:sym typeface="Verdana"/>
              </a:rPr>
              <a:t>, encodes red flowers, while another version of the allele, R</a:t>
            </a:r>
            <a:r>
              <a:rPr baseline="-25000" lang="en-CA" sz="1600">
                <a:solidFill>
                  <a:srgbClr val="393B3F"/>
                </a:solidFill>
                <a:latin typeface="Verdana"/>
                <a:ea typeface="Verdana"/>
                <a:cs typeface="Verdana"/>
                <a:sym typeface="Verdana"/>
              </a:rPr>
              <a:t>2</a:t>
            </a:r>
            <a:r>
              <a:rPr lang="en-CA" sz="1600">
                <a:solidFill>
                  <a:srgbClr val="393B3F"/>
                </a:solidFill>
                <a:latin typeface="Verdana"/>
                <a:ea typeface="Verdana"/>
                <a:cs typeface="Verdana"/>
                <a:sym typeface="Verdana"/>
              </a:rPr>
              <a:t>, encodes white flowers.</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None/>
            </a:pPr>
            <a:r>
              <a:rPr lang="en-CA" sz="1600">
                <a:solidFill>
                  <a:srgbClr val="393B3F"/>
                </a:solidFill>
                <a:latin typeface="Verdana"/>
                <a:ea typeface="Verdana"/>
                <a:cs typeface="Verdana"/>
                <a:sym typeface="Verdana"/>
              </a:rPr>
              <a:t>c</a:t>
            </a:r>
            <a:r>
              <a:rPr lang="en-CA" sz="1600">
                <a:solidFill>
                  <a:srgbClr val="393B3F"/>
                </a:solidFill>
                <a:latin typeface="Verdana"/>
                <a:ea typeface="Verdana"/>
                <a:cs typeface="Verdana"/>
                <a:sym typeface="Verdana"/>
              </a:rPr>
              <a:t>. Is it possible for the cross described in part b to produce offspring with white flowers? Explain. </a:t>
            </a:r>
            <a:endParaRPr b="1">
              <a:solidFill>
                <a:srgbClr val="A64D79"/>
              </a:solidFill>
              <a:latin typeface="Verdana"/>
              <a:ea typeface="Verdana"/>
              <a:cs typeface="Verdana"/>
              <a:sym typeface="Verdana"/>
            </a:endParaRPr>
          </a:p>
        </p:txBody>
      </p:sp>
      <p:sp>
        <p:nvSpPr>
          <p:cNvPr id="773" name="Google Shape;773;p64"/>
          <p:cNvSpPr txBox="1"/>
          <p:nvPr/>
        </p:nvSpPr>
        <p:spPr>
          <a:xfrm>
            <a:off x="873675" y="3339550"/>
            <a:ext cx="7143900" cy="10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b="1" lang="en-CA">
                <a:solidFill>
                  <a:srgbClr val="A64D79"/>
                </a:solidFill>
                <a:latin typeface="Verdana"/>
                <a:ea typeface="Verdana"/>
                <a:cs typeface="Verdana"/>
                <a:sym typeface="Verdana"/>
              </a:rPr>
              <a:t>No, it is not. The only way an offspring is white is if it is R</a:t>
            </a:r>
            <a:r>
              <a:rPr b="1" baseline="-25000" lang="en-CA">
                <a:solidFill>
                  <a:srgbClr val="A64D79"/>
                </a:solidFill>
                <a:latin typeface="Verdana"/>
                <a:ea typeface="Verdana"/>
                <a:cs typeface="Verdana"/>
                <a:sym typeface="Verdana"/>
              </a:rPr>
              <a:t>2</a:t>
            </a:r>
            <a:r>
              <a:rPr b="1" lang="en-CA">
                <a:solidFill>
                  <a:srgbClr val="A64D79"/>
                </a:solidFill>
                <a:latin typeface="Verdana"/>
                <a:ea typeface="Verdana"/>
                <a:cs typeface="Verdana"/>
                <a:sym typeface="Verdana"/>
              </a:rPr>
              <a:t>R</a:t>
            </a:r>
            <a:r>
              <a:rPr b="1" baseline="-25000" lang="en-CA">
                <a:solidFill>
                  <a:srgbClr val="A64D79"/>
                </a:solidFill>
                <a:latin typeface="Verdana"/>
                <a:ea typeface="Verdana"/>
                <a:cs typeface="Verdana"/>
                <a:sym typeface="Verdana"/>
              </a:rPr>
              <a:t>2</a:t>
            </a:r>
            <a:r>
              <a:rPr b="1" lang="en-CA">
                <a:solidFill>
                  <a:srgbClr val="A64D79"/>
                </a:solidFill>
                <a:latin typeface="Verdana"/>
                <a:ea typeface="Verdana"/>
                <a:cs typeface="Verdana"/>
                <a:sym typeface="Verdana"/>
              </a:rPr>
              <a:t>, which means both parents would have to have a copy of the R</a:t>
            </a:r>
            <a:r>
              <a:rPr b="1" baseline="-25000" lang="en-CA">
                <a:solidFill>
                  <a:srgbClr val="A64D79"/>
                </a:solidFill>
                <a:latin typeface="Verdana"/>
                <a:ea typeface="Verdana"/>
                <a:cs typeface="Verdana"/>
                <a:sym typeface="Verdana"/>
              </a:rPr>
              <a:t>2 </a:t>
            </a:r>
            <a:r>
              <a:rPr b="1" lang="en-CA">
                <a:solidFill>
                  <a:srgbClr val="A64D79"/>
                </a:solidFill>
                <a:latin typeface="Verdana"/>
                <a:ea typeface="Verdana"/>
                <a:cs typeface="Verdana"/>
                <a:sym typeface="Verdana"/>
              </a:rPr>
              <a:t>allele. </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5"/>
          <p:cNvSpPr txBox="1"/>
          <p:nvPr/>
        </p:nvSpPr>
        <p:spPr>
          <a:xfrm>
            <a:off x="1259625" y="1124752"/>
            <a:ext cx="6624600" cy="141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lang="en-CA" sz="2000">
                <a:solidFill>
                  <a:srgbClr val="393B3F"/>
                </a:solidFill>
                <a:latin typeface="Verdana"/>
                <a:ea typeface="Verdana"/>
                <a:cs typeface="Verdana"/>
                <a:sym typeface="Verdana"/>
              </a:rPr>
              <a:t>Another example:</a:t>
            </a:r>
            <a:endParaRPr b="1" sz="2000">
              <a:solidFill>
                <a:srgbClr val="393B3F"/>
              </a:solidFill>
              <a:latin typeface="Verdana"/>
              <a:ea typeface="Verdana"/>
              <a:cs typeface="Verdana"/>
              <a:sym typeface="Verdana"/>
            </a:endParaRPr>
          </a:p>
          <a:p>
            <a:pPr indent="0" lvl="0" marL="0" marR="0" rtl="0" algn="ctr">
              <a:lnSpc>
                <a:spcPct val="100000"/>
              </a:lnSpc>
              <a:spcBef>
                <a:spcPts val="100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Sickle-cell anemia is one form of incomplete dominance where heterozygotes actually have increased evolutionary fitness under certain circumstances…</a:t>
            </a:r>
            <a:endParaRPr sz="1800"/>
          </a:p>
        </p:txBody>
      </p:sp>
      <p:pic>
        <p:nvPicPr>
          <p:cNvPr id="779" name="Google Shape;779;p65"/>
          <p:cNvPicPr preferRelativeResize="0"/>
          <p:nvPr/>
        </p:nvPicPr>
        <p:blipFill rotWithShape="1">
          <a:blip r:embed="rId3">
            <a:alphaModFix/>
          </a:blip>
          <a:srcRect b="0" l="0" r="0" t="0"/>
          <a:stretch/>
        </p:blipFill>
        <p:spPr>
          <a:xfrm>
            <a:off x="1385051" y="2606526"/>
            <a:ext cx="6373875" cy="32447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6"/>
          <p:cNvSpPr txBox="1"/>
          <p:nvPr/>
        </p:nvSpPr>
        <p:spPr>
          <a:xfrm>
            <a:off x="1187624" y="1003369"/>
            <a:ext cx="7272808" cy="45858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Sickle-cell anemia (incomplete dominance):</a:t>
            </a:r>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93B3F"/>
              </a:solidFill>
              <a:latin typeface="Verdana"/>
              <a:ea typeface="Verdana"/>
              <a:cs typeface="Verdana"/>
              <a:sym typeface="Verdana"/>
            </a:endParaRPr>
          </a:p>
        </p:txBody>
      </p:sp>
      <p:pic>
        <p:nvPicPr>
          <p:cNvPr id="785" name="Google Shape;785;p66"/>
          <p:cNvPicPr preferRelativeResize="0"/>
          <p:nvPr/>
        </p:nvPicPr>
        <p:blipFill rotWithShape="1">
          <a:blip r:embed="rId3">
            <a:alphaModFix/>
          </a:blip>
          <a:srcRect b="0" l="0" r="0" t="0"/>
          <a:stretch/>
        </p:blipFill>
        <p:spPr>
          <a:xfrm>
            <a:off x="1187624" y="1421459"/>
            <a:ext cx="6903702" cy="2943643"/>
          </a:xfrm>
          <a:prstGeom prst="rect">
            <a:avLst/>
          </a:prstGeom>
          <a:noFill/>
          <a:ln>
            <a:noFill/>
          </a:ln>
        </p:spPr>
      </p:pic>
      <p:sp>
        <p:nvSpPr>
          <p:cNvPr id="786" name="Google Shape;786;p66"/>
          <p:cNvSpPr txBox="1"/>
          <p:nvPr/>
        </p:nvSpPr>
        <p:spPr>
          <a:xfrm>
            <a:off x="672500" y="4425088"/>
            <a:ext cx="5828700" cy="1631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If a homozygous man with normal blood cells has children with a heterozygous woman, what </a:t>
            </a:r>
            <a:r>
              <a:rPr b="0" i="0" lang="en-CA" sz="1800" u="none" cap="none" strike="noStrike">
                <a:solidFill>
                  <a:srgbClr val="393B3F"/>
                </a:solidFill>
                <a:latin typeface="Verdana"/>
                <a:ea typeface="Verdana"/>
                <a:cs typeface="Verdana"/>
                <a:sym typeface="Verdana"/>
              </a:rPr>
              <a:t>is the </a:t>
            </a:r>
            <a:r>
              <a:rPr b="1" i="0" lang="en-CA" sz="1800" u="none" cap="none" strike="noStrike">
                <a:solidFill>
                  <a:srgbClr val="393B3F"/>
                </a:solidFill>
                <a:latin typeface="Verdana"/>
                <a:ea typeface="Verdana"/>
                <a:cs typeface="Verdana"/>
                <a:sym typeface="Verdana"/>
              </a:rPr>
              <a:t>probability</a:t>
            </a:r>
            <a:r>
              <a:rPr b="0" i="0" lang="en-CA" sz="1800" u="none" cap="none" strike="noStrike">
                <a:solidFill>
                  <a:srgbClr val="393B3F"/>
                </a:solidFill>
                <a:latin typeface="Verdana"/>
                <a:ea typeface="Verdana"/>
                <a:cs typeface="Verdana"/>
                <a:sym typeface="Verdana"/>
              </a:rPr>
              <a:t> that their children will be born with severe anemia? </a:t>
            </a:r>
            <a:endParaRPr b="0" i="0" sz="18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sz="18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What </a:t>
            </a:r>
            <a:r>
              <a:rPr b="1" lang="en-CA" sz="1800">
                <a:solidFill>
                  <a:srgbClr val="393B3F"/>
                </a:solidFill>
                <a:latin typeface="Verdana"/>
                <a:ea typeface="Verdana"/>
                <a:cs typeface="Verdana"/>
                <a:sym typeface="Verdana"/>
              </a:rPr>
              <a:t>percentage</a:t>
            </a:r>
            <a:r>
              <a:rPr b="1" i="0" lang="en-CA" sz="1800" u="none" cap="none" strike="noStrike">
                <a:solidFill>
                  <a:srgbClr val="393B3F"/>
                </a:solidFill>
                <a:latin typeface="Verdana"/>
                <a:ea typeface="Verdana"/>
                <a:cs typeface="Verdana"/>
                <a:sym typeface="Verdana"/>
              </a:rPr>
              <a:t> </a:t>
            </a:r>
            <a:r>
              <a:rPr b="0" i="0" lang="en-CA" sz="1800" u="none" cap="none" strike="noStrike">
                <a:solidFill>
                  <a:srgbClr val="393B3F"/>
                </a:solidFill>
                <a:latin typeface="Verdana"/>
                <a:ea typeface="Verdana"/>
                <a:cs typeface="Verdana"/>
                <a:sym typeface="Verdana"/>
              </a:rPr>
              <a:t>of their children will be more likely to survive if exposed to malaria? </a:t>
            </a:r>
            <a:endParaRPr sz="1200"/>
          </a:p>
        </p:txBody>
      </p:sp>
      <p:sp>
        <p:nvSpPr>
          <p:cNvPr id="787" name="Google Shape;787;p66"/>
          <p:cNvSpPr txBox="1"/>
          <p:nvPr/>
        </p:nvSpPr>
        <p:spPr>
          <a:xfrm>
            <a:off x="4032475" y="5195750"/>
            <a:ext cx="20022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400">
                <a:solidFill>
                  <a:srgbClr val="C27BA0"/>
                </a:solidFill>
                <a:latin typeface="Verdana"/>
                <a:ea typeface="Verdana"/>
                <a:cs typeface="Verdana"/>
                <a:sym typeface="Verdana"/>
              </a:rPr>
              <a:t>0.00 </a:t>
            </a:r>
            <a:endParaRPr b="1" sz="2400">
              <a:solidFill>
                <a:srgbClr val="C27BA0"/>
              </a:solidFill>
              <a:latin typeface="Verdana"/>
              <a:ea typeface="Verdana"/>
              <a:cs typeface="Verdana"/>
              <a:sym typeface="Verdana"/>
            </a:endParaRPr>
          </a:p>
        </p:txBody>
      </p:sp>
      <p:sp>
        <p:nvSpPr>
          <p:cNvPr id="788" name="Google Shape;788;p66"/>
          <p:cNvSpPr txBox="1"/>
          <p:nvPr/>
        </p:nvSpPr>
        <p:spPr>
          <a:xfrm>
            <a:off x="5292875" y="6056200"/>
            <a:ext cx="20022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400">
                <a:solidFill>
                  <a:srgbClr val="C27BA0"/>
                </a:solidFill>
                <a:latin typeface="Verdana"/>
                <a:ea typeface="Verdana"/>
                <a:cs typeface="Verdana"/>
                <a:sym typeface="Verdana"/>
              </a:rPr>
              <a:t>½  → 50%</a:t>
            </a:r>
            <a:endParaRPr b="1" sz="2400">
              <a:solidFill>
                <a:srgbClr val="C27BA0"/>
              </a:solidFill>
              <a:latin typeface="Verdana"/>
              <a:ea typeface="Verdana"/>
              <a:cs typeface="Verdana"/>
              <a:sym typeface="Verdana"/>
            </a:endParaRPr>
          </a:p>
        </p:txBody>
      </p:sp>
      <p:grpSp>
        <p:nvGrpSpPr>
          <p:cNvPr id="789" name="Google Shape;789;p66"/>
          <p:cNvGrpSpPr/>
          <p:nvPr/>
        </p:nvGrpSpPr>
        <p:grpSpPr>
          <a:xfrm>
            <a:off x="6144000" y="4236575"/>
            <a:ext cx="3000000" cy="1819625"/>
            <a:chOff x="6134275" y="4367675"/>
            <a:chExt cx="3000000" cy="1819625"/>
          </a:xfrm>
        </p:grpSpPr>
        <p:sp>
          <p:nvSpPr>
            <p:cNvPr id="790" name="Google Shape;790;p66"/>
            <p:cNvSpPr txBox="1"/>
            <p:nvPr/>
          </p:nvSpPr>
          <p:spPr>
            <a:xfrm>
              <a:off x="6134275" y="4367675"/>
              <a:ext cx="3000000" cy="1723800"/>
            </a:xfrm>
            <a:prstGeom prst="rect">
              <a:avLst/>
            </a:prstGeom>
            <a:noFill/>
            <a:ln>
              <a:noFill/>
            </a:ln>
          </p:spPr>
          <p:txBody>
            <a:bodyPr anchorCtr="0" anchor="t" bIns="91425" lIns="91425" spcFirstLastPara="1" rIns="91425" wrap="square" tIns="91425">
              <a:spAutoFit/>
            </a:bodyPr>
            <a:lstStyle/>
            <a:p>
              <a:pPr indent="457200" lvl="0" marL="457200" rtl="0" algn="l">
                <a:spcBef>
                  <a:spcPts val="0"/>
                </a:spcBef>
                <a:spcAft>
                  <a:spcPts val="0"/>
                </a:spcAft>
                <a:buNone/>
              </a:pP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2100">
                  <a:solidFill>
                    <a:srgbClr val="A64D79"/>
                  </a:solidFill>
                  <a:latin typeface="Verdana"/>
                  <a:ea typeface="Verdana"/>
                  <a:cs typeface="Verdana"/>
                  <a:sym typeface="Verdana"/>
                </a:rPr>
                <a:t> x </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2</a:t>
              </a:r>
              <a:endParaRPr b="1" sz="2100">
                <a:solidFill>
                  <a:srgbClr val="A64D79"/>
                </a:solidFill>
                <a:latin typeface="Verdana"/>
                <a:ea typeface="Verdana"/>
                <a:cs typeface="Verdana"/>
                <a:sym typeface="Verdana"/>
              </a:endParaRPr>
            </a:p>
            <a:p>
              <a:pPr indent="457200" lvl="0" marL="0" rtl="0" algn="l">
                <a:spcBef>
                  <a:spcPts val="0"/>
                </a:spcBef>
                <a:spcAft>
                  <a:spcPts val="0"/>
                </a:spcAft>
                <a:buNone/>
              </a:pPr>
              <a:r>
                <a:t/>
              </a:r>
              <a:endParaRPr b="1" sz="2100">
                <a:solidFill>
                  <a:srgbClr val="A64D79"/>
                </a:solidFill>
                <a:latin typeface="Verdana"/>
                <a:ea typeface="Verdana"/>
                <a:cs typeface="Verdana"/>
                <a:sym typeface="Verdana"/>
              </a:endParaRPr>
            </a:p>
            <a:p>
              <a:pPr indent="457200" lvl="0" marL="0" rtl="0" algn="l">
                <a:spcBef>
                  <a:spcPts val="0"/>
                </a:spcBef>
                <a:spcAft>
                  <a:spcPts val="0"/>
                </a:spcAft>
                <a:buNone/>
              </a:pPr>
              <a:r>
                <a:rPr b="1" lang="en-CA" sz="2100">
                  <a:solidFill>
                    <a:srgbClr val="A64D79"/>
                  </a:solidFill>
                  <a:latin typeface="Verdana"/>
                  <a:ea typeface="Verdana"/>
                  <a:cs typeface="Verdana"/>
                  <a:sym typeface="Verdana"/>
                </a:rPr>
                <a:t>	 </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2100">
                  <a:solidFill>
                    <a:srgbClr val="A64D79"/>
                  </a:solidFill>
                  <a:latin typeface="Verdana"/>
                  <a:ea typeface="Verdana"/>
                  <a:cs typeface="Verdana"/>
                  <a:sym typeface="Verdana"/>
                </a:rPr>
                <a:t>      </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2 			</a:t>
              </a:r>
              <a:endParaRPr b="1" sz="1100">
                <a:solidFill>
                  <a:srgbClr val="A64D79"/>
                </a:solidFill>
                <a:latin typeface="Verdana"/>
                <a:ea typeface="Verdana"/>
                <a:cs typeface="Verdana"/>
                <a:sym typeface="Verdana"/>
              </a:endParaRPr>
            </a:p>
            <a:p>
              <a:pPr indent="457200" lvl="0" marL="0" rtl="0" algn="l">
                <a:spcBef>
                  <a:spcPts val="0"/>
                </a:spcBef>
                <a:spcAft>
                  <a:spcPts val="0"/>
                </a:spcAft>
                <a:buNone/>
              </a:pP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2100">
                  <a:solidFill>
                    <a:srgbClr val="A64D79"/>
                  </a:solidFill>
                  <a:latin typeface="Verdana"/>
                  <a:ea typeface="Verdana"/>
                  <a:cs typeface="Verdana"/>
                  <a:sym typeface="Verdana"/>
                </a:rPr>
                <a:t>   </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2100">
                  <a:solidFill>
                    <a:srgbClr val="A64D79"/>
                  </a:solidFill>
                  <a:latin typeface="Verdana"/>
                  <a:ea typeface="Verdana"/>
                  <a:cs typeface="Verdana"/>
                  <a:sym typeface="Verdana"/>
                </a:rPr>
                <a:t>    </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1</a:t>
              </a:r>
              <a:r>
                <a:rPr b="1" lang="en-CA" sz="1600">
                  <a:solidFill>
                    <a:srgbClr val="A64D79"/>
                  </a:solidFill>
                  <a:latin typeface="Verdana"/>
                  <a:ea typeface="Verdana"/>
                  <a:cs typeface="Verdana"/>
                  <a:sym typeface="Verdana"/>
                </a:rPr>
                <a:t>R</a:t>
              </a:r>
              <a:r>
                <a:rPr b="1" baseline="-25000" lang="en-CA" sz="1600">
                  <a:solidFill>
                    <a:srgbClr val="A64D79"/>
                  </a:solidFill>
                  <a:latin typeface="Verdana"/>
                  <a:ea typeface="Verdana"/>
                  <a:cs typeface="Verdana"/>
                  <a:sym typeface="Verdana"/>
                </a:rPr>
                <a:t>2</a:t>
              </a:r>
              <a:endParaRPr b="1"/>
            </a:p>
          </p:txBody>
        </p:sp>
        <p:cxnSp>
          <p:nvCxnSpPr>
            <p:cNvPr id="791" name="Google Shape;791;p66"/>
            <p:cNvCxnSpPr/>
            <p:nvPr/>
          </p:nvCxnSpPr>
          <p:spPr>
            <a:xfrm>
              <a:off x="7074650" y="5011300"/>
              <a:ext cx="0" cy="1176000"/>
            </a:xfrm>
            <a:prstGeom prst="straightConnector1">
              <a:avLst/>
            </a:prstGeom>
            <a:noFill/>
            <a:ln cap="flat" cmpd="sng" w="9525">
              <a:solidFill>
                <a:schemeClr val="dk2"/>
              </a:solidFill>
              <a:prstDash val="solid"/>
              <a:round/>
              <a:headEnd len="med" w="med" type="none"/>
              <a:tailEnd len="med" w="med" type="none"/>
            </a:ln>
          </p:spPr>
        </p:cxnSp>
        <p:cxnSp>
          <p:nvCxnSpPr>
            <p:cNvPr id="792" name="Google Shape;792;p66"/>
            <p:cNvCxnSpPr/>
            <p:nvPr/>
          </p:nvCxnSpPr>
          <p:spPr>
            <a:xfrm flipH="1">
              <a:off x="6644000" y="5428975"/>
              <a:ext cx="1713600" cy="66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7"/>
          <p:cNvSpPr/>
          <p:nvPr/>
        </p:nvSpPr>
        <p:spPr>
          <a:xfrm>
            <a:off x="5364048" y="1643969"/>
            <a:ext cx="2736300" cy="400200"/>
          </a:xfrm>
          <a:prstGeom prst="rect">
            <a:avLst/>
          </a:prstGeom>
          <a:solidFill>
            <a:schemeClr val="accent3"/>
          </a:solidFill>
          <a:ln cap="flat" cmpd="sng" w="15875">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798" name="Google Shape;798;p67"/>
          <p:cNvSpPr txBox="1"/>
          <p:nvPr/>
        </p:nvSpPr>
        <p:spPr>
          <a:xfrm>
            <a:off x="5148064" y="1643969"/>
            <a:ext cx="29523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CODOMINANCE</a:t>
            </a:r>
            <a:endParaRPr/>
          </a:p>
        </p:txBody>
      </p:sp>
      <p:sp>
        <p:nvSpPr>
          <p:cNvPr id="799" name="Google Shape;799;p67"/>
          <p:cNvSpPr txBox="1"/>
          <p:nvPr/>
        </p:nvSpPr>
        <p:spPr>
          <a:xfrm>
            <a:off x="4932039" y="2405835"/>
            <a:ext cx="3600300" cy="28623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Both alleles on a particular gene are fully expressed (i.e. </a:t>
            </a:r>
            <a:r>
              <a:rPr b="1" i="0" lang="en-CA" sz="1800" u="none" cap="none" strike="noStrike">
                <a:solidFill>
                  <a:srgbClr val="393B3F"/>
                </a:solidFill>
                <a:latin typeface="Verdana"/>
                <a:ea typeface="Verdana"/>
                <a:cs typeface="Verdana"/>
                <a:sym typeface="Verdana"/>
              </a:rPr>
              <a:t>two equally </a:t>
            </a:r>
            <a:r>
              <a:rPr b="1" lang="en-CA" sz="1800">
                <a:solidFill>
                  <a:srgbClr val="393B3F"/>
                </a:solidFill>
                <a:latin typeface="Verdana"/>
                <a:ea typeface="Verdana"/>
                <a:cs typeface="Verdana"/>
                <a:sym typeface="Verdana"/>
              </a:rPr>
              <a:t>“dominant”</a:t>
            </a:r>
            <a:r>
              <a:rPr lang="en-CA" sz="1800">
                <a:solidFill>
                  <a:srgbClr val="393B3F"/>
                </a:solidFill>
                <a:latin typeface="Verdana"/>
                <a:ea typeface="Verdana"/>
                <a:cs typeface="Verdana"/>
                <a:sym typeface="Verdana"/>
              </a:rPr>
              <a:t> alleles)</a:t>
            </a:r>
            <a:endParaRPr/>
          </a:p>
          <a:p>
            <a:pPr indent="-285750" lvl="0" marL="285750" marR="0" rtl="0" algn="l">
              <a:lnSpc>
                <a:spcPct val="100000"/>
              </a:lnSpc>
              <a:spcBef>
                <a:spcPts val="1000"/>
              </a:spcBef>
              <a:spcAft>
                <a:spcPts val="0"/>
              </a:spcAft>
              <a:buClr>
                <a:srgbClr val="393B3F"/>
              </a:buClr>
              <a:buSzPts val="1800"/>
              <a:buFont typeface="Courier New"/>
              <a:buChar char="o"/>
            </a:pPr>
            <a:r>
              <a:rPr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oth alleles require just one copy to fully express their phenotype; heterozygotes thus express one allele in certain cells and the opposing allele in others</a:t>
            </a:r>
            <a:endParaRPr/>
          </a:p>
          <a:p>
            <a:pPr indent="-285750" lvl="0" marL="285750" marR="0" rtl="0" algn="l">
              <a:lnSpc>
                <a:spcPct val="100000"/>
              </a:lnSpc>
              <a:spcBef>
                <a:spcPts val="1000"/>
              </a:spcBef>
              <a:spcAft>
                <a:spcPts val="0"/>
              </a:spcAft>
              <a:buClr>
                <a:schemeClr val="dk1"/>
              </a:buClr>
              <a:buSzPts val="1800"/>
              <a:buFont typeface="Courier New"/>
              <a:buNone/>
            </a:pPr>
            <a:r>
              <a:t/>
            </a:r>
            <a:endParaRPr b="0" i="0" sz="1800" u="none" cap="none" strike="noStrike">
              <a:solidFill>
                <a:srgbClr val="393B3F"/>
              </a:solidFill>
              <a:latin typeface="Verdana"/>
              <a:ea typeface="Verdana"/>
              <a:cs typeface="Verdana"/>
              <a:sym typeface="Verdana"/>
            </a:endParaRPr>
          </a:p>
        </p:txBody>
      </p:sp>
      <p:pic>
        <p:nvPicPr>
          <p:cNvPr descr="http://www.zo.utexas.edu/faculty/sjasper/images/f11.18.jpg" id="800" name="Google Shape;800;p67"/>
          <p:cNvPicPr preferRelativeResize="0"/>
          <p:nvPr/>
        </p:nvPicPr>
        <p:blipFill rotWithShape="1">
          <a:blip r:embed="rId3">
            <a:alphaModFix/>
          </a:blip>
          <a:srcRect b="3183" l="0" r="0" t="3204"/>
          <a:stretch/>
        </p:blipFill>
        <p:spPr>
          <a:xfrm>
            <a:off x="755575" y="1685617"/>
            <a:ext cx="3102109" cy="3275127"/>
          </a:xfrm>
          <a:prstGeom prst="rect">
            <a:avLst/>
          </a:prstGeom>
          <a:noFill/>
          <a:ln>
            <a:noFill/>
          </a:ln>
        </p:spPr>
      </p:pic>
      <p:pic>
        <p:nvPicPr>
          <p:cNvPr descr="http://upload.wikimedia.org/wikipedia/commons/f/f3/Co-dominance_Rhododendron.jpg" id="801" name="Google Shape;801;p67"/>
          <p:cNvPicPr preferRelativeResize="0"/>
          <p:nvPr/>
        </p:nvPicPr>
        <p:blipFill rotWithShape="1">
          <a:blip r:embed="rId4">
            <a:alphaModFix/>
          </a:blip>
          <a:srcRect b="0" l="0" r="0" t="0"/>
          <a:stretch/>
        </p:blipFill>
        <p:spPr>
          <a:xfrm>
            <a:off x="2642186" y="3737267"/>
            <a:ext cx="2115936" cy="206799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pic>
        <p:nvPicPr>
          <p:cNvPr id="807" name="Google Shape;807;p68"/>
          <p:cNvPicPr preferRelativeResize="0"/>
          <p:nvPr/>
        </p:nvPicPr>
        <p:blipFill rotWithShape="1">
          <a:blip r:embed="rId3">
            <a:alphaModFix/>
          </a:blip>
          <a:srcRect b="0" l="0" r="0" t="12003"/>
          <a:stretch/>
        </p:blipFill>
        <p:spPr>
          <a:xfrm>
            <a:off x="2942275" y="754200"/>
            <a:ext cx="5803725" cy="5481726"/>
          </a:xfrm>
          <a:prstGeom prst="rect">
            <a:avLst/>
          </a:prstGeom>
          <a:noFill/>
          <a:ln>
            <a:noFill/>
          </a:ln>
        </p:spPr>
      </p:pic>
      <p:sp>
        <p:nvSpPr>
          <p:cNvPr id="808" name="Google Shape;808;p68"/>
          <p:cNvSpPr txBox="1"/>
          <p:nvPr/>
        </p:nvSpPr>
        <p:spPr>
          <a:xfrm>
            <a:off x="465450" y="1512300"/>
            <a:ext cx="2370000" cy="32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chemeClr val="dk2"/>
                </a:solidFill>
                <a:latin typeface="Verdana"/>
                <a:ea typeface="Verdana"/>
                <a:cs typeface="Verdana"/>
                <a:sym typeface="Verdana"/>
              </a:rPr>
              <a:t>The ‘roan’ coloring in cattle is an example of codominance. The white allele and red allele both get expressed when present. </a:t>
            </a:r>
            <a:endParaRPr sz="2000">
              <a:solidFill>
                <a:schemeClr val="dk2"/>
              </a:solidFill>
              <a:latin typeface="Verdana"/>
              <a:ea typeface="Verdana"/>
              <a:cs typeface="Verdana"/>
              <a:sym typeface="Verdana"/>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69"/>
          <p:cNvSpPr txBox="1"/>
          <p:nvPr/>
        </p:nvSpPr>
        <p:spPr>
          <a:xfrm>
            <a:off x="724050" y="817450"/>
            <a:ext cx="7695900" cy="380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CA" sz="1700">
                <a:solidFill>
                  <a:srgbClr val="393B3F"/>
                </a:solidFill>
                <a:latin typeface="Verdana"/>
                <a:ea typeface="Verdana"/>
                <a:cs typeface="Verdana"/>
                <a:sym typeface="Verdana"/>
              </a:rPr>
              <a:t>Example:</a:t>
            </a:r>
            <a:endParaRPr b="1" sz="17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rPr lang="en-CA" sz="1600">
                <a:solidFill>
                  <a:srgbClr val="393B3F"/>
                </a:solidFill>
                <a:latin typeface="Verdana"/>
                <a:ea typeface="Verdana"/>
                <a:cs typeface="Verdana"/>
                <a:sym typeface="Verdana"/>
              </a:rPr>
              <a:t>In other varieties of flowering plants, petal colour is determined by two alleles which demonstrate </a:t>
            </a:r>
            <a:r>
              <a:rPr b="1" lang="en-CA" sz="1600">
                <a:solidFill>
                  <a:srgbClr val="393B3F"/>
                </a:solidFill>
                <a:latin typeface="Verdana"/>
                <a:ea typeface="Verdana"/>
                <a:cs typeface="Verdana"/>
                <a:sym typeface="Verdana"/>
              </a:rPr>
              <a:t>codominance.</a:t>
            </a:r>
            <a:r>
              <a:rPr lang="en-CA" sz="1600">
                <a:solidFill>
                  <a:srgbClr val="393B3F"/>
                </a:solidFill>
                <a:latin typeface="Verdana"/>
                <a:ea typeface="Verdana"/>
                <a:cs typeface="Verdana"/>
                <a:sym typeface="Verdana"/>
              </a:rPr>
              <a:t> One version of the allele, R</a:t>
            </a:r>
            <a:r>
              <a:rPr baseline="-25000" lang="en-CA" sz="1600">
                <a:solidFill>
                  <a:srgbClr val="393B3F"/>
                </a:solidFill>
                <a:latin typeface="Verdana"/>
                <a:ea typeface="Verdana"/>
                <a:cs typeface="Verdana"/>
                <a:sym typeface="Verdana"/>
              </a:rPr>
              <a:t>1</a:t>
            </a:r>
            <a:r>
              <a:rPr lang="en-CA" sz="1600">
                <a:solidFill>
                  <a:srgbClr val="393B3F"/>
                </a:solidFill>
                <a:latin typeface="Verdana"/>
                <a:ea typeface="Verdana"/>
                <a:cs typeface="Verdana"/>
                <a:sym typeface="Verdana"/>
              </a:rPr>
              <a:t>, encodes red flowers, while another version of the allele, R</a:t>
            </a:r>
            <a:r>
              <a:rPr baseline="-25000" lang="en-CA" sz="1600">
                <a:solidFill>
                  <a:srgbClr val="393B3F"/>
                </a:solidFill>
                <a:latin typeface="Verdana"/>
                <a:ea typeface="Verdana"/>
                <a:cs typeface="Verdana"/>
                <a:sym typeface="Verdana"/>
              </a:rPr>
              <a:t>2</a:t>
            </a:r>
            <a:r>
              <a:rPr lang="en-CA" sz="1600">
                <a:solidFill>
                  <a:srgbClr val="393B3F"/>
                </a:solidFill>
                <a:latin typeface="Verdana"/>
                <a:ea typeface="Verdana"/>
                <a:cs typeface="Verdana"/>
                <a:sym typeface="Verdana"/>
              </a:rPr>
              <a:t>, encodes white flowers.</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Determine the phenotype of each of the following plants:</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1</a:t>
            </a: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1</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1</a:t>
            </a: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2</a:t>
            </a:r>
            <a:endParaRPr sz="1600">
              <a:solidFill>
                <a:srgbClr val="393B3F"/>
              </a:solidFill>
              <a:latin typeface="Verdana"/>
              <a:ea typeface="Verdana"/>
              <a:cs typeface="Verdana"/>
              <a:sym typeface="Verdana"/>
            </a:endParaRPr>
          </a:p>
          <a:p>
            <a:pPr indent="-330200" lvl="0" marL="9144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2</a:t>
            </a:r>
            <a:r>
              <a:rPr lang="en-CA" sz="1600">
                <a:solidFill>
                  <a:srgbClr val="393B3F"/>
                </a:solidFill>
                <a:latin typeface="Verdana"/>
                <a:ea typeface="Verdana"/>
                <a:cs typeface="Verdana"/>
                <a:sym typeface="Verdana"/>
              </a:rPr>
              <a:t>R</a:t>
            </a:r>
            <a:r>
              <a:rPr baseline="-25000" lang="en-CA" sz="1600">
                <a:solidFill>
                  <a:srgbClr val="393B3F"/>
                </a:solidFill>
                <a:latin typeface="Verdana"/>
                <a:ea typeface="Verdana"/>
                <a:cs typeface="Verdana"/>
                <a:sym typeface="Verdana"/>
              </a:rPr>
              <a:t>2</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A plant with red flowers is crossed with a heterozygous plant. What proportion of offspring will also have red flowers?</a:t>
            </a:r>
            <a:endParaRPr sz="1600">
              <a:solidFill>
                <a:srgbClr val="393B3F"/>
              </a:solidFill>
              <a:latin typeface="Verdana"/>
              <a:ea typeface="Verdana"/>
              <a:cs typeface="Verdana"/>
              <a:sym typeface="Verdana"/>
            </a:endParaRPr>
          </a:p>
          <a:p>
            <a:pPr indent="0" lvl="0" marL="0" rtl="0" algn="l">
              <a:spcBef>
                <a:spcPts val="1000"/>
              </a:spcBef>
              <a:spcAft>
                <a:spcPts val="0"/>
              </a:spcAft>
              <a:buNone/>
            </a:pPr>
            <a:r>
              <a:rPr lang="en-CA" sz="2100">
                <a:solidFill>
                  <a:schemeClr val="dk2"/>
                </a:solidFill>
                <a:latin typeface="Verdana"/>
                <a:ea typeface="Verdana"/>
                <a:cs typeface="Verdana"/>
                <a:sym typeface="Verdana"/>
              </a:rPr>
              <a:t>		</a:t>
            </a:r>
            <a:r>
              <a:rPr lang="en-CA" sz="2100">
                <a:solidFill>
                  <a:srgbClr val="A64D79"/>
                </a:solidFill>
                <a:latin typeface="Verdana"/>
                <a:ea typeface="Verdana"/>
                <a:cs typeface="Verdana"/>
                <a:sym typeface="Verdana"/>
              </a:rPr>
              <a:t>  </a:t>
            </a:r>
            <a:endParaRPr sz="2100">
              <a:solidFill>
                <a:srgbClr val="A64D79"/>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None/>
            </a:pPr>
            <a:r>
              <a:t/>
            </a:r>
            <a:endParaRPr sz="1600">
              <a:solidFill>
                <a:srgbClr val="393B3F"/>
              </a:solidFill>
              <a:latin typeface="Verdana"/>
              <a:ea typeface="Verdana"/>
              <a:cs typeface="Verdana"/>
              <a:sym typeface="Verdana"/>
            </a:endParaRPr>
          </a:p>
        </p:txBody>
      </p:sp>
      <p:sp>
        <p:nvSpPr>
          <p:cNvPr id="815" name="Google Shape;815;p69"/>
          <p:cNvSpPr txBox="1"/>
          <p:nvPr/>
        </p:nvSpPr>
        <p:spPr>
          <a:xfrm>
            <a:off x="2282975" y="2766100"/>
            <a:ext cx="2322900" cy="107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CA" sz="1600">
                <a:solidFill>
                  <a:srgbClr val="C27BA0"/>
                </a:solidFill>
                <a:latin typeface="Verdana"/>
                <a:ea typeface="Verdana"/>
                <a:cs typeface="Verdana"/>
                <a:sym typeface="Verdana"/>
              </a:rPr>
              <a:t>Red</a:t>
            </a:r>
            <a:endParaRPr b="1" sz="1600">
              <a:solidFill>
                <a:srgbClr val="C27BA0"/>
              </a:solidFill>
              <a:latin typeface="Verdana"/>
              <a:ea typeface="Verdana"/>
              <a:cs typeface="Verdana"/>
              <a:sym typeface="Verdana"/>
            </a:endParaRPr>
          </a:p>
          <a:p>
            <a:pPr indent="0" lvl="0" marL="0" rtl="0" algn="l">
              <a:lnSpc>
                <a:spcPct val="115000"/>
              </a:lnSpc>
              <a:spcBef>
                <a:spcPts val="1000"/>
              </a:spcBef>
              <a:spcAft>
                <a:spcPts val="0"/>
              </a:spcAft>
              <a:buNone/>
            </a:pPr>
            <a:r>
              <a:rPr b="1" lang="en-CA" sz="1600">
                <a:solidFill>
                  <a:srgbClr val="C27BA0"/>
                </a:solidFill>
                <a:latin typeface="Verdana"/>
                <a:ea typeface="Verdana"/>
                <a:cs typeface="Verdana"/>
                <a:sym typeface="Verdana"/>
              </a:rPr>
              <a:t>Red and white</a:t>
            </a:r>
            <a:endParaRPr b="1" sz="1600">
              <a:solidFill>
                <a:srgbClr val="C27BA0"/>
              </a:solidFill>
              <a:latin typeface="Verdana"/>
              <a:ea typeface="Verdana"/>
              <a:cs typeface="Verdana"/>
              <a:sym typeface="Verdana"/>
            </a:endParaRPr>
          </a:p>
          <a:p>
            <a:pPr indent="0" lvl="0" marL="0" rtl="0" algn="l">
              <a:lnSpc>
                <a:spcPct val="115000"/>
              </a:lnSpc>
              <a:spcBef>
                <a:spcPts val="1000"/>
              </a:spcBef>
              <a:spcAft>
                <a:spcPts val="1000"/>
              </a:spcAft>
              <a:buNone/>
            </a:pPr>
            <a:r>
              <a:rPr b="1" lang="en-CA" sz="1600">
                <a:solidFill>
                  <a:srgbClr val="C27BA0"/>
                </a:solidFill>
                <a:latin typeface="Verdana"/>
                <a:ea typeface="Verdana"/>
                <a:cs typeface="Verdana"/>
                <a:sym typeface="Verdana"/>
              </a:rPr>
              <a:t>White</a:t>
            </a:r>
            <a:endParaRPr b="1" sz="1600">
              <a:solidFill>
                <a:srgbClr val="C27BA0"/>
              </a:solidFill>
              <a:latin typeface="Verdana"/>
              <a:ea typeface="Verdana"/>
              <a:cs typeface="Verdana"/>
              <a:sym typeface="Verdana"/>
            </a:endParaRPr>
          </a:p>
        </p:txBody>
      </p:sp>
      <p:sp>
        <p:nvSpPr>
          <p:cNvPr id="816" name="Google Shape;816;p69"/>
          <p:cNvSpPr txBox="1"/>
          <p:nvPr/>
        </p:nvSpPr>
        <p:spPr>
          <a:xfrm>
            <a:off x="795900" y="4448400"/>
            <a:ext cx="7940700" cy="1893300"/>
          </a:xfrm>
          <a:prstGeom prst="rect">
            <a:avLst/>
          </a:prstGeom>
          <a:noFill/>
          <a:ln>
            <a:noFill/>
          </a:ln>
        </p:spPr>
        <p:txBody>
          <a:bodyPr anchorCtr="0" anchor="t" bIns="91425" lIns="91425" spcFirstLastPara="1" rIns="91425" wrap="square" tIns="91425">
            <a:spAutoFit/>
          </a:bodyPr>
          <a:lstStyle/>
          <a:p>
            <a:pPr indent="457200" lvl="0" marL="457200" rtl="0" algn="l">
              <a:spcBef>
                <a:spcPts val="0"/>
              </a:spcBef>
              <a:spcAft>
                <a:spcPts val="0"/>
              </a:spcAft>
              <a:buNone/>
            </a:pP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 			</a:t>
            </a:r>
            <a:r>
              <a:rPr b="1" lang="en-CA" sz="1600">
                <a:solidFill>
                  <a:srgbClr val="C27BA0"/>
                </a:solidFill>
                <a:latin typeface="Verdana"/>
                <a:ea typeface="Verdana"/>
                <a:cs typeface="Verdana"/>
                <a:sym typeface="Verdana"/>
              </a:rPr>
              <a:t>½ = 0.50 will have red flowers</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cxnSp>
        <p:nvCxnSpPr>
          <p:cNvPr id="817" name="Google Shape;817;p69"/>
          <p:cNvCxnSpPr/>
          <p:nvPr/>
        </p:nvCxnSpPr>
        <p:spPr>
          <a:xfrm>
            <a:off x="1789595" y="5165700"/>
            <a:ext cx="0" cy="1176000"/>
          </a:xfrm>
          <a:prstGeom prst="straightConnector1">
            <a:avLst/>
          </a:prstGeom>
          <a:noFill/>
          <a:ln cap="flat" cmpd="sng" w="9525">
            <a:solidFill>
              <a:schemeClr val="dk2"/>
            </a:solidFill>
            <a:prstDash val="solid"/>
            <a:round/>
            <a:headEnd len="med" w="med" type="none"/>
            <a:tailEnd len="med" w="med" type="none"/>
          </a:ln>
        </p:spPr>
      </p:cxnSp>
      <p:cxnSp>
        <p:nvCxnSpPr>
          <p:cNvPr id="818" name="Google Shape;818;p69"/>
          <p:cNvCxnSpPr/>
          <p:nvPr/>
        </p:nvCxnSpPr>
        <p:spPr>
          <a:xfrm flipH="1">
            <a:off x="1317875" y="5602825"/>
            <a:ext cx="1966200" cy="6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70"/>
          <p:cNvSpPr txBox="1"/>
          <p:nvPr/>
        </p:nvSpPr>
        <p:spPr>
          <a:xfrm>
            <a:off x="724050" y="817450"/>
            <a:ext cx="7695900" cy="138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CA" sz="1700">
                <a:solidFill>
                  <a:srgbClr val="393B3F"/>
                </a:solidFill>
                <a:latin typeface="Verdana"/>
                <a:ea typeface="Verdana"/>
                <a:cs typeface="Verdana"/>
                <a:sym typeface="Verdana"/>
              </a:rPr>
              <a:t>Example:</a:t>
            </a:r>
            <a:endParaRPr b="1" sz="17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rPr lang="en-CA" sz="1600">
                <a:solidFill>
                  <a:srgbClr val="393B3F"/>
                </a:solidFill>
                <a:latin typeface="Verdana"/>
                <a:ea typeface="Verdana"/>
                <a:cs typeface="Verdana"/>
                <a:sym typeface="Verdana"/>
              </a:rPr>
              <a:t>Roan coloring is an example of codominance between the white and red coloring alleles. Determine the genotypic and phenotypic ratios of the F1 generation when a roan cow is crossed with a roan bull. </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0" rtl="0" algn="l">
              <a:spcBef>
                <a:spcPts val="1000"/>
              </a:spcBef>
              <a:spcAft>
                <a:spcPts val="0"/>
              </a:spcAft>
              <a:buNone/>
            </a:pPr>
            <a:r>
              <a:rPr lang="en-CA" sz="2100">
                <a:solidFill>
                  <a:schemeClr val="dk2"/>
                </a:solidFill>
                <a:latin typeface="Verdana"/>
                <a:ea typeface="Verdana"/>
                <a:cs typeface="Verdana"/>
                <a:sym typeface="Verdana"/>
              </a:rPr>
              <a:t>		</a:t>
            </a:r>
            <a:r>
              <a:rPr lang="en-CA" sz="2100">
                <a:solidFill>
                  <a:srgbClr val="A64D79"/>
                </a:solidFill>
                <a:latin typeface="Verdana"/>
                <a:ea typeface="Verdana"/>
                <a:cs typeface="Verdana"/>
                <a:sym typeface="Verdana"/>
              </a:rPr>
              <a:t>  </a:t>
            </a:r>
            <a:endParaRPr sz="2100">
              <a:solidFill>
                <a:srgbClr val="A64D79"/>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1000"/>
              </a:spcAft>
              <a:buNone/>
            </a:pPr>
            <a:r>
              <a:t/>
            </a:r>
            <a:endParaRPr sz="1600">
              <a:solidFill>
                <a:srgbClr val="393B3F"/>
              </a:solidFill>
              <a:latin typeface="Verdana"/>
              <a:ea typeface="Verdana"/>
              <a:cs typeface="Verdana"/>
              <a:sym typeface="Verdana"/>
            </a:endParaRPr>
          </a:p>
        </p:txBody>
      </p:sp>
      <p:sp>
        <p:nvSpPr>
          <p:cNvPr id="825" name="Google Shape;825;p70"/>
          <p:cNvSpPr txBox="1"/>
          <p:nvPr/>
        </p:nvSpPr>
        <p:spPr>
          <a:xfrm>
            <a:off x="795900" y="2242100"/>
            <a:ext cx="7940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Let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 represent the red allele and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r>
              <a:rPr b="1" lang="en-CA" sz="1600">
                <a:solidFill>
                  <a:srgbClr val="C27BA0"/>
                </a:solidFill>
                <a:latin typeface="Verdana"/>
                <a:ea typeface="Verdana"/>
                <a:cs typeface="Verdana"/>
                <a:sym typeface="Verdana"/>
              </a:rPr>
              <a:t> represent the white allele. So our cross is:</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1</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r>
              <a:rPr b="1"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2</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cxnSp>
        <p:nvCxnSpPr>
          <p:cNvPr id="826" name="Google Shape;826;p70"/>
          <p:cNvCxnSpPr/>
          <p:nvPr/>
        </p:nvCxnSpPr>
        <p:spPr>
          <a:xfrm>
            <a:off x="1711845" y="3775825"/>
            <a:ext cx="7500" cy="13716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70"/>
          <p:cNvCxnSpPr/>
          <p:nvPr/>
        </p:nvCxnSpPr>
        <p:spPr>
          <a:xfrm flipH="1">
            <a:off x="1327600" y="4096325"/>
            <a:ext cx="1966200" cy="6600"/>
          </a:xfrm>
          <a:prstGeom prst="straightConnector1">
            <a:avLst/>
          </a:prstGeom>
          <a:noFill/>
          <a:ln cap="flat" cmpd="sng" w="9525">
            <a:solidFill>
              <a:schemeClr val="dk2"/>
            </a:solidFill>
            <a:prstDash val="solid"/>
            <a:round/>
            <a:headEnd len="med" w="med" type="none"/>
            <a:tailEnd len="med" w="med" type="none"/>
          </a:ln>
        </p:spPr>
      </p:cxnSp>
      <p:sp>
        <p:nvSpPr>
          <p:cNvPr id="828" name="Google Shape;828;p70"/>
          <p:cNvSpPr txBox="1"/>
          <p:nvPr/>
        </p:nvSpPr>
        <p:spPr>
          <a:xfrm>
            <a:off x="5461225" y="2863300"/>
            <a:ext cx="2958600" cy="24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Genotypic ratio:</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rPr lang="en-CA" sz="1600">
                <a:solidFill>
                  <a:srgbClr val="C27BA0"/>
                </a:solidFill>
                <a:latin typeface="Verdana"/>
                <a:ea typeface="Verdana"/>
                <a:cs typeface="Verdana"/>
                <a:sym typeface="Verdana"/>
              </a:rPr>
              <a:t> 1    :      2    :     1</a:t>
            </a:r>
            <a:endParaRPr sz="1600">
              <a:solidFill>
                <a:srgbClr val="C27BA0"/>
              </a:solidFill>
              <a:latin typeface="Verdana"/>
              <a:ea typeface="Verdana"/>
              <a:cs typeface="Verdana"/>
              <a:sym typeface="Verdana"/>
            </a:endParaRPr>
          </a:p>
          <a:p>
            <a:pPr indent="0" lvl="0" marL="0" rtl="0" algn="l">
              <a:spcBef>
                <a:spcPts val="0"/>
              </a:spcBef>
              <a:spcAft>
                <a:spcPts val="0"/>
              </a:spcAft>
              <a:buNone/>
            </a:pPr>
            <a:r>
              <a:rPr lang="en-CA" sz="1600">
                <a:solidFill>
                  <a:srgbClr val="C27BA0"/>
                </a:solidFill>
                <a:latin typeface="Verdana"/>
                <a:ea typeface="Verdana"/>
                <a:cs typeface="Verdana"/>
                <a:sym typeface="Verdana"/>
              </a:rPr>
              <a:t>R</a:t>
            </a:r>
            <a:r>
              <a:rPr baseline="-25000" lang="en-CA" sz="1600">
                <a:solidFill>
                  <a:srgbClr val="C27BA0"/>
                </a:solidFill>
                <a:latin typeface="Verdana"/>
                <a:ea typeface="Verdana"/>
                <a:cs typeface="Verdana"/>
                <a:sym typeface="Verdana"/>
              </a:rPr>
              <a:t>1</a:t>
            </a:r>
            <a:r>
              <a:rPr lang="en-CA" sz="1600">
                <a:solidFill>
                  <a:srgbClr val="C27BA0"/>
                </a:solidFill>
                <a:latin typeface="Verdana"/>
                <a:ea typeface="Verdana"/>
                <a:cs typeface="Verdana"/>
                <a:sym typeface="Verdana"/>
              </a:rPr>
              <a:t>R</a:t>
            </a:r>
            <a:r>
              <a:rPr baseline="-25000" lang="en-CA" sz="1600">
                <a:solidFill>
                  <a:srgbClr val="C27BA0"/>
                </a:solidFill>
                <a:latin typeface="Verdana"/>
                <a:ea typeface="Verdana"/>
                <a:cs typeface="Verdana"/>
                <a:sym typeface="Verdana"/>
              </a:rPr>
              <a:t>1 </a:t>
            </a:r>
            <a:r>
              <a:rPr lang="en-CA" sz="1600">
                <a:solidFill>
                  <a:srgbClr val="C27BA0"/>
                </a:solidFill>
                <a:latin typeface="Verdana"/>
                <a:ea typeface="Verdana"/>
                <a:cs typeface="Verdana"/>
                <a:sym typeface="Verdana"/>
              </a:rPr>
              <a:t>:    R</a:t>
            </a:r>
            <a:r>
              <a:rPr baseline="-25000" lang="en-CA" sz="1600">
                <a:solidFill>
                  <a:srgbClr val="C27BA0"/>
                </a:solidFill>
                <a:latin typeface="Verdana"/>
                <a:ea typeface="Verdana"/>
                <a:cs typeface="Verdana"/>
                <a:sym typeface="Verdana"/>
              </a:rPr>
              <a:t>1</a:t>
            </a:r>
            <a:r>
              <a:rPr lang="en-CA" sz="1600">
                <a:solidFill>
                  <a:srgbClr val="C27BA0"/>
                </a:solidFill>
                <a:latin typeface="Verdana"/>
                <a:ea typeface="Verdana"/>
                <a:cs typeface="Verdana"/>
                <a:sym typeface="Verdana"/>
              </a:rPr>
              <a:t>R</a:t>
            </a:r>
            <a:r>
              <a:rPr baseline="-25000" lang="en-CA" sz="1600">
                <a:solidFill>
                  <a:srgbClr val="C27BA0"/>
                </a:solidFill>
                <a:latin typeface="Verdana"/>
                <a:ea typeface="Verdana"/>
                <a:cs typeface="Verdana"/>
                <a:sym typeface="Verdana"/>
              </a:rPr>
              <a:t>2   </a:t>
            </a:r>
            <a:r>
              <a:rPr lang="en-CA" sz="1600">
                <a:solidFill>
                  <a:srgbClr val="C27BA0"/>
                </a:solidFill>
                <a:latin typeface="Verdana"/>
                <a:ea typeface="Verdana"/>
                <a:cs typeface="Verdana"/>
                <a:sym typeface="Verdana"/>
              </a:rPr>
              <a:t>:    R</a:t>
            </a:r>
            <a:r>
              <a:rPr baseline="-25000" lang="en-CA" sz="1600">
                <a:solidFill>
                  <a:srgbClr val="C27BA0"/>
                </a:solidFill>
                <a:latin typeface="Verdana"/>
                <a:ea typeface="Verdana"/>
                <a:cs typeface="Verdana"/>
                <a:sym typeface="Verdana"/>
              </a:rPr>
              <a:t>2</a:t>
            </a:r>
            <a:r>
              <a:rPr lang="en-CA" sz="1600">
                <a:solidFill>
                  <a:srgbClr val="C27BA0"/>
                </a:solidFill>
                <a:latin typeface="Verdana"/>
                <a:ea typeface="Verdana"/>
                <a:cs typeface="Verdana"/>
                <a:sym typeface="Verdana"/>
              </a:rPr>
              <a:t>R</a:t>
            </a:r>
            <a:r>
              <a:rPr baseline="-25000" lang="en-CA" sz="1600">
                <a:solidFill>
                  <a:srgbClr val="C27BA0"/>
                </a:solidFill>
                <a:latin typeface="Verdana"/>
                <a:ea typeface="Verdana"/>
                <a:cs typeface="Verdana"/>
                <a:sym typeface="Verdana"/>
              </a:rPr>
              <a:t>2</a:t>
            </a:r>
            <a:endParaRPr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baseline="-25000" sz="1600">
              <a:solidFill>
                <a:srgbClr val="C27BA0"/>
              </a:solidFill>
              <a:latin typeface="Verdana"/>
              <a:ea typeface="Verdana"/>
              <a:cs typeface="Verdana"/>
              <a:sym typeface="Verdana"/>
            </a:endParaRPr>
          </a:p>
          <a:p>
            <a:pPr indent="0" lvl="0" marL="0" rtl="0" algn="l">
              <a:spcBef>
                <a:spcPts val="0"/>
              </a:spcBef>
              <a:spcAft>
                <a:spcPts val="0"/>
              </a:spcAft>
              <a:buNone/>
            </a:pPr>
            <a:r>
              <a:rPr b="1" lang="en-CA" sz="1600">
                <a:solidFill>
                  <a:srgbClr val="C27BA0"/>
                </a:solidFill>
                <a:latin typeface="Verdana"/>
                <a:ea typeface="Verdana"/>
                <a:cs typeface="Verdana"/>
                <a:sym typeface="Verdana"/>
              </a:rPr>
              <a:t>Phenotypic ratio:</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rPr lang="en-CA" sz="1600">
                <a:solidFill>
                  <a:srgbClr val="C27BA0"/>
                </a:solidFill>
                <a:latin typeface="Verdana"/>
                <a:ea typeface="Verdana"/>
                <a:cs typeface="Verdana"/>
                <a:sym typeface="Verdana"/>
              </a:rPr>
              <a:t> 1    :      2    :     1</a:t>
            </a:r>
            <a:endParaRPr sz="1600">
              <a:solidFill>
                <a:srgbClr val="C27BA0"/>
              </a:solidFill>
              <a:latin typeface="Verdana"/>
              <a:ea typeface="Verdana"/>
              <a:cs typeface="Verdana"/>
              <a:sym typeface="Verdana"/>
            </a:endParaRPr>
          </a:p>
          <a:p>
            <a:pPr indent="0" lvl="0" marL="0" rtl="0" algn="l">
              <a:spcBef>
                <a:spcPts val="0"/>
              </a:spcBef>
              <a:spcAft>
                <a:spcPts val="0"/>
              </a:spcAft>
              <a:buNone/>
            </a:pPr>
            <a:r>
              <a:rPr lang="en-CA" sz="1600">
                <a:solidFill>
                  <a:srgbClr val="C27BA0"/>
                </a:solidFill>
                <a:latin typeface="Verdana"/>
                <a:ea typeface="Verdana"/>
                <a:cs typeface="Verdana"/>
                <a:sym typeface="Verdana"/>
              </a:rPr>
              <a:t>red</a:t>
            </a:r>
            <a:r>
              <a:rPr baseline="-25000" lang="en-CA" sz="1600">
                <a:solidFill>
                  <a:srgbClr val="C27BA0"/>
                </a:solidFill>
                <a:latin typeface="Verdana"/>
                <a:ea typeface="Verdana"/>
                <a:cs typeface="Verdana"/>
                <a:sym typeface="Verdana"/>
              </a:rPr>
              <a:t>    </a:t>
            </a:r>
            <a:r>
              <a:rPr lang="en-CA" sz="1600">
                <a:solidFill>
                  <a:srgbClr val="C27BA0"/>
                </a:solidFill>
                <a:latin typeface="Verdana"/>
                <a:ea typeface="Verdana"/>
                <a:cs typeface="Verdana"/>
                <a:sym typeface="Verdana"/>
              </a:rPr>
              <a:t>:    roan</a:t>
            </a:r>
            <a:r>
              <a:rPr baseline="-25000" lang="en-CA" sz="1600">
                <a:solidFill>
                  <a:srgbClr val="C27BA0"/>
                </a:solidFill>
                <a:latin typeface="Verdana"/>
                <a:ea typeface="Verdana"/>
                <a:cs typeface="Verdana"/>
                <a:sym typeface="Verdana"/>
              </a:rPr>
              <a:t>   </a:t>
            </a:r>
            <a:r>
              <a:rPr lang="en-CA" sz="1600">
                <a:solidFill>
                  <a:srgbClr val="C27BA0"/>
                </a:solidFill>
                <a:latin typeface="Verdana"/>
                <a:ea typeface="Verdana"/>
                <a:cs typeface="Verdana"/>
                <a:sym typeface="Verdana"/>
              </a:rPr>
              <a:t>:    white</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1"/>
          <p:cNvSpPr/>
          <p:nvPr/>
        </p:nvSpPr>
        <p:spPr>
          <a:xfrm>
            <a:off x="3003291" y="1334663"/>
            <a:ext cx="3312300" cy="400200"/>
          </a:xfrm>
          <a:prstGeom prst="rect">
            <a:avLst/>
          </a:prstGeom>
          <a:solidFill>
            <a:schemeClr val="accent3"/>
          </a:solidFill>
          <a:ln cap="flat" cmpd="sng" w="15875">
            <a:solidFill>
              <a:srgbClr val="393B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834" name="Google Shape;834;p71"/>
          <p:cNvSpPr txBox="1"/>
          <p:nvPr/>
        </p:nvSpPr>
        <p:spPr>
          <a:xfrm>
            <a:off x="2771800" y="1334713"/>
            <a:ext cx="3672407" cy="40010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SEX-LINKED TRAITS</a:t>
            </a:r>
            <a:endParaRPr/>
          </a:p>
        </p:txBody>
      </p:sp>
      <p:sp>
        <p:nvSpPr>
          <p:cNvPr id="835" name="Google Shape;835;p71"/>
          <p:cNvSpPr txBox="1"/>
          <p:nvPr/>
        </p:nvSpPr>
        <p:spPr>
          <a:xfrm>
            <a:off x="899591" y="2196480"/>
            <a:ext cx="3384300" cy="48012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Genes that are located on the X or Y chromosome display different inheritance patterns than genes located on autosomes (chromosomes 1-22</a:t>
            </a:r>
            <a:r>
              <a:rPr lang="en-CA" sz="1800">
                <a:solidFill>
                  <a:srgbClr val="393B3F"/>
                </a:solidFill>
                <a:latin typeface="Verdana"/>
                <a:ea typeface="Verdana"/>
                <a:cs typeface="Verdana"/>
                <a:sym typeface="Verdana"/>
              </a:rPr>
              <a:t>)</a:t>
            </a:r>
            <a:endParaRPr/>
          </a:p>
          <a:p>
            <a:pPr indent="-285750" lvl="0" marL="285750" marR="0" rtl="0" algn="l">
              <a:lnSpc>
                <a:spcPct val="100000"/>
              </a:lnSpc>
              <a:spcBef>
                <a:spcPts val="100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This is because males do not receive an X-chromosome from their father, and females must inherit their father’s single X-chromosome</a:t>
            </a:r>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93B3F"/>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1800"/>
              <a:buFont typeface="Courier New"/>
              <a:buNone/>
            </a:pPr>
            <a:r>
              <a:t/>
            </a:r>
            <a:endParaRPr b="0" i="0" sz="1800" u="none" cap="none" strike="noStrike">
              <a:solidFill>
                <a:srgbClr val="393B3F"/>
              </a:solidFill>
              <a:latin typeface="Verdana"/>
              <a:ea typeface="Verdana"/>
              <a:cs typeface="Verdana"/>
              <a:sym typeface="Verdana"/>
            </a:endParaRPr>
          </a:p>
          <a:p>
            <a:pPr indent="-285750" lvl="0" marL="285750" marR="0" rtl="0" algn="l">
              <a:lnSpc>
                <a:spcPct val="100000"/>
              </a:lnSpc>
              <a:spcBef>
                <a:spcPts val="0"/>
              </a:spcBef>
              <a:spcAft>
                <a:spcPts val="0"/>
              </a:spcAft>
              <a:buClr>
                <a:schemeClr val="dk1"/>
              </a:buClr>
              <a:buSzPts val="1800"/>
              <a:buFont typeface="Courier New"/>
              <a:buNone/>
            </a:pPr>
            <a:r>
              <a:t/>
            </a:r>
            <a:endParaRPr b="0" i="0" sz="1800" u="none" cap="none" strike="noStrike">
              <a:solidFill>
                <a:srgbClr val="393B3F"/>
              </a:solidFill>
              <a:latin typeface="Verdana"/>
              <a:ea typeface="Verdana"/>
              <a:cs typeface="Verdana"/>
              <a:sym typeface="Verdana"/>
            </a:endParaRPr>
          </a:p>
        </p:txBody>
      </p:sp>
      <p:sp>
        <p:nvSpPr>
          <p:cNvPr descr="data:image/jpeg;base64,/9j/4AAQSkZJRgABAQAAAQABAAD/2wCEAAkGBxQTEhUUExQWFhUXEx4aFxgYGR0cHhscHh4bGiAiIhshISggHyElIB4YITEiJSksLi8uHx8zODMsNygtLisBCgoKDg0OGxAQGy0kICQwNy8yNzc0NC80LzQsNCw0NCwyMiw0Ly4vLCw0LCwsNCwvLywsLywsLCwsLC8sLCwsLP/AABEIAOEA4QMBEQACEQEDEQH/xAAbAAEAAwEBAQEAAAAAAAAAAAAAAwQFBgIBB//EADcQAAICAQMDAwIFAwMEAwEBAAECAxEABBIhBTFBEyJRYYEGIzJxkRRCoVLB4TOx0fBigvFDcv/EABoBAQADAQEBAAAAAAAAAAAAAAACAwQBBQb/xAAzEQACAQIDBwMDBAIDAQEAAAABAgADERIhMQQTQVFhcfAigZGhscEjMtHhBfEUM1JCFf/aAAwDAQACEQMRAD8A/ccRGIjERiIxEYiMRGIjERiIxEYiMRGIjERiIxEYiMRGIjERiIxEYiMRGIjERiIxEYiMRGIjERiIxEYiMRGIjERiIxEYiMRGIjERiIxEYiMRGIjERiIxEYiMRGIjERiIxEYiMRGIjERiIxEYiMRGIjERiIxEYiMRGIjERiIxEYiMRGIjERiIxEYiMRGIjERiIxEYiMRGIjERiIxEYiMRPhOIlOHqsTNsD8+ODR/Y9spWvTZsIMuahUVcRExunfi5ZZzEIyL3bGLdyoJ5Fe0EA+TlSbUGfCBLn2MomImaC6+UstKhQpyQwNtR4Bv5FVXzkhUqFhYC1pA0kANyb3+ky+kddlLt6nuQIzNS1tCi/wDijlFDaHZji0+01bTstNUBXX7yfp/4wikWRmVowlHnm7NCq834/wCcuTakYEnK0zvsbqQBneWek/ieCclV3KwBNOALA71RPb475KntKPpI1NlqUxczTi1aMFIYe79Pi/sectWopAIOspamwJBGknychGIjERiIxEYiMRGIjERiIxEYiMRGIjERiIxEYiMRPE0yqLZgo+SQB/JzhIGs6ATkJidR/EKVKkLXLHweO3IUnng0TX75mq7QAGCaia6GzEspfQzP6X1N5ElSWQUUoMxAAYmgL/8Al/tmelVZ1ZWPDz5mjaKKU2VlHHw+0qronU24MaqeXb2hfru7fxlIovfMWlhqoRkby9HGm+aUQoYmjapE/uvg0brk3dDiv51G12bCMNtRKP8A5RcRxX0PCZXUtb6emT0kpknve1OVJBoixVmq7ePk3lG8ApekaHvLt2Xq+s6jtNDpOskmgWSVmXa7m1T/AKiqAxJqlv8AUo8HnLkZqihmJH5tKKirTcqoB09rzGilXWK0EUCQtfqKVPB2gjaxr4Y0e1/vlQIrAoq24y8qaBDs1+E99E6W2nYaiWgqEqoRlYsxBXwSAALPJ8ds5TQ0/wBRuE7Vfe/pJx55ZTZm0hnKyIwIKdj+obfafaO/I8eTkmpmqQynh75dP4la1N1dWGh9s+v8yh1H8T6hNV6a/pVwoQry113J5tr4qu4yT7S61MI0nKey02pYjr9p2cOtRiwDfpbab45+Oe/nNy1Fa9jplPPamy2uNc5YychGIjERiIxEYiMRGIjERiIxEYiMRGIjERiJlTfiCFZvR3fmXXbjcewv57ZSa6BsF85eNncpjtlMGGdtSzR6kBoxbMG9ojKg0bFEDxyfOY0dqrFamn2m+pTSiganr83lqVXAWSFIyZAd7wqGDc0ATR4rv9f2yT7wAMoGets5Sm7uVYnLS+Vp81KqslyNCkF0UIAG8KP7a5Iaju+PPjOkWfMgL+f9zoN0sAS3Pp/rK0ibpLvG6O271FBULILchlYML4IAs8/OQFF7EMb3669Z01kuCotbpp0nrT6P0nj08E6sFJ9RC4sm7a18iuK8V98swFWCI2XGc3isrPUXM6H7ZyrP1oh/y44wik7QV+eCT+4zO20Wb0gWE0rsgK+om5mnBNc3qK5NxB/RWy20+0CuFoG/PjtmhSS+MHhe3GZGACYCONr+ZysdLGBKi+jHJ6Z3lQVWw24gOey0KI4H8ZAgEFBYG2f++UmGIKubkXyv/HOV4NM0MMsjqjXFax7g27kEN7T2As2PF9sjTplFYtbTT8y2rWWoyhCddeXT3lOHVT6vSuqhEETryvsVlIa1smuDtPf4v6lZ6tIgWFvb2kWRKVUE3N/f3l5Vki08JLKze78xaYgXwu/vwL/7eMOzpTXP3/F5xQj1Gy9vzafdbCZY42eRVPIpr5H+qgD+11zQyLgugLEDzWTpOKbsFUnt9pPpuszjVLAFDRAABqNlQv69113/APHfNCVn3gQZjn+bzM9GmaZe9jy/Fp1YzbMMYiMRGIjERiIxEYiMRGIjERiIxEYiZvW9e0SAoATdEnx5/wA5n2iqaa3WaNnpCo1mnJdYlhinineNzI9SMgYKoo0DypJsi6vMjsgZXINznNtNXZWpqRYZdZt9Q3SRSO9vBLGpVF4bnaQe3FeTzlz4iCxzUjSUUwoYKMmB1nJ9ckeArBG0iRhAwBaiS3uJaqsg+34G398y1mKWVbga/M2UVV7u1ib2+JZh0Umq0olklI9F2QMwJ3KdvnuSDxf/AIyWE1KWJjp/UgWFKrhUa/3Ojg6fDGNO+4kRxWX3BQFFsGKnmrJ7f5zSKaDA3IazMazkOnMzlul9KKuuoWRXijlB3KSGYg3RUgEE8XfgnvxeRUwneXuAZreriG7IsSJrSaeFw8p3p7haCjZazw3gcHxxgimwL5jpAqVVsmR6yPryzzCI6ZXEars2oaKsPmjyKK0fHPbLKheoAad7DKVUglMsKtrnOXzpn4R2gEkkKAkgszE8Pu4KUfkdzljKdCRcgf30lasNbEqCenbrlPiaVZGSWN1EZI2d1ICe2lQi+NtAZHc43Dqcv46Tu+wIUYZ/z1nyWZXhZ2eUJM35cZUArtb43VXbsef37KjAoSxNm0HK0lTurgKBddTfW8q9QTURRRDSMzK25mKqL3cDlTdKK/a7vxnLOtMCkb3ksVOpUY1RYjKT9S08rMHI3bkWynuAYKAw4+t5CujlsWvaKDoq4dLc5B1XTOdMsAdRKZN3olwGZSKAonvfur/cVkjTbdYL5308+Zxai70vbK1r+fEu/h1n0mnYS9wWf0wwLqu0dlHyeavi7+cuok0ks3e3GVVwtZ7r2vwvOk0OpEkayAEBlBAYURfzmtWxKDMTrhYryk+SkYxEYiMRGIjERiIxEYiMRGImL+J+rtBH+VtaSxYPJVefdtHNWAL+uUV6pRfTrNGz0g7erTzKYkvUpFjR9vpyzAlzXgEgUD2B7/xmN6jKAwFi2s3UqKOxBNwukiedp4m3pFI8VFWksDaTRBIIvxx/3ziuainEASOc69IU3GAkA8pof0bySiSNlKFhtYEALXiu/A8VkjSd6mNTlzlW8VKeBxnykHV2jZmaxKsfqO6yCyeOFR+6qCO335yTuhY8bXOf2B5TiK4A4XsMvuRxMp/hzrbSOyelECIGCbQVUAe6ipJFX54/fniNGsWJFhplyk61EKAcRtfPnPfUGRXWSRA8skNOA/s2m1FV52juDQ8c9o1HAILC5Iz5Wk6dMsCFNgDlzvNDp+nWOOkQf07RmRlLW5IH88EAWBVfXLVFlyHotfrKHN2zPqBt0kDa6NdPIxi9qkWtn3MxAX39128/Y/zWjpu29OQ+vLPpJsj7wDFmfpzy6zP0/XUMBb+ntomFUzbacEFm8/219x2ziVVwZL+388ZNqTh7Y8m/HCasOpTZpnGnIJXgW3FMar5/1C/kZMsowHB55nKsLEuC/nmU5D8SB/6qX1e+81f+m/bX0qsy177w4vOU27Ph3Qw+c500WsDRwQ6hX3gC2umAb9PBBv27Lvm80M4IVKgN+ffzOZlpEFqlMi3Lt4bT6NQ5kngeNYYkQqsrAihuFbnPBD/A+fOSsSWQiwAtf++siLDDUBxEm9v66T1D0s+gKdnDzKb079ttj9VfX7EDnjOLSKplnc8DO1Kweppaw4iZvW+hO2pc+oKd2Ydw9DwFrk8UvNGhzkatEmoc9fnzlJ0awFLTT485zZ9aP1FmLPGzDdsdTak2BuPx5qu2TJQVMZNic7WlQDlMAAIHHnHQoJknuSwpvcWbhrHFG+TdGxjZ1qrUu2n3k9qek1Ky6/adXnozyoxEYiMRGIjERiIxEYiMRPjMALPAGIAvOZ1kKmRdSkZZ23JaPuAAGwEFezFT9vi8xOcxUC3JyyP8TcgOE02NgM8x/MqqkSkaYq7qshAdm94JNGuKq/H3ygsl90RcA68ZcuMDeggEjThKc3VYFdtMI2CGQKZd3u3A1e2qIB8X2vzgvTBNIDK+skFqm1UnO2kiibTvqU07CT8uc1IGAt7AIKUaW0AsG/28dRaeMU88jr18EyNtjkk2GYt58yXqfUHiSWRYUVjMUJ/UFUg3a2QLPF9uarL0UAs1s5522bbVSmMJ4/Eg0s0ypE0OljCyqfUIU+4biOTfsQijfA8jtkwigZLrKDt21uEa3l/p3l+XVo8yxGFfTV9i/qDd67g8880f+coOAsEK5DKbV22qrmx1mfqPxDGsob0gZEj9IyxuUAAJHsQgjizRJ5+mXFV142tcfiZG/wAsVbBa4vczX/rTK4RVDQyVSbRTKa5PF35vxX0zM1R97gAy5W+s3pUxAVAZiaLrrafUNHDEix+rtKUSxo7eWJLbvgdh8Z1Ku7fCoyvD1GqZsZuyqyLqFild33AtwQQLNkG+TyASKzpuocIxJnoKVcoXUAShpdTN6ThWG80Id5Fl7FhC3nbf3r5yFFqmE2Pa/PpeWV0pYhcd7cutpoaH1BHDJqDFuDkFn2lgoPHI4JHu7cjj65aMVlZrdzM5w3ZEvbkJn9XhLqunk1KtLJIrxfqKke5eWrjcewF0R9crZSRgZ7k5jzrLVdQ2NEsALHzpM3WaN44VgjmWRzMzSRxNZugAK7tVGxXxxxeX0qRpphvPB/yu079gKR04cZq6N5I4Ii+1pUZhZ9zRj+1Tz3/UQD27cVkK74bEa/abf8UrmkUqH2knVNXDcbzOyO62yql8AkA/SwPr+2VVMDWZzYny89CmHW6oLgeWlXrxJlvum1fTPgpQqvp/veV7T+/pw7TTslt314950P4d14CRxSMd7hjGCDZQfX+avxWbtmf0hW1OnaedtdP1sy6DXvN3NUxxiIxEYiMRGIjERiIxEwPxJrwjLHJIiROh3fqL34IAvi67/XM20MP2sbA/M1bMp/coJI+JmavQH+m/Inpd4cyWVD2NtDbZ4ocHz8VxnNPDT9LZa35/E0b3FVuy52tbl8ybUalADJY7KqyKPzN4AslSdvzz9RR+DOn7/rxv9p1KbZJ7kcLfeUphCup9doSItok9Yk7S5F3tHBO7jaPPPbJBVapiC5a36yitW3NE43tbK3mc8dO6h606tGIt2xjPIy7XC9rH1A8gfQ5ZTBtdrX5zx/8Ak72oBS043kvTtMIwW/qEQyIyRsL72BZBAoD65CkAhuW10lgpsQcJlo6VFmG+R21Ho+kZKGzcex29yew+PNXZyb1lD4OOklT2WxFRjc2tM3X/AIgMGo2+lG7R0ryEUzmuSCOF71dH/bKnrYHtYG2stwi95m9T/D4R3KzRiNSCdxbcgbsCoU2RYHH3rNGV7Azx62xFCWuMM1m0jOIjpy0kSoFRlsUR+qx3Uk88/TKqqOWBWbaYBRcBuJMmqDPLqYvRlMUI3fl+7eFrddAkWCdwP6RWSYMCXyNh9Zq2Z6dZgoPGxmd07qk2p9VGlEfAcyqu0iiAFJWiQb/fj98ypVapcE243ns1KKU8JAvwtNfV66RZEXdv2BdhIB3+0e79257fOdqVnDgA3t9f9yFOihQki3Pp09pF1OKFnMMTbGiDM++9tELfu+nH/oyVSkrHAmo/qcp1zTQ1auh49rz66AQLs9J/ypAs+4DZIdx2qTyP+SeMuRN2FBt35TzNq2o1gxpHIjnOI08LlwqAh7BFcEVzf0A734yY6T5lUYsAus6r8R9beOQHTuqxuu7eoUiRrIJsgjg8V/PfM201WR/TkD9Z9rsNGjVp49fOkt9W6cuoMTyv6UphTcvHuPJqjyh+pv8Axnaqq5BY2NvO0sou1MEILi586y2utKSrCEBjjIjVSLND2g33uuc5vmFQJbIZTm6Bpl75nOUtPJrBriXMgjDnduv0xHz2/t7VXm+/nJA1RWN72+loK0TQ9Nr/AFvO2Bz0J5s+4iMRGIjERiIxEYiMRPzb8VQNJqHkjuRDQBUE0QACDxxzyPm+L5zytoBdyy5iexsxCIFbIzQ6bGINL6eo3q0km9VAsqKAsg1V88d/vnQAlLDUvmb9pA4qlXFTtkLd5Z9eFJI9KYzL6tPvvb3B20O9Vdm+OcsUU1IpkXvnIE1CDVBtbKV+t6ebUafaIwnpSAqv6bFMpAs8kcf585ZSZ2Uhha3tPK/yuzh0BQ3N7yj+FekyRzerKjKqo/sYU0ntI2hDye+WqM855mx7O4qBmylrq2pSTRpN6DRFZPTVf7aPus8Akd/g3fOZ6+HdhsM+hpbMpq4L5STo3WVl3SzqodHX3ANTWGr233G2z9PF5UlRGO8cZjz6Wl1TZCDhTiP4/mVZtPJTyagRPOJF5BViq0eWVeKPtA3j/bD4wCzWJv8AHnWdSjQdxYG1vmT9Q1itHGs0BZtQ3Mi+1jtIAI4ILfTsePnLVq+kFlzMw7ds9MsaY0+0ln6UqyxwRSSxrDbse+/s18VzQq6rxXzoxDFhHCeb/wAX1KiMRb6yTp2vi3MqRrAGJcOpqioY23grV8dh8ZUK2LLSeyuxrRF1HfrPn9bEVco8ciBBvQIULNdBqoGgaO4H6ecpZxYm4I4jTPzjNKI2IAgg8Drl5wnnR9Wkf8kkKHXYjKtFCRQqvA/n65GnXZjgPHLtLKuzIoxjhmesn0+mWhB6sUr+5dRdeoyA9gQS3A7c2DXbsNaIygC9+fOeLtNZKzlFItxF5n6b02hZEhkqP8xQh3M1lVN2Piuw7A8ZWpFXK2kxgKlMhVOWeUu9X1MqiJUDpGYl2rVk2OzfJHbb/wCcVWdSAukuZjYdpcgsx+mnpxRhQN0ZBKycFlADfquxXf650s7enIDn15T0KFNKSr6c+XC3mcytVCkhWRphH6gFif2v7fZe3kUau7zM9IOQxa1+eR5T0adYoCoW9uWYzzmyZZWmKoorYQj7bobTtbf55rNGKoatgPf83mTDTFK5Pt+LTB6VotRp/XaRb/JJ9NnDbzYpqBsgcm+/j9qaaOmLFy01vL6j06mHDlnra1uk2vwZ1eWdXEgG1K2sooc37fjgVmjZarVAb8Jm2uitMi3GdLmuY4xEYiMRGIjERiJBrtR6cbOFZ9ovavc5FmwgmSRcTAXtORbValNQnpRGKBtjFdgAogFt7V7SOR3FUOOecOKorjCLL5e834abIcbXYeC0v6vSRNLHCRI3FiTcLINn45X6/vh0QutM3PXzhFOo6o1QWHTzjMzVuZWlSGZlVkURq3CBUAJpgSRYBPYX5yJfGSqN25ZSzdlFDuoPPnnIlgaSDTgTJIx3AKXo/q8B6Jrt/wBuMkEZ6a2N/Os8vb7b62nSaOg06NtN72gCgskilQSzHkXYCfPn7ZcKQsCdR59JRRCu1r6eWlXT6kLHM800ckRpTz6oLEgg7RyOx+MrF7MWIt8z1msSoUEH4nqaX03McaIED2I9gIbtRNiySK57/GZ3dlcqBlfS0uRAyBiTe2t5Zi00UOskdS/qPY5rarPz+5F/x9cuxU6dY2vc/GcxvWZ6QTgPxKvTzOhkad5I4gjCRyTwSNo297a+1ft5yVLeBiW0mbAX9I4yLQa/fGkOmnclNxb1PaSLu7N+0c8X9vibMWyQzRs+zDZ0tUz66zxqpV9V4liUQPEbnXc3t27i6myuwEEbR3qr8ZFgLkWyI1/MvUnCGJzB0/HeQ9F0MSKZS3qq9x0oK7T7Ws3/AHfpIH+czKqIuI+oHLl4Zod3ZsI9JGfPwTb0mgjjkYxhpZIyKVqUc8E38jLqdNFc4bkiY6+2VGS1phdC6UBK08cwlSFr9gbebsDggCvkgkGjmk+kFtbT5/YtkD17q4sD55xmp/VTRExyLcDQlpJtoWT3AmyAa3AkIFok/fOjMdxNDmpRco2ajU/6+NJU6TrxI8YhmkjSG5JFcVvWxdBSQeOKPa7F5FbIuuQldBztFRVpEi3Dn5/cs+jEvprDDujd95Nv3srQPigB3/5zIcPpCLcE34z6ZcdmLtYgW4TD/FGlkGpkYgsHa0YCwR4AI8jgV9Mq2hG3hMt2Z13QGlpZ12k1I08EdOaDMY1sstt7dyjmq7fHbjJstQU1X6faQRqRqM2Xfh1nQdHE6pGG2eqIn4f/AKlc7Bf+xPa80U8YsDbFY669JmqboknPDcaadZ7/AA3LOZGD79tG94PBvxf34GR2Vqpc4r26ye2LRCDBa/SdJm+ebGIjERiIxEYiMRIdapMbhTR2mj2rj58fvkKgJUgSdMgMLzldPAUidnBMTgClYGzdg2LHFf5rPORSiEtofLz0mcM4C/uHP7SPUjVpqY1hEghATYK9u2hu3nsDe6757V4y071XAS9svDKwaLIxe2LP+rSWLUadJWZEbyFYmwt8WE+Pv2ytalJalwPO0sZaz08LHzvIIOnqjosqiSeFC8ZWkj4t0B4ArdZ3UOTXNZdTbCcDZnXpMVfZKdYivpY26+dJHpOmqdLJHsEEkyBi+64wFf2rus0DzxZ7+e2TJutjlf4kaGzU6FTFTF89OPglHR9HngjnYFS5jWlT3HaWBL9q4rjyLJ44ykhkU4TnbwzcXR2XEMr/AF5SXpWtnMEhkl2ncvpvKwDHvuCu3P8ApPfj75CmzlDc9if5Mq2wIpAT3tNkKaRCR/VlQVkPuUG7W6PJ2/3UfHesn6cQB/fzmPO0k1OiGoin06bFpgwZWsM/ckjkgXx5r7ZosGDKJcv6RVzOW6V0z098rNFKFBQoj7v1gqS1f21Y+prtlAXCCcjNbPjsuY4/HKb2iiCGL3COJkNQksRRsEGwQQ5s2x8/TOhgpFzYHh5zlZGINlcjj5y6SvN1OOEmK3gYoVZIwCiMTe4kG7qu1kfashjC5H0m2g0HWUVqim6jPrx7S/qtFLtiYTsPRX1HI/8A6r3FG7agNvuFc/bNAOBczoL95jbZ6lV0wtbOZWkiSRwiqYRvL/k3ZKgmuT8A1VVfbnMyVd8wU5dp6f8Aw6ex02amL8/PxIuqa6Cy7iU+srExEBWWyQCSSR3FqKPYX9dGAB8XOfOVtop4fUDnw4jzhPXQ0iij9aK5Ge429ReEHBIIBolhXN9geO4yFapu1uBe82f4jZaTk1FY3+om2sUhWQBwqvErpFt2hACN3u7c89+985EhihANri9tLc85691DgkXsbE635ZTPliljjeNXEcsm3am8Kzc81zxfYdr5GVIjopW9ieF5azo7BrXA1NspY6XqJIojFNLU/IUH3UCBtDPz5sjnixeWI5RcLN6vLXMi1MO2NV9Pl7CTaeV0il3MDMhA/UGdFau557/vnAXSmxJ9Q9yLzjBHqLhHpPsDaRdF1knrKNzEMaIJJ4+ft3yvZ6j7wC+sntFNN2TbSddnqzyoxEYiMRGIjERiJS6vI6x/lruJNEVfHnjz8ZTXZgvpF5dQClvUbTntRpdSJE9IFVpdoU+1TVsD/wDbdd9/rmNkrBhhy+wm9KlAoceZ+p5T1qRHLrFlDtuQEAdlat393JA5N8c/TJl0etcaj4lQV0okWyPzK2l0kUhBSZfTL7ASGDXwaoj4I57f9soFFCcmyvaXNWdRYrna89amJZf6pfUkQFVI3HcqiMgfp+vHGWFlfGtyP6kAGTAbAn+Z90XSV9BYjJQLeortwpJFbQpN8d/3v5zq0cSBL9b8O0GuVqF7dLce8l0WuUWiySKNM21/aPeSx7C/kMKbxzgOEFgx9GvWV1f/AGwHq06TK6900zCKRJd1D0z6rU12Wu+QeG/wPtArvFDBumcx1nGK9gLy7EjxSohmh9KGGpza7lu75I3dyAtfSxzR1qirYG2QlBTaN6pX9s86H0IwWM3qLIjIPTBsA0CTf6SPj75UoWmbk3vPVcvUyAtbPOQ9K6YNLMPT1CmRqUWhC7Wpue/JpaHHnnkZHJGsrZyZJqJidMh1l/11RlTVIFcyMsBDF7W+C53GxuP7/QZIhb/qDO+XH5mV62H9h117yh1HpEMjSTtqK2V6wVO7dvaSR+oiux5+nGQamjXZm01/qUKhdsKz3purRyP+RGRNs2xrIQUagFo0e+y+Lo13+Yq6O90Hq4X08tPQNJqaYXPp4218vL3pJTJAPTnA9zbjXH6grE2Of2sDJjBcqmTeaTPtIrvTGeUwur9MM7FklR5IwFnDErTAlRTMAG4AU89x5vNFjbMz52vR3zkoQSMjJ4526fGoAV5JfeTZKBRwAKI3Hub8cd++VVq27tbO89n/ABWwWQ4j8TVOqkmiiaBtrSFmaP1AGsHbYsglbVuMgxd1BpnW5tfzKeggp03YVRe1gDbzOQ9S6Qks0cnqlncC1UcMyADhrG0EgeD85yois6m9yfuPtO06jKjLawH0B6cZLPpo3/PkYWXqSOMh6b9weLAsg5x0U/qP7gZySVWX9KmOxOUq6zqE665lRAA7KCuwfmJwLLVZ4J5uh/OSd3FawGvTWRSnTNC5OY66GedL1WRNcY0jUL6uzaF523W6+/b3fFfzkUcrWwqBrbz7zr0w1DEzcL/1+J3WelPLjERiIxEYiMRGInPfjiR103sJALgOR/pIP+Cdo+9eczbWWFPKatjCmp6pyv4PkcT0ill2MXXwdoteO17toB+uYtmJx5C4m/agpTM2Pn4m/o1O0zrC2/1K287aI5IWr+nxliAgb0Lnfwympa+6LZW8ErtK0ckqRCAKEDJEoUur0u41X6lG77AcZ1iVJCgcwOIOX1/qEAYAuTyJ4EZ/Q5Qs87QMfUWMmQe915cUbHCm64Pb5F5FXfdkk2z1trJ1EpioABfLS+n1nOfibd/USb/n2fHp/wBleKr4839cz7RfeG/t2l+zW3Yt79+M6DR6vULHpoZIgYpOGZ7Brca91iiqAEX3HHjNal8Co4yPn2nlbSyiqSspy9bUakQeipiSfbR3b7vaTd14/TVVQy4U0X0gZTxX21jWwkZXt1mhrdEsi6kyQFXZlFxWWPN3RJFcLZAF39xFzkxK/E+iQZqFbLrMUNHp5vQMfqKJfcxtXN0OKNAfA5v5F5nZ1V8BF85eFZ0xg2y9p0+v0yK7zNEylHUKL9rVwD2sAADtx2HzllUBSahXQ+xmUVmWmEBvf5Ezp2l2I2lhBPrMXsByGpSK3fpBF2Rzx3ziOzJiprxmRhYy3q9DNNI0QjRNPIoLSKBe4ANu72ffxXkX83lrIzsVsMJ4+dZqptTpKHv6hw86TP6P+HmR2lSRJGivaq3y3bmwO3JAF2R3+aKVEgllNyJpq7QCAjAgGXupa1odM0rRJ67MAbHZSf1Mn1Ir96/bNFMC12AxGeZ/kdoail6RJA+kz+m9QSbTytNGFYyqC8SgF2otz4JHN/8A+h55ztQqU9U8zZqu8Riwzvw4y5LpLaNbieD0rjRx7t7cjmrFtXF0Rx35ylrXC3BFsgec9rZ3RKYtcHn0lmDQxiaGSXYkqignqKvABCHZ571QI8d8miepWcAHv8ZSypWAVkU5Hw5z1p/Wb1FlLIhRgzEUFsEWv1s+MppGriOO4Fj7dpSuotnM7oPT/QkkUTIZXhuNVuiLvcSQADwaHjnO0qeC4DZkZTbWqbwAlTYHOWm08zQSKzsgbaFLbuTY44sgHsT9fOEFTAcRInGanvFKgG0dNlKSQRGckxllc7bDknhdxO6h+nkft4ydOpZ1TFp9ek5UpEo1TDrn26zrs3zzYxEYiMRGIjERiJT6nGSn69ig21iwV8j/AIyqqDa97S2kRfS85LryOYh/TVs9Rt4hQofGzcByf7ue2YqhJX9PS/DLtN9IKH/U1tlc37yECUQwevNKjLIWVatintomyKNhgLvg5EswVcZIP4kgis7btQRb2vJdL02IS/1YlYp6pIQL7wxtqJuvrfkcZ0BA29vlf3vOO1TDuSM7a8LT7qH9JRHI7z2fUDlipAYDgXu71f3yNRgAFYluN+/zJ0qZcl1svC2unxIta+ojkMpLDTKg2kEGkYAJSk/rsgX89zWWgVMdx+38fzMm0VaNOgzP+4fefOnH+riAMjboFO8ye61JJsHvYqqPwOcmaRZRc6TxqdYbRplaaGiWOYO0SfmpEApKjcSBW7cP7qofTijnVfGpC6gTZRo0xVVmAmX0gMJ028EN7j8L/df0q7zDRxbwWnv7Rh3RxecpuwFPUaSSOMBRUcpG42OFpud/HN+K8ZrVwGJcAAaH++M8ypkgCsbnUf1wmN0aOWF3ad1KuhoM+4St4NWeL8tXxxzUExLcsQbjnrMnGXuqdLld4yPTQlRSBgu02ew+vexZ/jOvSY4dAeU6ZJM29v6kybI1YAs9ggrQIC89/gfJyLKaj729h/EtqIaXpaZXXDLLGrx7WjLtu9AN3sbd473Xzx/PPauIrddOn5lRYtqZdl1TRQwJPKqO17ldSxKXxu9p478NQ/g5eqvhW5zmWvWRLKzWvKGi6nM2rEGxPS9WjCI12hL/AFdr4Hu3ef24y3U2ImCnXqb/AHYGV9LcOf5mxMkUsrHftIvcgBbhOPaaANqBwO31zE9JKlQm9uY7cp7QawnIdXR/XkEgO5nJ582eK81VV/GU1QcZvIzqxNIkP6t8iRKskUrBUUE2CSa91FR38+e2bCzBLakDMHT/AHLqABfMkdpLC7vqAoRTERtG1RXp88iQC689++QBY1MNvTp7d5sKoKOK/q19+05jV9YnEh2yOgRiFQEgKAaAI7GvN3eZmquGyNrTStGmVzF7zrelaJHeKVlfc6CQ1+gN3/fvyB+2a6dJS4Yg3OfSY6tZwjICLDLrOlzdPPjERiIxEYiMRGIlbqUAeNlJoVd/Fc9vtldVA6EGWUnKuCJyWo1y6aIMv5hmsD9SgBTz25uyPj/z54IpJcZ4vbSejgNV7HLD76z1qY31apOi8kbWTcLtSexNWD/OdqI1YB17TtGotAmmx63kmmaPTD053RXd1LIylgFF9yAQCckiikMLkXJ75SNVjWOKmDYDXTOWdRA8hlaSBW2IfSAsbq5A4PuFc/8A7lmAuxxrppKxUWmqim2uvnCZ2hlkmVmMKGVj6cicj2Uu07Ltbqr/APjYzoxfuAz0mPa2BG6Uhhx95cj0kUEwhSIhd6szbms0Lskn9Is8fue+ReraqKdsvPpKKWzpSU4ZS/EjyRRI0UZgV2PqFDzxW33DsDbcdsrrF1QFVw31/E9HY0psxxZy50ozy6Spfcp37gb3vHQqj3u9wBP07+bENRqXq69yJKoKa1vT07Ayhpp4xpCGDKIm9pHuLF748C/Pj/znBV6Vjlb8yzaKDGqLHM/ieozp54Q4aRDFSMtAlrLMK5of3c/Q/TJDdGne5yy+ZmfZXD4ecn6gIjtmMoSM0tNZcbQBQAu+KP3yNSmrneYrA/OU4KLhsAFzKfVXk1EbH1RKrageiFBG3hhTDaCCQwoc3R+9lVi663ucv7nF2VySGysLybpmgVFMDSHe0osgWlixXgnknmu9fvkMKkbq+d/btAoOFxzK662medR6slKoR3CBgdvlfcD9Ox8VfnaqhQFvpPndrejVrXueRyv58GdNBPONQipfojaFoWpjoc7vPHN334+mRxVN5YafiekpNwBpKPT440J1ALFVkpUIok1fJuuBmZCi/qZ6z0jsrB8FxpeWt6GJyHK+o3Jc9mBBrgWbB/V+15z0mmxBtfn9v7nTs7hrDO0q6nRmZV0qk7v+qHAtCKKgX3rk8/PGSWkWUUve/DtJ0jur1D2txnmOGVNOiRNIwWRw5UMPdYoDzXf73dcZEhxTAS+RN5pXAapNS2YFu38yxrdOqpE8sKtMwNlr7DtuAIDNRHfJVPQqlluxlSep2CNZRy/HSaf4b0CgvOC1ykkqewNnt883XwOM0bMoINTnM20ucqfKbuapljERiIxEYiMRGIjETkuswPHGROEmVpbSwQEHxYogn4vwe+Ya+JF9Vjn8T0dmw1H9NxYfM+S6MyGMRBF/KB9MMAUB813ok3ffnKqlJqhGHlpyklqCnixc9ecz+uaBHkkkeR4xHsWQsl72rbac83XY/v2OSqUQ7EkkWtfr2naVYooAAN72z07yWRDqWDwElBtRbNFCABRvsfNjvfzk2UubrpIqwprZ9fvMrrWviEs4RGJf2O5fuQwLbVrsWXyeR8ZbUAIKz5d9pSnXZkXprN2OYCGOpVMLachUksEtR4ND2gNxd8AVkSMNgTlabhVxAOvESr1jqfopGjo6zNAA3pS7QiBvbtamsnbz9+c5Uwrzva2R4T0tiWo9MF7ffOakgLP/AFMQZ/YkgT9JIYVW4+3gWT9xkWpneb0Z8bSxXATdNlwv5nHU9MzCX1ChgYXGu9U91iiGqgR7r7g511JviIwnSdR1AXCDiGvGYup1SaSY6ZIt6MU3liS73RG0igKuhxybyJVE/TtcGTBequ8JsRPf4o6YzbPSUHYCpjRt7L7iQ1dzfF/FD7V16d7BOHAZyezVQLl+PE5Tz0DTSadHkkR13MoVbKElSWs+aHaj3s5GmGpKWYa26SVVlquFUjK/XWXp51G2dYJHZpaKKfaDwbur5vgfN/GSGE2qBSTfSVkNnSLAC2s56f8ACs6yMi7GVT+veoAHywu147iv5zZhnx7bFVDWGnObGn1koDrHG26CHZFICacAhSQvZiRucAX2F3xkHJtiXUDKersPqqim6nCuV+f+5W6f1eUwTNMDLGNu0tYpya/UOexJP2HF5lWoxpsXFx+Z7z0lFRRTNj+JLo5l1MLFtsRhPiyrb/3JO72/Xx9ogLUp/wDnD+fzJ3alUsPVi/H4l3/qRxxQMW2A7l/SbJu68iz9a++dPrULTN7eecpA+h2eoLX8t5rPeq0u1jM8sm+ODY2whqLblH91jbd8+QDeXEYfUxNwLfP8SpTj9CgWJvn0/mZiAaMLC7bvUZJOEBCpZB4b+5uQa7UMrsKQCNnex08zMtN6xLrla414/wACfoKKAKAoDsBnpAAZCeUSTmZ9zs5GIjERiIxEYiMRGInP/irUtAvrISWYhKPKjubryeP5zLtBKesduk17MoqHAe/WYXSZpNQJ323OFUb14JUnlaHtv29wLIsZmQtUViP3TWwSkygn08uss6XppeJ4pg4DMpjWwGBBNsFbwAef/Tk6FNsJDXtI7RVTGGQi/H+JVh6Zp2VtPUpKuzhgRbsqkVVcChx5yYwG6Zyuo9RRvMtJX1nQ43kDGZYDKSxjfllsnzxwTyLr75ZiU2ubE8J86+w42xA2vJbRQy6iOSKOAiNGA5k5Y1zwSfc9jjk/TD01bXhCuEBDggLkOvms1dZo0nqSQRyINpT3lCsJvvVH44N83WRKkklrEcO09yjVUoN3cXHyZl1JFLJM8l6X3LSOCGBBCoqXwR7e4AFHx3iQcyT6ZfkQFA9Xmc96DVQ6rZCu+J13Fd1OHvkjiqPF5FVRgEHCSYvTJc2N/pNSHV+m0BeF23kRxgotxhaUndV83fjs3xk1qWw3Bzy00lT0wcQDDLM563lIQKm+T+oQKgIDqSWtgQvAF9/i/OZkphSWxCwmh3YgLgNzKH4fgERLah41SWO0VnHvYn2twbUDkbjR5I+clQomxLaH69fM5Tte2UUIXFY3+nntNLUwoskDSyGKRFNpGCQLJo3Zoni+9gDtk8IUqWNiOAlFbakXEgzvx8+kqxwejId7RlzG2xCw/NLKQo+gJrvV5OnSIbP/AHPJZghtcX4DnL2gj3xxNqEMbxyUI4/9NghmUklRd2fjnyMk1NSVJ4cps2Pa6iUirKBeVunzqW1TJMNRu/8A5lWqi36iGFEL29tjkfTIFWQM18V+E00drobQyomREklVHhSFAkcpcuIwNu8URfPmrqz4NZURjphQADrbnNqMadQsSStrX5T70nRNC/qzflKAQL7kkEcAc8d/4zlGmabY3yEltFVaq4KeZlLofTHgm3mWOzG3pgNzKSCBweavnnyBilTZGxXGht1nK1Vai4cJ1F+k2+i6dpJLmTftFgyLZVrHYkWP2HwMt2cOzXcX7yjaCirZDa/KdLm+YIxEYiMRGIjERiIxEYiR6iBXUq6hlPcEWM4QCLGdVipuJyfV5I9OqxunpqZSy+kByoobms8nkV578ZgqgKMLC2eVp6FK7nEpvlneZn4g6U8mttJY7dlKkyKGTgV7Sd1juKvJ1FvU1EUagWlmD8TY1EvqCRtMQXEpEjIpVtvjk9+RyR3zlQlgTT1vnOUgqkCrpbK8yOodBleZC8qb5QCd12PA7CjwBXPP+cpekxYYmFzM707lmpj0iampQ2zud8Yi4hlBs7aWynYAH3WOf85cXIJbpoenl5wbKKjBGsRfuJUj2yJJJ6DGRikdwg/p4I9l0ANqg/8A17d8glTeKSVzyGU2vTFFlVWyzNjKuqeBlbSBn3mUVKQAm8WoFXe02Ru55N9hjGn/AF8b6xhqf9tsracbSX8P9AMM3qSSJuQ7VCW/vYFRu44A5+4yxFCtcnp7yFWoXWwBtryyEk6B03UpOTOSsbBlkLOKewQK55N83++VUadRXO8076ydarSZBu9RplpJoYdOrTQqfWk20EZeOCCQP9TLV8V2NYCIuJV9R5ecZ16lRwrMMI5+aCZHXenl3DMfS2wrvBRgoXdsXbV8mx7ePPPerRUsvrFrDl7eCeLtn+MavVx02Bvl15zWOkikEZV2P5I20LMgRas8Da1qw89v5i5Rjfp82lw2FhkcrWEzevrATHKwcEgD0wRRVKUHeew8dj2P74O0KFBt7Tr/AOHFWtfFkLSSLVRyepPybYq0d0fzFb+7/TW7mr4qh3yoVV/7Bz07/iXf/mk1cLHIg+fWS9A6FQBDS/nIyBlG30+eeed11344v7XqxcCwOf0meh/jl2SqzYgbaDv+ZPoZQ2pQFLdR6ayGy4oEBiCdpPfuOPnjKEqXqgW6X49569Slholr5a24duch0HVV1MvomMqrOzKQxLA0SbuxyB47H74V1qtgtbUzjU2pLjvfQSzM0SiGWTTuro21AWI4U7rNjkhmPFcm8liRQrMhuJwU3ZmVXBB1950H4e6b6EZ/Md953W/cWP8Av8nNlGngXUm8w16mNtALZTUy6URiIxEYiMRGIjERiIxEYiV9Xo0kA3orVyu4A0fvkWUNqJJXZdDPyjUaVxIY2VvU3UR3JP8A3N/PnPFZWDWOs91XUriGk7DrERjhEcrf9WNdwQAHeuwsxP8AdZ/m/HfNla6LZjqOHPK5mKgBUa6jQ8eWdhKOlRxJHAiEr6XslIYEbgXD99oCs3bnt3vIKpxKoHDI/W/LKTcjCzE53zHbK3POe9Fp9QqPAmoHr+pdWxG0A7gHI7k0SP8A4/vkkDi9MN6r+Zzj4DaoV9NvMpoTaiMmFWkpowN7KvsLcWRVVyDzVc4d0LKC2nxIKjgMQuvzMuXSQxyCSVXSYkuY1KuiNZIN8WOzbQfp9MgwRGuwIOttQPNbS5N46WUgrpfQnzS82JtGzerGDGrOEZW3EGTi2tf7QTfA/wDy5qd7qLAm3vzy4ShKuEhiCQL+3LvMLqfUxHt07hnMTHcwau/JUWDdCuTXNjtmaowAFNs7eWmmmhYmouV/LzVcr6jyxrHH6sJ9OVjtNslg2TV7quhfzl+KzkgAAjI+0zhboFJJIOY95l/h7QyoZDMAsTIQfU5V2PK8Wd3PO4ePPOV0VZbl9Dz4y2u6tYJqDw4D8S91PQ6ptLEIwKDG1iIHt42/poEXu4HyD4yxkrGkLfSQV6C1jf685Q1vTTIkSSSgalQVIck8EkqC4BAYX/kdsqdMQVWb1ecZbTYqWZV9HnDlLGi0Y00UgtJJGcK4olUrcQOQLN3z9PpiwpIRkTex6SJY1XBzAtcczIOsaWSeOOTdGipaBTai++5QAf2Nf6R9oviqIGJAtlJ0yKblQCSc+c2eoa30hH6ewuYwWmCglvHf6kG8vrVcFsFr21melSx3x3sDpylZEMsE5jVFn494AUsCeRfABNH4v/ORpkujW/dz0knAput74eWst/g7p0qI4nX2lgUV+aIuzXNXx/B+9+zU3CnHKdqqoWBp+86fNcxRiIxEYiMRGIjERiIxEYiMRGIlPqumaSNlThj/AJF8i/rlVZCyECW0XCuCZynUJjDp/ciSH1itNZCcc9iO9dgazB+ylmAc/iegvrq5EjL5l+TWSNFBNuEKEAFeQAbPIAHIIFgHxlrs1le+ESpEXEyWxGUD19V1xAgXmX0y1nd32kgfp7/Sz885HfKK37eNpPcsaAu3C8Hph3hA6EFyqtuHJHcVd2Pisp/45xWBHKWb8YbkHnJOoTQSbm2vccRqiAHCi+eCRx5HjLHalUOhyHzaRp72mLAjM/F5T6d1czGRm9OJ0jBSSyqgWFo2SLo0D/8AucWpju2QI48JJqYp2GZBOY4+c5L1LpMLSIZZWDsoMhQKVNjvfixR4BHmucVEp4hjOfG2k5TqVMJwDIaX1nz8SaQxyAURGEVY/gAACr+bs/f65HakKv04S3Yqgan14zxNMsWnjWYurFyyKFs7OASQSKF9ufnFgKQDmxvl2kSS1UmnY5Z95pTRR7YZFmIjVAQxVvJY+3j9V3a9xWWMigKwbIeZdekpRnJZSuZ7fXp1lfqmmgv1zNUUjk0FJYm7IA/3Pa/55Up0yd5iyMsp1qgXdYfUBKfWNTqJZg2mDNE9FNq+1jxe8VV7gQd3YV++KpdmvTGR+Pf+5GktNEtUNiPkdv6lto1lf+n3vYlfaxA2i+6hRVKNpo/454MFqNu78T/qSTFSTekDMC/8yp1XqSQsNOYyyxGme6Y37moURXPY/wDORqlF/TIvbjO01epeqDa/Caui0DyNLCYzHErbkk5JeuBfg2CTxVZctDFdLWHPn59JnasFs97nly8+s6iGPaoUeABz9OM3KLACYGNyTPednIxEYiMRGIjERiIxEYiMRGIjERiJQ1uhZm3o5UhGAX+0sRwSPPNfwMqemSbqZdTqADCwvn7zB6bBIC39SaTx6vuG+xyAfpu5+uY6asL73Trzm6s6EDc69Msp5XTT7ppHSL1twMJAQsVs2Vrk+2qLc98mQ/qNhi4aXlamn6VucPHW0p9Tn1Kxw7UHqB2YlY1ZwTVErRq7PNWePvWxqhFyz7ZywCiXbPKw45SfW6swo7RpGJhGu6ju2Ma9SlsihyPp+1jDHBcqBe3fvlOKhewYnDf55Z9ZS6dKJNHJ6sSlfVADoojs0TZ2ijXbt/dWRD3onEvHtJslqwwtw7/eaR1OnV0EkZCiNNoWztFdns81wePFX8Z0vSxDGOA8MitOqUOA8T4JVf1IhLCuqZpXdaY3Q+fdZILWLI44HPx0sUugfMwED2qFLAeaT1qdPFNBG07Su8W9ZJIx22ckHcOaFUfJvJOFdRjuSL3I6d5FGZHOCwBtYHr2lXp/VY5tmmaMohIEZD7ipFgWCOd1mz+2VrUSpamRYcJa1N6V6oNzx86S51bS6ZkWHdJaMT6gAPJoGxxY4Hb4Hfz2puQMGeXGRpmsWNTLPhPuq0zQLHHEz+nttWBI3MTZPHntQ8CvvGqGSwQm0UmWpdnAvPvUZzFsuJd7xe9mBs3akcEUa7nvznajFLXXMjPz7yVFBUvZjYHLzlymsnSlklVn06bRGtE3dgCgRfNduR4zUKeJwSotaY2q4UIDG95u5qmSMRGIjERiIxEYiMRGIjERiIxEYiMRGIjESn1HpyzABiRR4I/zlVWitQWMtpVmpnKVG6GPWWQNQXb7a/0gAc/HAyo7MMYYHwS0bSd2VI8M5XpvQdSmqDuCAj73lsUQOT9TuFivrzmdKFRamI/PnOa6m0UmpYRx4ecpcXTxwus3qkqS3p0pLXRFkGu1j9/vkQqIceLLO3nSTxvVU08OeV8/NfpKXX+vzhxGkp2qi+4ADeSobdVcXfbO1tocGwP9yNHZqZGIjj8dJe6eE1MPrz/9RW2HkKJCACL44NGjVdjkgEqJvH1+LyJZ6T7qnprztLWv02n9VpGJXsygsqpIaulJ7+LrOulPGWP9HtI06tUIEH9jvIOpxq0vryOQVjp9P5pvbV3wG3Anix/2OQTjY8MxFJThwKNTk3b/AFKPStCilZoopJGV62E2F44NhQT9CaA8+MqpAD1oCTeX1bn0OwAtrzmnqOgS7yFAK3wbHb6+ck2yPiy0lK7WmHPWXougus8cgmOxEClOeeCPmqJ5/wDbzUtAqwOLICZm2hShGHMmami0KxoFstRsFuectp0wi21lNSqXa+ktZZK4xEYiMRGIjERiIxEYiMRGIjERiIxEYiMRGIjERiIxEp6vpkUgVWQUp4A4r57Vlb0kYWIlqVnQkqdZV6j+HYJiCy0VAAKmuB2H2yL7Oj6iSp7TUS9jIuodCBSNIQFCXSknzXN88/vlVbZsSgJwllHacLEvxlLqP4S9VYh6m0oCD7bBs3xyO3+cidkuoF9JNdswsxtrNuHpcSoF2hvywhJAshQALP2H+M0iktrW6TMaz3vfjeTaTSJGu1FCi7/9OSRFQWUSL1Gc3Y3k+SkIxEYiMRGIjERiIxEYiMRGIjERiIxEYiMRGIjERiIxEYiMRGIjERiIxEYiMRGIjERiIxEYiMRGIjERiIxEYiMRGIjERiIxEYiMRGIjERiIxEYiMRGIjERiIxEYiMRGIjERiIxEYiMRGIjERiIxEYiMRGIjERiIxEYiMRGIjERiIxEYiMRGIjERiIxEYiMRGIjERiIxEYiMRGIjERiIxEYiMRGIjERiIxEYiMRGIjERiIxEYiMRGIjERiIxEYiMRGIjERiIxEYiMRGIjERiIxE//9k=" id="836" name="Google Shape;836;p71"/>
          <p:cNvSpPr/>
          <p:nvPr/>
        </p:nvSpPr>
        <p:spPr>
          <a:xfrm>
            <a:off x="155575" y="-144463"/>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descr="data:image/jpeg;base64,/9j/4AAQSkZJRgABAQAAAQABAAD/2wCEAAkGBxQTEhUUExQWFhUXEx4aFxgYGR0cHhscHh4bGiAiIhshISggHyElIB4YITEiJSksLi8uHx8zODMsNygtLisBCgoKDg0OGxAQGy0kICQwNy8yNzc0NC80LzQsNCw0NCwyMiw0Ly4vLCw0LCwsNCwvLywsLywsLCwsLC8sLCwsLP/AABEIAOEA4QMBEQACEQEDEQH/xAAbAAEAAwEBAQEAAAAAAAAAAAAAAwQFBgIBB//EADcQAAICAQMDAwIFAwMEAwEBAAECAxEABBIhBTFBEyJRYYEGIzJxkRRCoVLB4TOx0fBigvFDcv/EABoBAQADAQEBAAAAAAAAAAAAAAACAwQBBQb/xAAzEQACAQIDBwMDBAIDAQEAAAABAgADERIhMQQTQVFhcfAigZGhscEjMtHhBfEUM1JCFf/aAAwDAQACEQMRAD8A/ccRGIjERiIxEYiMRGIjERiIxEYiMRGIjERiIxEYiMRGIjERiIxEYiMRGIjERiIxEYiMRGIjERiIxEYiMRGIjERiIxEYiMRGIjERiIxEYiMRGIjERiIxEYiMRGIjERiIxEYiMRGIjERiIxEYiMRGIjERiIxEYiMRGIjERiIxEYiMRGIjERiIxEYiMRGIjERiIxEYiMRGIjERiIxEYiMRPhOIlOHqsTNsD8+ODR/Y9spWvTZsIMuahUVcRExunfi5ZZzEIyL3bGLdyoJ5Fe0EA+TlSbUGfCBLn2MomImaC6+UstKhQpyQwNtR4Bv5FVXzkhUqFhYC1pA0kANyb3+ky+kddlLt6nuQIzNS1tCi/wDijlFDaHZji0+01bTstNUBXX7yfp/4wikWRmVowlHnm7NCq834/wCcuTakYEnK0zvsbqQBneWek/ieCclV3KwBNOALA71RPb475KntKPpI1NlqUxczTi1aMFIYe79Pi/sectWopAIOspamwJBGknychGIjERiIxEYiMRGIjERiIxEYiMRGIjERiIxEYiMRPE0yqLZgo+SQB/JzhIGs6ATkJidR/EKVKkLXLHweO3IUnng0TX75mq7QAGCaia6GzEspfQzP6X1N5ElSWQUUoMxAAYmgL/8Al/tmelVZ1ZWPDz5mjaKKU2VlHHw+0qronU24MaqeXb2hfru7fxlIovfMWlhqoRkby9HGm+aUQoYmjapE/uvg0brk3dDiv51G12bCMNtRKP8A5RcRxX0PCZXUtb6emT0kpknve1OVJBoixVmq7ePk3lG8ApekaHvLt2Xq+s6jtNDpOskmgWSVmXa7m1T/AKiqAxJqlv8AUo8HnLkZqihmJH5tKKirTcqoB09rzGilXWK0EUCQtfqKVPB2gjaxr4Y0e1/vlQIrAoq24y8qaBDs1+E99E6W2nYaiWgqEqoRlYsxBXwSAALPJ8ds5TQ0/wBRuE7Vfe/pJx55ZTZm0hnKyIwIKdj+obfafaO/I8eTkmpmqQynh75dP4la1N1dWGh9s+v8yh1H8T6hNV6a/pVwoQry113J5tr4qu4yT7S61MI0nKey02pYjr9p2cOtRiwDfpbab45+Oe/nNy1Fa9jplPPamy2uNc5YychGIjERiIxEYiMRGIjERiIxEYiMRGIjERiJlTfiCFZvR3fmXXbjcewv57ZSa6BsF85eNncpjtlMGGdtSzR6kBoxbMG9ojKg0bFEDxyfOY0dqrFamn2m+pTSiganr83lqVXAWSFIyZAd7wqGDc0ATR4rv9f2yT7wAMoGets5Sm7uVYnLS+Vp81KqslyNCkF0UIAG8KP7a5Iaju+PPjOkWfMgL+f9zoN0sAS3Pp/rK0ibpLvG6O271FBULILchlYML4IAs8/OQFF7EMb3669Z01kuCotbpp0nrT6P0nj08E6sFJ9RC4sm7a18iuK8V98swFWCI2XGc3isrPUXM6H7ZyrP1oh/y44wik7QV+eCT+4zO20Wb0gWE0rsgK+om5mnBNc3qK5NxB/RWy20+0CuFoG/PjtmhSS+MHhe3GZGACYCONr+ZysdLGBKi+jHJ6Z3lQVWw24gOey0KI4H8ZAgEFBYG2f++UmGIKubkXyv/HOV4NM0MMsjqjXFax7g27kEN7T2As2PF9sjTplFYtbTT8y2rWWoyhCddeXT3lOHVT6vSuqhEETryvsVlIa1smuDtPf4v6lZ6tIgWFvb2kWRKVUE3N/f3l5Vki08JLKze78xaYgXwu/vwL/7eMOzpTXP3/F5xQj1Gy9vzafdbCZY42eRVPIpr5H+qgD+11zQyLgugLEDzWTpOKbsFUnt9pPpuszjVLAFDRAABqNlQv69113/APHfNCVn3gQZjn+bzM9GmaZe9jy/Fp1YzbMMYiMRGIjERiIxEYiMRGIjERiIxEYiZvW9e0SAoATdEnx5/wA5n2iqaa3WaNnpCo1mnJdYlhinineNzI9SMgYKoo0DypJsi6vMjsgZXINznNtNXZWpqRYZdZt9Q3SRSO9vBLGpVF4bnaQe3FeTzlz4iCxzUjSUUwoYKMmB1nJ9ckeArBG0iRhAwBaiS3uJaqsg+34G398y1mKWVbga/M2UVV7u1ib2+JZh0Umq0olklI9F2QMwJ3KdvnuSDxf/AIyWE1KWJjp/UgWFKrhUa/3Ojg6fDGNO+4kRxWX3BQFFsGKnmrJ7f5zSKaDA3IazMazkOnMzlul9KKuuoWRXijlB3KSGYg3RUgEE8XfgnvxeRUwneXuAZreriG7IsSJrSaeFw8p3p7haCjZazw3gcHxxgimwL5jpAqVVsmR6yPryzzCI6ZXEars2oaKsPmjyKK0fHPbLKheoAad7DKVUglMsKtrnOXzpn4R2gEkkKAkgszE8Pu4KUfkdzljKdCRcgf30lasNbEqCenbrlPiaVZGSWN1EZI2d1ICe2lQi+NtAZHc43Dqcv46Tu+wIUYZ/z1nyWZXhZ2eUJM35cZUArtb43VXbsef37KjAoSxNm0HK0lTurgKBddTfW8q9QTURRRDSMzK25mKqL3cDlTdKK/a7vxnLOtMCkb3ksVOpUY1RYjKT9S08rMHI3bkWynuAYKAw4+t5CujlsWvaKDoq4dLc5B1XTOdMsAdRKZN3olwGZSKAonvfur/cVkjTbdYL5308+Zxai70vbK1r+fEu/h1n0mnYS9wWf0wwLqu0dlHyeavi7+cuok0ks3e3GVVwtZ7r2vwvOk0OpEkayAEBlBAYURfzmtWxKDMTrhYryk+SkYxEYiMRGIjERiIxEYiMRGImL+J+rtBH+VtaSxYPJVefdtHNWAL+uUV6pRfTrNGz0g7erTzKYkvUpFjR9vpyzAlzXgEgUD2B7/xmN6jKAwFi2s3UqKOxBNwukiedp4m3pFI8VFWksDaTRBIIvxx/3ziuainEASOc69IU3GAkA8pof0bySiSNlKFhtYEALXiu/A8VkjSd6mNTlzlW8VKeBxnykHV2jZmaxKsfqO6yCyeOFR+6qCO335yTuhY8bXOf2B5TiK4A4XsMvuRxMp/hzrbSOyelECIGCbQVUAe6ipJFX54/fniNGsWJFhplyk61EKAcRtfPnPfUGRXWSRA8skNOA/s2m1FV52juDQ8c9o1HAILC5Iz5Wk6dMsCFNgDlzvNDp+nWOOkQf07RmRlLW5IH88EAWBVfXLVFlyHotfrKHN2zPqBt0kDa6NdPIxi9qkWtn3MxAX39128/Y/zWjpu29OQ+vLPpJsj7wDFmfpzy6zP0/XUMBb+ntomFUzbacEFm8/219x2ziVVwZL+388ZNqTh7Y8m/HCasOpTZpnGnIJXgW3FMar5/1C/kZMsowHB55nKsLEuC/nmU5D8SB/6qX1e+81f+m/bX0qsy177w4vOU27Ph3Qw+c500WsDRwQ6hX3gC2umAb9PBBv27Lvm80M4IVKgN+ffzOZlpEFqlMi3Lt4bT6NQ5kngeNYYkQqsrAihuFbnPBD/A+fOSsSWQiwAtf++siLDDUBxEm9v66T1D0s+gKdnDzKb079ttj9VfX7EDnjOLSKplnc8DO1Kweppaw4iZvW+hO2pc+oKd2Ydw9DwFrk8UvNGhzkatEmoc9fnzlJ0awFLTT485zZ9aP1FmLPGzDdsdTak2BuPx5qu2TJQVMZNic7WlQDlMAAIHHnHQoJknuSwpvcWbhrHFG+TdGxjZ1qrUu2n3k9qek1Ky6/adXnozyoxEYiMRGIjERiIxEYiMRPjMALPAGIAvOZ1kKmRdSkZZ23JaPuAAGwEFezFT9vi8xOcxUC3JyyP8TcgOE02NgM8x/MqqkSkaYq7qshAdm94JNGuKq/H3ygsl90RcA68ZcuMDeggEjThKc3VYFdtMI2CGQKZd3u3A1e2qIB8X2vzgvTBNIDK+skFqm1UnO2kiibTvqU07CT8uc1IGAt7AIKUaW0AsG/28dRaeMU88jr18EyNtjkk2GYt58yXqfUHiSWRYUVjMUJ/UFUg3a2QLPF9uarL0UAs1s5522bbVSmMJ4/Eg0s0ypE0OljCyqfUIU+4biOTfsQijfA8jtkwigZLrKDt21uEa3l/p3l+XVo8yxGFfTV9i/qDd67g8880f+coOAsEK5DKbV22qrmx1mfqPxDGsob0gZEj9IyxuUAAJHsQgjizRJ5+mXFV142tcfiZG/wAsVbBa4vczX/rTK4RVDQyVSbRTKa5PF35vxX0zM1R97gAy5W+s3pUxAVAZiaLrrafUNHDEix+rtKUSxo7eWJLbvgdh8Z1Ku7fCoyvD1GqZsZuyqyLqFild33AtwQQLNkG+TyASKzpuocIxJnoKVcoXUAShpdTN6ThWG80Id5Fl7FhC3nbf3r5yFFqmE2Pa/PpeWV0pYhcd7cutpoaH1BHDJqDFuDkFn2lgoPHI4JHu7cjj65aMVlZrdzM5w3ZEvbkJn9XhLqunk1KtLJIrxfqKke5eWrjcewF0R9crZSRgZ7k5jzrLVdQ2NEsALHzpM3WaN44VgjmWRzMzSRxNZugAK7tVGxXxxxeX0qRpphvPB/yu079gKR04cZq6N5I4Ii+1pUZhZ9zRj+1Tz3/UQD27cVkK74bEa/abf8UrmkUqH2knVNXDcbzOyO62yql8AkA/SwPr+2VVMDWZzYny89CmHW6oLgeWlXrxJlvum1fTPgpQqvp/veV7T+/pw7TTslt314950P4d14CRxSMd7hjGCDZQfX+avxWbtmf0hW1OnaedtdP1sy6DXvN3NUxxiIxEYiMRGIjERiIxEwPxJrwjLHJIiROh3fqL34IAvi67/XM20MP2sbA/M1bMp/coJI+JmavQH+m/Inpd4cyWVD2NtDbZ4ocHz8VxnNPDT9LZa35/E0b3FVuy52tbl8ybUalADJY7KqyKPzN4AslSdvzz9RR+DOn7/rxv9p1KbZJ7kcLfeUphCup9doSItok9Yk7S5F3tHBO7jaPPPbJBVapiC5a36yitW3NE43tbK3mc8dO6h606tGIt2xjPIy7XC9rH1A8gfQ5ZTBtdrX5zx/8Ak72oBS043kvTtMIwW/qEQyIyRsL72BZBAoD65CkAhuW10lgpsQcJlo6VFmG+R21Ho+kZKGzcex29yew+PNXZyb1lD4OOklT2WxFRjc2tM3X/AIgMGo2+lG7R0ryEUzmuSCOF71dH/bKnrYHtYG2stwi95m9T/D4R3KzRiNSCdxbcgbsCoU2RYHH3rNGV7Azx62xFCWuMM1m0jOIjpy0kSoFRlsUR+qx3Uk88/TKqqOWBWbaYBRcBuJMmqDPLqYvRlMUI3fl+7eFrddAkWCdwP6RWSYMCXyNh9Zq2Z6dZgoPGxmd07qk2p9VGlEfAcyqu0iiAFJWiQb/fj98ypVapcE243ns1KKU8JAvwtNfV66RZEXdv2BdhIB3+0e79257fOdqVnDgA3t9f9yFOihQki3Pp09pF1OKFnMMTbGiDM++9tELfu+nH/oyVSkrHAmo/qcp1zTQ1auh49rz66AQLs9J/ypAs+4DZIdx2qTyP+SeMuRN2FBt35TzNq2o1gxpHIjnOI08LlwqAh7BFcEVzf0A734yY6T5lUYsAus6r8R9beOQHTuqxuu7eoUiRrIJsgjg8V/PfM201WR/TkD9Z9rsNGjVp49fOkt9W6cuoMTyv6UphTcvHuPJqjyh+pv8Axnaqq5BY2NvO0sou1MEILi586y2utKSrCEBjjIjVSLND2g33uuc5vmFQJbIZTm6Bpl75nOUtPJrBriXMgjDnduv0xHz2/t7VXm+/nJA1RWN72+loK0TQ9Nr/AFvO2Bz0J5s+4iMRGIjERiIxEYiMRPzb8VQNJqHkjuRDQBUE0QACDxxzyPm+L5zytoBdyy5iexsxCIFbIzQ6bGINL6eo3q0km9VAsqKAsg1V88d/vnQAlLDUvmb9pA4qlXFTtkLd5Z9eFJI9KYzL6tPvvb3B20O9Vdm+OcsUU1IpkXvnIE1CDVBtbKV+t6ebUafaIwnpSAqv6bFMpAs8kcf585ZSZ2Uhha3tPK/yuzh0BQ3N7yj+FekyRzerKjKqo/sYU0ntI2hDye+WqM855mx7O4qBmylrq2pSTRpN6DRFZPTVf7aPus8Akd/g3fOZ6+HdhsM+hpbMpq4L5STo3WVl3SzqodHX3ANTWGr233G2z9PF5UlRGO8cZjz6Wl1TZCDhTiP4/mVZtPJTyagRPOJF5BViq0eWVeKPtA3j/bD4wCzWJv8AHnWdSjQdxYG1vmT9Q1itHGs0BZtQ3Mi+1jtIAI4ILfTsePnLVq+kFlzMw7ds9MsaY0+0ln6UqyxwRSSxrDbse+/s18VzQq6rxXzoxDFhHCeb/wAX1KiMRb6yTp2vi3MqRrAGJcOpqioY23grV8dh8ZUK2LLSeyuxrRF1HfrPn9bEVco8ciBBvQIULNdBqoGgaO4H6ecpZxYm4I4jTPzjNKI2IAgg8Drl5wnnR9Wkf8kkKHXYjKtFCRQqvA/n65GnXZjgPHLtLKuzIoxjhmesn0+mWhB6sUr+5dRdeoyA9gQS3A7c2DXbsNaIygC9+fOeLtNZKzlFItxF5n6b02hZEhkqP8xQh3M1lVN2Piuw7A8ZWpFXK2kxgKlMhVOWeUu9X1MqiJUDpGYl2rVk2OzfJHbb/wCcVWdSAukuZjYdpcgsx+mnpxRhQN0ZBKycFlADfquxXf650s7enIDn15T0KFNKSr6c+XC3mcytVCkhWRphH6gFif2v7fZe3kUau7zM9IOQxa1+eR5T0adYoCoW9uWYzzmyZZWmKoorYQj7bobTtbf55rNGKoatgPf83mTDTFK5Pt+LTB6VotRp/XaRb/JJ9NnDbzYpqBsgcm+/j9qaaOmLFy01vL6j06mHDlnra1uk2vwZ1eWdXEgG1K2sooc37fjgVmjZarVAb8Jm2uitMi3GdLmuY4xEYiMRGIjERiJBrtR6cbOFZ9ovavc5FmwgmSRcTAXtORbValNQnpRGKBtjFdgAogFt7V7SOR3FUOOecOKorjCLL5e834abIcbXYeC0v6vSRNLHCRI3FiTcLINn45X6/vh0QutM3PXzhFOo6o1QWHTzjMzVuZWlSGZlVkURq3CBUAJpgSRYBPYX5yJfGSqN25ZSzdlFDuoPPnnIlgaSDTgTJIx3AKXo/q8B6Jrt/wBuMkEZ6a2N/Os8vb7b62nSaOg06NtN72gCgskilQSzHkXYCfPn7ZcKQsCdR59JRRCu1r6eWlXT6kLHM800ckRpTz6oLEgg7RyOx+MrF7MWIt8z1msSoUEH4nqaX03McaIED2I9gIbtRNiySK57/GZ3dlcqBlfS0uRAyBiTe2t5Zi00UOskdS/qPY5rarPz+5F/x9cuxU6dY2vc/GcxvWZ6QTgPxKvTzOhkad5I4gjCRyTwSNo297a+1ft5yVLeBiW0mbAX9I4yLQa/fGkOmnclNxb1PaSLu7N+0c8X9vibMWyQzRs+zDZ0tUz66zxqpV9V4liUQPEbnXc3t27i6myuwEEbR3qr8ZFgLkWyI1/MvUnCGJzB0/HeQ9F0MSKZS3qq9x0oK7T7Ws3/AHfpIH+czKqIuI+oHLl4Zod3ZsI9JGfPwTb0mgjjkYxhpZIyKVqUc8E38jLqdNFc4bkiY6+2VGS1phdC6UBK08cwlSFr9gbebsDggCvkgkGjmk+kFtbT5/YtkD17q4sD55xmp/VTRExyLcDQlpJtoWT3AmyAa3AkIFok/fOjMdxNDmpRco2ajU/6+NJU6TrxI8YhmkjSG5JFcVvWxdBSQeOKPa7F5FbIuuQldBztFRVpEi3Dn5/cs+jEvprDDujd95Nv3srQPigB3/5zIcPpCLcE34z6ZcdmLtYgW4TD/FGlkGpkYgsHa0YCwR4AI8jgV9Mq2hG3hMt2Z13QGlpZ12k1I08EdOaDMY1sstt7dyjmq7fHbjJstQU1X6faQRqRqM2Xfh1nQdHE6pGG2eqIn4f/AKlc7Bf+xPa80U8YsDbFY669JmqboknPDcaadZ7/AA3LOZGD79tG94PBvxf34GR2Vqpc4r26ye2LRCDBa/SdJm+ebGIjERiIxEYiMRIdapMbhTR2mj2rj58fvkKgJUgSdMgMLzldPAUidnBMTgClYGzdg2LHFf5rPORSiEtofLz0mcM4C/uHP7SPUjVpqY1hEghATYK9u2hu3nsDe6757V4y071XAS9svDKwaLIxe2LP+rSWLUadJWZEbyFYmwt8WE+Pv2ytalJalwPO0sZaz08LHzvIIOnqjosqiSeFC8ZWkj4t0B4ArdZ3UOTXNZdTbCcDZnXpMVfZKdYivpY26+dJHpOmqdLJHsEEkyBi+64wFf2rus0DzxZ7+e2TJutjlf4kaGzU6FTFTF89OPglHR9HngjnYFS5jWlT3HaWBL9q4rjyLJ44ykhkU4TnbwzcXR2XEMr/AF5SXpWtnMEhkl2ncvpvKwDHvuCu3P8ApPfj75CmzlDc9if5Mq2wIpAT3tNkKaRCR/VlQVkPuUG7W6PJ2/3UfHesn6cQB/fzmPO0k1OiGoin06bFpgwZWsM/ckjkgXx5r7ZosGDKJcv6RVzOW6V0z098rNFKFBQoj7v1gqS1f21Y+prtlAXCCcjNbPjsuY4/HKb2iiCGL3COJkNQksRRsEGwQQ5s2x8/TOhgpFzYHh5zlZGINlcjj5y6SvN1OOEmK3gYoVZIwCiMTe4kG7qu1kfashjC5H0m2g0HWUVqim6jPrx7S/qtFLtiYTsPRX1HI/8A6r3FG7agNvuFc/bNAOBczoL95jbZ6lV0wtbOZWkiSRwiqYRvL/k3ZKgmuT8A1VVfbnMyVd8wU5dp6f8Aw6ex02amL8/PxIuqa6Cy7iU+srExEBWWyQCSSR3FqKPYX9dGAB8XOfOVtop4fUDnw4jzhPXQ0iij9aK5Ge429ReEHBIIBolhXN9geO4yFapu1uBe82f4jZaTk1FY3+om2sUhWQBwqvErpFt2hACN3u7c89+985EhihANri9tLc85691DgkXsbE635ZTPliljjeNXEcsm3am8Kzc81zxfYdr5GVIjopW9ieF5azo7BrXA1NspY6XqJIojFNLU/IUH3UCBtDPz5sjnixeWI5RcLN6vLXMi1MO2NV9Pl7CTaeV0il3MDMhA/UGdFau557/vnAXSmxJ9Q9yLzjBHqLhHpPsDaRdF1knrKNzEMaIJJ4+ft3yvZ6j7wC+sntFNN2TbSddnqzyoxEYiMRGIjERiJS6vI6x/lruJNEVfHnjz8ZTXZgvpF5dQClvUbTntRpdSJE9IFVpdoU+1TVsD/wDbdd9/rmNkrBhhy+wm9KlAoceZ+p5T1qRHLrFlDtuQEAdlat393JA5N8c/TJl0etcaj4lQV0okWyPzK2l0kUhBSZfTL7ASGDXwaoj4I57f9soFFCcmyvaXNWdRYrna89amJZf6pfUkQFVI3HcqiMgfp+vHGWFlfGtyP6kAGTAbAn+Z90XSV9BYjJQLeortwpJFbQpN8d/3v5zq0cSBL9b8O0GuVqF7dLce8l0WuUWiySKNM21/aPeSx7C/kMKbxzgOEFgx9GvWV1f/AGwHq06TK6900zCKRJd1D0z6rU12Wu+QeG/wPtArvFDBumcx1nGK9gLy7EjxSohmh9KGGpza7lu75I3dyAtfSxzR1qirYG2QlBTaN6pX9s86H0IwWM3qLIjIPTBsA0CTf6SPj75UoWmbk3vPVcvUyAtbPOQ9K6YNLMPT1CmRqUWhC7Wpue/JpaHHnnkZHJGsrZyZJqJidMh1l/11RlTVIFcyMsBDF7W+C53GxuP7/QZIhb/qDO+XH5mV62H9h117yh1HpEMjSTtqK2V6wVO7dvaSR+oiux5+nGQamjXZm01/qUKhdsKz3purRyP+RGRNs2xrIQUagFo0e+y+Lo13+Yq6O90Hq4X08tPQNJqaYXPp4218vL3pJTJAPTnA9zbjXH6grE2Of2sDJjBcqmTeaTPtIrvTGeUwur9MM7FklR5IwFnDErTAlRTMAG4AU89x5vNFjbMz52vR3zkoQSMjJ4526fGoAV5JfeTZKBRwAKI3Hub8cd++VVq27tbO89n/ABWwWQ4j8TVOqkmiiaBtrSFmaP1AGsHbYsglbVuMgxd1BpnW5tfzKeggp03YVRe1gDbzOQ9S6Qks0cnqlncC1UcMyADhrG0EgeD85yois6m9yfuPtO06jKjLawH0B6cZLPpo3/PkYWXqSOMh6b9weLAsg5x0U/qP7gZySVWX9KmOxOUq6zqE665lRAA7KCuwfmJwLLVZ4J5uh/OSd3FawGvTWRSnTNC5OY66GedL1WRNcY0jUL6uzaF523W6+/b3fFfzkUcrWwqBrbz7zr0w1DEzcL/1+J3WelPLjERiIxEYiMRGInPfjiR103sJALgOR/pIP+Cdo+9eczbWWFPKatjCmp6pyv4PkcT0ill2MXXwdoteO17toB+uYtmJx5C4m/agpTM2Pn4m/o1O0zrC2/1K287aI5IWr+nxliAgb0Lnfwympa+6LZW8ErtK0ckqRCAKEDJEoUur0u41X6lG77AcZ1iVJCgcwOIOX1/qEAYAuTyJ4EZ/Q5Qs87QMfUWMmQe915cUbHCm64Pb5F5FXfdkk2z1trJ1EpioABfLS+n1nOfibd/USb/n2fHp/wBleKr4839cz7RfeG/t2l+zW3Yt79+M6DR6vULHpoZIgYpOGZ7Brca91iiqAEX3HHjNal8Co4yPn2nlbSyiqSspy9bUakQeipiSfbR3b7vaTd14/TVVQy4U0X0gZTxX21jWwkZXt1mhrdEsi6kyQFXZlFxWWPN3RJFcLZAF39xFzkxK/E+iQZqFbLrMUNHp5vQMfqKJfcxtXN0OKNAfA5v5F5nZ1V8BF85eFZ0xg2y9p0+v0yK7zNEylHUKL9rVwD2sAADtx2HzllUBSahXQ+xmUVmWmEBvf5Ezp2l2I2lhBPrMXsByGpSK3fpBF2Rzx3ziOzJiprxmRhYy3q9DNNI0QjRNPIoLSKBe4ANu72ffxXkX83lrIzsVsMJ4+dZqptTpKHv6hw86TP6P+HmR2lSRJGivaq3y3bmwO3JAF2R3+aKVEgllNyJpq7QCAjAgGXupa1odM0rRJ67MAbHZSf1Mn1Ir96/bNFMC12AxGeZ/kdoail6RJA+kz+m9QSbTytNGFYyqC8SgF2otz4JHN/8A+h55ztQqU9U8zZqu8Riwzvw4y5LpLaNbieD0rjRx7t7cjmrFtXF0Rx35ylrXC3BFsgec9rZ3RKYtcHn0lmDQxiaGSXYkqignqKvABCHZ571QI8d8miepWcAHv8ZSypWAVkU5Hw5z1p/Wb1FlLIhRgzEUFsEWv1s+MppGriOO4Fj7dpSuotnM7oPT/QkkUTIZXhuNVuiLvcSQADwaHjnO0qeC4DZkZTbWqbwAlTYHOWm08zQSKzsgbaFLbuTY44sgHsT9fOEFTAcRInGanvFKgG0dNlKSQRGckxllc7bDknhdxO6h+nkft4ydOpZ1TFp9ek5UpEo1TDrn26zrs3zzYxEYiMRGIjERiJT6nGSn69ig21iwV8j/AIyqqDa97S2kRfS85LryOYh/TVs9Rt4hQofGzcByf7ue2YqhJX9PS/DLtN9IKH/U1tlc37yECUQwevNKjLIWVatintomyKNhgLvg5EswVcZIP4kgis7btQRb2vJdL02IS/1YlYp6pIQL7wxtqJuvrfkcZ0BA29vlf3vOO1TDuSM7a8LT7qH9JRHI7z2fUDlipAYDgXu71f3yNRgAFYluN+/zJ0qZcl1svC2unxIta+ojkMpLDTKg2kEGkYAJSk/rsgX89zWWgVMdx+38fzMm0VaNOgzP+4fefOnH+riAMjboFO8ye61JJsHvYqqPwOcmaRZRc6TxqdYbRplaaGiWOYO0SfmpEApKjcSBW7cP7qofTijnVfGpC6gTZRo0xVVmAmX0gMJ028EN7j8L/df0q7zDRxbwWnv7Rh3RxecpuwFPUaSSOMBRUcpG42OFpud/HN+K8ZrVwGJcAAaH++M8ypkgCsbnUf1wmN0aOWF3ad1KuhoM+4St4NWeL8tXxxzUExLcsQbjnrMnGXuqdLld4yPTQlRSBgu02ew+vexZ/jOvSY4dAeU6ZJM29v6kybI1YAs9ggrQIC89/gfJyLKaj729h/EtqIaXpaZXXDLLGrx7WjLtu9AN3sbd473Xzx/PPauIrddOn5lRYtqZdl1TRQwJPKqO17ldSxKXxu9p478NQ/g5eqvhW5zmWvWRLKzWvKGi6nM2rEGxPS9WjCI12hL/AFdr4Hu3ef24y3U2ImCnXqb/AHYGV9LcOf5mxMkUsrHftIvcgBbhOPaaANqBwO31zE9JKlQm9uY7cp7QawnIdXR/XkEgO5nJ582eK81VV/GU1QcZvIzqxNIkP6t8iRKskUrBUUE2CSa91FR38+e2bCzBLakDMHT/AHLqABfMkdpLC7vqAoRTERtG1RXp88iQC689++QBY1MNvTp7d5sKoKOK/q19+05jV9YnEh2yOgRiFQEgKAaAI7GvN3eZmquGyNrTStGmVzF7zrelaJHeKVlfc6CQ1+gN3/fvyB+2a6dJS4Yg3OfSY6tZwjICLDLrOlzdPPjERiIxEYiMRGIlbqUAeNlJoVd/Fc9vtldVA6EGWUnKuCJyWo1y6aIMv5hmsD9SgBTz25uyPj/z54IpJcZ4vbSejgNV7HLD76z1qY31apOi8kbWTcLtSexNWD/OdqI1YB17TtGotAmmx63kmmaPTD053RXd1LIylgFF9yAQCckiikMLkXJ75SNVjWOKmDYDXTOWdRA8hlaSBW2IfSAsbq5A4PuFc/8A7lmAuxxrppKxUWmqim2uvnCZ2hlkmVmMKGVj6cicj2Uu07Ltbqr/APjYzoxfuAz0mPa2BG6Uhhx95cj0kUEwhSIhd6szbms0Lskn9Is8fue+ReraqKdsvPpKKWzpSU4ZS/EjyRRI0UZgV2PqFDzxW33DsDbcdsrrF1QFVw31/E9HY0psxxZy50ozy6Spfcp37gb3vHQqj3u9wBP07+bENRqXq69yJKoKa1vT07Ayhpp4xpCGDKIm9pHuLF748C/Pj/znBV6Vjlb8yzaKDGqLHM/ieozp54Q4aRDFSMtAlrLMK5of3c/Q/TJDdGne5yy+ZmfZXD4ecn6gIjtmMoSM0tNZcbQBQAu+KP3yNSmrneYrA/OU4KLhsAFzKfVXk1EbH1RKrageiFBG3hhTDaCCQwoc3R+9lVi663ucv7nF2VySGysLybpmgVFMDSHe0osgWlixXgnknmu9fvkMKkbq+d/btAoOFxzK662medR6slKoR3CBgdvlfcD9Ox8VfnaqhQFvpPndrejVrXueRyv58GdNBPONQipfojaFoWpjoc7vPHN334+mRxVN5YafiekpNwBpKPT440J1ALFVkpUIok1fJuuBmZCi/qZ6z0jsrB8FxpeWt6GJyHK+o3Jc9mBBrgWbB/V+15z0mmxBtfn9v7nTs7hrDO0q6nRmZV0qk7v+qHAtCKKgX3rk8/PGSWkWUUve/DtJ0jur1D2txnmOGVNOiRNIwWRw5UMPdYoDzXf73dcZEhxTAS+RN5pXAapNS2YFu38yxrdOqpE8sKtMwNlr7DtuAIDNRHfJVPQqlluxlSep2CNZRy/HSaf4b0CgvOC1ykkqewNnt883XwOM0bMoINTnM20ucqfKbuapljERiIxEYiMRGIjETkuswPHGROEmVpbSwQEHxYogn4vwe+Ya+JF9Vjn8T0dmw1H9NxYfM+S6MyGMRBF/KB9MMAUB813ok3ffnKqlJqhGHlpyklqCnixc9ecz+uaBHkkkeR4xHsWQsl72rbac83XY/v2OSqUQ7EkkWtfr2naVYooAAN72z07yWRDqWDwElBtRbNFCABRvsfNjvfzk2UubrpIqwprZ9fvMrrWviEs4RGJf2O5fuQwLbVrsWXyeR8ZbUAIKz5d9pSnXZkXprN2OYCGOpVMLachUksEtR4ND2gNxd8AVkSMNgTlabhVxAOvESr1jqfopGjo6zNAA3pS7QiBvbtamsnbz9+c5Uwrzva2R4T0tiWo9MF7ffOakgLP/AFMQZ/YkgT9JIYVW4+3gWT9xkWpneb0Z8bSxXATdNlwv5nHU9MzCX1ChgYXGu9U91iiGqgR7r7g511JviIwnSdR1AXCDiGvGYup1SaSY6ZIt6MU3liS73RG0igKuhxybyJVE/TtcGTBequ8JsRPf4o6YzbPSUHYCpjRt7L7iQ1dzfF/FD7V16d7BOHAZyezVQLl+PE5Tz0DTSadHkkR13MoVbKElSWs+aHaj3s5GmGpKWYa26SVVlquFUjK/XWXp51G2dYJHZpaKKfaDwbur5vgfN/GSGE2qBSTfSVkNnSLAC2s56f8ACs6yMi7GVT+veoAHywu147iv5zZhnx7bFVDWGnObGn1koDrHG26CHZFICacAhSQvZiRucAX2F3xkHJtiXUDKersPqqim6nCuV+f+5W6f1eUwTNMDLGNu0tYpya/UOexJP2HF5lWoxpsXFx+Z7z0lFRRTNj+JLo5l1MLFtsRhPiyrb/3JO72/Xx9ogLUp/wDnD+fzJ3alUsPVi/H4l3/qRxxQMW2A7l/SbJu68iz9a++dPrULTN7eecpA+h2eoLX8t5rPeq0u1jM8sm+ODY2whqLblH91jbd8+QDeXEYfUxNwLfP8SpTj9CgWJvn0/mZiAaMLC7bvUZJOEBCpZB4b+5uQa7UMrsKQCNnex08zMtN6xLrla414/wACfoKKAKAoDsBnpAAZCeUSTmZ9zs5GIjERiIxEYiMRGInP/irUtAvrISWYhKPKjubryeP5zLtBKesduk17MoqHAe/WYXSZpNQJ323OFUb14JUnlaHtv29wLIsZmQtUViP3TWwSkygn08uss6XppeJ4pg4DMpjWwGBBNsFbwAef/Tk6FNsJDXtI7RVTGGQi/H+JVh6Zp2VtPUpKuzhgRbsqkVVcChx5yYwG6Zyuo9RRvMtJX1nQ43kDGZYDKSxjfllsnzxwTyLr75ZiU2ubE8J86+w42xA2vJbRQy6iOSKOAiNGA5k5Y1zwSfc9jjk/TD01bXhCuEBDggLkOvms1dZo0nqSQRyINpT3lCsJvvVH44N83WRKkklrEcO09yjVUoN3cXHyZl1JFLJM8l6X3LSOCGBBCoqXwR7e4AFHx3iQcyT6ZfkQFA9Xmc96DVQ6rZCu+J13Fd1OHvkjiqPF5FVRgEHCSYvTJc2N/pNSHV+m0BeF23kRxgotxhaUndV83fjs3xk1qWw3Bzy00lT0wcQDDLM563lIQKm+T+oQKgIDqSWtgQvAF9/i/OZkphSWxCwmh3YgLgNzKH4fgERLah41SWO0VnHvYn2twbUDkbjR5I+clQomxLaH69fM5Tte2UUIXFY3+nntNLUwoskDSyGKRFNpGCQLJo3Zoni+9gDtk8IUqWNiOAlFbakXEgzvx8+kqxwejId7RlzG2xCw/NLKQo+gJrvV5OnSIbP/AHPJZghtcX4DnL2gj3xxNqEMbxyUI4/9NghmUklRd2fjnyMk1NSVJ4cps2Pa6iUirKBeVunzqW1TJMNRu/8A5lWqi36iGFEL29tjkfTIFWQM18V+E00drobQyomREklVHhSFAkcpcuIwNu8URfPmrqz4NZURjphQADrbnNqMadQsSStrX5T70nRNC/qzflKAQL7kkEcAc8d/4zlGmabY3yEltFVaq4KeZlLofTHgm3mWOzG3pgNzKSCBweavnnyBilTZGxXGht1nK1Vai4cJ1F+k2+i6dpJLmTftFgyLZVrHYkWP2HwMt2cOzXcX7yjaCirZDa/KdLm+YIxEYiMRGIjERiIxEYiR6iBXUq6hlPcEWM4QCLGdVipuJyfV5I9OqxunpqZSy+kByoobms8nkV578ZgqgKMLC2eVp6FK7nEpvlneZn4g6U8mttJY7dlKkyKGTgV7Sd1juKvJ1FvU1EUagWlmD8TY1EvqCRtMQXEpEjIpVtvjk9+RyR3zlQlgTT1vnOUgqkCrpbK8yOodBleZC8qb5QCd12PA7CjwBXPP+cpekxYYmFzM707lmpj0iampQ2zud8Yi4hlBs7aWynYAH3WOf85cXIJbpoenl5wbKKjBGsRfuJUj2yJJJ6DGRikdwg/p4I9l0ANqg/8A17d8glTeKSVzyGU2vTFFlVWyzNjKuqeBlbSBn3mUVKQAm8WoFXe02Ru55N9hjGn/AF8b6xhqf9tsracbSX8P9AMM3qSSJuQ7VCW/vYFRu44A5+4yxFCtcnp7yFWoXWwBtryyEk6B03UpOTOSsbBlkLOKewQK55N83++VUadRXO8076ydarSZBu9RplpJoYdOrTQqfWk20EZeOCCQP9TLV8V2NYCIuJV9R5ecZ16lRwrMMI5+aCZHXenl3DMfS2wrvBRgoXdsXbV8mx7ePPPerRUsvrFrDl7eCeLtn+MavVx02Bvl15zWOkikEZV2P5I20LMgRas8Da1qw89v5i5Rjfp82lw2FhkcrWEzevrATHKwcEgD0wRRVKUHeew8dj2P74O0KFBt7Tr/AOHFWtfFkLSSLVRyepPybYq0d0fzFb+7/TW7mr4qh3yoVV/7Bz07/iXf/mk1cLHIg+fWS9A6FQBDS/nIyBlG30+eeed11344v7XqxcCwOf0meh/jl2SqzYgbaDv+ZPoZQ2pQFLdR6ayGy4oEBiCdpPfuOPnjKEqXqgW6X49569Slholr5a24duch0HVV1MvomMqrOzKQxLA0SbuxyB47H74V1qtgtbUzjU2pLjvfQSzM0SiGWTTuro21AWI4U7rNjkhmPFcm8liRQrMhuJwU3ZmVXBB1950H4e6b6EZ/Md953W/cWP8Av8nNlGngXUm8w16mNtALZTUy6URiIxEYiMRGIjERiIxEYiV9Xo0kA3orVyu4A0fvkWUNqJJXZdDPyjUaVxIY2VvU3UR3JP8A3N/PnPFZWDWOs91XUriGk7DrERjhEcrf9WNdwQAHeuwsxP8AdZ/m/HfNla6LZjqOHPK5mKgBUa6jQ8eWdhKOlRxJHAiEr6XslIYEbgXD99oCs3bnt3vIKpxKoHDI/W/LKTcjCzE53zHbK3POe9Fp9QqPAmoHr+pdWxG0A7gHI7k0SP8A4/vkkDi9MN6r+Zzj4DaoV9NvMpoTaiMmFWkpowN7KvsLcWRVVyDzVc4d0LKC2nxIKjgMQuvzMuXSQxyCSVXSYkuY1KuiNZIN8WOzbQfp9MgwRGuwIOttQPNbS5N46WUgrpfQnzS82JtGzerGDGrOEZW3EGTi2tf7QTfA/wDy5qd7qLAm3vzy4ShKuEhiCQL+3LvMLqfUxHt07hnMTHcwau/JUWDdCuTXNjtmaowAFNs7eWmmmhYmouV/LzVcr6jyxrHH6sJ9OVjtNslg2TV7quhfzl+KzkgAAjI+0zhboFJJIOY95l/h7QyoZDMAsTIQfU5V2PK8Wd3PO4ePPOV0VZbl9Dz4y2u6tYJqDw4D8S91PQ6ptLEIwKDG1iIHt42/poEXu4HyD4yxkrGkLfSQV6C1jf685Q1vTTIkSSSgalQVIck8EkqC4BAYX/kdsqdMQVWb1ecZbTYqWZV9HnDlLGi0Y00UgtJJGcK4olUrcQOQLN3z9PpiwpIRkTex6SJY1XBzAtcczIOsaWSeOOTdGipaBTai++5QAf2Nf6R9oviqIGJAtlJ0yKblQCSc+c2eoa30hH6ewuYwWmCglvHf6kG8vrVcFsFr21melSx3x3sDpylZEMsE5jVFn494AUsCeRfABNH4v/ORpkujW/dz0knAput74eWst/g7p0qI4nX2lgUV+aIuzXNXx/B+9+zU3CnHKdqqoWBp+86fNcxRiIxEYiMRGIjERiIxEYiMRGIlPqumaSNlThj/AJF8i/rlVZCyECW0XCuCZynUJjDp/ciSH1itNZCcc9iO9dgazB+ylmAc/iegvrq5EjL5l+TWSNFBNuEKEAFeQAbPIAHIIFgHxlrs1le+ESpEXEyWxGUD19V1xAgXmX0y1nd32kgfp7/Sz885HfKK37eNpPcsaAu3C8Hph3hA6EFyqtuHJHcVd2Pisp/45xWBHKWb8YbkHnJOoTQSbm2vccRqiAHCi+eCRx5HjLHalUOhyHzaRp72mLAjM/F5T6d1czGRm9OJ0jBSSyqgWFo2SLo0D/8AucWpju2QI48JJqYp2GZBOY4+c5L1LpMLSIZZWDsoMhQKVNjvfixR4BHmucVEp4hjOfG2k5TqVMJwDIaX1nz8SaQxyAURGEVY/gAACr+bs/f65HakKv04S3Yqgan14zxNMsWnjWYurFyyKFs7OASQSKF9ufnFgKQDmxvl2kSS1UmnY5Z95pTRR7YZFmIjVAQxVvJY+3j9V3a9xWWMigKwbIeZdekpRnJZSuZ7fXp1lfqmmgv1zNUUjk0FJYm7IA/3Pa/55Up0yd5iyMsp1qgXdYfUBKfWNTqJZg2mDNE9FNq+1jxe8VV7gQd3YV++KpdmvTGR+Pf+5GktNEtUNiPkdv6lto1lf+n3vYlfaxA2i+6hRVKNpo/454MFqNu78T/qSTFSTekDMC/8yp1XqSQsNOYyyxGme6Y37moURXPY/wDORqlF/TIvbjO01epeqDa/Caui0DyNLCYzHErbkk5JeuBfg2CTxVZctDFdLWHPn59JnasFs97nly8+s6iGPaoUeABz9OM3KLACYGNyTPednIxEYiMRGIjERiIxEYiMRGIjERiJQ1uhZm3o5UhGAX+0sRwSPPNfwMqemSbqZdTqADCwvn7zB6bBIC39SaTx6vuG+xyAfpu5+uY6asL73Trzm6s6EDc69Msp5XTT7ppHSL1twMJAQsVs2Vrk+2qLc98mQ/qNhi4aXlamn6VucPHW0p9Tn1Kxw7UHqB2YlY1ZwTVErRq7PNWePvWxqhFyz7ZywCiXbPKw45SfW6swo7RpGJhGu6ju2Ma9SlsihyPp+1jDHBcqBe3fvlOKhewYnDf55Z9ZS6dKJNHJ6sSlfVADoojs0TZ2ijXbt/dWRD3onEvHtJslqwwtw7/eaR1OnV0EkZCiNNoWztFdns81wePFX8Z0vSxDGOA8MitOqUOA8T4JVf1IhLCuqZpXdaY3Q+fdZILWLI44HPx0sUugfMwED2qFLAeaT1qdPFNBG07Su8W9ZJIx22ckHcOaFUfJvJOFdRjuSL3I6d5FGZHOCwBtYHr2lXp/VY5tmmaMohIEZD7ipFgWCOd1mz+2VrUSpamRYcJa1N6V6oNzx86S51bS6ZkWHdJaMT6gAPJoGxxY4Hb4Hfz2puQMGeXGRpmsWNTLPhPuq0zQLHHEz+nttWBI3MTZPHntQ8CvvGqGSwQm0UmWpdnAvPvUZzFsuJd7xe9mBs3akcEUa7nvznajFLXXMjPz7yVFBUvZjYHLzlymsnSlklVn06bRGtE3dgCgRfNduR4zUKeJwSotaY2q4UIDG95u5qmSMRGIjERiIxEYiMRGIjERiIxEYiMRGIjESn1HpyzABiRR4I/zlVWitQWMtpVmpnKVG6GPWWQNQXb7a/0gAc/HAyo7MMYYHwS0bSd2VI8M5XpvQdSmqDuCAj73lsUQOT9TuFivrzmdKFRamI/PnOa6m0UmpYRx4ecpcXTxwus3qkqS3p0pLXRFkGu1j9/vkQqIceLLO3nSTxvVU08OeV8/NfpKXX+vzhxGkp2qi+4ADeSobdVcXfbO1tocGwP9yNHZqZGIjj8dJe6eE1MPrz/9RW2HkKJCACL44NGjVdjkgEqJvH1+LyJZ6T7qnprztLWv02n9VpGJXsygsqpIaulJ7+LrOulPGWP9HtI06tUIEH9jvIOpxq0vryOQVjp9P5pvbV3wG3Anix/2OQTjY8MxFJThwKNTk3b/AFKPStCilZoopJGV62E2F44NhQT9CaA8+MqpAD1oCTeX1bn0OwAtrzmnqOgS7yFAK3wbHb6+ck2yPiy0lK7WmHPWXougus8cgmOxEClOeeCPmqJ5/wDbzUtAqwOLICZm2hShGHMmami0KxoFstRsFuectp0wi21lNSqXa+ktZZK4xEYiMRGIjERiIxEYiMRGIjERiIxEYiMRGIjERiIxEp6vpkUgVWQUp4A4r57Vlb0kYWIlqVnQkqdZV6j+HYJiCy0VAAKmuB2H2yL7Oj6iSp7TUS9jIuodCBSNIQFCXSknzXN88/vlVbZsSgJwllHacLEvxlLqP4S9VYh6m0oCD7bBs3xyO3+cidkuoF9JNdswsxtrNuHpcSoF2hvywhJAshQALP2H+M0iktrW6TMaz3vfjeTaTSJGu1FCi7/9OSRFQWUSL1Gc3Y3k+SkIxEYiMRGIjERiIxEYiMRGIjERiIxEYiMRGIjERiIxEYiMRGIjERiIxEYiMRGIjERiIxEYiMRGIjERiIxEYiMRGIjERiIxEYiMRGIjERiIxEYiMRGIjERiIxEYiMRGIjERiIxEYiMRGIjERiIxEYiMRGIjERiIxEYiMRGIjERiIxEYiMRGIjERiIxEYiMRGIjERiIxEYiMRGIjERiIxEYiMRGIjERiIxEYiMRGIjERiIxEYiMRGIjERiIxEYiMRGIjERiIxEYiMRGIjERiIxE//9k=" id="837" name="Google Shape;837;p71"/>
          <p:cNvSpPr/>
          <p:nvPr/>
        </p:nvSpPr>
        <p:spPr>
          <a:xfrm>
            <a:off x="307975" y="7937"/>
            <a:ext cx="304799"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pic>
        <p:nvPicPr>
          <p:cNvPr descr="http://cienciauanl.uanl.mx/wp-content/uploads/2013/12/daltonismo.jpg" id="838" name="Google Shape;838;p71"/>
          <p:cNvPicPr preferRelativeResize="0"/>
          <p:nvPr/>
        </p:nvPicPr>
        <p:blipFill rotWithShape="1">
          <a:blip r:embed="rId3">
            <a:alphaModFix/>
          </a:blip>
          <a:srcRect b="0" l="0" r="0" t="0"/>
          <a:stretch/>
        </p:blipFill>
        <p:spPr>
          <a:xfrm>
            <a:off x="5020367" y="2142376"/>
            <a:ext cx="2703258" cy="2740804"/>
          </a:xfrm>
          <a:prstGeom prst="rect">
            <a:avLst/>
          </a:prstGeom>
          <a:noFill/>
          <a:ln>
            <a:noFill/>
          </a:ln>
        </p:spPr>
      </p:pic>
      <p:sp>
        <p:nvSpPr>
          <p:cNvPr id="839" name="Google Shape;839;p71"/>
          <p:cNvSpPr txBox="1"/>
          <p:nvPr/>
        </p:nvSpPr>
        <p:spPr>
          <a:xfrm>
            <a:off x="4860032" y="4941167"/>
            <a:ext cx="3096343" cy="83099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00"/>
              <a:buFont typeface="Verdana"/>
              <a:buNone/>
            </a:pPr>
            <a:r>
              <a:rPr b="0" i="0" lang="en-CA" sz="1600" u="none" cap="none" strike="noStrike">
                <a:solidFill>
                  <a:srgbClr val="393B3F"/>
                </a:solidFill>
                <a:latin typeface="Verdana"/>
                <a:ea typeface="Verdana"/>
                <a:cs typeface="Verdana"/>
                <a:sym typeface="Verdana"/>
              </a:rPr>
              <a:t>Colour blindness is a recessive trait carried on the x-chromosome</a:t>
            </a:r>
            <a:endParaRPr/>
          </a:p>
        </p:txBody>
      </p:sp>
      <p:sp>
        <p:nvSpPr>
          <p:cNvPr id="840" name="Google Shape;840;p71"/>
          <p:cNvSpPr/>
          <p:nvPr/>
        </p:nvSpPr>
        <p:spPr>
          <a:xfrm>
            <a:off x="5004048" y="4916280"/>
            <a:ext cx="180678" cy="888983"/>
          </a:xfrm>
          <a:prstGeom prst="leftBracket">
            <a:avLst>
              <a:gd fmla="val 8333"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841" name="Google Shape;841;p71"/>
          <p:cNvSpPr/>
          <p:nvPr/>
        </p:nvSpPr>
        <p:spPr>
          <a:xfrm>
            <a:off x="7596335" y="4883182"/>
            <a:ext cx="216023" cy="922082"/>
          </a:xfrm>
          <a:prstGeom prst="rightBracket">
            <a:avLst>
              <a:gd fmla="val 8333"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2"/>
          <p:cNvSpPr txBox="1"/>
          <p:nvPr/>
        </p:nvSpPr>
        <p:spPr>
          <a:xfrm>
            <a:off x="3068650" y="973475"/>
            <a:ext cx="5535600" cy="523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CA" sz="1800">
                <a:solidFill>
                  <a:schemeClr val="dk1"/>
                </a:solidFill>
                <a:latin typeface="Verdana"/>
                <a:ea typeface="Verdana"/>
                <a:cs typeface="Verdana"/>
                <a:sym typeface="Verdana"/>
              </a:rPr>
              <a:t>X-linked traits were discovered by </a:t>
            </a:r>
            <a:r>
              <a:rPr b="1" lang="en-CA" sz="1800" u="sng">
                <a:solidFill>
                  <a:schemeClr val="dk1"/>
                </a:solidFill>
                <a:latin typeface="Verdana"/>
                <a:ea typeface="Verdana"/>
                <a:cs typeface="Verdana"/>
                <a:sym typeface="Verdana"/>
              </a:rPr>
              <a:t>Thomas Hunt Morgan</a:t>
            </a:r>
            <a:r>
              <a:rPr lang="en-CA" sz="1800">
                <a:solidFill>
                  <a:schemeClr val="dk1"/>
                </a:solidFill>
                <a:latin typeface="Verdana"/>
                <a:ea typeface="Verdana"/>
                <a:cs typeface="Verdana"/>
                <a:sym typeface="Verdana"/>
              </a:rPr>
              <a:t> through experiments with fruit flies (</a:t>
            </a:r>
            <a:r>
              <a:rPr i="1" lang="en-CA" sz="1800">
                <a:solidFill>
                  <a:schemeClr val="dk1"/>
                </a:solidFill>
                <a:latin typeface="Verdana"/>
                <a:ea typeface="Verdana"/>
                <a:cs typeface="Verdana"/>
                <a:sym typeface="Verdana"/>
              </a:rPr>
              <a:t>Drosophila melanogaster</a:t>
            </a:r>
            <a:r>
              <a:rPr lang="en-CA" sz="1800">
                <a:solidFill>
                  <a:schemeClr val="dk1"/>
                </a:solidFill>
                <a:latin typeface="Verdana"/>
                <a:ea typeface="Verdana"/>
                <a:cs typeface="Verdana"/>
                <a:sym typeface="Verdana"/>
              </a:rPr>
              <a:t>). </a:t>
            </a:r>
            <a:endParaRPr sz="1800">
              <a:solidFill>
                <a:schemeClr val="dk1"/>
              </a:solidFill>
              <a:latin typeface="Verdana"/>
              <a:ea typeface="Verdana"/>
              <a:cs typeface="Verdana"/>
              <a:sym typeface="Verdana"/>
            </a:endParaRPr>
          </a:p>
          <a:p>
            <a:pPr indent="-342900" lvl="0" marL="457200" rtl="0" algn="l">
              <a:lnSpc>
                <a:spcPct val="115000"/>
              </a:lnSpc>
              <a:spcBef>
                <a:spcPts val="1200"/>
              </a:spcBef>
              <a:spcAft>
                <a:spcPts val="0"/>
              </a:spcAft>
              <a:buClr>
                <a:schemeClr val="dk1"/>
              </a:buClr>
              <a:buSzPts val="1800"/>
              <a:buFont typeface="Verdana"/>
              <a:buChar char="●"/>
            </a:pPr>
            <a:r>
              <a:rPr lang="en-CA" sz="1800">
                <a:solidFill>
                  <a:schemeClr val="dk1"/>
                </a:solidFill>
                <a:latin typeface="Verdana"/>
                <a:ea typeface="Verdana"/>
                <a:cs typeface="Verdana"/>
                <a:sym typeface="Verdana"/>
              </a:rPr>
              <a:t>He observed that white-eyed mutations appeared only in male flies when a red-eyed female was crossed with a white-eyed male.</a:t>
            </a:r>
            <a:endParaRPr sz="1800">
              <a:solidFill>
                <a:schemeClr val="dk1"/>
              </a:solidFill>
              <a:latin typeface="Verdana"/>
              <a:ea typeface="Verdana"/>
              <a:cs typeface="Verdana"/>
              <a:sym typeface="Verdana"/>
            </a:endParaRPr>
          </a:p>
          <a:p>
            <a:pPr indent="0" lvl="0" marL="0" rtl="0" algn="l">
              <a:lnSpc>
                <a:spcPct val="115000"/>
              </a:lnSpc>
              <a:spcBef>
                <a:spcPts val="1200"/>
              </a:spcBef>
              <a:spcAft>
                <a:spcPts val="1200"/>
              </a:spcAft>
              <a:buNone/>
            </a:pPr>
            <a:r>
              <a:rPr lang="en-CA" sz="1800">
                <a:solidFill>
                  <a:schemeClr val="dk1"/>
                </a:solidFill>
                <a:latin typeface="Verdana"/>
                <a:ea typeface="Verdana"/>
                <a:cs typeface="Verdana"/>
                <a:sym typeface="Verdana"/>
              </a:rPr>
              <a:t>Morgan proposed that the gene for eye color was on the X chromosome. Males (XY) inherit this trait directly from their mother, while females (XX) can carry the mutation without expressing it if they have one normal copy. This was the first evidence linking genes to specific chromosomes, shaping our understanding of </a:t>
            </a:r>
            <a:r>
              <a:rPr b="1" lang="en-CA" sz="1800">
                <a:solidFill>
                  <a:schemeClr val="dk1"/>
                </a:solidFill>
                <a:latin typeface="Verdana"/>
                <a:ea typeface="Verdana"/>
                <a:cs typeface="Verdana"/>
                <a:sym typeface="Verdana"/>
              </a:rPr>
              <a:t>sex-linked inheritance</a:t>
            </a:r>
            <a:r>
              <a:rPr lang="en-CA" sz="1800">
                <a:solidFill>
                  <a:schemeClr val="dk1"/>
                </a:solidFill>
                <a:latin typeface="Verdana"/>
                <a:ea typeface="Verdana"/>
                <a:cs typeface="Verdana"/>
                <a:sym typeface="Verdana"/>
              </a:rPr>
              <a:t>.</a:t>
            </a:r>
            <a:endParaRPr sz="1800">
              <a:solidFill>
                <a:schemeClr val="dk1"/>
              </a:solidFill>
              <a:latin typeface="Verdana"/>
              <a:ea typeface="Verdana"/>
              <a:cs typeface="Verdana"/>
              <a:sym typeface="Verdana"/>
            </a:endParaRPr>
          </a:p>
        </p:txBody>
      </p:sp>
      <p:pic>
        <p:nvPicPr>
          <p:cNvPr id="848" name="Google Shape;848;p72"/>
          <p:cNvPicPr preferRelativeResize="0"/>
          <p:nvPr/>
        </p:nvPicPr>
        <p:blipFill>
          <a:blip r:embed="rId3">
            <a:alphaModFix/>
          </a:blip>
          <a:stretch>
            <a:fillRect/>
          </a:stretch>
        </p:blipFill>
        <p:spPr>
          <a:xfrm>
            <a:off x="108825" y="1401950"/>
            <a:ext cx="2487800" cy="37316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p73"/>
          <p:cNvPicPr preferRelativeResize="0"/>
          <p:nvPr/>
        </p:nvPicPr>
        <p:blipFill rotWithShape="1">
          <a:blip r:embed="rId3">
            <a:alphaModFix/>
          </a:blip>
          <a:srcRect b="0" l="0" r="0" t="0"/>
          <a:stretch/>
        </p:blipFill>
        <p:spPr>
          <a:xfrm>
            <a:off x="1931150" y="1888938"/>
            <a:ext cx="5531376" cy="2312975"/>
          </a:xfrm>
          <a:prstGeom prst="rect">
            <a:avLst/>
          </a:prstGeom>
          <a:noFill/>
          <a:ln>
            <a:noFill/>
          </a:ln>
        </p:spPr>
      </p:pic>
      <p:sp>
        <p:nvSpPr>
          <p:cNvPr id="854" name="Google Shape;854;p73"/>
          <p:cNvSpPr txBox="1"/>
          <p:nvPr/>
        </p:nvSpPr>
        <p:spPr>
          <a:xfrm>
            <a:off x="1468800" y="985375"/>
            <a:ext cx="62064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rgbClr val="393B3F"/>
              </a:buClr>
              <a:buSzPts val="500"/>
              <a:buFont typeface="Verdana"/>
              <a:buNone/>
            </a:pPr>
            <a:r>
              <a:rPr b="1" lang="en-CA" sz="2000">
                <a:solidFill>
                  <a:srgbClr val="393B3F"/>
                </a:solidFill>
                <a:latin typeface="Verdana"/>
                <a:ea typeface="Verdana"/>
                <a:cs typeface="Verdana"/>
                <a:sym typeface="Verdana"/>
              </a:rPr>
              <a:t>Example: </a:t>
            </a:r>
            <a:r>
              <a:rPr b="1" i="0" lang="en-CA" sz="2000" u="none" cap="none" strike="noStrike">
                <a:solidFill>
                  <a:srgbClr val="393B3F"/>
                </a:solidFill>
                <a:latin typeface="Verdana"/>
                <a:ea typeface="Verdana"/>
                <a:cs typeface="Verdana"/>
                <a:sym typeface="Verdana"/>
              </a:rPr>
              <a:t>Colour Blindness</a:t>
            </a:r>
            <a:endParaRPr b="1"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lang="en-CA" sz="1800">
                <a:solidFill>
                  <a:srgbClr val="393B3F"/>
                </a:solidFill>
                <a:latin typeface="Verdana"/>
                <a:ea typeface="Verdana"/>
                <a:cs typeface="Verdana"/>
                <a:sym typeface="Verdana"/>
              </a:rPr>
              <a:t>(Mode of inheritance: X-linked recessive)</a:t>
            </a:r>
            <a:endParaRPr sz="1800">
              <a:solidFill>
                <a:srgbClr val="393B3F"/>
              </a:solidFill>
              <a:latin typeface="Verdana"/>
              <a:ea typeface="Verdana"/>
              <a:cs typeface="Verdana"/>
              <a:sym typeface="Verdana"/>
            </a:endParaRPr>
          </a:p>
        </p:txBody>
      </p:sp>
      <p:sp>
        <p:nvSpPr>
          <p:cNvPr id="855" name="Google Shape;855;p73"/>
          <p:cNvSpPr txBox="1"/>
          <p:nvPr/>
        </p:nvSpPr>
        <p:spPr>
          <a:xfrm>
            <a:off x="1173025" y="4416575"/>
            <a:ext cx="7047600" cy="1754400"/>
          </a:xfrm>
          <a:prstGeom prst="rect">
            <a:avLst/>
          </a:prstGeom>
          <a:noFill/>
          <a:ln>
            <a:noFill/>
          </a:ln>
        </p:spPr>
        <p:txBody>
          <a:bodyPr anchorCtr="0" anchor="t" bIns="45700" lIns="91425" spcFirstLastPara="1" rIns="91425" wrap="square" tIns="45700">
            <a:noAutofit/>
          </a:bodyPr>
          <a:lstStyle/>
          <a:p>
            <a:pPr indent="-273050" lvl="0" marL="285750" marR="0" rtl="0" algn="l">
              <a:lnSpc>
                <a:spcPct val="100000"/>
              </a:lnSpc>
              <a:spcBef>
                <a:spcPts val="0"/>
              </a:spcBef>
              <a:spcAft>
                <a:spcPts val="0"/>
              </a:spcAft>
              <a:buClr>
                <a:srgbClr val="393B3F"/>
              </a:buClr>
              <a:buSzPts val="1600"/>
              <a:buFont typeface="Courier New"/>
              <a:buChar char="o"/>
            </a:pPr>
            <a:r>
              <a:rPr lang="en-CA" sz="1600">
                <a:solidFill>
                  <a:srgbClr val="393B3F"/>
                </a:solidFill>
                <a:latin typeface="Verdana"/>
                <a:ea typeface="Verdana"/>
                <a:cs typeface="Verdana"/>
                <a:sym typeface="Verdana"/>
              </a:rPr>
              <a:t>To have regular vision, a dominant allele must be present. So,</a:t>
            </a:r>
            <a:endParaRPr sz="1600">
              <a:solidFill>
                <a:srgbClr val="393B3F"/>
              </a:solidFill>
              <a:latin typeface="Verdana"/>
              <a:ea typeface="Verdana"/>
              <a:cs typeface="Verdana"/>
              <a:sym typeface="Verdana"/>
            </a:endParaRPr>
          </a:p>
          <a:p>
            <a:pPr indent="-330200" lvl="1" marL="914400" marR="0" rtl="0" algn="l">
              <a:lnSpc>
                <a:spcPct val="100000"/>
              </a:lnSpc>
              <a:spcBef>
                <a:spcPts val="1000"/>
              </a:spcBef>
              <a:spcAft>
                <a:spcPts val="0"/>
              </a:spcAft>
              <a:buClr>
                <a:srgbClr val="393B3F"/>
              </a:buClr>
              <a:buSzPts val="1600"/>
              <a:buFont typeface="Courier New"/>
              <a:buChar char="○"/>
            </a:pPr>
            <a:r>
              <a:rPr lang="en-CA" sz="1600">
                <a:solidFill>
                  <a:srgbClr val="393B3F"/>
                </a:solidFill>
                <a:latin typeface="Verdana"/>
                <a:ea typeface="Verdana"/>
                <a:cs typeface="Verdana"/>
                <a:sym typeface="Verdana"/>
              </a:rPr>
              <a:t>i</a:t>
            </a:r>
            <a:r>
              <a:rPr b="0" i="0" lang="en-CA" sz="1600" u="none" cap="none" strike="noStrike">
                <a:solidFill>
                  <a:srgbClr val="393B3F"/>
                </a:solidFill>
                <a:latin typeface="Verdana"/>
                <a:ea typeface="Verdana"/>
                <a:cs typeface="Verdana"/>
                <a:sym typeface="Verdana"/>
              </a:rPr>
              <a:t>n females, </a:t>
            </a:r>
            <a:r>
              <a:rPr lang="en-CA" sz="1600">
                <a:solidFill>
                  <a:srgbClr val="393B3F"/>
                </a:solidFill>
                <a:latin typeface="Verdana"/>
                <a:ea typeface="Verdana"/>
                <a:cs typeface="Verdana"/>
                <a:sym typeface="Verdana"/>
              </a:rPr>
              <a:t>two recessive alleles are required to be colour blind </a:t>
            </a:r>
            <a:endParaRPr sz="1600"/>
          </a:p>
          <a:p>
            <a:pPr indent="-330200" lvl="1" marL="914400" marR="0" rtl="0" algn="l">
              <a:lnSpc>
                <a:spcPct val="100000"/>
              </a:lnSpc>
              <a:spcBef>
                <a:spcPts val="1000"/>
              </a:spcBef>
              <a:spcAft>
                <a:spcPts val="1000"/>
              </a:spcAft>
              <a:buClr>
                <a:srgbClr val="393B3F"/>
              </a:buClr>
              <a:buSzPts val="1600"/>
              <a:buFont typeface="Courier New"/>
              <a:buChar char="○"/>
            </a:pPr>
            <a:r>
              <a:rPr b="0" i="0" lang="en-CA" sz="1600" u="none" cap="none" strike="noStrike">
                <a:solidFill>
                  <a:srgbClr val="393B3F"/>
                </a:solidFill>
                <a:latin typeface="Verdana"/>
                <a:ea typeface="Verdana"/>
                <a:cs typeface="Verdana"/>
                <a:sym typeface="Verdana"/>
              </a:rPr>
              <a:t>In males, there is no second X-chromosome to carry a</a:t>
            </a:r>
            <a:r>
              <a:rPr lang="en-CA" sz="1600">
                <a:solidFill>
                  <a:srgbClr val="393B3F"/>
                </a:solidFill>
                <a:latin typeface="Verdana"/>
                <a:ea typeface="Verdana"/>
                <a:cs typeface="Verdana"/>
                <a:sym typeface="Verdana"/>
              </a:rPr>
              <a:t> possible dominant</a:t>
            </a:r>
            <a:r>
              <a:rPr b="0" i="0" lang="en-CA" sz="1600" u="none" cap="none" strike="noStrike">
                <a:solidFill>
                  <a:srgbClr val="393B3F"/>
                </a:solidFill>
                <a:latin typeface="Verdana"/>
                <a:ea typeface="Verdana"/>
                <a:cs typeface="Verdana"/>
                <a:sym typeface="Verdana"/>
              </a:rPr>
              <a:t> allele; thus, only one recessive allele is required </a:t>
            </a:r>
            <a:r>
              <a:rPr lang="en-CA" sz="1600">
                <a:solidFill>
                  <a:srgbClr val="393B3F"/>
                </a:solidFill>
                <a:latin typeface="Verdana"/>
                <a:ea typeface="Verdana"/>
                <a:cs typeface="Verdana"/>
                <a:sym typeface="Verdana"/>
              </a:rPr>
              <a:t> be </a:t>
            </a:r>
            <a:r>
              <a:rPr b="0" i="0" lang="en-CA" sz="1600" u="none" cap="none" strike="noStrike">
                <a:solidFill>
                  <a:srgbClr val="393B3F"/>
                </a:solidFill>
                <a:latin typeface="Verdana"/>
                <a:ea typeface="Verdana"/>
                <a:cs typeface="Verdana"/>
                <a:sym typeface="Verdana"/>
              </a:rPr>
              <a:t>colour blind</a:t>
            </a:r>
            <a:r>
              <a:rPr lang="en-CA" sz="1600">
                <a:solidFill>
                  <a:srgbClr val="393B3F"/>
                </a:solidFill>
                <a:latin typeface="Verdana"/>
                <a:ea typeface="Verdana"/>
                <a:cs typeface="Verdana"/>
                <a:sym typeface="Verdana"/>
              </a:rPr>
              <a:t>. </a:t>
            </a:r>
            <a:r>
              <a:rPr b="0" i="0" lang="en-CA" sz="1600" u="none" cap="none" strike="noStrike">
                <a:solidFill>
                  <a:srgbClr val="393B3F"/>
                </a:solidFill>
                <a:latin typeface="Verdana"/>
                <a:ea typeface="Verdana"/>
                <a:cs typeface="Verdana"/>
                <a:sym typeface="Verdana"/>
              </a:rPr>
              <a:t>This is why colour blindness is more common in males. </a:t>
            </a:r>
            <a:endParaRPr sz="16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74"/>
          <p:cNvSpPr txBox="1"/>
          <p:nvPr/>
        </p:nvSpPr>
        <p:spPr>
          <a:xfrm>
            <a:off x="485575" y="1655850"/>
            <a:ext cx="7998300" cy="354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i="0" lang="en-CA" sz="1800" u="none" cap="none" strike="noStrike">
                <a:solidFill>
                  <a:srgbClr val="393B3F"/>
                </a:solidFill>
                <a:latin typeface="Verdana"/>
                <a:ea typeface="Verdana"/>
                <a:cs typeface="Verdana"/>
                <a:sym typeface="Verdana"/>
              </a:rPr>
              <a:t>Example 1:</a:t>
            </a:r>
            <a:endParaRPr sz="1800"/>
          </a:p>
          <a:p>
            <a:pPr indent="0" lvl="0" marL="0" marR="0" rtl="0" algn="l">
              <a:lnSpc>
                <a:spcPct val="100000"/>
              </a:lnSpc>
              <a:spcBef>
                <a:spcPts val="0"/>
              </a:spcBef>
              <a:spcAft>
                <a:spcPts val="0"/>
              </a:spcAft>
              <a:buClr>
                <a:srgbClr val="000000"/>
              </a:buClr>
              <a:buSzPts val="2000"/>
              <a:buFont typeface="Arial"/>
              <a:buNone/>
            </a:pPr>
            <a:r>
              <a:t/>
            </a:r>
            <a:endParaRPr b="1" i="0" sz="16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1600" u="none" cap="none" strike="noStrike">
                <a:solidFill>
                  <a:srgbClr val="393B3F"/>
                </a:solidFill>
                <a:latin typeface="Verdana"/>
                <a:ea typeface="Verdana"/>
                <a:cs typeface="Verdana"/>
                <a:sym typeface="Verdana"/>
              </a:rPr>
              <a:t>A </a:t>
            </a:r>
            <a:r>
              <a:rPr lang="en-CA" sz="1600">
                <a:solidFill>
                  <a:srgbClr val="393B3F"/>
                </a:solidFill>
                <a:latin typeface="Verdana"/>
                <a:ea typeface="Verdana"/>
                <a:cs typeface="Verdana"/>
                <a:sym typeface="Verdana"/>
              </a:rPr>
              <a:t>woman who is a carrier for color blindness</a:t>
            </a:r>
            <a:r>
              <a:rPr b="0" i="0" lang="en-CA" sz="1600" u="none" cap="none" strike="noStrike">
                <a:solidFill>
                  <a:srgbClr val="393B3F"/>
                </a:solidFill>
                <a:latin typeface="Verdana"/>
                <a:ea typeface="Verdana"/>
                <a:cs typeface="Verdana"/>
                <a:sym typeface="Verdana"/>
              </a:rPr>
              <a:t> </a:t>
            </a:r>
            <a:r>
              <a:rPr lang="en-CA" sz="1600">
                <a:solidFill>
                  <a:srgbClr val="393B3F"/>
                </a:solidFill>
                <a:latin typeface="Verdana"/>
                <a:ea typeface="Verdana"/>
                <a:cs typeface="Verdana"/>
                <a:sym typeface="Verdana"/>
              </a:rPr>
              <a:t>and a man with </a:t>
            </a:r>
            <a:r>
              <a:rPr lang="en-CA" sz="1600">
                <a:solidFill>
                  <a:srgbClr val="393B3F"/>
                </a:solidFill>
                <a:latin typeface="Verdana"/>
                <a:ea typeface="Verdana"/>
                <a:cs typeface="Verdana"/>
                <a:sym typeface="Verdana"/>
              </a:rPr>
              <a:t>normal vision have children.</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lang="en-CA" sz="1600">
                <a:solidFill>
                  <a:srgbClr val="393B3F"/>
                </a:solidFill>
                <a:latin typeface="Verdana"/>
                <a:ea typeface="Verdana"/>
                <a:cs typeface="Verdana"/>
                <a:sym typeface="Verdana"/>
              </a:rPr>
              <a:t>What is the probability of their next…</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child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son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d</a:t>
            </a:r>
            <a:r>
              <a:rPr lang="en-CA" sz="1600">
                <a:solidFill>
                  <a:srgbClr val="393B3F"/>
                </a:solidFill>
                <a:latin typeface="Verdana"/>
                <a:ea typeface="Verdana"/>
                <a:cs typeface="Verdana"/>
                <a:sym typeface="Verdana"/>
              </a:rPr>
              <a:t>aughter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c</a:t>
            </a:r>
            <a:r>
              <a:rPr lang="en-CA" sz="1600">
                <a:solidFill>
                  <a:srgbClr val="393B3F"/>
                </a:solidFill>
                <a:latin typeface="Verdana"/>
                <a:ea typeface="Verdana"/>
                <a:cs typeface="Verdana"/>
                <a:sym typeface="Verdana"/>
              </a:rPr>
              <a:t>hild being a son who is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1600" u="none" cap="none" strike="noStrike">
              <a:solidFill>
                <a:srgbClr val="393B3F"/>
              </a:solidFill>
              <a:latin typeface="Verdana"/>
              <a:ea typeface="Verdana"/>
              <a:cs typeface="Verdana"/>
              <a:sym typeface="Verdana"/>
            </a:endParaRPr>
          </a:p>
        </p:txBody>
      </p:sp>
      <p:sp>
        <p:nvSpPr>
          <p:cNvPr id="861" name="Google Shape;861;p74"/>
          <p:cNvSpPr txBox="1"/>
          <p:nvPr/>
        </p:nvSpPr>
        <p:spPr>
          <a:xfrm>
            <a:off x="241950" y="0"/>
            <a:ext cx="8660100" cy="13716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CA" sz="1600">
                <a:solidFill>
                  <a:schemeClr val="dk2"/>
                </a:solidFill>
                <a:latin typeface="Verdana"/>
                <a:ea typeface="Verdana"/>
                <a:cs typeface="Verdana"/>
                <a:sym typeface="Verdana"/>
              </a:rPr>
              <a:t>Alright..things are going to get a little confusing when working with sex-linked traits. </a:t>
            </a:r>
            <a:r>
              <a:rPr b="1" i="1" lang="en-CA" sz="1600">
                <a:solidFill>
                  <a:schemeClr val="dk2"/>
                </a:solidFill>
                <a:latin typeface="Verdana"/>
                <a:ea typeface="Verdana"/>
                <a:cs typeface="Verdana"/>
                <a:sym typeface="Verdana"/>
              </a:rPr>
              <a:t>First</a:t>
            </a:r>
            <a:r>
              <a:rPr i="1" lang="en-CA" sz="1600">
                <a:solidFill>
                  <a:schemeClr val="dk2"/>
                </a:solidFill>
                <a:latin typeface="Verdana"/>
                <a:ea typeface="Verdana"/>
                <a:cs typeface="Verdana"/>
                <a:sym typeface="Verdana"/>
              </a:rPr>
              <a:t>, we MUST use the chromosomes X and Y alongside the uppercase/lowercase letters to denote it is sex-linked and to calculate appropriate probability. Second, we must be careful with reading the question to know what it is looking for. Is it asking for a child, a son, an affected daughter, etc.?</a:t>
            </a:r>
            <a:endParaRPr i="1" sz="1600">
              <a:solidFill>
                <a:schemeClr val="dk2"/>
              </a:solidFill>
              <a:latin typeface="Verdana"/>
              <a:ea typeface="Verdana"/>
              <a:cs typeface="Verdana"/>
              <a:sym typeface="Verdana"/>
            </a:endParaRPr>
          </a:p>
        </p:txBody>
      </p:sp>
      <p:cxnSp>
        <p:nvCxnSpPr>
          <p:cNvPr id="862" name="Google Shape;862;p74"/>
          <p:cNvCxnSpPr/>
          <p:nvPr/>
        </p:nvCxnSpPr>
        <p:spPr>
          <a:xfrm>
            <a:off x="6134170" y="4951925"/>
            <a:ext cx="7500" cy="1371600"/>
          </a:xfrm>
          <a:prstGeom prst="straightConnector1">
            <a:avLst/>
          </a:prstGeom>
          <a:noFill/>
          <a:ln cap="flat" cmpd="sng" w="9525">
            <a:solidFill>
              <a:schemeClr val="dk2"/>
            </a:solidFill>
            <a:prstDash val="solid"/>
            <a:round/>
            <a:headEnd len="med" w="med" type="none"/>
            <a:tailEnd len="med" w="med" type="none"/>
          </a:ln>
        </p:spPr>
      </p:cxnSp>
      <p:cxnSp>
        <p:nvCxnSpPr>
          <p:cNvPr id="863" name="Google Shape;863;p74"/>
          <p:cNvCxnSpPr/>
          <p:nvPr/>
        </p:nvCxnSpPr>
        <p:spPr>
          <a:xfrm flipH="1">
            <a:off x="5633300" y="5204375"/>
            <a:ext cx="1966200" cy="6600"/>
          </a:xfrm>
          <a:prstGeom prst="straightConnector1">
            <a:avLst/>
          </a:prstGeom>
          <a:noFill/>
          <a:ln cap="flat" cmpd="sng" w="9525">
            <a:solidFill>
              <a:schemeClr val="dk2"/>
            </a:solidFill>
            <a:prstDash val="solid"/>
            <a:round/>
            <a:headEnd len="med" w="med" type="none"/>
            <a:tailEnd len="med" w="med" type="none"/>
          </a:ln>
        </p:spPr>
      </p:cxnSp>
      <p:grpSp>
        <p:nvGrpSpPr>
          <p:cNvPr id="864" name="Google Shape;864;p74"/>
          <p:cNvGrpSpPr/>
          <p:nvPr/>
        </p:nvGrpSpPr>
        <p:grpSpPr>
          <a:xfrm>
            <a:off x="5050850" y="2826800"/>
            <a:ext cx="3666475" cy="3694200"/>
            <a:chOff x="5050850" y="2826800"/>
            <a:chExt cx="3666475" cy="3694200"/>
          </a:xfrm>
        </p:grpSpPr>
        <p:sp>
          <p:nvSpPr>
            <p:cNvPr id="865" name="Google Shape;865;p74"/>
            <p:cNvSpPr txBox="1"/>
            <p:nvPr/>
          </p:nvSpPr>
          <p:spPr>
            <a:xfrm>
              <a:off x="5050850" y="2826800"/>
              <a:ext cx="36276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Let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normal vision allele and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recessive color blind allele. So our cross is:</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sp>
          <p:nvSpPr>
            <p:cNvPr id="866" name="Google Shape;866;p74"/>
            <p:cNvSpPr/>
            <p:nvPr/>
          </p:nvSpPr>
          <p:spPr>
            <a:xfrm rot="-5400000">
              <a:off x="7145250" y="5120875"/>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67" name="Google Shape;867;p74"/>
            <p:cNvSpPr/>
            <p:nvPr/>
          </p:nvSpPr>
          <p:spPr>
            <a:xfrm rot="-5400000">
              <a:off x="7145250" y="5691200"/>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68" name="Google Shape;868;p74"/>
            <p:cNvSpPr/>
            <p:nvPr/>
          </p:nvSpPr>
          <p:spPr>
            <a:xfrm rot="-5400000">
              <a:off x="6286875" y="5120875"/>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69" name="Google Shape;869;p74"/>
            <p:cNvSpPr/>
            <p:nvPr/>
          </p:nvSpPr>
          <p:spPr>
            <a:xfrm rot="-5400000">
              <a:off x="6294375" y="5691200"/>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70" name="Google Shape;870;p74"/>
            <p:cNvSpPr/>
            <p:nvPr/>
          </p:nvSpPr>
          <p:spPr>
            <a:xfrm>
              <a:off x="7804375" y="4585400"/>
              <a:ext cx="873900" cy="5328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Normal vision</a:t>
              </a:r>
              <a:endParaRPr sz="1100">
                <a:latin typeface="Verdana"/>
                <a:ea typeface="Verdana"/>
                <a:cs typeface="Verdana"/>
                <a:sym typeface="Verdana"/>
              </a:endParaRPr>
            </a:p>
          </p:txBody>
        </p:sp>
        <p:sp>
          <p:nvSpPr>
            <p:cNvPr id="871" name="Google Shape;871;p74"/>
            <p:cNvSpPr/>
            <p:nvPr/>
          </p:nvSpPr>
          <p:spPr>
            <a:xfrm>
              <a:off x="7843425" y="5196775"/>
              <a:ext cx="873900" cy="532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Color blind</a:t>
              </a:r>
              <a:endParaRPr sz="1100">
                <a:latin typeface="Verdana"/>
                <a:ea typeface="Verdana"/>
                <a:cs typeface="Verdana"/>
                <a:sym typeface="Verdana"/>
              </a:endParaRPr>
            </a:p>
          </p:txBody>
        </p:sp>
      </p:grpSp>
      <p:sp>
        <p:nvSpPr>
          <p:cNvPr id="872" name="Google Shape;872;p74"/>
          <p:cNvSpPr txBox="1"/>
          <p:nvPr/>
        </p:nvSpPr>
        <p:spPr>
          <a:xfrm>
            <a:off x="1085450" y="3468425"/>
            <a:ext cx="30000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/4 = 0.25</a:t>
            </a:r>
            <a:endParaRPr>
              <a:solidFill>
                <a:srgbClr val="A64D79"/>
              </a:solidFill>
            </a:endParaRPr>
          </a:p>
        </p:txBody>
      </p:sp>
      <p:sp>
        <p:nvSpPr>
          <p:cNvPr id="873" name="Google Shape;873;p74"/>
          <p:cNvSpPr txBox="1"/>
          <p:nvPr/>
        </p:nvSpPr>
        <p:spPr>
          <a:xfrm>
            <a:off x="1150375" y="4260575"/>
            <a:ext cx="44073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/2 = 0.5 (50% of sons color blind)</a:t>
            </a:r>
            <a:endParaRPr>
              <a:solidFill>
                <a:srgbClr val="A64D79"/>
              </a:solidFill>
            </a:endParaRPr>
          </a:p>
        </p:txBody>
      </p:sp>
      <p:sp>
        <p:nvSpPr>
          <p:cNvPr id="874" name="Google Shape;874;p74"/>
          <p:cNvSpPr txBox="1"/>
          <p:nvPr/>
        </p:nvSpPr>
        <p:spPr>
          <a:xfrm>
            <a:off x="1085450" y="5013425"/>
            <a:ext cx="3965400" cy="677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0</a:t>
            </a:r>
            <a:r>
              <a:rPr lang="en-CA" sz="1600">
                <a:solidFill>
                  <a:srgbClr val="A64D79"/>
                </a:solidFill>
                <a:latin typeface="Verdana"/>
                <a:ea typeface="Verdana"/>
                <a:cs typeface="Verdana"/>
                <a:sym typeface="Verdana"/>
              </a:rPr>
              <a:t>/2 = 0  (none of the daughters will be colorblind)</a:t>
            </a:r>
            <a:endParaRPr>
              <a:solidFill>
                <a:srgbClr val="A64D79"/>
              </a:solidFill>
            </a:endParaRPr>
          </a:p>
        </p:txBody>
      </p:sp>
      <p:sp>
        <p:nvSpPr>
          <p:cNvPr id="875" name="Google Shape;875;p74"/>
          <p:cNvSpPr txBox="1"/>
          <p:nvPr/>
        </p:nvSpPr>
        <p:spPr>
          <a:xfrm>
            <a:off x="1237850" y="5843900"/>
            <a:ext cx="39654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1</a:t>
            </a:r>
            <a:r>
              <a:rPr lang="en-CA" sz="1600">
                <a:solidFill>
                  <a:srgbClr val="A64D79"/>
                </a:solidFill>
                <a:latin typeface="Verdana"/>
                <a:ea typeface="Verdana"/>
                <a:cs typeface="Verdana"/>
                <a:sym typeface="Verdana"/>
              </a:rPr>
              <a:t>/4 = 0.25  </a:t>
            </a:r>
            <a:endParaRPr>
              <a:solidFill>
                <a:srgbClr val="A64D79"/>
              </a:solidFill>
            </a:endParaRPr>
          </a:p>
        </p:txBody>
      </p:sp>
      <p:sp>
        <p:nvSpPr>
          <p:cNvPr id="876" name="Google Shape;876;p74"/>
          <p:cNvSpPr txBox="1"/>
          <p:nvPr/>
        </p:nvSpPr>
        <p:spPr>
          <a:xfrm>
            <a:off x="2302650" y="1294975"/>
            <a:ext cx="6793500" cy="8943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700">
                <a:solidFill>
                  <a:schemeClr val="dk2"/>
                </a:solidFill>
                <a:latin typeface="Verdana"/>
                <a:ea typeface="Verdana"/>
                <a:cs typeface="Verdana"/>
                <a:sym typeface="Verdana"/>
              </a:rPr>
              <a:t>c</a:t>
            </a:r>
            <a:r>
              <a:rPr b="1" lang="en-CA" sz="1700">
                <a:solidFill>
                  <a:schemeClr val="dk2"/>
                </a:solidFill>
                <a:latin typeface="Verdana"/>
                <a:ea typeface="Verdana"/>
                <a:cs typeface="Verdana"/>
                <a:sym typeface="Verdana"/>
              </a:rPr>
              <a:t>arrier:</a:t>
            </a:r>
            <a:r>
              <a:rPr lang="en-CA" sz="1700">
                <a:solidFill>
                  <a:schemeClr val="dk2"/>
                </a:solidFill>
                <a:latin typeface="Verdana"/>
                <a:ea typeface="Verdana"/>
                <a:cs typeface="Verdana"/>
                <a:sym typeface="Verdana"/>
              </a:rPr>
              <a:t> an organism that is heterozygous and ‘carries’ the recessive allele. You can not be a carrier for a dominant gene. You either have the condition or not in that case. </a:t>
            </a:r>
            <a:endParaRPr sz="17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75"/>
          <p:cNvSpPr txBox="1"/>
          <p:nvPr/>
        </p:nvSpPr>
        <p:spPr>
          <a:xfrm>
            <a:off x="485575" y="1655850"/>
            <a:ext cx="7998300" cy="354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i="0" lang="en-CA" sz="1800" u="none" cap="none" strike="noStrike">
                <a:solidFill>
                  <a:srgbClr val="393B3F"/>
                </a:solidFill>
                <a:latin typeface="Verdana"/>
                <a:ea typeface="Verdana"/>
                <a:cs typeface="Verdana"/>
                <a:sym typeface="Verdana"/>
              </a:rPr>
              <a:t>Example 2:</a:t>
            </a:r>
            <a:endParaRPr sz="1800"/>
          </a:p>
          <a:p>
            <a:pPr indent="0" lvl="0" marL="0" marR="0" rtl="0" algn="l">
              <a:lnSpc>
                <a:spcPct val="100000"/>
              </a:lnSpc>
              <a:spcBef>
                <a:spcPts val="0"/>
              </a:spcBef>
              <a:spcAft>
                <a:spcPts val="0"/>
              </a:spcAft>
              <a:buClr>
                <a:srgbClr val="000000"/>
              </a:buClr>
              <a:buSzPts val="2000"/>
              <a:buFont typeface="Arial"/>
              <a:buNone/>
            </a:pPr>
            <a:r>
              <a:t/>
            </a:r>
            <a:endParaRPr b="1" i="0" sz="16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1600" u="none" cap="none" strike="noStrike">
                <a:solidFill>
                  <a:srgbClr val="393B3F"/>
                </a:solidFill>
                <a:latin typeface="Verdana"/>
                <a:ea typeface="Verdana"/>
                <a:cs typeface="Verdana"/>
                <a:sym typeface="Verdana"/>
              </a:rPr>
              <a:t>A </a:t>
            </a:r>
            <a:r>
              <a:rPr lang="en-CA" sz="1600">
                <a:solidFill>
                  <a:srgbClr val="393B3F"/>
                </a:solidFill>
                <a:latin typeface="Verdana"/>
                <a:ea typeface="Verdana"/>
                <a:cs typeface="Verdana"/>
                <a:sym typeface="Verdana"/>
              </a:rPr>
              <a:t>woman who is color blind</a:t>
            </a:r>
            <a:r>
              <a:rPr b="0" i="0" lang="en-CA" sz="1600" u="none" cap="none" strike="noStrike">
                <a:solidFill>
                  <a:srgbClr val="393B3F"/>
                </a:solidFill>
                <a:latin typeface="Verdana"/>
                <a:ea typeface="Verdana"/>
                <a:cs typeface="Verdana"/>
                <a:sym typeface="Verdana"/>
              </a:rPr>
              <a:t> </a:t>
            </a:r>
            <a:r>
              <a:rPr lang="en-CA" sz="1600">
                <a:solidFill>
                  <a:srgbClr val="393B3F"/>
                </a:solidFill>
                <a:latin typeface="Verdana"/>
                <a:ea typeface="Verdana"/>
                <a:cs typeface="Verdana"/>
                <a:sym typeface="Verdana"/>
              </a:rPr>
              <a:t>and a man with normal vision have children.</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lang="en-CA" sz="1600">
                <a:solidFill>
                  <a:srgbClr val="393B3F"/>
                </a:solidFill>
                <a:latin typeface="Verdana"/>
                <a:ea typeface="Verdana"/>
                <a:cs typeface="Verdana"/>
                <a:sym typeface="Verdana"/>
              </a:rPr>
              <a:t>What is the probability of their next…</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child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son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daughter being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child being a son who is color blind?</a:t>
            </a:r>
            <a:endParaRPr sz="1600">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1600" u="none" cap="none" strike="noStrike">
              <a:solidFill>
                <a:srgbClr val="393B3F"/>
              </a:solidFill>
              <a:latin typeface="Verdana"/>
              <a:ea typeface="Verdana"/>
              <a:cs typeface="Verdana"/>
              <a:sym typeface="Verdana"/>
            </a:endParaRPr>
          </a:p>
        </p:txBody>
      </p:sp>
      <p:sp>
        <p:nvSpPr>
          <p:cNvPr id="882" name="Google Shape;882;p75"/>
          <p:cNvSpPr txBox="1"/>
          <p:nvPr/>
        </p:nvSpPr>
        <p:spPr>
          <a:xfrm>
            <a:off x="241950" y="0"/>
            <a:ext cx="8660100" cy="13716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CA" sz="1600">
                <a:solidFill>
                  <a:schemeClr val="dk2"/>
                </a:solidFill>
                <a:latin typeface="Verdana"/>
                <a:ea typeface="Verdana"/>
                <a:cs typeface="Verdana"/>
                <a:sym typeface="Verdana"/>
              </a:rPr>
              <a:t>Alright..things are going to get a little confusing when working with sex-linked traits. </a:t>
            </a:r>
            <a:r>
              <a:rPr b="1" i="1" lang="en-CA" sz="1600">
                <a:solidFill>
                  <a:schemeClr val="dk2"/>
                </a:solidFill>
                <a:latin typeface="Verdana"/>
                <a:ea typeface="Verdana"/>
                <a:cs typeface="Verdana"/>
                <a:sym typeface="Verdana"/>
              </a:rPr>
              <a:t>First</a:t>
            </a:r>
            <a:r>
              <a:rPr i="1" lang="en-CA" sz="1600">
                <a:solidFill>
                  <a:schemeClr val="dk2"/>
                </a:solidFill>
                <a:latin typeface="Verdana"/>
                <a:ea typeface="Verdana"/>
                <a:cs typeface="Verdana"/>
                <a:sym typeface="Verdana"/>
              </a:rPr>
              <a:t>, we MUST use the chromosomes X and Y alongside the uppercase/lowercase letters to denote it is sex-linked and to calculate appropriate probability. Second, we must be careful with reading the question to know what it is looking for. Is it asking for a child, a son, an affected daughter, etc.?</a:t>
            </a:r>
            <a:endParaRPr i="1" sz="1600">
              <a:solidFill>
                <a:schemeClr val="dk2"/>
              </a:solidFill>
              <a:latin typeface="Verdana"/>
              <a:ea typeface="Verdana"/>
              <a:cs typeface="Verdana"/>
              <a:sym typeface="Verdana"/>
            </a:endParaRPr>
          </a:p>
        </p:txBody>
      </p:sp>
      <p:cxnSp>
        <p:nvCxnSpPr>
          <p:cNvPr id="883" name="Google Shape;883;p75"/>
          <p:cNvCxnSpPr/>
          <p:nvPr/>
        </p:nvCxnSpPr>
        <p:spPr>
          <a:xfrm>
            <a:off x="6134170" y="4951925"/>
            <a:ext cx="7500" cy="13716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75"/>
          <p:cNvCxnSpPr/>
          <p:nvPr/>
        </p:nvCxnSpPr>
        <p:spPr>
          <a:xfrm flipH="1">
            <a:off x="5633300" y="5204375"/>
            <a:ext cx="1966200" cy="6600"/>
          </a:xfrm>
          <a:prstGeom prst="straightConnector1">
            <a:avLst/>
          </a:prstGeom>
          <a:noFill/>
          <a:ln cap="flat" cmpd="sng" w="9525">
            <a:solidFill>
              <a:schemeClr val="dk2"/>
            </a:solidFill>
            <a:prstDash val="solid"/>
            <a:round/>
            <a:headEnd len="med" w="med" type="none"/>
            <a:tailEnd len="med" w="med" type="none"/>
          </a:ln>
        </p:spPr>
      </p:cxnSp>
      <p:grpSp>
        <p:nvGrpSpPr>
          <p:cNvPr id="885" name="Google Shape;885;p75"/>
          <p:cNvGrpSpPr/>
          <p:nvPr/>
        </p:nvGrpSpPr>
        <p:grpSpPr>
          <a:xfrm>
            <a:off x="5050850" y="2826800"/>
            <a:ext cx="3666475" cy="3694200"/>
            <a:chOff x="5050850" y="2826800"/>
            <a:chExt cx="3666475" cy="3694200"/>
          </a:xfrm>
        </p:grpSpPr>
        <p:sp>
          <p:nvSpPr>
            <p:cNvPr id="886" name="Google Shape;886;p75"/>
            <p:cNvSpPr txBox="1"/>
            <p:nvPr/>
          </p:nvSpPr>
          <p:spPr>
            <a:xfrm>
              <a:off x="5050850" y="2826800"/>
              <a:ext cx="36276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Let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normal vision allele and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recessive color blind allele. So our cross is:</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sp>
          <p:nvSpPr>
            <p:cNvPr id="887" name="Google Shape;887;p75"/>
            <p:cNvSpPr/>
            <p:nvPr/>
          </p:nvSpPr>
          <p:spPr>
            <a:xfrm rot="-5400000">
              <a:off x="7145250" y="5120875"/>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88" name="Google Shape;888;p75"/>
            <p:cNvSpPr/>
            <p:nvPr/>
          </p:nvSpPr>
          <p:spPr>
            <a:xfrm rot="-5400000">
              <a:off x="7145250" y="5691200"/>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89" name="Google Shape;889;p75"/>
            <p:cNvSpPr/>
            <p:nvPr/>
          </p:nvSpPr>
          <p:spPr>
            <a:xfrm rot="-5400000">
              <a:off x="6294375" y="5120875"/>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90" name="Google Shape;890;p75"/>
            <p:cNvSpPr/>
            <p:nvPr/>
          </p:nvSpPr>
          <p:spPr>
            <a:xfrm rot="-5400000">
              <a:off x="6294375" y="5691200"/>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891" name="Google Shape;891;p75"/>
            <p:cNvSpPr/>
            <p:nvPr/>
          </p:nvSpPr>
          <p:spPr>
            <a:xfrm>
              <a:off x="7804375" y="4585400"/>
              <a:ext cx="873900" cy="5328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Normal vision</a:t>
              </a:r>
              <a:endParaRPr sz="1100">
                <a:latin typeface="Verdana"/>
                <a:ea typeface="Verdana"/>
                <a:cs typeface="Verdana"/>
                <a:sym typeface="Verdana"/>
              </a:endParaRPr>
            </a:p>
          </p:txBody>
        </p:sp>
        <p:sp>
          <p:nvSpPr>
            <p:cNvPr id="892" name="Google Shape;892;p75"/>
            <p:cNvSpPr/>
            <p:nvPr/>
          </p:nvSpPr>
          <p:spPr>
            <a:xfrm>
              <a:off x="7843425" y="5196775"/>
              <a:ext cx="873900" cy="532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Color blind</a:t>
              </a:r>
              <a:endParaRPr sz="1100">
                <a:latin typeface="Verdana"/>
                <a:ea typeface="Verdana"/>
                <a:cs typeface="Verdana"/>
                <a:sym typeface="Verdana"/>
              </a:endParaRPr>
            </a:p>
          </p:txBody>
        </p:sp>
      </p:grpSp>
      <p:sp>
        <p:nvSpPr>
          <p:cNvPr id="893" name="Google Shape;893;p75"/>
          <p:cNvSpPr txBox="1"/>
          <p:nvPr/>
        </p:nvSpPr>
        <p:spPr>
          <a:xfrm>
            <a:off x="1085450" y="3290150"/>
            <a:ext cx="30000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2/4 = 0.5</a:t>
            </a:r>
            <a:endParaRPr>
              <a:solidFill>
                <a:srgbClr val="A64D79"/>
              </a:solidFill>
            </a:endParaRPr>
          </a:p>
        </p:txBody>
      </p:sp>
      <p:sp>
        <p:nvSpPr>
          <p:cNvPr id="894" name="Google Shape;894;p75"/>
          <p:cNvSpPr txBox="1"/>
          <p:nvPr/>
        </p:nvSpPr>
        <p:spPr>
          <a:xfrm>
            <a:off x="1035025" y="4008925"/>
            <a:ext cx="42429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2/2 = 1 (100% of sons color blind)</a:t>
            </a:r>
            <a:endParaRPr>
              <a:solidFill>
                <a:srgbClr val="A64D79"/>
              </a:solidFill>
            </a:endParaRPr>
          </a:p>
        </p:txBody>
      </p:sp>
      <p:sp>
        <p:nvSpPr>
          <p:cNvPr id="895" name="Google Shape;895;p75"/>
          <p:cNvSpPr txBox="1"/>
          <p:nvPr/>
        </p:nvSpPr>
        <p:spPr>
          <a:xfrm>
            <a:off x="1035025" y="4803413"/>
            <a:ext cx="3965400" cy="677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0/2 = 0  (none of the daughters will be colorblind)</a:t>
            </a:r>
            <a:endParaRPr>
              <a:solidFill>
                <a:srgbClr val="A64D79"/>
              </a:solidFill>
            </a:endParaRPr>
          </a:p>
        </p:txBody>
      </p:sp>
      <p:sp>
        <p:nvSpPr>
          <p:cNvPr id="896" name="Google Shape;896;p75"/>
          <p:cNvSpPr txBox="1"/>
          <p:nvPr/>
        </p:nvSpPr>
        <p:spPr>
          <a:xfrm>
            <a:off x="1237850" y="5843900"/>
            <a:ext cx="39654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CA" sz="1600">
                <a:solidFill>
                  <a:srgbClr val="A64D79"/>
                </a:solidFill>
                <a:latin typeface="Verdana"/>
                <a:ea typeface="Verdana"/>
                <a:cs typeface="Verdana"/>
                <a:sym typeface="Verdana"/>
              </a:rPr>
              <a:t>2</a:t>
            </a:r>
            <a:r>
              <a:rPr lang="en-CA" sz="1600">
                <a:solidFill>
                  <a:srgbClr val="A64D79"/>
                </a:solidFill>
                <a:latin typeface="Verdana"/>
                <a:ea typeface="Verdana"/>
                <a:cs typeface="Verdana"/>
                <a:sym typeface="Verdana"/>
              </a:rPr>
              <a:t>/4 = 0.5  </a:t>
            </a:r>
            <a:endParaRPr>
              <a:solidFill>
                <a:srgbClr val="A64D7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6"/>
          <p:cNvSpPr txBox="1"/>
          <p:nvPr/>
        </p:nvSpPr>
        <p:spPr>
          <a:xfrm>
            <a:off x="660000" y="4460500"/>
            <a:ext cx="7824000" cy="371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700"/>
              <a:buFont typeface="Verdana"/>
              <a:buNone/>
            </a:pPr>
            <a:r>
              <a:rPr lang="en-CA" sz="2000">
                <a:solidFill>
                  <a:srgbClr val="393B3F"/>
                </a:solidFill>
                <a:latin typeface="Verdana"/>
                <a:ea typeface="Verdana"/>
                <a:cs typeface="Verdana"/>
                <a:sym typeface="Verdana"/>
              </a:rPr>
              <a:t>In the previous example, we observed that when we are dealing with an X-linked recessive trait:</a:t>
            </a:r>
            <a:endParaRPr sz="2000">
              <a:solidFill>
                <a:srgbClr val="393B3F"/>
              </a:solidFill>
              <a:latin typeface="Verdana"/>
              <a:ea typeface="Verdana"/>
              <a:cs typeface="Verdana"/>
              <a:sym typeface="Verdana"/>
            </a:endParaRPr>
          </a:p>
          <a:p>
            <a:pPr indent="-355600" lvl="0" marL="457200" marR="0" rtl="0" algn="l">
              <a:lnSpc>
                <a:spcPct val="100000"/>
              </a:lnSpc>
              <a:spcBef>
                <a:spcPts val="0"/>
              </a:spcBef>
              <a:spcAft>
                <a:spcPts val="0"/>
              </a:spcAft>
              <a:buClr>
                <a:srgbClr val="393B3F"/>
              </a:buClr>
              <a:buSzPts val="2000"/>
              <a:buFont typeface="Verdana"/>
              <a:buChar char="●"/>
            </a:pPr>
            <a:r>
              <a:rPr lang="en-CA" sz="2000">
                <a:solidFill>
                  <a:srgbClr val="393B3F"/>
                </a:solidFill>
                <a:latin typeface="Verdana"/>
                <a:ea typeface="Verdana"/>
                <a:cs typeface="Verdana"/>
                <a:sym typeface="Verdana"/>
              </a:rPr>
              <a:t>a</a:t>
            </a:r>
            <a:r>
              <a:rPr lang="en-CA" sz="2000">
                <a:solidFill>
                  <a:srgbClr val="393B3F"/>
                </a:solidFill>
                <a:latin typeface="Verdana"/>
                <a:ea typeface="Verdana"/>
                <a:cs typeface="Verdana"/>
                <a:sym typeface="Verdana"/>
              </a:rPr>
              <a:t>n affected mother will have all her sons affected</a:t>
            </a:r>
            <a:endParaRPr sz="2000">
              <a:solidFill>
                <a:srgbClr val="393B3F"/>
              </a:solidFill>
              <a:latin typeface="Verdana"/>
              <a:ea typeface="Verdana"/>
              <a:cs typeface="Verdana"/>
              <a:sym typeface="Verdana"/>
            </a:endParaRPr>
          </a:p>
          <a:p>
            <a:pPr indent="-355600" lvl="0" marL="457200" marR="0" rtl="0" algn="l">
              <a:lnSpc>
                <a:spcPct val="100000"/>
              </a:lnSpc>
              <a:spcBef>
                <a:spcPts val="0"/>
              </a:spcBef>
              <a:spcAft>
                <a:spcPts val="0"/>
              </a:spcAft>
              <a:buClr>
                <a:srgbClr val="393B3F"/>
              </a:buClr>
              <a:buSzPts val="2000"/>
              <a:buFont typeface="Verdana"/>
              <a:buChar char="●"/>
            </a:pPr>
            <a:r>
              <a:rPr lang="en-CA" sz="2000">
                <a:solidFill>
                  <a:srgbClr val="393B3F"/>
                </a:solidFill>
                <a:latin typeface="Verdana"/>
                <a:ea typeface="Verdana"/>
                <a:cs typeface="Verdana"/>
                <a:sym typeface="Verdana"/>
              </a:rPr>
              <a:t>an unaffected father will ‘save’ all her daughters and none of them will be affected</a:t>
            </a:r>
            <a:endParaRPr sz="20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rPr lang="en-CA" sz="2000">
                <a:solidFill>
                  <a:srgbClr val="393B3F"/>
                </a:solidFill>
                <a:latin typeface="Verdana"/>
                <a:ea typeface="Verdana"/>
                <a:cs typeface="Verdana"/>
                <a:sym typeface="Verdana"/>
              </a:rPr>
              <a:t>This is why x-linked conditions are more common in men.</a:t>
            </a:r>
            <a:endParaRPr sz="2000">
              <a:solidFill>
                <a:srgbClr val="393B3F"/>
              </a:solidFill>
              <a:latin typeface="Verdana"/>
              <a:ea typeface="Verdana"/>
              <a:cs typeface="Verdana"/>
              <a:sym typeface="Verdana"/>
            </a:endParaRPr>
          </a:p>
        </p:txBody>
      </p:sp>
      <p:grpSp>
        <p:nvGrpSpPr>
          <p:cNvPr id="902" name="Google Shape;902;p76"/>
          <p:cNvGrpSpPr/>
          <p:nvPr/>
        </p:nvGrpSpPr>
        <p:grpSpPr>
          <a:xfrm>
            <a:off x="2523800" y="766300"/>
            <a:ext cx="3760550" cy="3694200"/>
            <a:chOff x="414700" y="2778200"/>
            <a:chExt cx="3760550" cy="3694200"/>
          </a:xfrm>
        </p:grpSpPr>
        <p:sp>
          <p:nvSpPr>
            <p:cNvPr id="903" name="Google Shape;903;p76"/>
            <p:cNvSpPr txBox="1"/>
            <p:nvPr/>
          </p:nvSpPr>
          <p:spPr>
            <a:xfrm>
              <a:off x="414700" y="2778200"/>
              <a:ext cx="36276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Let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normal vision allele and 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 represent the recessive color blind allele. So our cross is:</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b</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grpSp>
          <p:nvGrpSpPr>
            <p:cNvPr id="904" name="Google Shape;904;p76"/>
            <p:cNvGrpSpPr/>
            <p:nvPr/>
          </p:nvGrpSpPr>
          <p:grpSpPr>
            <a:xfrm>
              <a:off x="3262300" y="4426800"/>
              <a:ext cx="912950" cy="1144175"/>
              <a:chOff x="7804375" y="4585400"/>
              <a:chExt cx="912950" cy="1144175"/>
            </a:xfrm>
          </p:grpSpPr>
          <p:sp>
            <p:nvSpPr>
              <p:cNvPr id="905" name="Google Shape;905;p76"/>
              <p:cNvSpPr/>
              <p:nvPr/>
            </p:nvSpPr>
            <p:spPr>
              <a:xfrm>
                <a:off x="7804375" y="4585400"/>
                <a:ext cx="873900" cy="5328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Normal vision</a:t>
                </a:r>
                <a:endParaRPr sz="1100">
                  <a:latin typeface="Verdana"/>
                  <a:ea typeface="Verdana"/>
                  <a:cs typeface="Verdana"/>
                  <a:sym typeface="Verdana"/>
                </a:endParaRPr>
              </a:p>
            </p:txBody>
          </p:sp>
          <p:sp>
            <p:nvSpPr>
              <p:cNvPr id="906" name="Google Shape;906;p76"/>
              <p:cNvSpPr/>
              <p:nvPr/>
            </p:nvSpPr>
            <p:spPr>
              <a:xfrm>
                <a:off x="7843425" y="5196775"/>
                <a:ext cx="873900" cy="5328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latin typeface="Verdana"/>
                    <a:ea typeface="Verdana"/>
                    <a:cs typeface="Verdana"/>
                    <a:sym typeface="Verdana"/>
                  </a:rPr>
                  <a:t>Color blind</a:t>
                </a:r>
                <a:endParaRPr sz="1100">
                  <a:latin typeface="Verdana"/>
                  <a:ea typeface="Verdana"/>
                  <a:cs typeface="Verdana"/>
                  <a:sym typeface="Verdana"/>
                </a:endParaRPr>
              </a:p>
            </p:txBody>
          </p:sp>
        </p:grpSp>
        <p:grpSp>
          <p:nvGrpSpPr>
            <p:cNvPr id="907" name="Google Shape;907;p76"/>
            <p:cNvGrpSpPr/>
            <p:nvPr/>
          </p:nvGrpSpPr>
          <p:grpSpPr>
            <a:xfrm>
              <a:off x="1554125" y="5224975"/>
              <a:ext cx="1535475" cy="949525"/>
              <a:chOff x="6141675" y="5273575"/>
              <a:chExt cx="1535475" cy="949525"/>
            </a:xfrm>
          </p:grpSpPr>
          <p:sp>
            <p:nvSpPr>
              <p:cNvPr id="908" name="Google Shape;908;p76"/>
              <p:cNvSpPr/>
              <p:nvPr/>
            </p:nvSpPr>
            <p:spPr>
              <a:xfrm rot="-5400000">
                <a:off x="7145250" y="5120875"/>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909" name="Google Shape;909;p76"/>
              <p:cNvSpPr/>
              <p:nvPr/>
            </p:nvSpPr>
            <p:spPr>
              <a:xfrm rot="-5400000">
                <a:off x="6294375" y="5120875"/>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910" name="Google Shape;910;p76"/>
              <p:cNvSpPr/>
              <p:nvPr/>
            </p:nvSpPr>
            <p:spPr>
              <a:xfrm rot="-5400000">
                <a:off x="6294375" y="5691200"/>
                <a:ext cx="379200" cy="684600"/>
              </a:xfrm>
              <a:prstGeom prst="rect">
                <a:avLst/>
              </a:prstGeom>
              <a:solidFill>
                <a:srgbClr val="FF0000">
                  <a:alpha val="4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sp>
          <p:nvSpPr>
            <p:cNvPr id="911" name="Google Shape;911;p76"/>
            <p:cNvSpPr/>
            <p:nvPr/>
          </p:nvSpPr>
          <p:spPr>
            <a:xfrm rot="-5400000">
              <a:off x="2557700" y="5642600"/>
              <a:ext cx="379200" cy="684600"/>
            </a:xfrm>
            <a:prstGeom prst="rect">
              <a:avLst/>
            </a:prstGeom>
            <a:solidFill>
              <a:srgbClr val="424242">
                <a:alpha val="50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cxnSp>
          <p:nvCxnSpPr>
            <p:cNvPr id="912" name="Google Shape;912;p76"/>
            <p:cNvCxnSpPr/>
            <p:nvPr/>
          </p:nvCxnSpPr>
          <p:spPr>
            <a:xfrm>
              <a:off x="961150" y="5127925"/>
              <a:ext cx="2167500" cy="96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76"/>
            <p:cNvCxnSpPr/>
            <p:nvPr/>
          </p:nvCxnSpPr>
          <p:spPr>
            <a:xfrm flipH="1">
              <a:off x="1463550" y="4778025"/>
              <a:ext cx="3000" cy="15423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7"/>
          <p:cNvSpPr txBox="1"/>
          <p:nvPr/>
        </p:nvSpPr>
        <p:spPr>
          <a:xfrm>
            <a:off x="1935003" y="708575"/>
            <a:ext cx="55479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lang="en-CA" sz="2000" u="sng">
                <a:solidFill>
                  <a:srgbClr val="393B3F"/>
                </a:solidFill>
                <a:latin typeface="Verdana"/>
                <a:ea typeface="Verdana"/>
                <a:cs typeface="Verdana"/>
                <a:sym typeface="Verdana"/>
              </a:rPr>
              <a:t>EXTRA BUT FUN AND RELEVANT!</a:t>
            </a:r>
            <a:endParaRPr b="1" sz="2000" u="sng">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t/>
            </a:r>
            <a:endParaRPr b="1" sz="1100" u="sng">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1" i="0" lang="en-CA" sz="2000" u="sng" cap="none" strike="noStrike">
                <a:solidFill>
                  <a:srgbClr val="393B3F"/>
                </a:solidFill>
                <a:latin typeface="Verdana"/>
                <a:ea typeface="Verdana"/>
                <a:cs typeface="Verdana"/>
                <a:sym typeface="Verdana"/>
              </a:rPr>
              <a:t>BARR BODIES</a:t>
            </a:r>
            <a:endParaRPr u="sng"/>
          </a:p>
        </p:txBody>
      </p:sp>
      <p:sp>
        <p:nvSpPr>
          <p:cNvPr id="919" name="Google Shape;919;p77"/>
          <p:cNvSpPr txBox="1"/>
          <p:nvPr/>
        </p:nvSpPr>
        <p:spPr>
          <a:xfrm>
            <a:off x="755575" y="1580350"/>
            <a:ext cx="7632900" cy="5229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Although females carry two X-chromosomes in each of their cells, only one of these chromosomes is active; the other one condensed into what is called a </a:t>
            </a:r>
            <a:r>
              <a:rPr b="0" i="1" lang="en-CA" sz="1800" u="none" cap="none" strike="noStrike">
                <a:solidFill>
                  <a:srgbClr val="393B3F"/>
                </a:solidFill>
                <a:latin typeface="Verdana"/>
                <a:ea typeface="Verdana"/>
                <a:cs typeface="Verdana"/>
                <a:sym typeface="Verdana"/>
              </a:rPr>
              <a:t>Barr Body</a:t>
            </a:r>
            <a:r>
              <a:rPr b="0" i="0" lang="en-CA" sz="1800" u="none" cap="none" strike="noStrike">
                <a:solidFill>
                  <a:srgbClr val="393B3F"/>
                </a:solidFill>
                <a:latin typeface="Verdana"/>
                <a:ea typeface="Verdana"/>
                <a:cs typeface="Verdana"/>
                <a:sym typeface="Verdana"/>
              </a:rPr>
              <a:t>.</a:t>
            </a:r>
            <a:endParaRPr sz="1800"/>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The particular X</a:t>
            </a:r>
            <a:r>
              <a:rPr lang="en-CA" sz="1800">
                <a:solidFill>
                  <a:srgbClr val="393B3F"/>
                </a:solidFill>
                <a:latin typeface="Verdana"/>
                <a:ea typeface="Verdana"/>
                <a:cs typeface="Verdana"/>
                <a:sym typeface="Verdana"/>
              </a:rPr>
              <a:t> </a:t>
            </a:r>
            <a:r>
              <a:rPr b="0" i="0" lang="en-CA" sz="1800" u="none" cap="none" strike="noStrike">
                <a:solidFill>
                  <a:srgbClr val="393B3F"/>
                </a:solidFill>
                <a:latin typeface="Verdana"/>
                <a:ea typeface="Verdana"/>
                <a:cs typeface="Verdana"/>
                <a:sym typeface="Verdana"/>
              </a:rPr>
              <a:t>chromosome that is inactivated in each cell is completely random. This mode of inheritance accounts for the colour patterns seen in to</a:t>
            </a:r>
            <a:r>
              <a:rPr lang="en-CA" sz="1800">
                <a:solidFill>
                  <a:srgbClr val="393B3F"/>
                </a:solidFill>
                <a:latin typeface="Verdana"/>
                <a:ea typeface="Verdana"/>
                <a:cs typeface="Verdana"/>
                <a:sym typeface="Verdana"/>
              </a:rPr>
              <a:t>rtoiseshell and </a:t>
            </a:r>
            <a:r>
              <a:rPr b="0" i="0" lang="en-CA" sz="1800" u="none" cap="none" strike="noStrike">
                <a:solidFill>
                  <a:srgbClr val="393B3F"/>
                </a:solidFill>
                <a:latin typeface="Verdana"/>
                <a:ea typeface="Verdana"/>
                <a:cs typeface="Verdana"/>
                <a:sym typeface="Verdana"/>
              </a:rPr>
              <a:t>calico cats</a:t>
            </a:r>
            <a:r>
              <a:rPr lang="en-CA" sz="1800">
                <a:solidFill>
                  <a:srgbClr val="393B3F"/>
                </a:solidFill>
                <a:latin typeface="Verdana"/>
                <a:ea typeface="Verdana"/>
                <a:cs typeface="Verdana"/>
                <a:sym typeface="Verdana"/>
              </a:rPr>
              <a:t>. These are female cats that are </a:t>
            </a:r>
            <a:r>
              <a:rPr lang="en-CA" sz="1800">
                <a:solidFill>
                  <a:srgbClr val="393B3F"/>
                </a:solidFill>
                <a:latin typeface="Verdana"/>
                <a:ea typeface="Verdana"/>
                <a:cs typeface="Verdana"/>
                <a:sym typeface="Verdana"/>
              </a:rPr>
              <a:t>heterozygous</a:t>
            </a:r>
            <a:r>
              <a:rPr lang="en-CA" sz="1800">
                <a:solidFill>
                  <a:srgbClr val="393B3F"/>
                </a:solidFill>
                <a:latin typeface="Verdana"/>
                <a:ea typeface="Verdana"/>
                <a:cs typeface="Verdana"/>
                <a:sym typeface="Verdana"/>
              </a:rPr>
              <a:t> for the X-linked color traits. Each cell randomly inactivates an X chromosome and will express a random available color.  Therefore only female cats can have this random coloring pattern!</a:t>
            </a:r>
            <a:endParaRPr sz="18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i="1" lang="en-CA" sz="1800">
                <a:solidFill>
                  <a:srgbClr val="393B3F"/>
                </a:solidFill>
                <a:latin typeface="Verdana"/>
                <a:ea typeface="Verdana"/>
                <a:cs typeface="Verdana"/>
                <a:sym typeface="Verdana"/>
              </a:rPr>
              <a:t>To read more: </a:t>
            </a:r>
            <a:r>
              <a:rPr i="1" lang="en-CA" sz="1800" u="sng">
                <a:solidFill>
                  <a:schemeClr val="hlink"/>
                </a:solidFill>
                <a:latin typeface="Verdana"/>
                <a:ea typeface="Verdana"/>
                <a:cs typeface="Verdana"/>
                <a:sym typeface="Verdana"/>
                <a:hlinkClick r:id="rId3"/>
              </a:rPr>
              <a:t>https://www.bio.miami.edu/dana/dox/calico.html</a:t>
            </a:r>
            <a:endParaRPr i="1" sz="18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t/>
            </a:r>
            <a:endParaRPr sz="18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p:txBody>
      </p:sp>
      <p:pic>
        <p:nvPicPr>
          <p:cNvPr descr="http://www.great-pictures-of-cats.com/image-files/calico-cat-2.jpg" id="920" name="Google Shape;920;p77"/>
          <p:cNvPicPr preferRelativeResize="0"/>
          <p:nvPr/>
        </p:nvPicPr>
        <p:blipFill rotWithShape="1">
          <a:blip r:embed="rId4">
            <a:alphaModFix/>
          </a:blip>
          <a:srcRect b="0" l="0" r="0" t="0"/>
          <a:stretch/>
        </p:blipFill>
        <p:spPr>
          <a:xfrm>
            <a:off x="5017025" y="2534800"/>
            <a:ext cx="2465875" cy="1651700"/>
          </a:xfrm>
          <a:prstGeom prst="rect">
            <a:avLst/>
          </a:prstGeom>
          <a:noFill/>
          <a:ln>
            <a:noFill/>
          </a:ln>
        </p:spPr>
      </p:pic>
      <p:pic>
        <p:nvPicPr>
          <p:cNvPr id="921" name="Google Shape;921;p77"/>
          <p:cNvPicPr preferRelativeResize="0"/>
          <p:nvPr/>
        </p:nvPicPr>
        <p:blipFill>
          <a:blip r:embed="rId5">
            <a:alphaModFix/>
          </a:blip>
          <a:stretch>
            <a:fillRect/>
          </a:stretch>
        </p:blipFill>
        <p:spPr>
          <a:xfrm>
            <a:off x="1671725" y="2534799"/>
            <a:ext cx="2476310" cy="16517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descr="Explore how to solve Punnett squares that involve sex-linked traits, specifically focusing on X-linked traits. Video has a resource available here https://www.amoebasisters.com/handouts This 2023 UPDATED sex-linked traits Amoeba Sisters video has more detail and improved art from the old 2015 Punnett squares and sex-linked traits Amoeba Sisters video.&#10;OLD VIDEO: https://youtu.be/h2xufrHWG3E&#10;-----------&#10;Table of Contents:&#10;00:00 Intro&#10;0:49 Sex Chromosomes&#10;2:25 Solving Sex Linked Punnett Square Problem&#10;5:40 Five Things to Keep in Mind&#10;-------------&#10;*TEXTBOOK REFERENCES*&#10;&#10;Clark, Mary Ann, et al. “12.2 Characteristics and Traits - Biology 2e | OpenStax.” Openstax.org, 28 Mar. 2018, openstax.org/books/biology-2e/pages/12-2-characteristics-and-traits.&#10;&#10;Urry, Lisa A, et al. Campbell Biology. 11th ed., New York, Ny, Pearson Education, Inc, 2017.&#10;&#10;----------------------------------------&#10;*ADDITIONAL DETAIL INFORMATION*&#10;*More info on Hemophilia: https://www.cdc.gov/ncbddd/hemophilia/facts.html&#10;&#10;*More about red-green colorblindness &amp; other forms of colorblindness: https://my.clevelandclinic.org/health/diseases/11604-color-blindness&#10;&#10;*Biological sex described by NIH &amp; Yale School of Medicine:&#10;NIH: https://orwh.od.nih.gov/sex-gender&#10;Yale School of Medicine:  https://medicine.yale.edu/news-article/what-do-we-mean-by-sex-and-gender/&#10;&#10;*Footnote about &quot;male&quot; &amp; &quot;female&quot; terminology from NIH at BOTTOM of https://orwh.od.nih.gov/sex-gender/sex-and-gender-in-health-and-disease&#10;&#10;^^Above sources also explain difference of sex &amp; gender. &#10;&#10;*This video is about traits on sex chromosomes. In most cases, females have XX chromosomes &amp; males have XY chromosomes BUT as video mentions, this is not always the case.&#10;Examples:&#10;XXY: https://www.genome.gov/Genetic-Disorders/Klinefelter-Syndrome &#10;XYY: https://medlineplus.gov/genetics/condition/47xyy-syndrome/&#10;X: https://www.genome.gov/Genetic-Disorders/Turner-Syndrome&#10;Info about SRY gene &amp; also conditions related to variants in SRY gene:&#10;https://medlineplus.gov/genetics/gene/sry/&#10;&#10;----------------------------------------&#10;*FURTHER EXPLORATION*&#10;1. How did X and Y sex chromosomes get their names?&#10;From Arizona State University's &quot;Embryo Project Encyclopedia&quot; https://embryo.asu.edu/pages/sex-determination-humans&#10; &#10;2. Preeclampsia was mentioned as an example that many disorders may have a genetic component yet are NOT single gene traits (and thus can't be easily worked on a Punnett square). In addition, many disorders may involve autosomes and other external factors. As mentioned, the cause of preeclampsia is currently not well understood though gene involvement is being studied.&#10;&#10;*Genetic Risk Factors: https://jamanetwork.com/journals/jamacardiology/fullarticle/2805948&#10;&#10;*Recent News regarding Preeclampsia:&#10;FDA clearance of Preeclampsia risk assessment assays: https://www.preeclampsia.org/the-news/research/thermo-fisher-scientific-gets-fda-clearance-for-preeclampsia-risk-assessment-assays&#10;&#10;*Preeclampsia Foundation's Page of Research News: https://www.preeclampsia.org/the-news/research-news&#10;&#10;3. Sex chromosomes in other animals can vary &amp; may not be able to be worked in same type of Punnett square:&#10;&#10;Sex chromosomes in birds? Written by a professor of genetics:&#10;https://theconversation.com/how-birds-become-male-or-female-and-occasionally-both-112061&#10;&#10;Platypus:&#10;https://www.pnas.org/doi/10.1073/pnas.0405702101&#10;&#10;-----------------------------------------------&#10;The Amoeba Sisters videos demystify science with humor and relevance. The videos center on Pinky's certification and experience in teaching biology at the high school level. Learn more about our videos here: https://www.amoebasisters.com/our-videos&#10;&#10;⭐ Our Linktree: https://linktr.ee/amoebasisters&#10;&#10;❤️ Support Us? https://www.amoebasisters.com/support-us&#10;&#10;🗂️ Resources that complement our videos! https://docs.google.com/spreadsheets/d/1b3kmAzFEjWgoMKCrkeNCKFYunWk04IuLY93jI4OY0gY/pubhtml &#10;&#10;Biology Video Playlist: https://www.youtube.com/playlist?list=PLwL0Myd7Dk1F0iQPGrjehze3eDpco1eVz&#10;&#10;MUSIC:&#10;Intro music designed and performed by Jeremiah Cheshire.&#10;End music in this video is listed free to use/no attribution required from the YouTube audio library.&#10;&#10;TRANSLATIONS:&#10;Hindi Subtitles Credit: Alisha Aggarwal&#10;&#10;We gladly accept subtitle translations from our community. We also have videos using an artificial voice via https://aloud.area120.google.com to increase accessibility.  &#10;&#10;Visit https://www.amoebasisters.com/pinkys-ed-tech-favorites/community-contributed-subtitles" id="927" name="Google Shape;927;p78" title="Punnett Squares and Sex-Linked Traits (UPDATED)">
            <a:hlinkClick r:id="rId3"/>
          </p:cNvPr>
          <p:cNvPicPr preferRelativeResize="0"/>
          <p:nvPr/>
        </p:nvPicPr>
        <p:blipFill>
          <a:blip r:embed="rId4">
            <a:alphaModFix/>
          </a:blip>
          <a:stretch>
            <a:fillRect/>
          </a:stretch>
        </p:blipFill>
        <p:spPr>
          <a:xfrm>
            <a:off x="2360900" y="3770375"/>
            <a:ext cx="4261866" cy="2397300"/>
          </a:xfrm>
          <a:prstGeom prst="rect">
            <a:avLst/>
          </a:prstGeom>
          <a:noFill/>
          <a:ln>
            <a:noFill/>
          </a:ln>
        </p:spPr>
      </p:pic>
      <p:sp>
        <p:nvSpPr>
          <p:cNvPr id="928" name="Google Shape;928;p78"/>
          <p:cNvSpPr txBox="1"/>
          <p:nvPr/>
        </p:nvSpPr>
        <p:spPr>
          <a:xfrm>
            <a:off x="641700" y="1095550"/>
            <a:ext cx="7860600" cy="2397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800">
                <a:solidFill>
                  <a:schemeClr val="dk1"/>
                </a:solidFill>
                <a:latin typeface="Verdana"/>
                <a:ea typeface="Verdana"/>
                <a:cs typeface="Verdana"/>
                <a:sym typeface="Verdana"/>
              </a:rPr>
              <a:t>Note:</a:t>
            </a:r>
            <a:r>
              <a:rPr lang="en-CA" sz="1800">
                <a:solidFill>
                  <a:schemeClr val="dk1"/>
                </a:solidFill>
                <a:latin typeface="Verdana"/>
                <a:ea typeface="Verdana"/>
                <a:cs typeface="Verdana"/>
                <a:sym typeface="Verdana"/>
              </a:rPr>
              <a:t> </a:t>
            </a:r>
            <a:r>
              <a:rPr i="1" lang="en-CA" sz="1800">
                <a:solidFill>
                  <a:schemeClr val="dk1"/>
                </a:solidFill>
                <a:latin typeface="Verdana"/>
                <a:ea typeface="Verdana"/>
                <a:cs typeface="Verdana"/>
                <a:sym typeface="Verdana"/>
              </a:rPr>
              <a:t>We focused on examples on the X-chromosome (i.e. X-linked traits) mainly. There are Y-linked traits as well, but because only males have/need the Y-chromosome, there are a lot less genes on this and these are typically only relevant to male development and functioning. This is also why the Y-chromosome is much smaller than the X-chromosome. </a:t>
            </a:r>
            <a:endParaRPr i="1" sz="1800">
              <a:solidFill>
                <a:schemeClr val="dk1"/>
              </a:solidFill>
              <a:latin typeface="Verdana"/>
              <a:ea typeface="Verdana"/>
              <a:cs typeface="Verdana"/>
              <a:sym typeface="Verdana"/>
            </a:endParaRPr>
          </a:p>
          <a:p>
            <a:pPr indent="0" lvl="0" marL="0" rtl="0" algn="l">
              <a:spcBef>
                <a:spcPts val="0"/>
              </a:spcBef>
              <a:spcAft>
                <a:spcPts val="0"/>
              </a:spcAft>
              <a:buNone/>
            </a:pPr>
            <a:r>
              <a:rPr i="1" lang="en-CA" sz="1800">
                <a:solidFill>
                  <a:schemeClr val="dk1"/>
                </a:solidFill>
                <a:latin typeface="Verdana"/>
                <a:ea typeface="Verdana"/>
                <a:cs typeface="Verdana"/>
                <a:sym typeface="Verdana"/>
              </a:rPr>
              <a:t>So we often use sex-linked and X-linked interchangeable, because most sex-linked traits are X-linked. </a:t>
            </a:r>
            <a:endParaRPr i="1" sz="18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79"/>
          <p:cNvSpPr/>
          <p:nvPr/>
        </p:nvSpPr>
        <p:spPr>
          <a:xfrm>
            <a:off x="3118850" y="958300"/>
            <a:ext cx="3061500" cy="4665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934" name="Google Shape;934;p79"/>
          <p:cNvSpPr txBox="1"/>
          <p:nvPr/>
        </p:nvSpPr>
        <p:spPr>
          <a:xfrm>
            <a:off x="2195735" y="997857"/>
            <a:ext cx="48966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sng" cap="none" strike="noStrike">
                <a:solidFill>
                  <a:srgbClr val="393B3F"/>
                </a:solidFill>
                <a:latin typeface="Verdana"/>
                <a:ea typeface="Verdana"/>
                <a:cs typeface="Verdana"/>
                <a:sym typeface="Verdana"/>
              </a:rPr>
              <a:t>MULTIPLE ALLELES</a:t>
            </a:r>
            <a:endParaRPr u="sng"/>
          </a:p>
        </p:txBody>
      </p:sp>
      <p:sp>
        <p:nvSpPr>
          <p:cNvPr id="935" name="Google Shape;935;p79"/>
          <p:cNvSpPr txBox="1"/>
          <p:nvPr/>
        </p:nvSpPr>
        <p:spPr>
          <a:xfrm>
            <a:off x="1115616" y="1556791"/>
            <a:ext cx="6840760" cy="50167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Often, more than two alleles may exist for a particular trait (i.e. although an organism only inherits two alleles for each gene, many different alleles can exist within the population)</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In humans, for example, a single gene determines blood type. However, three different alleles exist:</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A</a:t>
            </a:r>
            <a:r>
              <a:rPr b="0" i="0" lang="en-CA" sz="2000" u="none" cap="none" strike="noStrike">
                <a:solidFill>
                  <a:srgbClr val="393B3F"/>
                </a:solidFill>
                <a:latin typeface="Verdana"/>
                <a:ea typeface="Verdana"/>
                <a:cs typeface="Verdana"/>
                <a:sym typeface="Verdana"/>
              </a:rPr>
              <a:t>, </a:t>
            </a: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B</a:t>
            </a:r>
            <a:r>
              <a:rPr b="0" i="0" lang="en-CA" sz="2000" u="none" cap="none" strike="noStrike">
                <a:solidFill>
                  <a:srgbClr val="393B3F"/>
                </a:solidFill>
                <a:latin typeface="Verdana"/>
                <a:ea typeface="Verdana"/>
                <a:cs typeface="Verdana"/>
                <a:sym typeface="Verdana"/>
              </a:rPr>
              <a:t>, and </a:t>
            </a:r>
            <a:r>
              <a:rPr b="0" i="1" lang="en-CA" sz="2000" u="none" cap="none" strike="noStrike">
                <a:solidFill>
                  <a:srgbClr val="393B3F"/>
                </a:solidFill>
                <a:latin typeface="Verdana"/>
                <a:ea typeface="Verdana"/>
                <a:cs typeface="Verdana"/>
                <a:sym typeface="Verdana"/>
              </a:rPr>
              <a:t>i</a:t>
            </a:r>
            <a:endParaRPr/>
          </a:p>
          <a:p>
            <a:pPr indent="0" lvl="0" marL="0" marR="0" rtl="0" algn="ctr">
              <a:lnSpc>
                <a:spcPct val="100000"/>
              </a:lnSpc>
              <a:spcBef>
                <a:spcPts val="0"/>
              </a:spcBef>
              <a:spcAft>
                <a:spcPts val="0"/>
              </a:spcAft>
              <a:buClr>
                <a:srgbClr val="000000"/>
              </a:buClr>
              <a:buSzPts val="2000"/>
              <a:buFont typeface="Arial"/>
              <a:buNone/>
            </a:pPr>
            <a:r>
              <a:t/>
            </a:r>
            <a:endParaRPr b="0" i="1"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Note: the gene is designated “I” or “i” depending on the presence of an antigen. </a:t>
            </a: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A</a:t>
            </a:r>
            <a:r>
              <a:rPr b="0" i="0" lang="en-CA" sz="2000" u="none" cap="none" strike="noStrike">
                <a:solidFill>
                  <a:srgbClr val="393B3F"/>
                </a:solidFill>
                <a:latin typeface="Verdana"/>
                <a:ea typeface="Verdana"/>
                <a:cs typeface="Verdana"/>
                <a:sym typeface="Verdana"/>
              </a:rPr>
              <a:t> thus indicates the presence of an A antigen on red blood cells, and </a:t>
            </a: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B</a:t>
            </a:r>
            <a:r>
              <a:rPr b="0" i="0" lang="en-CA" sz="2000" u="none" cap="none" strike="noStrike">
                <a:solidFill>
                  <a:srgbClr val="393B3F"/>
                </a:solidFill>
                <a:latin typeface="Verdana"/>
                <a:ea typeface="Verdana"/>
                <a:cs typeface="Verdana"/>
                <a:sym typeface="Verdana"/>
              </a:rPr>
              <a:t> indicates the presence of a B antigen. The absence of an antigen is marked by “</a:t>
            </a:r>
            <a:r>
              <a:rPr b="0" i="1" lang="en-CA" sz="2000" u="none" cap="none" strike="noStrike">
                <a:solidFill>
                  <a:srgbClr val="393B3F"/>
                </a:solidFill>
                <a:latin typeface="Verdana"/>
                <a:ea typeface="Verdana"/>
                <a:cs typeface="Verdana"/>
                <a:sym typeface="Verdana"/>
              </a:rPr>
              <a:t>i</a:t>
            </a:r>
            <a:r>
              <a:rPr b="0" i="0" lang="en-CA" sz="2000" u="none" cap="none" strike="noStrike">
                <a:solidFill>
                  <a:srgbClr val="393B3F"/>
                </a:solidFill>
                <a:latin typeface="Verdana"/>
                <a:ea typeface="Verdana"/>
                <a:cs typeface="Verdana"/>
                <a:sym typeface="Verdana"/>
              </a:rPr>
              <a:t>” </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p:txBody>
      </p:sp>
      <p:sp>
        <p:nvSpPr>
          <p:cNvPr id="936" name="Google Shape;936;p79"/>
          <p:cNvSpPr/>
          <p:nvPr/>
        </p:nvSpPr>
        <p:spPr>
          <a:xfrm>
            <a:off x="971600" y="4365103"/>
            <a:ext cx="180020" cy="1944216"/>
          </a:xfrm>
          <a:prstGeom prst="leftBracket">
            <a:avLst>
              <a:gd fmla="val 8333" name="adj"/>
            </a:avLst>
          </a:prstGeom>
          <a:noFill/>
          <a:ln cap="flat" cmpd="sng" w="38100">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937" name="Google Shape;937;p79"/>
          <p:cNvSpPr/>
          <p:nvPr/>
        </p:nvSpPr>
        <p:spPr>
          <a:xfrm>
            <a:off x="7884367" y="4293096"/>
            <a:ext cx="216023" cy="2016224"/>
          </a:xfrm>
          <a:prstGeom prst="rightBracket">
            <a:avLst>
              <a:gd fmla="val 8333" name="adj"/>
            </a:avLst>
          </a:prstGeom>
          <a:noFill/>
          <a:ln cap="flat" cmpd="sng" w="38100">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80"/>
          <p:cNvSpPr/>
          <p:nvPr/>
        </p:nvSpPr>
        <p:spPr>
          <a:xfrm>
            <a:off x="1019375" y="4840000"/>
            <a:ext cx="7516200" cy="1512600"/>
          </a:xfrm>
          <a:prstGeom prst="rect">
            <a:avLst/>
          </a:prstGeom>
          <a:noFill/>
          <a:ln cap="flat" cmpd="sng" w="285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943" name="Google Shape;943;p80"/>
          <p:cNvSpPr/>
          <p:nvPr/>
        </p:nvSpPr>
        <p:spPr>
          <a:xfrm>
            <a:off x="374575" y="1836450"/>
            <a:ext cx="8283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Different combinations of these three alleles produce four different phenotypes, which are commonly referred to as A, B, AB, or O. </a:t>
            </a:r>
            <a:endParaRPr sz="1800"/>
          </a:p>
        </p:txBody>
      </p:sp>
      <p:sp>
        <p:nvSpPr>
          <p:cNvPr id="944" name="Google Shape;944;p80"/>
          <p:cNvSpPr txBox="1"/>
          <p:nvPr/>
        </p:nvSpPr>
        <p:spPr>
          <a:xfrm>
            <a:off x="1403648" y="874911"/>
            <a:ext cx="6408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400" u="none" cap="none" strike="noStrike">
                <a:solidFill>
                  <a:srgbClr val="393B3F"/>
                </a:solidFill>
                <a:latin typeface="Verdana"/>
                <a:ea typeface="Verdana"/>
                <a:cs typeface="Verdana"/>
                <a:sym typeface="Verdana"/>
              </a:rPr>
              <a:t>Alleles for blood type:</a:t>
            </a:r>
            <a:endParaRPr/>
          </a:p>
        </p:txBody>
      </p:sp>
      <p:sp>
        <p:nvSpPr>
          <p:cNvPr id="945" name="Google Shape;945;p80"/>
          <p:cNvSpPr/>
          <p:nvPr/>
        </p:nvSpPr>
        <p:spPr>
          <a:xfrm>
            <a:off x="3605228" y="1264567"/>
            <a:ext cx="19335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1" lang="en-CA" sz="2400" u="none" cap="none" strike="noStrike">
                <a:solidFill>
                  <a:srgbClr val="393B3F"/>
                </a:solidFill>
                <a:latin typeface="Verdana"/>
                <a:ea typeface="Verdana"/>
                <a:cs typeface="Verdana"/>
                <a:sym typeface="Verdana"/>
              </a:rPr>
              <a:t>I</a:t>
            </a:r>
            <a:r>
              <a:rPr b="0" baseline="30000" i="1" lang="en-CA" sz="2400" u="none" cap="none" strike="noStrike">
                <a:solidFill>
                  <a:srgbClr val="393B3F"/>
                </a:solidFill>
                <a:latin typeface="Verdana"/>
                <a:ea typeface="Verdana"/>
                <a:cs typeface="Verdana"/>
                <a:sym typeface="Verdana"/>
              </a:rPr>
              <a:t>A</a:t>
            </a:r>
            <a:r>
              <a:rPr b="0" i="0" lang="en-CA" sz="2400" u="none" cap="none" strike="noStrike">
                <a:solidFill>
                  <a:srgbClr val="393B3F"/>
                </a:solidFill>
                <a:latin typeface="Verdana"/>
                <a:ea typeface="Verdana"/>
                <a:cs typeface="Verdana"/>
                <a:sym typeface="Verdana"/>
              </a:rPr>
              <a:t>, </a:t>
            </a:r>
            <a:r>
              <a:rPr b="0" i="1" lang="en-CA" sz="2400" u="none" cap="none" strike="noStrike">
                <a:solidFill>
                  <a:srgbClr val="393B3F"/>
                </a:solidFill>
                <a:latin typeface="Verdana"/>
                <a:ea typeface="Verdana"/>
                <a:cs typeface="Verdana"/>
                <a:sym typeface="Verdana"/>
              </a:rPr>
              <a:t>I</a:t>
            </a:r>
            <a:r>
              <a:rPr b="0" baseline="30000" i="1" lang="en-CA" sz="2400" u="none" cap="none" strike="noStrike">
                <a:solidFill>
                  <a:srgbClr val="393B3F"/>
                </a:solidFill>
                <a:latin typeface="Verdana"/>
                <a:ea typeface="Verdana"/>
                <a:cs typeface="Verdana"/>
                <a:sym typeface="Verdana"/>
              </a:rPr>
              <a:t>B</a:t>
            </a:r>
            <a:r>
              <a:rPr b="0" i="0" lang="en-CA" sz="2400" u="none" cap="none" strike="noStrike">
                <a:solidFill>
                  <a:srgbClr val="393B3F"/>
                </a:solidFill>
                <a:latin typeface="Verdana"/>
                <a:ea typeface="Verdana"/>
                <a:cs typeface="Verdana"/>
                <a:sym typeface="Verdana"/>
              </a:rPr>
              <a:t>, and </a:t>
            </a:r>
            <a:r>
              <a:rPr b="0" i="1" lang="en-CA" sz="2400" u="none" cap="none" strike="noStrike">
                <a:solidFill>
                  <a:srgbClr val="393B3F"/>
                </a:solidFill>
                <a:latin typeface="Verdana"/>
                <a:ea typeface="Verdana"/>
                <a:cs typeface="Verdana"/>
                <a:sym typeface="Verdana"/>
              </a:rPr>
              <a:t>i</a:t>
            </a:r>
            <a:endParaRPr/>
          </a:p>
        </p:txBody>
      </p:sp>
      <p:sp>
        <p:nvSpPr>
          <p:cNvPr id="946" name="Google Shape;946;p80"/>
          <p:cNvSpPr txBox="1"/>
          <p:nvPr/>
        </p:nvSpPr>
        <p:spPr>
          <a:xfrm>
            <a:off x="4875464" y="3063234"/>
            <a:ext cx="2625900" cy="110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A = </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A</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A</a:t>
            </a:r>
            <a:r>
              <a:rPr b="1" i="0" lang="en-CA" sz="2400" u="none" cap="none" strike="noStrike">
                <a:solidFill>
                  <a:srgbClr val="393B3F"/>
                </a:solidFill>
                <a:latin typeface="Verdana"/>
                <a:ea typeface="Verdana"/>
                <a:cs typeface="Verdana"/>
                <a:sym typeface="Verdana"/>
              </a:rPr>
              <a:t> or </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A</a:t>
            </a:r>
            <a:r>
              <a:rPr b="1" i="1" lang="en-CA" sz="2400" u="none" cap="none" strike="noStrike">
                <a:solidFill>
                  <a:srgbClr val="393B3F"/>
                </a:solidFill>
                <a:latin typeface="Verdana"/>
                <a:ea typeface="Verdana"/>
                <a:cs typeface="Verdana"/>
                <a:sym typeface="Verdana"/>
              </a:rPr>
              <a:t>i</a:t>
            </a:r>
            <a:endParaRPr/>
          </a:p>
          <a:p>
            <a:pPr indent="0" lvl="0" marL="0" marR="0" rtl="0" algn="l">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B = </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B</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B</a:t>
            </a:r>
            <a:r>
              <a:rPr b="1" i="0" lang="en-CA" sz="2400" u="none" cap="none" strike="noStrike">
                <a:solidFill>
                  <a:srgbClr val="393B3F"/>
                </a:solidFill>
                <a:latin typeface="Verdana"/>
                <a:ea typeface="Verdana"/>
                <a:cs typeface="Verdana"/>
                <a:sym typeface="Verdana"/>
              </a:rPr>
              <a:t> or </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B</a:t>
            </a:r>
            <a:r>
              <a:rPr b="1" i="1" lang="en-CA" sz="2400" u="none" cap="none" strike="noStrike">
                <a:solidFill>
                  <a:srgbClr val="393B3F"/>
                </a:solidFill>
                <a:latin typeface="Verdana"/>
                <a:ea typeface="Verdana"/>
                <a:cs typeface="Verdana"/>
                <a:sym typeface="Verdana"/>
              </a:rPr>
              <a:t>i</a:t>
            </a:r>
            <a:endParaRPr/>
          </a:p>
          <a:p>
            <a:pPr indent="0" lvl="0" marL="0" marR="0" rtl="0" algn="l">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AB = </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A</a:t>
            </a:r>
            <a:r>
              <a:rPr b="1" i="1" lang="en-CA" sz="2400" u="none" cap="none" strike="noStrike">
                <a:solidFill>
                  <a:srgbClr val="393B3F"/>
                </a:solidFill>
                <a:latin typeface="Verdana"/>
                <a:ea typeface="Verdana"/>
                <a:cs typeface="Verdana"/>
                <a:sym typeface="Verdana"/>
              </a:rPr>
              <a:t>I</a:t>
            </a:r>
            <a:r>
              <a:rPr b="1" baseline="30000" i="1" lang="en-CA" sz="2400" u="none" cap="none" strike="noStrike">
                <a:solidFill>
                  <a:srgbClr val="393B3F"/>
                </a:solidFill>
                <a:latin typeface="Verdana"/>
                <a:ea typeface="Verdana"/>
                <a:cs typeface="Verdana"/>
                <a:sym typeface="Verdana"/>
              </a:rPr>
              <a:t>B</a:t>
            </a:r>
            <a:endParaRPr/>
          </a:p>
          <a:p>
            <a:pPr indent="0" lvl="0" marL="0" marR="0" rtl="0" algn="l">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O = </a:t>
            </a:r>
            <a:r>
              <a:rPr b="1" i="1" lang="en-CA" sz="2400" u="none" cap="none" strike="noStrike">
                <a:solidFill>
                  <a:srgbClr val="393B3F"/>
                </a:solidFill>
                <a:latin typeface="Verdana"/>
                <a:ea typeface="Verdana"/>
                <a:cs typeface="Verdana"/>
                <a:sym typeface="Verdana"/>
              </a:rPr>
              <a:t>ii</a:t>
            </a:r>
            <a:endParaRPr/>
          </a:p>
        </p:txBody>
      </p:sp>
      <p:pic>
        <p:nvPicPr>
          <p:cNvPr descr="http://www.stepbystep.com/wp-content/uploads/2013/04/Difference-between-Hemoglobin-and-Hematocrit2.jpg" id="947" name="Google Shape;947;p80"/>
          <p:cNvPicPr preferRelativeResize="0"/>
          <p:nvPr/>
        </p:nvPicPr>
        <p:blipFill rotWithShape="1">
          <a:blip r:embed="rId3">
            <a:alphaModFix/>
          </a:blip>
          <a:srcRect b="0" l="0" r="0" t="0"/>
          <a:stretch/>
        </p:blipFill>
        <p:spPr>
          <a:xfrm>
            <a:off x="2408543" y="2861059"/>
            <a:ext cx="2250699" cy="1455655"/>
          </a:xfrm>
          <a:prstGeom prst="rect">
            <a:avLst/>
          </a:prstGeom>
          <a:noFill/>
          <a:ln>
            <a:noFill/>
          </a:ln>
        </p:spPr>
      </p:pic>
      <p:sp>
        <p:nvSpPr>
          <p:cNvPr id="948" name="Google Shape;948;p80"/>
          <p:cNvSpPr txBox="1"/>
          <p:nvPr/>
        </p:nvSpPr>
        <p:spPr>
          <a:xfrm>
            <a:off x="902675" y="4892273"/>
            <a:ext cx="7632900" cy="708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Alleles </a:t>
            </a: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A</a:t>
            </a:r>
            <a:r>
              <a:rPr b="0" i="0" lang="en-CA" sz="2000" u="none" cap="none" strike="noStrike">
                <a:solidFill>
                  <a:srgbClr val="393B3F"/>
                </a:solidFill>
                <a:latin typeface="Verdana"/>
                <a:ea typeface="Verdana"/>
                <a:cs typeface="Verdana"/>
                <a:sym typeface="Verdana"/>
              </a:rPr>
              <a:t> and </a:t>
            </a:r>
            <a:r>
              <a:rPr b="0" i="1" lang="en-CA" sz="2000" u="none" cap="none" strike="noStrike">
                <a:solidFill>
                  <a:srgbClr val="393B3F"/>
                </a:solidFill>
                <a:latin typeface="Verdana"/>
                <a:ea typeface="Verdana"/>
                <a:cs typeface="Verdana"/>
                <a:sym typeface="Verdana"/>
              </a:rPr>
              <a:t>I</a:t>
            </a:r>
            <a:r>
              <a:rPr b="0" baseline="30000" i="1" lang="en-CA" sz="2000" u="none" cap="none" strike="noStrike">
                <a:solidFill>
                  <a:srgbClr val="393B3F"/>
                </a:solidFill>
                <a:latin typeface="Verdana"/>
                <a:ea typeface="Verdana"/>
                <a:cs typeface="Verdana"/>
                <a:sym typeface="Verdana"/>
              </a:rPr>
              <a:t>B</a:t>
            </a:r>
            <a:r>
              <a:rPr b="0" i="0" lang="en-CA" sz="2000" u="none" cap="none" strike="noStrike">
                <a:solidFill>
                  <a:srgbClr val="393B3F"/>
                </a:solidFill>
                <a:latin typeface="Verdana"/>
                <a:ea typeface="Verdana"/>
                <a:cs typeface="Verdana"/>
                <a:sym typeface="Verdana"/>
              </a:rPr>
              <a:t> are </a:t>
            </a:r>
            <a:r>
              <a:rPr lang="en-CA" sz="2000">
                <a:solidFill>
                  <a:srgbClr val="393B3F"/>
                </a:solidFill>
                <a:latin typeface="Verdana"/>
                <a:ea typeface="Verdana"/>
                <a:cs typeface="Verdana"/>
                <a:sym typeface="Verdana"/>
              </a:rPr>
              <a:t>codominant</a:t>
            </a:r>
            <a:r>
              <a:rPr b="0" i="0" lang="en-CA" sz="2000" u="none" cap="none" strike="noStrike">
                <a:solidFill>
                  <a:srgbClr val="393B3F"/>
                </a:solidFill>
                <a:latin typeface="Verdana"/>
                <a:ea typeface="Verdana"/>
                <a:cs typeface="Verdana"/>
                <a:sym typeface="Verdana"/>
              </a:rPr>
              <a:t>, but both are dominant over the recessive allele </a:t>
            </a:r>
            <a:r>
              <a:rPr b="0" i="1" lang="en-CA" sz="2000" u="none" cap="none" strike="noStrike">
                <a:solidFill>
                  <a:srgbClr val="393B3F"/>
                </a:solidFill>
                <a:latin typeface="Verdana"/>
                <a:ea typeface="Verdana"/>
                <a:cs typeface="Verdana"/>
                <a:sym typeface="Verdana"/>
              </a:rPr>
              <a:t>i</a:t>
            </a:r>
            <a:r>
              <a:rPr i="1" lang="en-CA" sz="2000">
                <a:solidFill>
                  <a:srgbClr val="393B3F"/>
                </a:solidFill>
                <a:latin typeface="Verdana"/>
                <a:ea typeface="Verdana"/>
                <a:cs typeface="Verdana"/>
                <a:sym typeface="Verdana"/>
              </a:rPr>
              <a:t>.</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t/>
            </a:r>
            <a:endParaRPr sz="20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1" lang="en-CA" sz="2000">
                <a:solidFill>
                  <a:srgbClr val="393B3F"/>
                </a:solidFill>
                <a:latin typeface="Verdana"/>
                <a:ea typeface="Verdana"/>
                <a:cs typeface="Verdana"/>
                <a:sym typeface="Verdana"/>
              </a:rPr>
              <a:t>Order of Dominance: I</a:t>
            </a:r>
            <a:r>
              <a:rPr b="1" baseline="30000" lang="en-CA" sz="2000">
                <a:solidFill>
                  <a:srgbClr val="393B3F"/>
                </a:solidFill>
                <a:latin typeface="Verdana"/>
                <a:ea typeface="Verdana"/>
                <a:cs typeface="Verdana"/>
                <a:sym typeface="Verdana"/>
              </a:rPr>
              <a:t>A</a:t>
            </a:r>
            <a:r>
              <a:rPr b="1" lang="en-CA" sz="2000">
                <a:solidFill>
                  <a:srgbClr val="393B3F"/>
                </a:solidFill>
                <a:latin typeface="Verdana"/>
                <a:ea typeface="Verdana"/>
                <a:cs typeface="Verdana"/>
                <a:sym typeface="Verdana"/>
              </a:rPr>
              <a:t> = I</a:t>
            </a:r>
            <a:r>
              <a:rPr b="1" baseline="30000" lang="en-CA" sz="2000">
                <a:solidFill>
                  <a:srgbClr val="393B3F"/>
                </a:solidFill>
                <a:latin typeface="Verdana"/>
                <a:ea typeface="Verdana"/>
                <a:cs typeface="Verdana"/>
                <a:sym typeface="Verdana"/>
              </a:rPr>
              <a:t>B</a:t>
            </a:r>
            <a:r>
              <a:rPr b="1" lang="en-CA" sz="2000">
                <a:solidFill>
                  <a:srgbClr val="393B3F"/>
                </a:solidFill>
                <a:latin typeface="Verdana"/>
                <a:ea typeface="Verdana"/>
                <a:cs typeface="Verdana"/>
                <a:sym typeface="Verdana"/>
              </a:rPr>
              <a:t> &gt; i</a:t>
            </a:r>
            <a:endParaRPr b="1" sz="2000">
              <a:solidFill>
                <a:srgbClr val="393B3F"/>
              </a:solidFill>
              <a:latin typeface="Verdana"/>
              <a:ea typeface="Verdana"/>
              <a:cs typeface="Verdana"/>
              <a:sym typeface="Verdana"/>
            </a:endParaRPr>
          </a:p>
        </p:txBody>
      </p:sp>
      <p:sp>
        <p:nvSpPr>
          <p:cNvPr id="949" name="Google Shape;949;p80"/>
          <p:cNvSpPr/>
          <p:nvPr/>
        </p:nvSpPr>
        <p:spPr>
          <a:xfrm>
            <a:off x="1937050" y="2759975"/>
            <a:ext cx="5564100" cy="1903200"/>
          </a:xfrm>
          <a:prstGeom prst="rect">
            <a:avLst/>
          </a:prstGeom>
          <a:noFill/>
          <a:ln cap="flat" cmpd="sng" w="285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81"/>
          <p:cNvSpPr txBox="1"/>
          <p:nvPr/>
        </p:nvSpPr>
        <p:spPr>
          <a:xfrm>
            <a:off x="971600" y="1196751"/>
            <a:ext cx="7056783" cy="19389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Multiple Alleles</a:t>
            </a:r>
            <a:endParaRPr/>
          </a:p>
          <a:p>
            <a:pPr indent="0" lvl="0" marL="0" marR="0" rtl="0" algn="l">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EXAMPLE</a:t>
            </a:r>
            <a:r>
              <a:rPr b="1" lang="en-CA" sz="2000">
                <a:solidFill>
                  <a:srgbClr val="393B3F"/>
                </a:solidFill>
                <a:latin typeface="Verdana"/>
                <a:ea typeface="Verdana"/>
                <a:cs typeface="Verdana"/>
                <a:sym typeface="Verdana"/>
              </a:rPr>
              <a:t> 1:</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A woman homozygous for blood type A has a child with a man heterozygous for blood type B. What is the probability that their child has the blood type AB? </a:t>
            </a:r>
            <a:endParaRPr/>
          </a:p>
        </p:txBody>
      </p:sp>
      <p:pic>
        <p:nvPicPr>
          <p:cNvPr id="955" name="Google Shape;955;p81"/>
          <p:cNvPicPr preferRelativeResize="0"/>
          <p:nvPr/>
        </p:nvPicPr>
        <p:blipFill rotWithShape="1">
          <a:blip r:embed="rId3">
            <a:alphaModFix/>
          </a:blip>
          <a:srcRect b="0" l="0" r="0" t="0"/>
          <a:stretch/>
        </p:blipFill>
        <p:spPr>
          <a:xfrm>
            <a:off x="1302005" y="3284983"/>
            <a:ext cx="3057525" cy="2838450"/>
          </a:xfrm>
          <a:prstGeom prst="rect">
            <a:avLst/>
          </a:prstGeom>
          <a:noFill/>
          <a:ln>
            <a:noFill/>
          </a:ln>
        </p:spPr>
      </p:pic>
      <p:sp>
        <p:nvSpPr>
          <p:cNvPr id="956" name="Google Shape;956;p81"/>
          <p:cNvSpPr/>
          <p:nvPr/>
        </p:nvSpPr>
        <p:spPr>
          <a:xfrm>
            <a:off x="4499992" y="4478982"/>
            <a:ext cx="360040" cy="1542305"/>
          </a:xfrm>
          <a:prstGeom prst="rightBrace">
            <a:avLst>
              <a:gd fmla="val 8333" name="adj1"/>
              <a:gd fmla="val 50000" name="adj2"/>
            </a:avLst>
          </a:prstGeom>
          <a:noFill/>
          <a:ln cap="flat" cmpd="sng" w="285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sp>
        <p:nvSpPr>
          <p:cNvPr id="957" name="Google Shape;957;p81"/>
          <p:cNvSpPr txBox="1"/>
          <p:nvPr/>
        </p:nvSpPr>
        <p:spPr>
          <a:xfrm>
            <a:off x="5148064" y="4941167"/>
            <a:ext cx="2952328" cy="6463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½ of offspring will</a:t>
            </a:r>
            <a:endParaRPr/>
          </a:p>
          <a:p>
            <a:pPr indent="0" lvl="0" marL="0" marR="0" rtl="0" algn="l">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have the AB blood type</a:t>
            </a:r>
            <a:endParaRPr/>
          </a:p>
        </p:txBody>
      </p:sp>
      <p:sp>
        <p:nvSpPr>
          <p:cNvPr id="958" name="Google Shape;958;p81"/>
          <p:cNvSpPr txBox="1"/>
          <p:nvPr/>
        </p:nvSpPr>
        <p:spPr>
          <a:xfrm>
            <a:off x="2360750" y="4778025"/>
            <a:ext cx="1642500" cy="3888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1000"/>
                                        <p:tgtEl>
                                          <p:spTgt spid="955"/>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1000"/>
                                        <p:tgtEl>
                                          <p:spTgt spid="956"/>
                                        </p:tgtEl>
                                      </p:cBhvr>
                                    </p:animEffect>
                                  </p:childTnLst>
                                </p:cTn>
                              </p:par>
                              <p:par>
                                <p:cTn fill="hold" nodeType="with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1000"/>
                                        <p:tgtEl>
                                          <p:spTgt spid="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82"/>
          <p:cNvSpPr txBox="1"/>
          <p:nvPr/>
        </p:nvSpPr>
        <p:spPr>
          <a:xfrm>
            <a:off x="776475" y="1045775"/>
            <a:ext cx="7969800" cy="11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chemeClr val="dk2"/>
                </a:solidFill>
                <a:latin typeface="Verdana"/>
                <a:ea typeface="Verdana"/>
                <a:cs typeface="Verdana"/>
                <a:sym typeface="Verdana"/>
              </a:rPr>
              <a:t>Before we move on to the next example problem, </a:t>
            </a:r>
            <a:r>
              <a:rPr b="1" lang="en-CA" sz="1700">
                <a:solidFill>
                  <a:schemeClr val="dk2"/>
                </a:solidFill>
                <a:latin typeface="Verdana"/>
                <a:ea typeface="Verdana"/>
                <a:cs typeface="Verdana"/>
                <a:sym typeface="Verdana"/>
              </a:rPr>
              <a:t>let’s review some math around probability…</a:t>
            </a:r>
            <a:endParaRPr b="1" sz="1700">
              <a:solidFill>
                <a:schemeClr val="dk2"/>
              </a:solidFill>
              <a:latin typeface="Verdana"/>
              <a:ea typeface="Verdana"/>
              <a:cs typeface="Verdana"/>
              <a:sym typeface="Verdana"/>
            </a:endParaRPr>
          </a:p>
          <a:p>
            <a:pPr indent="0" lvl="0" marL="0" rtl="0" algn="l">
              <a:spcBef>
                <a:spcPts val="0"/>
              </a:spcBef>
              <a:spcAft>
                <a:spcPts val="0"/>
              </a:spcAft>
              <a:buNone/>
            </a:pPr>
            <a:r>
              <a:rPr lang="en-CA" sz="1700">
                <a:solidFill>
                  <a:schemeClr val="dk2"/>
                </a:solidFill>
                <a:latin typeface="Verdana"/>
                <a:ea typeface="Verdana"/>
                <a:cs typeface="Verdana"/>
                <a:sym typeface="Verdana"/>
              </a:rPr>
              <a:t>To </a:t>
            </a:r>
            <a:r>
              <a:rPr lang="en-CA" sz="1700">
                <a:solidFill>
                  <a:schemeClr val="dk2"/>
                </a:solidFill>
                <a:latin typeface="Verdana"/>
                <a:ea typeface="Verdana"/>
                <a:cs typeface="Verdana"/>
                <a:sym typeface="Verdana"/>
              </a:rPr>
              <a:t>calculate the probability of two independent events, we must multiply the probability of each event happening individually. </a:t>
            </a:r>
            <a:endParaRPr sz="1700">
              <a:solidFill>
                <a:schemeClr val="dk2"/>
              </a:solidFill>
              <a:latin typeface="Verdana"/>
              <a:ea typeface="Verdana"/>
              <a:cs typeface="Verdana"/>
              <a:sym typeface="Verdana"/>
            </a:endParaRPr>
          </a:p>
          <a:p>
            <a:pPr indent="0" lvl="0" marL="0" rtl="0" algn="l">
              <a:spcBef>
                <a:spcPts val="0"/>
              </a:spcBef>
              <a:spcAft>
                <a:spcPts val="0"/>
              </a:spcAft>
              <a:buNone/>
            </a:pPr>
            <a:r>
              <a:t/>
            </a:r>
            <a:endParaRPr sz="1700">
              <a:solidFill>
                <a:schemeClr val="dk2"/>
              </a:solidFill>
              <a:latin typeface="Verdana"/>
              <a:ea typeface="Verdana"/>
              <a:cs typeface="Verdana"/>
              <a:sym typeface="Verdana"/>
            </a:endParaRPr>
          </a:p>
          <a:p>
            <a:pPr indent="0" lvl="0" marL="0" rtl="0" algn="l">
              <a:spcBef>
                <a:spcPts val="0"/>
              </a:spcBef>
              <a:spcAft>
                <a:spcPts val="0"/>
              </a:spcAft>
              <a:buNone/>
            </a:pPr>
            <a:r>
              <a:rPr lang="en-CA" sz="1600">
                <a:solidFill>
                  <a:schemeClr val="dk2"/>
                </a:solidFill>
                <a:latin typeface="Verdana"/>
                <a:ea typeface="Verdana"/>
                <a:cs typeface="Verdana"/>
                <a:sym typeface="Verdana"/>
              </a:rPr>
              <a:t>Example 1: The probability of toss a coin getting two heads in a row is:</a:t>
            </a:r>
            <a:endParaRPr sz="1600">
              <a:solidFill>
                <a:schemeClr val="dk2"/>
              </a:solidFill>
              <a:latin typeface="Verdana"/>
              <a:ea typeface="Verdana"/>
              <a:cs typeface="Verdana"/>
              <a:sym typeface="Verdana"/>
            </a:endParaRPr>
          </a:p>
          <a:p>
            <a:pPr indent="0" lvl="0" marL="0" rtl="0" algn="l">
              <a:spcBef>
                <a:spcPts val="0"/>
              </a:spcBef>
              <a:spcAft>
                <a:spcPts val="0"/>
              </a:spcAft>
              <a:buNone/>
            </a:pPr>
            <a:r>
              <a:t/>
            </a:r>
            <a:endParaRPr sz="1700">
              <a:solidFill>
                <a:schemeClr val="dk2"/>
              </a:solidFill>
              <a:latin typeface="Verdana"/>
              <a:ea typeface="Verdana"/>
              <a:cs typeface="Verdana"/>
              <a:sym typeface="Verdana"/>
            </a:endParaRPr>
          </a:p>
          <a:p>
            <a:pPr indent="0" lvl="0" marL="0" rtl="0" algn="l">
              <a:spcBef>
                <a:spcPts val="0"/>
              </a:spcBef>
              <a:spcAft>
                <a:spcPts val="0"/>
              </a:spcAft>
              <a:buNone/>
            </a:pPr>
            <a:r>
              <a:t/>
            </a:r>
            <a:endParaRPr sz="1700">
              <a:solidFill>
                <a:schemeClr val="dk2"/>
              </a:solidFill>
              <a:latin typeface="Verdana"/>
              <a:ea typeface="Verdana"/>
              <a:cs typeface="Verdana"/>
              <a:sym typeface="Verdana"/>
            </a:endParaRPr>
          </a:p>
        </p:txBody>
      </p:sp>
      <p:grpSp>
        <p:nvGrpSpPr>
          <p:cNvPr id="965" name="Google Shape;965;p82"/>
          <p:cNvGrpSpPr/>
          <p:nvPr/>
        </p:nvGrpSpPr>
        <p:grpSpPr>
          <a:xfrm>
            <a:off x="2523750" y="2897277"/>
            <a:ext cx="2853000" cy="1672273"/>
            <a:chOff x="1950300" y="3052777"/>
            <a:chExt cx="2853000" cy="1672273"/>
          </a:xfrm>
        </p:grpSpPr>
        <p:pic>
          <p:nvPicPr>
            <p:cNvPr id="966" name="Google Shape;966;p82"/>
            <p:cNvPicPr preferRelativeResize="0"/>
            <p:nvPr/>
          </p:nvPicPr>
          <p:blipFill>
            <a:blip r:embed="rId3">
              <a:alphaModFix/>
            </a:blip>
            <a:stretch>
              <a:fillRect/>
            </a:stretch>
          </p:blipFill>
          <p:spPr>
            <a:xfrm>
              <a:off x="2174025" y="3052777"/>
              <a:ext cx="2351894" cy="919800"/>
            </a:xfrm>
            <a:prstGeom prst="rect">
              <a:avLst/>
            </a:prstGeom>
            <a:noFill/>
            <a:ln>
              <a:noFill/>
            </a:ln>
          </p:spPr>
        </p:pic>
        <p:sp>
          <p:nvSpPr>
            <p:cNvPr id="967" name="Google Shape;967;p82"/>
            <p:cNvSpPr txBox="1"/>
            <p:nvPr/>
          </p:nvSpPr>
          <p:spPr>
            <a:xfrm>
              <a:off x="1950300" y="3805250"/>
              <a:ext cx="8553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Tossing a head</a:t>
              </a:r>
              <a:endParaRPr sz="1300">
                <a:solidFill>
                  <a:schemeClr val="dk2"/>
                </a:solidFill>
                <a:latin typeface="Verdana"/>
                <a:ea typeface="Verdana"/>
                <a:cs typeface="Verdana"/>
                <a:sym typeface="Verdana"/>
              </a:endParaRPr>
            </a:p>
          </p:txBody>
        </p:sp>
        <p:sp>
          <p:nvSpPr>
            <p:cNvPr id="968" name="Google Shape;968;p82"/>
            <p:cNvSpPr txBox="1"/>
            <p:nvPr/>
          </p:nvSpPr>
          <p:spPr>
            <a:xfrm>
              <a:off x="2805600" y="3805250"/>
              <a:ext cx="855300" cy="21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Tossing a head</a:t>
              </a:r>
              <a:endParaRPr sz="1300">
                <a:solidFill>
                  <a:schemeClr val="dk2"/>
                </a:solidFill>
                <a:latin typeface="Verdana"/>
                <a:ea typeface="Verdana"/>
                <a:cs typeface="Verdana"/>
                <a:sym typeface="Verdana"/>
              </a:endParaRPr>
            </a:p>
          </p:txBody>
        </p:sp>
        <p:sp>
          <p:nvSpPr>
            <p:cNvPr id="969" name="Google Shape;969;p82"/>
            <p:cNvSpPr txBox="1"/>
            <p:nvPr/>
          </p:nvSpPr>
          <p:spPr>
            <a:xfrm>
              <a:off x="3758100" y="3805250"/>
              <a:ext cx="1045200" cy="9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Tossing two heads in a row</a:t>
              </a:r>
              <a:endParaRPr sz="1300">
                <a:solidFill>
                  <a:schemeClr val="dk2"/>
                </a:solidFill>
                <a:latin typeface="Verdana"/>
                <a:ea typeface="Verdana"/>
                <a:cs typeface="Verdana"/>
                <a:sym typeface="Verdana"/>
              </a:endParaRPr>
            </a:p>
          </p:txBody>
        </p:sp>
      </p:grpSp>
      <p:sp>
        <p:nvSpPr>
          <p:cNvPr id="970" name="Google Shape;970;p82"/>
          <p:cNvSpPr txBox="1"/>
          <p:nvPr/>
        </p:nvSpPr>
        <p:spPr>
          <a:xfrm>
            <a:off x="776475" y="4421975"/>
            <a:ext cx="8367600" cy="6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chemeClr val="dk2"/>
                </a:solidFill>
                <a:latin typeface="Verdana"/>
                <a:ea typeface="Verdana"/>
                <a:cs typeface="Verdana"/>
                <a:sym typeface="Verdana"/>
              </a:rPr>
              <a:t>Example 2: The probability of tossing a head and rolling a 3.</a:t>
            </a:r>
            <a:endParaRPr sz="1700">
              <a:solidFill>
                <a:schemeClr val="dk2"/>
              </a:solidFill>
              <a:latin typeface="Verdana"/>
              <a:ea typeface="Verdana"/>
              <a:cs typeface="Verdana"/>
              <a:sym typeface="Verdana"/>
            </a:endParaRPr>
          </a:p>
        </p:txBody>
      </p:sp>
      <p:pic>
        <p:nvPicPr>
          <p:cNvPr id="971" name="Google Shape;971;p82"/>
          <p:cNvPicPr preferRelativeResize="0"/>
          <p:nvPr/>
        </p:nvPicPr>
        <p:blipFill>
          <a:blip r:embed="rId4">
            <a:alphaModFix/>
          </a:blip>
          <a:stretch>
            <a:fillRect/>
          </a:stretch>
        </p:blipFill>
        <p:spPr>
          <a:xfrm>
            <a:off x="659700" y="3006125"/>
            <a:ext cx="641399" cy="641399"/>
          </a:xfrm>
          <a:prstGeom prst="rect">
            <a:avLst/>
          </a:prstGeom>
          <a:noFill/>
          <a:ln>
            <a:noFill/>
          </a:ln>
        </p:spPr>
      </p:pic>
      <p:pic>
        <p:nvPicPr>
          <p:cNvPr id="972" name="Google Shape;972;p82"/>
          <p:cNvPicPr preferRelativeResize="0"/>
          <p:nvPr/>
        </p:nvPicPr>
        <p:blipFill>
          <a:blip r:embed="rId4">
            <a:alphaModFix/>
          </a:blip>
          <a:stretch>
            <a:fillRect/>
          </a:stretch>
        </p:blipFill>
        <p:spPr>
          <a:xfrm>
            <a:off x="1570225" y="3006125"/>
            <a:ext cx="641399" cy="641399"/>
          </a:xfrm>
          <a:prstGeom prst="rect">
            <a:avLst/>
          </a:prstGeom>
          <a:noFill/>
          <a:ln>
            <a:noFill/>
          </a:ln>
        </p:spPr>
      </p:pic>
      <p:pic>
        <p:nvPicPr>
          <p:cNvPr id="973" name="Google Shape;973;p82"/>
          <p:cNvPicPr preferRelativeResize="0"/>
          <p:nvPr/>
        </p:nvPicPr>
        <p:blipFill>
          <a:blip r:embed="rId4">
            <a:alphaModFix/>
          </a:blip>
          <a:stretch>
            <a:fillRect/>
          </a:stretch>
        </p:blipFill>
        <p:spPr>
          <a:xfrm>
            <a:off x="659700" y="5066175"/>
            <a:ext cx="641399" cy="641399"/>
          </a:xfrm>
          <a:prstGeom prst="rect">
            <a:avLst/>
          </a:prstGeom>
          <a:noFill/>
          <a:ln>
            <a:noFill/>
          </a:ln>
        </p:spPr>
      </p:pic>
      <p:pic>
        <p:nvPicPr>
          <p:cNvPr id="974" name="Google Shape;974;p82"/>
          <p:cNvPicPr preferRelativeResize="0"/>
          <p:nvPr/>
        </p:nvPicPr>
        <p:blipFill rotWithShape="1">
          <a:blip r:embed="rId5">
            <a:alphaModFix/>
          </a:blip>
          <a:srcRect b="26709" l="55264" r="7325" t="20224"/>
          <a:stretch/>
        </p:blipFill>
        <p:spPr>
          <a:xfrm>
            <a:off x="1417750" y="5015600"/>
            <a:ext cx="729175" cy="742550"/>
          </a:xfrm>
          <a:prstGeom prst="rect">
            <a:avLst/>
          </a:prstGeom>
          <a:noFill/>
          <a:ln>
            <a:noFill/>
          </a:ln>
        </p:spPr>
      </p:pic>
      <p:pic>
        <p:nvPicPr>
          <p:cNvPr id="975" name="Google Shape;975;p82"/>
          <p:cNvPicPr preferRelativeResize="0"/>
          <p:nvPr/>
        </p:nvPicPr>
        <p:blipFill>
          <a:blip r:embed="rId6">
            <a:alphaModFix/>
          </a:blip>
          <a:stretch>
            <a:fillRect/>
          </a:stretch>
        </p:blipFill>
        <p:spPr>
          <a:xfrm>
            <a:off x="2825675" y="4889250"/>
            <a:ext cx="2249173" cy="742550"/>
          </a:xfrm>
          <a:prstGeom prst="rect">
            <a:avLst/>
          </a:prstGeom>
          <a:noFill/>
          <a:ln>
            <a:noFill/>
          </a:ln>
        </p:spPr>
      </p:pic>
      <p:grpSp>
        <p:nvGrpSpPr>
          <p:cNvPr id="976" name="Google Shape;976;p82"/>
          <p:cNvGrpSpPr/>
          <p:nvPr/>
        </p:nvGrpSpPr>
        <p:grpSpPr>
          <a:xfrm>
            <a:off x="2685850" y="5594275"/>
            <a:ext cx="2998800" cy="1003500"/>
            <a:chOff x="1998900" y="3721550"/>
            <a:chExt cx="2998800" cy="1003500"/>
          </a:xfrm>
        </p:grpSpPr>
        <p:sp>
          <p:nvSpPr>
            <p:cNvPr id="977" name="Google Shape;977;p82"/>
            <p:cNvSpPr txBox="1"/>
            <p:nvPr/>
          </p:nvSpPr>
          <p:spPr>
            <a:xfrm>
              <a:off x="1998900" y="3721550"/>
              <a:ext cx="8553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Tossing a head</a:t>
              </a:r>
              <a:endParaRPr sz="1300">
                <a:solidFill>
                  <a:schemeClr val="dk2"/>
                </a:solidFill>
                <a:latin typeface="Verdana"/>
                <a:ea typeface="Verdana"/>
                <a:cs typeface="Verdana"/>
                <a:sym typeface="Verdana"/>
              </a:endParaRPr>
            </a:p>
          </p:txBody>
        </p:sp>
        <p:sp>
          <p:nvSpPr>
            <p:cNvPr id="978" name="Google Shape;978;p82"/>
            <p:cNvSpPr txBox="1"/>
            <p:nvPr/>
          </p:nvSpPr>
          <p:spPr>
            <a:xfrm>
              <a:off x="2805600" y="3721550"/>
              <a:ext cx="855300" cy="2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Rolling a 3</a:t>
              </a:r>
              <a:endParaRPr sz="1300">
                <a:solidFill>
                  <a:schemeClr val="dk2"/>
                </a:solidFill>
                <a:latin typeface="Verdana"/>
                <a:ea typeface="Verdana"/>
                <a:cs typeface="Verdana"/>
                <a:sym typeface="Verdana"/>
              </a:endParaRPr>
            </a:p>
          </p:txBody>
        </p:sp>
        <p:sp>
          <p:nvSpPr>
            <p:cNvPr id="979" name="Google Shape;979;p82"/>
            <p:cNvSpPr txBox="1"/>
            <p:nvPr/>
          </p:nvSpPr>
          <p:spPr>
            <a:xfrm>
              <a:off x="3758100" y="3721550"/>
              <a:ext cx="1239600" cy="10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Tossing a head and rolling a three</a:t>
              </a:r>
              <a:endParaRPr sz="1300">
                <a:solidFill>
                  <a:schemeClr val="dk2"/>
                </a:solidFill>
                <a:latin typeface="Verdana"/>
                <a:ea typeface="Verdana"/>
                <a:cs typeface="Verdana"/>
                <a:sym typeface="Verdana"/>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83"/>
          <p:cNvSpPr txBox="1"/>
          <p:nvPr/>
        </p:nvSpPr>
        <p:spPr>
          <a:xfrm>
            <a:off x="677125" y="681425"/>
            <a:ext cx="7397700" cy="193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i="0" lang="en-CA" sz="1600" u="none" cap="none" strike="noStrike">
                <a:solidFill>
                  <a:srgbClr val="393B3F"/>
                </a:solidFill>
                <a:latin typeface="Verdana"/>
                <a:ea typeface="Verdana"/>
                <a:cs typeface="Verdana"/>
                <a:sym typeface="Verdana"/>
              </a:rPr>
              <a:t>EXAMPLE</a:t>
            </a:r>
            <a:r>
              <a:rPr b="1" lang="en-CA" sz="1600">
                <a:solidFill>
                  <a:srgbClr val="393B3F"/>
                </a:solidFill>
                <a:latin typeface="Verdana"/>
                <a:ea typeface="Verdana"/>
                <a:cs typeface="Verdana"/>
                <a:sym typeface="Verdana"/>
              </a:rPr>
              <a:t> 2:</a:t>
            </a:r>
            <a:endParaRPr sz="1600"/>
          </a:p>
          <a:p>
            <a:pPr indent="0" lvl="0" marL="0" marR="0" rtl="0" algn="l">
              <a:lnSpc>
                <a:spcPct val="100000"/>
              </a:lnSpc>
              <a:spcBef>
                <a:spcPts val="0"/>
              </a:spcBef>
              <a:spcAft>
                <a:spcPts val="0"/>
              </a:spcAft>
              <a:buClr>
                <a:srgbClr val="000000"/>
              </a:buClr>
              <a:buSzPts val="2000"/>
              <a:buFont typeface="Arial"/>
              <a:buNone/>
            </a:pPr>
            <a:r>
              <a:t/>
            </a:r>
            <a:endParaRPr b="0" i="0" sz="16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1600" u="none" cap="none" strike="noStrike">
                <a:solidFill>
                  <a:srgbClr val="393B3F"/>
                </a:solidFill>
                <a:latin typeface="Verdana"/>
                <a:ea typeface="Verdana"/>
                <a:cs typeface="Verdana"/>
                <a:sym typeface="Verdana"/>
              </a:rPr>
              <a:t>A woman </a:t>
            </a:r>
            <a:r>
              <a:rPr lang="en-CA" sz="1600">
                <a:solidFill>
                  <a:srgbClr val="393B3F"/>
                </a:solidFill>
                <a:latin typeface="Verdana"/>
                <a:ea typeface="Verdana"/>
                <a:cs typeface="Verdana"/>
                <a:sym typeface="Verdana"/>
              </a:rPr>
              <a:t>with blood type B</a:t>
            </a:r>
            <a:r>
              <a:rPr b="0" i="0" lang="en-CA" sz="1600" u="none" cap="none" strike="noStrike">
                <a:solidFill>
                  <a:srgbClr val="393B3F"/>
                </a:solidFill>
                <a:latin typeface="Verdana"/>
                <a:ea typeface="Verdana"/>
                <a:cs typeface="Verdana"/>
                <a:sym typeface="Verdana"/>
              </a:rPr>
              <a:t> has a child with a man </a:t>
            </a:r>
            <a:r>
              <a:rPr lang="en-CA" sz="1600">
                <a:solidFill>
                  <a:srgbClr val="393B3F"/>
                </a:solidFill>
                <a:latin typeface="Verdana"/>
                <a:ea typeface="Verdana"/>
                <a:cs typeface="Verdana"/>
                <a:sym typeface="Verdana"/>
              </a:rPr>
              <a:t>with blood type AB</a:t>
            </a:r>
            <a:r>
              <a:rPr b="0" i="0" lang="en-CA" sz="1600" u="none" cap="none" strike="noStrike">
                <a:solidFill>
                  <a:srgbClr val="393B3F"/>
                </a:solidFill>
                <a:latin typeface="Verdana"/>
                <a:ea typeface="Verdana"/>
                <a:cs typeface="Verdana"/>
                <a:sym typeface="Verdana"/>
              </a:rPr>
              <a:t>. The </a:t>
            </a:r>
            <a:r>
              <a:rPr lang="en-CA" sz="1600">
                <a:solidFill>
                  <a:srgbClr val="393B3F"/>
                </a:solidFill>
                <a:latin typeface="Verdana"/>
                <a:ea typeface="Verdana"/>
                <a:cs typeface="Verdana"/>
                <a:sym typeface="Verdana"/>
              </a:rPr>
              <a:t>woman’s father had blood type O. </a:t>
            </a:r>
            <a:r>
              <a:rPr b="0" i="0" lang="en-CA" sz="1600" u="none" cap="none" strike="noStrike">
                <a:solidFill>
                  <a:srgbClr val="393B3F"/>
                </a:solidFill>
                <a:latin typeface="Verdana"/>
                <a:ea typeface="Verdana"/>
                <a:cs typeface="Verdana"/>
                <a:sym typeface="Verdana"/>
              </a:rPr>
              <a:t>What is the probability that their child is a son a</a:t>
            </a:r>
            <a:r>
              <a:rPr lang="en-CA" sz="1600">
                <a:solidFill>
                  <a:srgbClr val="393B3F"/>
                </a:solidFill>
                <a:latin typeface="Verdana"/>
                <a:ea typeface="Verdana"/>
                <a:cs typeface="Verdana"/>
                <a:sym typeface="Verdana"/>
              </a:rPr>
              <a:t>nd </a:t>
            </a:r>
            <a:r>
              <a:rPr b="0" i="0" lang="en-CA" sz="1600" u="none" cap="none" strike="noStrike">
                <a:solidFill>
                  <a:srgbClr val="393B3F"/>
                </a:solidFill>
                <a:latin typeface="Verdana"/>
                <a:ea typeface="Verdana"/>
                <a:cs typeface="Verdana"/>
                <a:sym typeface="Verdana"/>
              </a:rPr>
              <a:t>has the blood type </a:t>
            </a:r>
            <a:r>
              <a:rPr lang="en-CA" sz="1600">
                <a:solidFill>
                  <a:srgbClr val="393B3F"/>
                </a:solidFill>
                <a:latin typeface="Verdana"/>
                <a:ea typeface="Verdana"/>
                <a:cs typeface="Verdana"/>
                <a:sym typeface="Verdana"/>
              </a:rPr>
              <a:t>B</a:t>
            </a:r>
            <a:r>
              <a:rPr b="0" i="0" lang="en-CA" sz="1600" u="none" cap="none" strike="noStrike">
                <a:solidFill>
                  <a:srgbClr val="393B3F"/>
                </a:solidFill>
                <a:latin typeface="Verdana"/>
                <a:ea typeface="Verdana"/>
                <a:cs typeface="Verdana"/>
                <a:sym typeface="Verdana"/>
              </a:rPr>
              <a:t>? </a:t>
            </a:r>
            <a:endParaRPr sz="1600"/>
          </a:p>
        </p:txBody>
      </p:sp>
      <p:sp>
        <p:nvSpPr>
          <p:cNvPr id="986" name="Google Shape;986;p83"/>
          <p:cNvSpPr txBox="1"/>
          <p:nvPr/>
        </p:nvSpPr>
        <p:spPr>
          <a:xfrm>
            <a:off x="601525" y="2105175"/>
            <a:ext cx="7794900" cy="5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600">
                <a:solidFill>
                  <a:srgbClr val="A64D79"/>
                </a:solidFill>
                <a:latin typeface="Verdana"/>
                <a:ea typeface="Verdana"/>
                <a:cs typeface="Verdana"/>
                <a:sym typeface="Verdana"/>
              </a:rPr>
              <a:t>Since the woman’s blood type is B, her genotype can be either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 </a:t>
            </a:r>
            <a:r>
              <a:rPr i="1" lang="en-CA" sz="1600">
                <a:solidFill>
                  <a:srgbClr val="A64D79"/>
                </a:solidFill>
                <a:latin typeface="Verdana"/>
                <a:ea typeface="Verdana"/>
                <a:cs typeface="Verdana"/>
                <a:sym typeface="Verdana"/>
              </a:rPr>
              <a:t>or 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 However, since we are told that her father has blood type O, his genotype must be ii and therefore must have passed on a i allele to his daughter. So the woman’s genotype must be 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 </a:t>
            </a:r>
            <a:endParaRPr i="1" sz="1600">
              <a:solidFill>
                <a:srgbClr val="A64D79"/>
              </a:solidFill>
              <a:latin typeface="Verdana"/>
              <a:ea typeface="Verdana"/>
              <a:cs typeface="Verdana"/>
              <a:sym typeface="Verdana"/>
            </a:endParaRPr>
          </a:p>
          <a:p>
            <a:pPr indent="0" lvl="0" marL="0" rtl="0" algn="l">
              <a:spcBef>
                <a:spcPts val="0"/>
              </a:spcBef>
              <a:spcAft>
                <a:spcPts val="0"/>
              </a:spcAft>
              <a:buNone/>
            </a:pPr>
            <a:r>
              <a:t/>
            </a:r>
            <a:endParaRPr i="1" sz="1600">
              <a:solidFill>
                <a:srgbClr val="A64D79"/>
              </a:solidFill>
              <a:latin typeface="Verdana"/>
              <a:ea typeface="Verdana"/>
              <a:cs typeface="Verdana"/>
              <a:sym typeface="Verdana"/>
            </a:endParaRPr>
          </a:p>
          <a:p>
            <a:pPr indent="0" lvl="0" marL="0" rtl="0" algn="l">
              <a:spcBef>
                <a:spcPts val="0"/>
              </a:spcBef>
              <a:spcAft>
                <a:spcPts val="0"/>
              </a:spcAft>
              <a:buNone/>
            </a:pPr>
            <a:r>
              <a:rPr i="1" lang="en-CA" sz="1600">
                <a:solidFill>
                  <a:srgbClr val="A64D79"/>
                </a:solidFill>
                <a:latin typeface="Verdana"/>
                <a:ea typeface="Verdana"/>
                <a:cs typeface="Verdana"/>
                <a:sym typeface="Verdana"/>
              </a:rPr>
              <a:t>Therefore our cross is:</a:t>
            </a:r>
            <a:endParaRPr b="1" i="1" sz="1600">
              <a:solidFill>
                <a:srgbClr val="A64D79"/>
              </a:solidFill>
              <a:latin typeface="Verdana"/>
              <a:ea typeface="Verdana"/>
              <a:cs typeface="Verdana"/>
              <a:sym typeface="Verdana"/>
            </a:endParaRPr>
          </a:p>
        </p:txBody>
      </p:sp>
      <p:grpSp>
        <p:nvGrpSpPr>
          <p:cNvPr id="987" name="Google Shape;987;p83"/>
          <p:cNvGrpSpPr/>
          <p:nvPr/>
        </p:nvGrpSpPr>
        <p:grpSpPr>
          <a:xfrm>
            <a:off x="463300" y="3546050"/>
            <a:ext cx="3627600" cy="2709000"/>
            <a:chOff x="677125" y="3954275"/>
            <a:chExt cx="3627600" cy="2709000"/>
          </a:xfrm>
        </p:grpSpPr>
        <p:grpSp>
          <p:nvGrpSpPr>
            <p:cNvPr id="988" name="Google Shape;988;p83"/>
            <p:cNvGrpSpPr/>
            <p:nvPr/>
          </p:nvGrpSpPr>
          <p:grpSpPr>
            <a:xfrm>
              <a:off x="677125" y="3954275"/>
              <a:ext cx="3627600" cy="2709000"/>
              <a:chOff x="414700" y="2778200"/>
              <a:chExt cx="3627600" cy="2709000"/>
            </a:xfrm>
          </p:grpSpPr>
          <p:sp>
            <p:nvSpPr>
              <p:cNvPr id="989" name="Google Shape;989;p83"/>
              <p:cNvSpPr txBox="1"/>
              <p:nvPr/>
            </p:nvSpPr>
            <p:spPr>
              <a:xfrm>
                <a:off x="414700" y="2778200"/>
                <a:ext cx="3627600" cy="27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a:t>
                </a:r>
                <a:r>
                  <a:rPr b="1" lang="en-CA" sz="2100">
                    <a:solidFill>
                      <a:srgbClr val="C27BA0"/>
                    </a:solidFill>
                    <a:latin typeface="Verdana"/>
                    <a:ea typeface="Verdana"/>
                    <a:cs typeface="Verdana"/>
                    <a:sym typeface="Verdana"/>
                  </a:rPr>
                  <a:t>  </a:t>
                </a:r>
                <a:r>
                  <a:rPr lang="en-CA" sz="2100">
                    <a:solidFill>
                      <a:srgbClr val="C27BA0"/>
                    </a:solidFill>
                    <a:latin typeface="Verdana"/>
                    <a:ea typeface="Verdana"/>
                    <a:cs typeface="Verdana"/>
                    <a:sym typeface="Verdana"/>
                  </a:rPr>
                  <a:t>x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A</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A</a:t>
                </a: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A</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a:t>
                </a:r>
                <a:r>
                  <a:rPr i="1" lang="en-CA" sz="1600">
                    <a:solidFill>
                      <a:srgbClr val="C27BA0"/>
                    </a:solidFill>
                    <a:latin typeface="Verdana"/>
                    <a:ea typeface="Verdana"/>
                    <a:cs typeface="Verdana"/>
                    <a:sym typeface="Verdana"/>
                  </a:rPr>
                  <a:t>i</a:t>
                </a: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A</a:t>
                </a:r>
                <a:r>
                  <a:rPr i="1" lang="en-CA" sz="1600">
                    <a:solidFill>
                      <a:srgbClr val="A64D79"/>
                    </a:solidFill>
                    <a:latin typeface="Verdana"/>
                    <a:ea typeface="Verdana"/>
                    <a:cs typeface="Verdana"/>
                    <a:sym typeface="Verdana"/>
                  </a:rPr>
                  <a:t>i</a:t>
                </a:r>
                <a:r>
                  <a:rPr b="1" lang="en-CA" sz="2100">
                    <a:solidFill>
                      <a:srgbClr val="C27BA0"/>
                    </a:solidFill>
                    <a:latin typeface="Verdana"/>
                    <a:ea typeface="Verdana"/>
                    <a:cs typeface="Verdana"/>
                    <a:sym typeface="Verdana"/>
                  </a:rPr>
                  <a:t>    </a:t>
                </a:r>
                <a:r>
                  <a:rPr i="1" lang="en-CA" sz="1600">
                    <a:solidFill>
                      <a:srgbClr val="A64D79"/>
                    </a:solidFill>
                    <a:latin typeface="Verdana"/>
                    <a:ea typeface="Verdana"/>
                    <a:cs typeface="Verdana"/>
                    <a:sym typeface="Verdana"/>
                  </a:rPr>
                  <a:t>I</a:t>
                </a:r>
                <a:r>
                  <a:rPr baseline="30000" i="1" lang="en-CA" sz="1600">
                    <a:solidFill>
                      <a:srgbClr val="A64D79"/>
                    </a:solidFill>
                    <a:latin typeface="Verdana"/>
                    <a:ea typeface="Verdana"/>
                    <a:cs typeface="Verdana"/>
                    <a:sym typeface="Verdana"/>
                  </a:rPr>
                  <a:t>B</a:t>
                </a:r>
                <a:r>
                  <a:rPr i="1" lang="en-CA" sz="1600">
                    <a:solidFill>
                      <a:srgbClr val="A64D79"/>
                    </a:solidFill>
                    <a:latin typeface="Verdana"/>
                    <a:ea typeface="Verdana"/>
                    <a:cs typeface="Verdana"/>
                    <a:sym typeface="Verdana"/>
                  </a:rPr>
                  <a:t>i</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cxnSp>
            <p:nvCxnSpPr>
              <p:cNvPr id="990" name="Google Shape;990;p83"/>
              <p:cNvCxnSpPr/>
              <p:nvPr/>
            </p:nvCxnSpPr>
            <p:spPr>
              <a:xfrm>
                <a:off x="970875" y="4127900"/>
                <a:ext cx="2167500" cy="9600"/>
              </a:xfrm>
              <a:prstGeom prst="straightConnector1">
                <a:avLst/>
              </a:prstGeom>
              <a:noFill/>
              <a:ln cap="flat" cmpd="sng" w="9525">
                <a:solidFill>
                  <a:schemeClr val="dk2"/>
                </a:solidFill>
                <a:prstDash val="solid"/>
                <a:round/>
                <a:headEnd len="med" w="med" type="none"/>
                <a:tailEnd len="med" w="med" type="none"/>
              </a:ln>
            </p:spPr>
          </p:cxnSp>
          <p:cxnSp>
            <p:nvCxnSpPr>
              <p:cNvPr id="991" name="Google Shape;991;p83"/>
              <p:cNvCxnSpPr/>
              <p:nvPr/>
            </p:nvCxnSpPr>
            <p:spPr>
              <a:xfrm flipH="1">
                <a:off x="1453850" y="3778113"/>
                <a:ext cx="3000" cy="1542300"/>
              </a:xfrm>
              <a:prstGeom prst="straightConnector1">
                <a:avLst/>
              </a:prstGeom>
              <a:noFill/>
              <a:ln cap="flat" cmpd="sng" w="9525">
                <a:solidFill>
                  <a:schemeClr val="dk2"/>
                </a:solidFill>
                <a:prstDash val="solid"/>
                <a:round/>
                <a:headEnd len="med" w="med" type="none"/>
                <a:tailEnd len="med" w="med" type="none"/>
              </a:ln>
            </p:spPr>
          </p:cxnSp>
        </p:grpSp>
        <p:sp>
          <p:nvSpPr>
            <p:cNvPr id="992" name="Google Shape;992;p83"/>
            <p:cNvSpPr txBox="1"/>
            <p:nvPr/>
          </p:nvSpPr>
          <p:spPr>
            <a:xfrm>
              <a:off x="2380175" y="5465950"/>
              <a:ext cx="505500" cy="864900"/>
            </a:xfrm>
            <a:prstGeom prst="rect">
              <a:avLst/>
            </a:prstGeom>
            <a:noFill/>
            <a:ln cap="flat" cmpd="sng" w="38100">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grpSp>
      <p:sp>
        <p:nvSpPr>
          <p:cNvPr id="993" name="Google Shape;993;p83"/>
          <p:cNvSpPr txBox="1"/>
          <p:nvPr/>
        </p:nvSpPr>
        <p:spPr>
          <a:xfrm>
            <a:off x="3575650" y="3415200"/>
            <a:ext cx="50832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rgbClr val="A64D79"/>
                </a:solidFill>
                <a:latin typeface="Verdana"/>
                <a:ea typeface="Verdana"/>
                <a:cs typeface="Verdana"/>
                <a:sym typeface="Verdana"/>
              </a:rPr>
              <a:t>Now we must </a:t>
            </a:r>
            <a:r>
              <a:rPr lang="en-CA" sz="1700">
                <a:solidFill>
                  <a:srgbClr val="A64D79"/>
                </a:solidFill>
                <a:latin typeface="Verdana"/>
                <a:ea typeface="Verdana"/>
                <a:cs typeface="Verdana"/>
                <a:sym typeface="Verdana"/>
              </a:rPr>
              <a:t>remember</a:t>
            </a:r>
            <a:r>
              <a:rPr lang="en-CA" sz="1700">
                <a:solidFill>
                  <a:srgbClr val="A64D79"/>
                </a:solidFill>
                <a:latin typeface="Verdana"/>
                <a:ea typeface="Verdana"/>
                <a:cs typeface="Verdana"/>
                <a:sym typeface="Verdana"/>
              </a:rPr>
              <a:t> that blood type and sex are independent events since they are not on the same chromosome. So we must multiply the individual probabilities:</a:t>
            </a:r>
            <a:endParaRPr sz="1700">
              <a:solidFill>
                <a:srgbClr val="A64D79"/>
              </a:solidFill>
              <a:latin typeface="Verdana"/>
              <a:ea typeface="Verdana"/>
              <a:cs typeface="Verdana"/>
              <a:sym typeface="Verdana"/>
            </a:endParaRPr>
          </a:p>
        </p:txBody>
      </p:sp>
      <p:pic>
        <p:nvPicPr>
          <p:cNvPr id="994" name="Google Shape;994;p83"/>
          <p:cNvPicPr preferRelativeResize="0"/>
          <p:nvPr/>
        </p:nvPicPr>
        <p:blipFill>
          <a:blip r:embed="rId3">
            <a:alphaModFix/>
          </a:blip>
          <a:stretch>
            <a:fillRect/>
          </a:stretch>
        </p:blipFill>
        <p:spPr>
          <a:xfrm>
            <a:off x="4392075" y="4550275"/>
            <a:ext cx="3430950" cy="905950"/>
          </a:xfrm>
          <a:prstGeom prst="rect">
            <a:avLst/>
          </a:prstGeom>
          <a:noFill/>
          <a:ln>
            <a:noFill/>
          </a:ln>
        </p:spPr>
      </p:pic>
      <p:grpSp>
        <p:nvGrpSpPr>
          <p:cNvPr id="995" name="Google Shape;995;p83"/>
          <p:cNvGrpSpPr/>
          <p:nvPr/>
        </p:nvGrpSpPr>
        <p:grpSpPr>
          <a:xfrm>
            <a:off x="4319025" y="5368120"/>
            <a:ext cx="2881800" cy="770093"/>
            <a:chOff x="1950300" y="3637821"/>
            <a:chExt cx="2881800" cy="944205"/>
          </a:xfrm>
        </p:grpSpPr>
        <p:sp>
          <p:nvSpPr>
            <p:cNvPr id="996" name="Google Shape;996;p83"/>
            <p:cNvSpPr txBox="1"/>
            <p:nvPr/>
          </p:nvSpPr>
          <p:spPr>
            <a:xfrm>
              <a:off x="1950300" y="3637832"/>
              <a:ext cx="855300" cy="5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Being a boy</a:t>
              </a:r>
              <a:endParaRPr sz="1300">
                <a:solidFill>
                  <a:schemeClr val="dk2"/>
                </a:solidFill>
                <a:latin typeface="Verdana"/>
                <a:ea typeface="Verdana"/>
                <a:cs typeface="Verdana"/>
                <a:sym typeface="Verdana"/>
              </a:endParaRPr>
            </a:p>
          </p:txBody>
        </p:sp>
        <p:sp>
          <p:nvSpPr>
            <p:cNvPr id="997" name="Google Shape;997;p83"/>
            <p:cNvSpPr txBox="1"/>
            <p:nvPr/>
          </p:nvSpPr>
          <p:spPr>
            <a:xfrm>
              <a:off x="2854225" y="3637821"/>
              <a:ext cx="855300" cy="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Having blood type B</a:t>
              </a:r>
              <a:endParaRPr sz="1300">
                <a:solidFill>
                  <a:schemeClr val="dk2"/>
                </a:solidFill>
                <a:latin typeface="Verdana"/>
                <a:ea typeface="Verdana"/>
                <a:cs typeface="Verdana"/>
                <a:sym typeface="Verdana"/>
              </a:endParaRPr>
            </a:p>
          </p:txBody>
        </p:sp>
        <p:sp>
          <p:nvSpPr>
            <p:cNvPr id="998" name="Google Shape;998;p83"/>
            <p:cNvSpPr txBox="1"/>
            <p:nvPr/>
          </p:nvSpPr>
          <p:spPr>
            <a:xfrm>
              <a:off x="3855300" y="3662226"/>
              <a:ext cx="976800" cy="9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Being a boy and having blood type B</a:t>
              </a:r>
              <a:endParaRPr sz="1300">
                <a:solidFill>
                  <a:schemeClr val="dk2"/>
                </a:solidFill>
                <a:latin typeface="Verdana"/>
                <a:ea typeface="Verdana"/>
                <a:cs typeface="Verdana"/>
                <a:sym typeface="Verdana"/>
              </a:endParaRPr>
            </a:p>
          </p:txBody>
        </p:sp>
      </p:grpSp>
      <p:sp>
        <p:nvSpPr>
          <p:cNvPr id="999" name="Google Shape;999;p83"/>
          <p:cNvSpPr txBox="1"/>
          <p:nvPr/>
        </p:nvSpPr>
        <p:spPr>
          <a:xfrm>
            <a:off x="7144275" y="5368125"/>
            <a:ext cx="1145400" cy="3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300">
                <a:solidFill>
                  <a:schemeClr val="dk2"/>
                </a:solidFill>
                <a:latin typeface="Verdana"/>
                <a:ea typeface="Verdana"/>
                <a:cs typeface="Verdana"/>
                <a:sym typeface="Verdana"/>
              </a:rPr>
              <a:t>Simplified probability</a:t>
            </a:r>
            <a:endParaRPr sz="13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84"/>
          <p:cNvSpPr/>
          <p:nvPr/>
        </p:nvSpPr>
        <p:spPr>
          <a:xfrm>
            <a:off x="2730075" y="958300"/>
            <a:ext cx="4014000" cy="4665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005" name="Google Shape;1005;p84"/>
          <p:cNvSpPr txBox="1"/>
          <p:nvPr/>
        </p:nvSpPr>
        <p:spPr>
          <a:xfrm>
            <a:off x="2627783" y="1052736"/>
            <a:ext cx="4248472" cy="40010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1" i="0" lang="en-CA" sz="2000" u="sng" cap="none" strike="noStrike">
                <a:solidFill>
                  <a:srgbClr val="393B3F"/>
                </a:solidFill>
                <a:latin typeface="Verdana"/>
                <a:ea typeface="Verdana"/>
                <a:cs typeface="Verdana"/>
                <a:sym typeface="Verdana"/>
              </a:rPr>
              <a:t>POLYGENIC INHERITANCE</a:t>
            </a:r>
            <a:endParaRPr u="sng"/>
          </a:p>
        </p:txBody>
      </p:sp>
      <p:sp>
        <p:nvSpPr>
          <p:cNvPr id="1006" name="Google Shape;1006;p84"/>
          <p:cNvSpPr txBox="1"/>
          <p:nvPr/>
        </p:nvSpPr>
        <p:spPr>
          <a:xfrm>
            <a:off x="827583" y="1628800"/>
            <a:ext cx="7560839" cy="132343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Many traits are controlled by more than one gene. As a result, phenotypes vary gradually from one extreme to another rather than displaying two discrete forms. These are referred to as </a:t>
            </a:r>
            <a:r>
              <a:rPr b="1" i="1" lang="en-CA" sz="2000" u="none" cap="none" strike="noStrike">
                <a:solidFill>
                  <a:srgbClr val="393B3F"/>
                </a:solidFill>
                <a:latin typeface="Verdana"/>
                <a:ea typeface="Verdana"/>
                <a:cs typeface="Verdana"/>
                <a:sym typeface="Verdana"/>
              </a:rPr>
              <a:t>continuous traits</a:t>
            </a:r>
            <a:r>
              <a:rPr b="0" i="0" lang="en-CA" sz="2000" u="none" cap="none" strike="noStrike">
                <a:solidFill>
                  <a:srgbClr val="393B3F"/>
                </a:solidFill>
                <a:latin typeface="Verdana"/>
                <a:ea typeface="Verdana"/>
                <a:cs typeface="Verdana"/>
                <a:sym typeface="Verdana"/>
              </a:rPr>
              <a:t>…</a:t>
            </a:r>
            <a:endParaRPr/>
          </a:p>
        </p:txBody>
      </p:sp>
      <p:pic>
        <p:nvPicPr>
          <p:cNvPr descr="http://karimedalla.files.wordpress.com/2013/02/skin-colors-711079-sw1.jpg" id="1007" name="Google Shape;1007;p84"/>
          <p:cNvPicPr preferRelativeResize="0"/>
          <p:nvPr/>
        </p:nvPicPr>
        <p:blipFill rotWithShape="1">
          <a:blip r:embed="rId3">
            <a:alphaModFix/>
          </a:blip>
          <a:srcRect b="37342" l="0" r="0" t="25165"/>
          <a:stretch/>
        </p:blipFill>
        <p:spPr>
          <a:xfrm>
            <a:off x="798004" y="3166282"/>
            <a:ext cx="7619999" cy="2142698"/>
          </a:xfrm>
          <a:prstGeom prst="rect">
            <a:avLst/>
          </a:prstGeom>
          <a:noFill/>
          <a:ln>
            <a:noFill/>
          </a:ln>
        </p:spPr>
      </p:pic>
      <p:sp>
        <p:nvSpPr>
          <p:cNvPr id="1008" name="Google Shape;1008;p84"/>
          <p:cNvSpPr txBox="1"/>
          <p:nvPr/>
        </p:nvSpPr>
        <p:spPr>
          <a:xfrm>
            <a:off x="1439651" y="5517232"/>
            <a:ext cx="6516724" cy="70788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Skin colour and height are two examples of polygenic inheritance.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pic>
        <p:nvPicPr>
          <p:cNvPr descr="For all of human history, we've been aware of heredity. Children look like their parents. But why? When Gregor Mendel pioneered the field of genetics, he began to try to answer that question, and now that we know about chromosomes, all of his work will make a lot of sense. Let's take a look at Mendel's work, his laws of segregation and independent assortment, and try to understand what these mean for genetics and inheritance.&#10;&#10;Watch the whole Biology/Genetics playlist: http://bit.ly/ProfDaveBio&#10;&#10;General Chemistry Tutorials: http://bit.ly/ProfDaveGenChem&#10;Organic Chemistry Tutorials: http://bit.ly/ProfDaveOrgChem&#10;Biochemistry Tutorials: http://bit.ly/ProfDaveBiochem&#10;Anatomy &amp; Physiology Tutorials: http://bit.ly/ProfDaveAnatPhys&#10;Biopsychology Tutorials: http://bit.ly/ProfDaveBiopsych&#10;Microbiology/Infectious Diseases Tutorials: http://bit.ly/ProfDaveMicrobio&#10;Pharmacology Tutorials: http://bit.ly/ProfDavePharma&#10; History of Drugs Videos: http://bit.ly/ProfDaveHistoryDrugs&#10;&#10;EMAIL► ProfessorDaveExplains@gmail.com&#10;PATREON► http://patreon.com/ProfessorDaveExplains&#10;&#10;Check out &quot;Is This Wi-Fi Organic?&quot;, my book on disarming pseudoscience!&#10;Amazon: https://amzn.to/2HtNpVH&#10;Bookshop: https://bit.ly/39cKADM&#10; Barnes and Noble: https://bit.ly/3pUjmrn &#10;Book Depository: http://bit.ly/3aOVDlT" id="1014" name="Google Shape;1014;p85" title="Mendelian Genetics and Punnett Squares">
            <a:hlinkClick r:id="rId3"/>
          </p:cNvPr>
          <p:cNvPicPr preferRelativeResize="0"/>
          <p:nvPr/>
        </p:nvPicPr>
        <p:blipFill>
          <a:blip r:embed="rId4">
            <a:alphaModFix/>
          </a:blip>
          <a:stretch>
            <a:fillRect/>
          </a:stretch>
        </p:blipFill>
        <p:spPr>
          <a:xfrm>
            <a:off x="634525" y="2581175"/>
            <a:ext cx="3862050" cy="2172400"/>
          </a:xfrm>
          <a:prstGeom prst="rect">
            <a:avLst/>
          </a:prstGeom>
          <a:noFill/>
          <a:ln>
            <a:noFill/>
          </a:ln>
        </p:spPr>
      </p:pic>
      <p:pic>
        <p:nvPicPr>
          <p:cNvPr descr="Paul Andersen introduces the Punnett Square as a a powerful tool in genetic analysis.  He tries to address major misconceptions that students have when use a Punnett Square.  He gives a number of examples of monohybrid crosses and one example of a dihybrid cross.  The square is a simple tool that uses the outcome of meiosis to determine possible offspring in a cross.&#10;&#10;Intro Music Atribution&#10;Title: I4dsong_loop_main.wav&#10;Artist: CosmicD&#10;Link to sound: http://www.freesound.org/people/CosmicD/sounds/72556/&#10;Creative Commons Atribution License" id="1015" name="Google Shape;1015;p85" title="A Beginner's Guide to Punnett Squares">
            <a:hlinkClick r:id="rId5"/>
          </p:cNvPr>
          <p:cNvPicPr preferRelativeResize="0"/>
          <p:nvPr/>
        </p:nvPicPr>
        <p:blipFill>
          <a:blip r:embed="rId6">
            <a:alphaModFix/>
          </a:blip>
          <a:stretch>
            <a:fillRect/>
          </a:stretch>
        </p:blipFill>
        <p:spPr>
          <a:xfrm>
            <a:off x="4911250" y="2511275"/>
            <a:ext cx="3727150" cy="2096525"/>
          </a:xfrm>
          <a:prstGeom prst="rect">
            <a:avLst/>
          </a:prstGeom>
          <a:noFill/>
          <a:ln>
            <a:noFill/>
          </a:ln>
        </p:spPr>
      </p:pic>
      <p:sp>
        <p:nvSpPr>
          <p:cNvPr id="1016" name="Google Shape;1016;p85"/>
          <p:cNvSpPr txBox="1"/>
          <p:nvPr/>
        </p:nvSpPr>
        <p:spPr>
          <a:xfrm>
            <a:off x="1029175" y="1218575"/>
            <a:ext cx="7143900" cy="4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2500">
                <a:solidFill>
                  <a:schemeClr val="dk2"/>
                </a:solidFill>
                <a:latin typeface="Verdana"/>
                <a:ea typeface="Verdana"/>
                <a:cs typeface="Verdana"/>
                <a:sym typeface="Verdana"/>
              </a:rPr>
              <a:t>Recap of (almost) everything so far…</a:t>
            </a:r>
            <a:endParaRPr b="1" sz="25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86"/>
          <p:cNvSpPr txBox="1"/>
          <p:nvPr/>
        </p:nvSpPr>
        <p:spPr>
          <a:xfrm>
            <a:off x="827575" y="2932625"/>
            <a:ext cx="7476000" cy="3309900"/>
          </a:xfrm>
          <a:prstGeom prst="rect">
            <a:avLst/>
          </a:prstGeom>
          <a:noFill/>
          <a:ln>
            <a:noFill/>
          </a:ln>
        </p:spPr>
        <p:txBody>
          <a:bodyPr anchorCtr="0" anchor="t" bIns="45700" lIns="91425" spcFirstLastPara="1" rIns="91425" wrap="square" tIns="45700">
            <a:noAutofit/>
          </a:bodyPr>
          <a:lstStyle/>
          <a:p>
            <a:pPr indent="-306473" lvl="0" marL="342900" rtl="0" algn="l">
              <a:lnSpc>
                <a:spcPct val="115000"/>
              </a:lnSpc>
              <a:spcBef>
                <a:spcPts val="40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Pedigree symbols</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Use of pedigrees to determine genotype</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Use of pedigrees to determine mode of inheritance</a:t>
            </a:r>
            <a:endParaRPr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CA" sz="2000">
                <a:solidFill>
                  <a:srgbClr val="3F3F3F"/>
                </a:solidFill>
                <a:latin typeface="Verdana"/>
                <a:ea typeface="Verdana"/>
                <a:cs typeface="Verdana"/>
                <a:sym typeface="Verdana"/>
              </a:rPr>
              <a:t>Textbook pgs. 611-617</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1023" name="Google Shape;1023;p86"/>
          <p:cNvSpPr txBox="1"/>
          <p:nvPr/>
        </p:nvSpPr>
        <p:spPr>
          <a:xfrm>
            <a:off x="1289275" y="194105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CA" sz="2800">
                <a:solidFill>
                  <a:srgbClr val="4D4F55"/>
                </a:solidFill>
                <a:latin typeface="Verdana"/>
                <a:ea typeface="Verdana"/>
                <a:cs typeface="Verdana"/>
                <a:sym typeface="Verdana"/>
              </a:rPr>
              <a:t>TOPIC 4: PEDIGREES </a:t>
            </a:r>
            <a:endParaRPr sz="4000">
              <a:solidFill>
                <a:srgbClr val="4D4F55"/>
              </a:solidFill>
              <a:latin typeface="Verdana"/>
              <a:ea typeface="Verdana"/>
              <a:cs typeface="Verdana"/>
              <a:sym typeface="Verdana"/>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87"/>
          <p:cNvSpPr txBox="1"/>
          <p:nvPr/>
        </p:nvSpPr>
        <p:spPr>
          <a:xfrm>
            <a:off x="554725" y="1495600"/>
            <a:ext cx="4995000" cy="101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A pedigree is a type of flowchart that uses symbols to show the expression of a particular trait through multiple generations of a single family. </a:t>
            </a:r>
            <a:endParaRPr/>
          </a:p>
        </p:txBody>
      </p:sp>
      <p:sp>
        <p:nvSpPr>
          <p:cNvPr id="1030" name="Google Shape;1030;p87"/>
          <p:cNvSpPr txBox="1"/>
          <p:nvPr/>
        </p:nvSpPr>
        <p:spPr>
          <a:xfrm>
            <a:off x="340271" y="703100"/>
            <a:ext cx="41586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700"/>
              <a:buFont typeface="Verdana"/>
              <a:buNone/>
            </a:pPr>
            <a:r>
              <a:rPr b="1" lang="en-CA" sz="2800" u="sng">
                <a:solidFill>
                  <a:srgbClr val="393B3F"/>
                </a:solidFill>
                <a:latin typeface="Verdana"/>
                <a:ea typeface="Verdana"/>
                <a:cs typeface="Verdana"/>
                <a:sym typeface="Verdana"/>
              </a:rPr>
              <a:t>Pedigrees</a:t>
            </a:r>
            <a:endParaRPr u="sng"/>
          </a:p>
        </p:txBody>
      </p:sp>
      <p:pic>
        <p:nvPicPr>
          <p:cNvPr descr="Explore autosomal recessive trait and X-linked recessive trait tracking in pedigrees with the Amoeba Sisters! Matching handout available here: http://www.amoebasisters.com/handouts.html. See table of contents by expanding details! 👇&#10;&#10;Table of Contents:&#10;Introducing Symbols/Numbering in Pedigree 0:40&#10;Meaning of Shading in Shapes 1:19&#10;Introducing Pedigree Tracking Autosomal Recessive Trait 2:44&#10;Working with Pedigree Tracking Autosomal Recessive Trait 4:07&#10;X-Linked Pedigree 6:45&#10;What is Meant by &quot;Half-Shading&quot; Shapes in Pedigree? 9:01&#10;&#10;Support us on Patreon! http://www.patreon.com/amoebasisters&#10;&#10;Our FREE resources:&#10;GIFs: http://www.amoebasisters.com/gifs.html&#10;Handouts: http://www.amoebasisters.com/handouts.html&#10;Comics: http://www.amoebasisters.com/parameciumparlorcomics&#10;&#10;Connect with us!&#10;Website: http://www.AmoebaSisters.com&#10;Twitter: http://www.twitter.com/AmoebaSisters&#10;Facebook: http://www.facebook.com/AmoebaSisters&#10;Tumblr: http://www.amoebasisters.tumblr.com&#10;Pinterest: http://www.pinterest.com/AmoebaSister­s&#10;Instagram: https://www.instagram.com/amoebasistersofficial/&#10;&#10;Visit our Redbubble store at http://www.amoebasisters.com/store.html&#10;&#10;The Amoeba Sisters videos demystify science with humor and relevance. The videos center on Pinky's certification and experience in teaching science at the high school level. Pinky's teacher certification is in grades 4-8 science and 8-12 composite science (encompassing biology, chemistry, and physics).  Amoeba Sisters videos only cover concepts that Pinky is certified to teach, and they focus on her specialty: secondary life science. For more information about The Amoeba Sisters, visit: http://www.amoebasisters.com/about-us.html&#10;&#10;We cover the basics in biology concepts at the secondary level. If you are looking to discover more about biology and go into depth beyond these basics, our recommended reference is the FREE, peer reviewed, open source OpenStax biology textbook: https://openstax.org/details/books/biology&#10;&#10;We take pride in our AWESOME community, and we welcome feedback and discussion.  However, please remember that this is an education channel. See YouTube's community guidelines https://www.youtube.com/yt/policyandsafety/communityguidelines.html and YouTube's policy center https://support.google.com/youtube/topic/2676378?hl=en&amp;ref_topic=6151248.  We also reserve the right to remove comments with vulgar language.&#10;&#10;Music is this video is listed free to use/no attribution required from the YouTube audio library https://www.youtube.com/audiolibrary/music?feature=blog&#10;&#10;We have YouTube's community contributed subtitles feature on to allow translations for different languages. YouTube automatically credits the different language contributors below (unless the contributor had opted out of being credited). We are thankful for those that contribute different languages. If you have a concern about community contributed contributions, please contact us." id="1031" name="Google Shape;1031;p87" title="Pedigrees">
            <a:hlinkClick r:id="rId3"/>
          </p:cNvPr>
          <p:cNvPicPr preferRelativeResize="0"/>
          <p:nvPr/>
        </p:nvPicPr>
        <p:blipFill>
          <a:blip r:embed="rId4">
            <a:alphaModFix/>
          </a:blip>
          <a:stretch>
            <a:fillRect/>
          </a:stretch>
        </p:blipFill>
        <p:spPr>
          <a:xfrm>
            <a:off x="5826121" y="537600"/>
            <a:ext cx="3224026" cy="2418025"/>
          </a:xfrm>
          <a:prstGeom prst="rect">
            <a:avLst/>
          </a:prstGeom>
          <a:noFill/>
          <a:ln>
            <a:noFill/>
          </a:ln>
        </p:spPr>
      </p:pic>
      <p:pic>
        <p:nvPicPr>
          <p:cNvPr id="1032" name="Google Shape;1032;p87"/>
          <p:cNvPicPr preferRelativeResize="0"/>
          <p:nvPr/>
        </p:nvPicPr>
        <p:blipFill>
          <a:blip r:embed="rId5">
            <a:alphaModFix/>
          </a:blip>
          <a:stretch>
            <a:fillRect/>
          </a:stretch>
        </p:blipFill>
        <p:spPr>
          <a:xfrm>
            <a:off x="3439050" y="3033400"/>
            <a:ext cx="4572000" cy="3343275"/>
          </a:xfrm>
          <a:prstGeom prst="rect">
            <a:avLst/>
          </a:prstGeom>
          <a:noFill/>
          <a:ln>
            <a:noFill/>
          </a:ln>
        </p:spPr>
      </p:pic>
      <p:sp>
        <p:nvSpPr>
          <p:cNvPr id="1033" name="Google Shape;1033;p87"/>
          <p:cNvSpPr txBox="1"/>
          <p:nvPr/>
        </p:nvSpPr>
        <p:spPr>
          <a:xfrm>
            <a:off x="990300" y="4296888"/>
            <a:ext cx="2187000" cy="8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chemeClr val="dk1"/>
                </a:solidFill>
                <a:latin typeface="Verdana"/>
                <a:ea typeface="Verdana"/>
                <a:cs typeface="Verdana"/>
                <a:sym typeface="Verdana"/>
              </a:rPr>
              <a:t>From your data booklet:</a:t>
            </a:r>
            <a:endParaRPr sz="2000">
              <a:solidFill>
                <a:schemeClr val="dk1"/>
              </a:solidFill>
              <a:latin typeface="Verdana"/>
              <a:ea typeface="Verdana"/>
              <a:cs typeface="Verdana"/>
              <a:sym typeface="Verdana"/>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8"/>
          <p:cNvSpPr txBox="1"/>
          <p:nvPr/>
        </p:nvSpPr>
        <p:spPr>
          <a:xfrm>
            <a:off x="1259632" y="9849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pic>
        <p:nvPicPr>
          <p:cNvPr id="1040" name="Google Shape;1040;p88"/>
          <p:cNvPicPr preferRelativeResize="0"/>
          <p:nvPr/>
        </p:nvPicPr>
        <p:blipFill rotWithShape="1">
          <a:blip r:embed="rId3">
            <a:alphaModFix/>
          </a:blip>
          <a:srcRect b="0" l="0" r="0" t="0"/>
          <a:stretch/>
        </p:blipFill>
        <p:spPr>
          <a:xfrm>
            <a:off x="928457" y="2765525"/>
            <a:ext cx="3371450" cy="2959574"/>
          </a:xfrm>
          <a:prstGeom prst="rect">
            <a:avLst/>
          </a:prstGeom>
          <a:noFill/>
          <a:ln cap="flat" cmpd="sng" w="19050">
            <a:solidFill>
              <a:srgbClr val="666666"/>
            </a:solidFill>
            <a:prstDash val="solid"/>
            <a:round/>
            <a:headEnd len="sm" w="sm" type="none"/>
            <a:tailEnd len="sm" w="sm" type="none"/>
          </a:ln>
        </p:spPr>
      </p:pic>
      <p:sp>
        <p:nvSpPr>
          <p:cNvPr id="1041" name="Google Shape;1041;p88"/>
          <p:cNvSpPr txBox="1"/>
          <p:nvPr/>
        </p:nvSpPr>
        <p:spPr>
          <a:xfrm>
            <a:off x="659475" y="1560075"/>
            <a:ext cx="7824900" cy="1092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CA" sz="1800" u="none" cap="none" strike="noStrike">
                <a:solidFill>
                  <a:srgbClr val="393B3F"/>
                </a:solidFill>
                <a:latin typeface="Verdana"/>
                <a:ea typeface="Verdana"/>
                <a:cs typeface="Verdana"/>
                <a:sym typeface="Verdana"/>
              </a:rPr>
              <a:t>Roman numerals are used to </a:t>
            </a:r>
            <a:r>
              <a:rPr lang="en-CA" sz="1800">
                <a:solidFill>
                  <a:srgbClr val="393B3F"/>
                </a:solidFill>
                <a:latin typeface="Verdana"/>
                <a:ea typeface="Verdana"/>
                <a:cs typeface="Verdana"/>
                <a:sym typeface="Verdana"/>
              </a:rPr>
              <a:t>indicate</a:t>
            </a:r>
            <a:r>
              <a:rPr b="0" i="0" lang="en-CA" sz="1800" u="none" cap="none" strike="noStrike">
                <a:solidFill>
                  <a:srgbClr val="393B3F"/>
                </a:solidFill>
                <a:latin typeface="Verdana"/>
                <a:ea typeface="Verdana"/>
                <a:cs typeface="Verdana"/>
                <a:sym typeface="Verdana"/>
              </a:rPr>
              <a:t> generations</a:t>
            </a:r>
            <a:r>
              <a:rPr lang="en-CA" sz="1800">
                <a:solidFill>
                  <a:srgbClr val="393B3F"/>
                </a:solidFill>
                <a:latin typeface="Verdana"/>
                <a:ea typeface="Verdana"/>
                <a:cs typeface="Verdana"/>
                <a:sym typeface="Verdana"/>
              </a:rPr>
              <a:t>. </a:t>
            </a:r>
            <a:r>
              <a:rPr b="0" i="0" lang="en-CA" sz="1800" u="none" cap="none" strike="noStrike">
                <a:solidFill>
                  <a:srgbClr val="393B3F"/>
                </a:solidFill>
                <a:latin typeface="Verdana"/>
                <a:ea typeface="Verdana"/>
                <a:cs typeface="Verdana"/>
                <a:sym typeface="Verdana"/>
              </a:rPr>
              <a:t>Numbers are used to </a:t>
            </a:r>
            <a:r>
              <a:rPr lang="en-CA" sz="1800">
                <a:solidFill>
                  <a:srgbClr val="393B3F"/>
                </a:solidFill>
                <a:latin typeface="Verdana"/>
                <a:ea typeface="Verdana"/>
                <a:cs typeface="Verdana"/>
                <a:sym typeface="Verdana"/>
              </a:rPr>
              <a:t>indicate</a:t>
            </a:r>
            <a:r>
              <a:rPr b="0" i="0" lang="en-CA" sz="1800" u="none" cap="none" strike="noStrike">
                <a:solidFill>
                  <a:srgbClr val="393B3F"/>
                </a:solidFill>
                <a:latin typeface="Verdana"/>
                <a:ea typeface="Verdana"/>
                <a:cs typeface="Verdana"/>
                <a:sym typeface="Verdana"/>
              </a:rPr>
              <a:t> individuals within </a:t>
            </a:r>
            <a:r>
              <a:rPr lang="en-CA" sz="1800">
                <a:solidFill>
                  <a:srgbClr val="393B3F"/>
                </a:solidFill>
                <a:latin typeface="Verdana"/>
                <a:ea typeface="Verdana"/>
                <a:cs typeface="Verdana"/>
                <a:sym typeface="Verdana"/>
              </a:rPr>
              <a:t>each </a:t>
            </a:r>
            <a:r>
              <a:rPr b="0" i="0" lang="en-CA" sz="1800" u="none" cap="none" strike="noStrike">
                <a:solidFill>
                  <a:srgbClr val="393B3F"/>
                </a:solidFill>
                <a:latin typeface="Verdana"/>
                <a:ea typeface="Verdana"/>
                <a:cs typeface="Verdana"/>
                <a:sym typeface="Verdana"/>
              </a:rPr>
              <a:t>generation</a:t>
            </a:r>
            <a:r>
              <a:rPr lang="en-CA" sz="1800">
                <a:solidFill>
                  <a:srgbClr val="393B3F"/>
                </a:solidFill>
                <a:latin typeface="Verdana"/>
                <a:ea typeface="Verdana"/>
                <a:cs typeface="Verdana"/>
                <a:sym typeface="Verdana"/>
              </a:rPr>
              <a:t>.</a:t>
            </a:r>
            <a:endParaRPr sz="1800">
              <a:solidFill>
                <a:srgbClr val="393B3F"/>
              </a:solidFill>
              <a:latin typeface="Verdana"/>
              <a:ea typeface="Verdana"/>
              <a:cs typeface="Verdana"/>
              <a:sym typeface="Verdana"/>
            </a:endParaRPr>
          </a:p>
          <a:p>
            <a:pPr indent="0" lvl="0" marL="0" marR="0" rtl="0" algn="ctr">
              <a:lnSpc>
                <a:spcPct val="100000"/>
              </a:lnSpc>
              <a:spcBef>
                <a:spcPts val="1000"/>
              </a:spcBef>
              <a:spcAft>
                <a:spcPts val="0"/>
              </a:spcAft>
              <a:buNone/>
            </a:pPr>
            <a:r>
              <a:t/>
            </a:r>
            <a:endParaRPr sz="1600">
              <a:solidFill>
                <a:srgbClr val="393B3F"/>
              </a:solidFill>
              <a:latin typeface="Verdana"/>
              <a:ea typeface="Verdana"/>
              <a:cs typeface="Verdana"/>
              <a:sym typeface="Verdana"/>
            </a:endParaRPr>
          </a:p>
        </p:txBody>
      </p:sp>
      <p:sp>
        <p:nvSpPr>
          <p:cNvPr id="1042" name="Google Shape;1042;p88"/>
          <p:cNvSpPr txBox="1"/>
          <p:nvPr/>
        </p:nvSpPr>
        <p:spPr>
          <a:xfrm>
            <a:off x="4618375" y="2670150"/>
            <a:ext cx="3713700" cy="31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u="sng">
                <a:latin typeface="Verdana"/>
                <a:ea typeface="Verdana"/>
                <a:cs typeface="Verdana"/>
                <a:sym typeface="Verdana"/>
              </a:rPr>
              <a:t>PRACTICE:</a:t>
            </a:r>
            <a:endParaRPr sz="1800" u="sng">
              <a:latin typeface="Verdana"/>
              <a:ea typeface="Verdana"/>
              <a:cs typeface="Verdana"/>
              <a:sym typeface="Verdana"/>
            </a:endParaRPr>
          </a:p>
          <a:p>
            <a:pPr indent="-330200" lvl="0" marL="457200" rtl="0" algn="l">
              <a:spcBef>
                <a:spcPts val="1000"/>
              </a:spcBef>
              <a:spcAft>
                <a:spcPts val="0"/>
              </a:spcAft>
              <a:buSzPts val="1600"/>
              <a:buFont typeface="Verdana"/>
              <a:buAutoNum type="arabicPeriod"/>
            </a:pPr>
            <a:r>
              <a:rPr lang="en-CA" sz="1600">
                <a:latin typeface="Verdana"/>
                <a:ea typeface="Verdana"/>
                <a:cs typeface="Verdana"/>
                <a:sym typeface="Verdana"/>
              </a:rPr>
              <a:t>How many offspring are produced by the individuals shown in generation 1? </a:t>
            </a:r>
            <a:endParaRPr sz="1600">
              <a:latin typeface="Verdana"/>
              <a:ea typeface="Verdana"/>
              <a:cs typeface="Verdana"/>
              <a:sym typeface="Verdana"/>
            </a:endParaRPr>
          </a:p>
          <a:p>
            <a:pPr indent="-330200" lvl="0" marL="457200" rtl="0" algn="l">
              <a:spcBef>
                <a:spcPts val="1000"/>
              </a:spcBef>
              <a:spcAft>
                <a:spcPts val="0"/>
              </a:spcAft>
              <a:buSzPts val="1600"/>
              <a:buFont typeface="Verdana"/>
              <a:buAutoNum type="arabicPeriod"/>
            </a:pPr>
            <a:r>
              <a:rPr lang="en-CA" sz="1600">
                <a:latin typeface="Verdana"/>
                <a:ea typeface="Verdana"/>
                <a:cs typeface="Verdana"/>
                <a:sym typeface="Verdana"/>
              </a:rPr>
              <a:t>Is individual 3 of generation II male or female?</a:t>
            </a:r>
            <a:endParaRPr sz="1600">
              <a:latin typeface="Verdana"/>
              <a:ea typeface="Verdana"/>
              <a:cs typeface="Verdana"/>
              <a:sym typeface="Verdana"/>
            </a:endParaRPr>
          </a:p>
          <a:p>
            <a:pPr indent="-330200" lvl="0" marL="457200" rtl="0" algn="l">
              <a:spcBef>
                <a:spcPts val="1000"/>
              </a:spcBef>
              <a:spcAft>
                <a:spcPts val="0"/>
              </a:spcAft>
              <a:buSzPts val="1600"/>
              <a:buFont typeface="Verdana"/>
              <a:buAutoNum type="arabicPeriod"/>
            </a:pPr>
            <a:r>
              <a:rPr lang="en-CA" sz="1600">
                <a:latin typeface="Verdana"/>
                <a:ea typeface="Verdana"/>
                <a:cs typeface="Verdana"/>
                <a:sym typeface="Verdana"/>
              </a:rPr>
              <a:t>List the offspring produced by individuals 2 &amp; 3 of generation II. </a:t>
            </a:r>
            <a:endParaRPr sz="1600">
              <a:latin typeface="Verdana"/>
              <a:ea typeface="Verdana"/>
              <a:cs typeface="Verdana"/>
              <a:sym typeface="Verdana"/>
            </a:endParaRPr>
          </a:p>
          <a:p>
            <a:pPr indent="-330200" lvl="0" marL="457200" rtl="0" algn="l">
              <a:spcBef>
                <a:spcPts val="1000"/>
              </a:spcBef>
              <a:spcAft>
                <a:spcPts val="1000"/>
              </a:spcAft>
              <a:buSzPts val="1600"/>
              <a:buFont typeface="Verdana"/>
              <a:buAutoNum type="arabicPeriod"/>
            </a:pPr>
            <a:r>
              <a:rPr lang="en-CA" sz="1600">
                <a:latin typeface="Verdana"/>
                <a:ea typeface="Verdana"/>
                <a:cs typeface="Verdana"/>
                <a:sym typeface="Verdana"/>
              </a:rPr>
              <a:t>How many individuals in total comprise generation IV?</a:t>
            </a:r>
            <a:endParaRPr sz="1600">
              <a:latin typeface="Verdana"/>
              <a:ea typeface="Verdana"/>
              <a:cs typeface="Verdana"/>
              <a:sym typeface="Verdana"/>
            </a:endParaRPr>
          </a:p>
        </p:txBody>
      </p:sp>
      <p:sp>
        <p:nvSpPr>
          <p:cNvPr id="1043" name="Google Shape;1043;p88"/>
          <p:cNvSpPr txBox="1"/>
          <p:nvPr/>
        </p:nvSpPr>
        <p:spPr>
          <a:xfrm>
            <a:off x="8083225" y="3311825"/>
            <a:ext cx="499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rgbClr val="A64D79"/>
                </a:solidFill>
                <a:latin typeface="Verdana"/>
                <a:ea typeface="Verdana"/>
                <a:cs typeface="Verdana"/>
                <a:sym typeface="Verdana"/>
              </a:rPr>
              <a:t>3</a:t>
            </a:r>
            <a:endParaRPr b="1" sz="1900">
              <a:solidFill>
                <a:srgbClr val="A64D79"/>
              </a:solidFill>
              <a:latin typeface="Verdana"/>
              <a:ea typeface="Verdana"/>
              <a:cs typeface="Verdana"/>
              <a:sym typeface="Verdana"/>
            </a:endParaRPr>
          </a:p>
        </p:txBody>
      </p:sp>
      <p:sp>
        <p:nvSpPr>
          <p:cNvPr id="1044" name="Google Shape;1044;p88"/>
          <p:cNvSpPr txBox="1"/>
          <p:nvPr/>
        </p:nvSpPr>
        <p:spPr>
          <a:xfrm>
            <a:off x="8153875" y="4014463"/>
            <a:ext cx="499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rgbClr val="A64D79"/>
                </a:solidFill>
                <a:latin typeface="Verdana"/>
                <a:ea typeface="Verdana"/>
                <a:cs typeface="Verdana"/>
                <a:sym typeface="Verdana"/>
              </a:rPr>
              <a:t>M</a:t>
            </a:r>
            <a:endParaRPr b="1" sz="1900">
              <a:solidFill>
                <a:srgbClr val="A64D79"/>
              </a:solidFill>
              <a:latin typeface="Verdana"/>
              <a:ea typeface="Verdana"/>
              <a:cs typeface="Verdana"/>
              <a:sym typeface="Verdana"/>
            </a:endParaRPr>
          </a:p>
        </p:txBody>
      </p:sp>
      <p:sp>
        <p:nvSpPr>
          <p:cNvPr id="1045" name="Google Shape;1045;p88"/>
          <p:cNvSpPr txBox="1"/>
          <p:nvPr/>
        </p:nvSpPr>
        <p:spPr>
          <a:xfrm>
            <a:off x="7338450" y="4911725"/>
            <a:ext cx="13989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700">
                <a:solidFill>
                  <a:srgbClr val="A64D79"/>
                </a:solidFill>
                <a:latin typeface="Verdana"/>
                <a:ea typeface="Verdana"/>
                <a:cs typeface="Verdana"/>
                <a:sym typeface="Verdana"/>
              </a:rPr>
              <a:t>III-2 and III-3</a:t>
            </a:r>
            <a:endParaRPr b="1" sz="1700">
              <a:solidFill>
                <a:srgbClr val="A64D79"/>
              </a:solidFill>
              <a:latin typeface="Verdana"/>
              <a:ea typeface="Verdana"/>
              <a:cs typeface="Verdana"/>
              <a:sym typeface="Verdana"/>
            </a:endParaRPr>
          </a:p>
        </p:txBody>
      </p:sp>
      <p:sp>
        <p:nvSpPr>
          <p:cNvPr id="1046" name="Google Shape;1046;p88"/>
          <p:cNvSpPr txBox="1"/>
          <p:nvPr/>
        </p:nvSpPr>
        <p:spPr>
          <a:xfrm>
            <a:off x="7734025" y="5808963"/>
            <a:ext cx="499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rgbClr val="A64D79"/>
                </a:solidFill>
                <a:latin typeface="Verdana"/>
                <a:ea typeface="Verdana"/>
                <a:cs typeface="Verdana"/>
                <a:sym typeface="Verdana"/>
              </a:rPr>
              <a:t>4</a:t>
            </a:r>
            <a:endParaRPr b="1" sz="1900">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89"/>
          <p:cNvSpPr/>
          <p:nvPr/>
        </p:nvSpPr>
        <p:spPr>
          <a:xfrm>
            <a:off x="535600" y="2782800"/>
            <a:ext cx="3061500" cy="4665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053" name="Google Shape;1053;p89"/>
          <p:cNvSpPr txBox="1"/>
          <p:nvPr/>
        </p:nvSpPr>
        <p:spPr>
          <a:xfrm>
            <a:off x="1259632" y="9087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 </a:t>
            </a:r>
            <a:r>
              <a:rPr b="1" lang="en-CA" sz="2400">
                <a:solidFill>
                  <a:srgbClr val="393B3F"/>
                </a:solidFill>
                <a:latin typeface="Verdana"/>
                <a:ea typeface="Verdana"/>
                <a:cs typeface="Verdana"/>
                <a:sym typeface="Verdana"/>
              </a:rPr>
              <a:t>PREDICTING GENOTYPE</a:t>
            </a:r>
            <a:endParaRPr/>
          </a:p>
        </p:txBody>
      </p:sp>
      <p:sp>
        <p:nvSpPr>
          <p:cNvPr id="1054" name="Google Shape;1054;p89"/>
          <p:cNvSpPr txBox="1"/>
          <p:nvPr/>
        </p:nvSpPr>
        <p:spPr>
          <a:xfrm>
            <a:off x="971600" y="1412775"/>
            <a:ext cx="7200900" cy="718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Pedigrees can be used to predict the genotype of a given individual</a:t>
            </a:r>
            <a:r>
              <a:rPr lang="en-CA" sz="2000">
                <a:solidFill>
                  <a:srgbClr val="393B3F"/>
                </a:solidFill>
                <a:latin typeface="Verdana"/>
                <a:ea typeface="Verdana"/>
                <a:cs typeface="Verdana"/>
                <a:sym typeface="Verdana"/>
              </a:rPr>
              <a:t>… </a:t>
            </a:r>
            <a:endParaRPr/>
          </a:p>
        </p:txBody>
      </p:sp>
      <p:pic>
        <p:nvPicPr>
          <p:cNvPr id="1055" name="Google Shape;1055;p89"/>
          <p:cNvPicPr preferRelativeResize="0"/>
          <p:nvPr/>
        </p:nvPicPr>
        <p:blipFill rotWithShape="1">
          <a:blip r:embed="rId3">
            <a:alphaModFix/>
          </a:blip>
          <a:srcRect b="0" l="0" r="0" t="13711"/>
          <a:stretch/>
        </p:blipFill>
        <p:spPr>
          <a:xfrm>
            <a:off x="535600" y="3249300"/>
            <a:ext cx="3170102" cy="2708246"/>
          </a:xfrm>
          <a:prstGeom prst="rect">
            <a:avLst/>
          </a:prstGeom>
          <a:noFill/>
          <a:ln cap="flat" cmpd="sng" w="9525">
            <a:solidFill>
              <a:srgbClr val="999999"/>
            </a:solidFill>
            <a:prstDash val="solid"/>
            <a:round/>
            <a:headEnd len="sm" w="sm" type="none"/>
            <a:tailEnd len="sm" w="sm" type="none"/>
          </a:ln>
        </p:spPr>
      </p:pic>
      <p:sp>
        <p:nvSpPr>
          <p:cNvPr id="1056" name="Google Shape;1056;p89"/>
          <p:cNvSpPr txBox="1"/>
          <p:nvPr/>
        </p:nvSpPr>
        <p:spPr>
          <a:xfrm>
            <a:off x="3786825" y="2130975"/>
            <a:ext cx="4868700" cy="3390300"/>
          </a:xfrm>
          <a:prstGeom prst="rect">
            <a:avLst/>
          </a:prstGeom>
          <a:noFill/>
          <a:ln>
            <a:noFill/>
          </a:ln>
        </p:spPr>
        <p:txBody>
          <a:bodyPr anchorCtr="0" anchor="t" bIns="45700" lIns="91425" spcFirstLastPara="1" rIns="91425" wrap="square" tIns="45700">
            <a:noAutofit/>
          </a:bodyPr>
          <a:lstStyle/>
          <a:p>
            <a:pPr indent="-238125" lvl="0" marL="457200" marR="0" rtl="0" algn="l">
              <a:lnSpc>
                <a:spcPct val="100000"/>
              </a:lnSpc>
              <a:spcBef>
                <a:spcPts val="0"/>
              </a:spcBef>
              <a:spcAft>
                <a:spcPts val="0"/>
              </a:spcAft>
              <a:buClr>
                <a:srgbClr val="393B3F"/>
              </a:buClr>
              <a:buSzPts val="1550"/>
              <a:buFont typeface="Verdana"/>
              <a:buAutoNum type="arabicPeriod"/>
            </a:pPr>
            <a:r>
              <a:rPr b="0" i="0" lang="en-CA" sz="1550" u="none" cap="none" strike="noStrike">
                <a:solidFill>
                  <a:srgbClr val="393B3F"/>
                </a:solidFill>
                <a:latin typeface="Verdana"/>
                <a:ea typeface="Verdana"/>
                <a:cs typeface="Verdana"/>
                <a:sym typeface="Verdana"/>
              </a:rPr>
              <a:t>What is the genotype of individual 3 in generation I?</a:t>
            </a:r>
            <a:endParaRPr b="0" i="0" sz="1550" u="none" cap="none" strike="noStrike">
              <a:solidFill>
                <a:srgbClr val="393B3F"/>
              </a:solidFill>
              <a:latin typeface="Verdana"/>
              <a:ea typeface="Verdana"/>
              <a:cs typeface="Verdana"/>
              <a:sym typeface="Verdana"/>
            </a:endParaRPr>
          </a:p>
          <a:p>
            <a:pPr indent="0" lvl="0" marL="457200" marR="0" rtl="0" algn="l">
              <a:lnSpc>
                <a:spcPct val="100000"/>
              </a:lnSpc>
              <a:spcBef>
                <a:spcPts val="0"/>
              </a:spcBef>
              <a:spcAft>
                <a:spcPts val="0"/>
              </a:spcAft>
              <a:buNone/>
            </a:pPr>
            <a:r>
              <a:t/>
            </a:r>
            <a:endParaRPr sz="1550">
              <a:solidFill>
                <a:srgbClr val="393B3F"/>
              </a:solidFill>
              <a:latin typeface="Verdana"/>
              <a:ea typeface="Verdana"/>
              <a:cs typeface="Verdana"/>
              <a:sym typeface="Verdana"/>
            </a:endParaRPr>
          </a:p>
          <a:p>
            <a:pPr indent="-238125" lvl="0" marL="457200" marR="0" rtl="0" algn="l">
              <a:lnSpc>
                <a:spcPct val="100000"/>
              </a:lnSpc>
              <a:spcBef>
                <a:spcPts val="1000"/>
              </a:spcBef>
              <a:spcAft>
                <a:spcPts val="0"/>
              </a:spcAft>
              <a:buClr>
                <a:srgbClr val="393B3F"/>
              </a:buClr>
              <a:buSzPts val="1550"/>
              <a:buFont typeface="Verdana"/>
              <a:buAutoNum type="arabicPeriod"/>
            </a:pPr>
            <a:r>
              <a:rPr b="0" i="0" lang="en-CA" sz="1550" u="none" cap="none" strike="noStrike">
                <a:solidFill>
                  <a:srgbClr val="393B3F"/>
                </a:solidFill>
                <a:latin typeface="Verdana"/>
                <a:ea typeface="Verdana"/>
                <a:cs typeface="Verdana"/>
                <a:sym typeface="Verdana"/>
              </a:rPr>
              <a:t>What must be the genotypes of individuals 1 &amp; 2 in generation I?</a:t>
            </a:r>
            <a:endParaRPr b="0" i="0" sz="1550" u="none" cap="none" strike="noStrike">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55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550">
              <a:solidFill>
                <a:srgbClr val="393B3F"/>
              </a:solidFill>
              <a:latin typeface="Verdana"/>
              <a:ea typeface="Verdana"/>
              <a:cs typeface="Verdana"/>
              <a:sym typeface="Verdana"/>
            </a:endParaRPr>
          </a:p>
          <a:p>
            <a:pPr indent="-238125" lvl="0" marL="457200" marR="0" rtl="0" algn="l">
              <a:lnSpc>
                <a:spcPct val="100000"/>
              </a:lnSpc>
              <a:spcBef>
                <a:spcPts val="1000"/>
              </a:spcBef>
              <a:spcAft>
                <a:spcPts val="0"/>
              </a:spcAft>
              <a:buClr>
                <a:srgbClr val="393B3F"/>
              </a:buClr>
              <a:buSzPts val="1550"/>
              <a:buFont typeface="Verdana"/>
              <a:buAutoNum type="arabicPeriod"/>
            </a:pPr>
            <a:r>
              <a:rPr b="0" i="0" lang="en-CA" sz="1550" u="none" cap="none" strike="noStrike">
                <a:solidFill>
                  <a:srgbClr val="393B3F"/>
                </a:solidFill>
                <a:latin typeface="Verdana"/>
                <a:ea typeface="Verdana"/>
                <a:cs typeface="Verdana"/>
                <a:sym typeface="Verdana"/>
              </a:rPr>
              <a:t>What are the possible genotypes of individual 6 in generation II?</a:t>
            </a:r>
            <a:endParaRPr b="0" i="0" sz="1550" u="none" cap="none" strike="noStrike">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550">
              <a:solidFill>
                <a:srgbClr val="393B3F"/>
              </a:solidFill>
              <a:latin typeface="Verdana"/>
              <a:ea typeface="Verdana"/>
              <a:cs typeface="Verdana"/>
              <a:sym typeface="Verdana"/>
            </a:endParaRPr>
          </a:p>
          <a:p>
            <a:pPr indent="-238125" lvl="0" marL="457200" marR="0" rtl="0" algn="l">
              <a:lnSpc>
                <a:spcPct val="100000"/>
              </a:lnSpc>
              <a:spcBef>
                <a:spcPts val="1000"/>
              </a:spcBef>
              <a:spcAft>
                <a:spcPts val="0"/>
              </a:spcAft>
              <a:buClr>
                <a:srgbClr val="393B3F"/>
              </a:buClr>
              <a:buSzPts val="1550"/>
              <a:buFont typeface="Verdana"/>
              <a:buAutoNum type="arabicPeriod"/>
            </a:pPr>
            <a:r>
              <a:rPr b="0" i="0" lang="en-CA" sz="1550" u="none" cap="none" strike="noStrike">
                <a:solidFill>
                  <a:srgbClr val="393B3F"/>
                </a:solidFill>
                <a:latin typeface="Verdana"/>
                <a:ea typeface="Verdana"/>
                <a:cs typeface="Verdana"/>
                <a:sym typeface="Verdana"/>
              </a:rPr>
              <a:t>Is it possible for individuals 7 &amp; 8 of generation II to produce an affected child? </a:t>
            </a:r>
            <a:endParaRPr sz="1550"/>
          </a:p>
        </p:txBody>
      </p:sp>
      <p:sp>
        <p:nvSpPr>
          <p:cNvPr id="1057" name="Google Shape;1057;p89"/>
          <p:cNvSpPr txBox="1"/>
          <p:nvPr/>
        </p:nvSpPr>
        <p:spPr>
          <a:xfrm>
            <a:off x="426600" y="2411538"/>
            <a:ext cx="3170100" cy="52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800">
                <a:latin typeface="Verdana"/>
                <a:ea typeface="Verdana"/>
                <a:cs typeface="Verdana"/>
                <a:sym typeface="Verdana"/>
              </a:rPr>
              <a:t>Mode of Inheritance:</a:t>
            </a:r>
            <a:endParaRPr b="1" sz="1800">
              <a:latin typeface="Verdana"/>
              <a:ea typeface="Verdana"/>
              <a:cs typeface="Verdana"/>
              <a:sym typeface="Verdana"/>
            </a:endParaRPr>
          </a:p>
          <a:p>
            <a:pPr indent="0" lvl="0" marL="0" rtl="0" algn="ctr">
              <a:spcBef>
                <a:spcPts val="0"/>
              </a:spcBef>
              <a:spcAft>
                <a:spcPts val="0"/>
              </a:spcAft>
              <a:buNone/>
            </a:pPr>
            <a:r>
              <a:t/>
            </a:r>
            <a:endParaRPr b="1" sz="1000">
              <a:latin typeface="Verdana"/>
              <a:ea typeface="Verdana"/>
              <a:cs typeface="Verdana"/>
              <a:sym typeface="Verdana"/>
            </a:endParaRPr>
          </a:p>
          <a:p>
            <a:pPr indent="0" lvl="0" marL="0" rtl="0" algn="ctr">
              <a:spcBef>
                <a:spcPts val="0"/>
              </a:spcBef>
              <a:spcAft>
                <a:spcPts val="0"/>
              </a:spcAft>
              <a:buNone/>
            </a:pPr>
            <a:r>
              <a:rPr b="1" lang="en-CA" sz="1800">
                <a:latin typeface="Verdana"/>
                <a:ea typeface="Verdana"/>
                <a:cs typeface="Verdana"/>
                <a:sym typeface="Verdana"/>
              </a:rPr>
              <a:t>Autosomal Dominant</a:t>
            </a:r>
            <a:endParaRPr b="1" sz="1800">
              <a:latin typeface="Verdana"/>
              <a:ea typeface="Verdana"/>
              <a:cs typeface="Verdana"/>
              <a:sym typeface="Verdana"/>
            </a:endParaRPr>
          </a:p>
        </p:txBody>
      </p:sp>
      <p:sp>
        <p:nvSpPr>
          <p:cNvPr id="1058" name="Google Shape;1058;p89"/>
          <p:cNvSpPr txBox="1"/>
          <p:nvPr/>
        </p:nvSpPr>
        <p:spPr>
          <a:xfrm>
            <a:off x="5376425" y="2594225"/>
            <a:ext cx="27432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rgbClr val="C27BA0"/>
                </a:solidFill>
                <a:latin typeface="Verdana"/>
                <a:ea typeface="Verdana"/>
                <a:cs typeface="Verdana"/>
                <a:sym typeface="Verdana"/>
              </a:rPr>
              <a:t>dd</a:t>
            </a:r>
            <a:endParaRPr b="1" sz="1900">
              <a:solidFill>
                <a:srgbClr val="C27BA0"/>
              </a:solidFill>
              <a:latin typeface="Verdana"/>
              <a:ea typeface="Verdana"/>
              <a:cs typeface="Verdana"/>
              <a:sym typeface="Verdana"/>
            </a:endParaRPr>
          </a:p>
        </p:txBody>
      </p:sp>
      <p:sp>
        <p:nvSpPr>
          <p:cNvPr id="1059" name="Google Shape;1059;p89"/>
          <p:cNvSpPr txBox="1"/>
          <p:nvPr/>
        </p:nvSpPr>
        <p:spPr>
          <a:xfrm>
            <a:off x="4272825" y="3591400"/>
            <a:ext cx="42738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700">
                <a:solidFill>
                  <a:srgbClr val="C27BA0"/>
                </a:solidFill>
                <a:latin typeface="Verdana"/>
                <a:ea typeface="Verdana"/>
                <a:cs typeface="Verdana"/>
                <a:sym typeface="Verdana"/>
              </a:rPr>
              <a:t>Dd and Dd → only way to produce the unaffected offspring II-7</a:t>
            </a:r>
            <a:endParaRPr b="1" sz="1700">
              <a:solidFill>
                <a:srgbClr val="C27BA0"/>
              </a:solidFill>
              <a:latin typeface="Verdana"/>
              <a:ea typeface="Verdana"/>
              <a:cs typeface="Verdana"/>
              <a:sym typeface="Verdana"/>
            </a:endParaRPr>
          </a:p>
        </p:txBody>
      </p:sp>
      <p:sp>
        <p:nvSpPr>
          <p:cNvPr id="1060" name="Google Shape;1060;p89"/>
          <p:cNvSpPr txBox="1"/>
          <p:nvPr/>
        </p:nvSpPr>
        <p:spPr>
          <a:xfrm>
            <a:off x="4272825" y="4879225"/>
            <a:ext cx="38469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700">
                <a:solidFill>
                  <a:srgbClr val="C27BA0"/>
                </a:solidFill>
                <a:latin typeface="Verdana"/>
                <a:ea typeface="Verdana"/>
                <a:cs typeface="Verdana"/>
                <a:sym typeface="Verdana"/>
              </a:rPr>
              <a:t>DD or Dd are both possible</a:t>
            </a:r>
            <a:endParaRPr b="1" sz="1700">
              <a:solidFill>
                <a:srgbClr val="C27BA0"/>
              </a:solidFill>
              <a:latin typeface="Verdana"/>
              <a:ea typeface="Verdana"/>
              <a:cs typeface="Verdana"/>
              <a:sym typeface="Verdana"/>
            </a:endParaRPr>
          </a:p>
        </p:txBody>
      </p:sp>
      <p:sp>
        <p:nvSpPr>
          <p:cNvPr id="1061" name="Google Shape;1061;p89"/>
          <p:cNvSpPr txBox="1"/>
          <p:nvPr/>
        </p:nvSpPr>
        <p:spPr>
          <a:xfrm>
            <a:off x="4184175" y="5812200"/>
            <a:ext cx="44511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No, because they both must be dd → no way to pass on the dominant copy</a:t>
            </a:r>
            <a:endParaRPr b="1" sz="16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90"/>
          <p:cNvSpPr/>
          <p:nvPr/>
        </p:nvSpPr>
        <p:spPr>
          <a:xfrm>
            <a:off x="666050" y="2356050"/>
            <a:ext cx="3061500" cy="4665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pic>
        <p:nvPicPr>
          <p:cNvPr id="1068" name="Google Shape;1068;p90"/>
          <p:cNvPicPr preferRelativeResize="0"/>
          <p:nvPr/>
        </p:nvPicPr>
        <p:blipFill>
          <a:blip r:embed="rId3">
            <a:alphaModFix/>
          </a:blip>
          <a:stretch>
            <a:fillRect/>
          </a:stretch>
        </p:blipFill>
        <p:spPr>
          <a:xfrm>
            <a:off x="611750" y="2822550"/>
            <a:ext cx="3388500" cy="2104094"/>
          </a:xfrm>
          <a:prstGeom prst="rect">
            <a:avLst/>
          </a:prstGeom>
          <a:noFill/>
          <a:ln cap="flat" cmpd="sng" w="9525">
            <a:solidFill>
              <a:srgbClr val="999999"/>
            </a:solidFill>
            <a:prstDash val="solid"/>
            <a:round/>
            <a:headEnd len="sm" w="sm" type="none"/>
            <a:tailEnd len="sm" w="sm" type="none"/>
          </a:ln>
        </p:spPr>
      </p:pic>
      <p:sp>
        <p:nvSpPr>
          <p:cNvPr id="1069" name="Google Shape;1069;p90"/>
          <p:cNvSpPr txBox="1"/>
          <p:nvPr/>
        </p:nvSpPr>
        <p:spPr>
          <a:xfrm>
            <a:off x="611738" y="1965775"/>
            <a:ext cx="3170100" cy="4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800">
                <a:solidFill>
                  <a:schemeClr val="dk1"/>
                </a:solidFill>
                <a:latin typeface="Verdana"/>
                <a:ea typeface="Verdana"/>
                <a:cs typeface="Verdana"/>
                <a:sym typeface="Verdana"/>
              </a:rPr>
              <a:t>Mode of Inheritance:</a:t>
            </a:r>
            <a:endParaRPr b="1" sz="1800">
              <a:solidFill>
                <a:schemeClr val="dk1"/>
              </a:solidFill>
              <a:latin typeface="Verdana"/>
              <a:ea typeface="Verdana"/>
              <a:cs typeface="Verdana"/>
              <a:sym typeface="Verdana"/>
            </a:endParaRPr>
          </a:p>
          <a:p>
            <a:pPr indent="0" lvl="0" marL="0" rtl="0" algn="ctr">
              <a:spcBef>
                <a:spcPts val="0"/>
              </a:spcBef>
              <a:spcAft>
                <a:spcPts val="0"/>
              </a:spcAft>
              <a:buNone/>
            </a:pPr>
            <a:r>
              <a:t/>
            </a:r>
            <a:endParaRPr b="1" sz="1000">
              <a:solidFill>
                <a:schemeClr val="dk1"/>
              </a:solidFill>
              <a:latin typeface="Verdana"/>
              <a:ea typeface="Verdana"/>
              <a:cs typeface="Verdana"/>
              <a:sym typeface="Verdana"/>
            </a:endParaRPr>
          </a:p>
          <a:p>
            <a:pPr indent="0" lvl="0" marL="0" rtl="0" algn="ctr">
              <a:spcBef>
                <a:spcPts val="0"/>
              </a:spcBef>
              <a:spcAft>
                <a:spcPts val="0"/>
              </a:spcAft>
              <a:buNone/>
            </a:pPr>
            <a:r>
              <a:rPr b="1" lang="en-CA" sz="1800">
                <a:latin typeface="Verdana"/>
                <a:ea typeface="Verdana"/>
                <a:cs typeface="Verdana"/>
                <a:sym typeface="Verdana"/>
              </a:rPr>
              <a:t>Autosomal Recessive</a:t>
            </a:r>
            <a:endParaRPr b="1" sz="1800">
              <a:latin typeface="Verdana"/>
              <a:ea typeface="Verdana"/>
              <a:cs typeface="Verdana"/>
              <a:sym typeface="Verdana"/>
            </a:endParaRPr>
          </a:p>
        </p:txBody>
      </p:sp>
      <p:sp>
        <p:nvSpPr>
          <p:cNvPr id="1070" name="Google Shape;1070;p90"/>
          <p:cNvSpPr txBox="1"/>
          <p:nvPr/>
        </p:nvSpPr>
        <p:spPr>
          <a:xfrm>
            <a:off x="4068400" y="1370425"/>
            <a:ext cx="4461300" cy="3736800"/>
          </a:xfrm>
          <a:prstGeom prst="rect">
            <a:avLst/>
          </a:prstGeom>
          <a:noFill/>
          <a:ln>
            <a:noFill/>
          </a:ln>
        </p:spPr>
        <p:txBody>
          <a:bodyPr anchorCtr="0" anchor="t" bIns="45700" lIns="91425" spcFirstLastPara="1" rIns="91425" wrap="square" tIns="45700">
            <a:noAutofit/>
          </a:bodyPr>
          <a:lstStyle/>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must be the genotypes of individuals 2 &amp; 3 of generation II? How do you know?</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2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is the </a:t>
            </a:r>
            <a:r>
              <a:rPr lang="en-CA" sz="1600" u="sng">
                <a:solidFill>
                  <a:srgbClr val="393B3F"/>
                </a:solidFill>
                <a:latin typeface="Verdana"/>
                <a:ea typeface="Verdana"/>
                <a:cs typeface="Verdana"/>
                <a:sym typeface="Verdana"/>
              </a:rPr>
              <a:t>most likely</a:t>
            </a:r>
            <a:r>
              <a:rPr lang="en-CA" sz="1600">
                <a:solidFill>
                  <a:srgbClr val="393B3F"/>
                </a:solidFill>
                <a:latin typeface="Verdana"/>
                <a:ea typeface="Verdana"/>
                <a:cs typeface="Verdana"/>
                <a:sym typeface="Verdana"/>
              </a:rPr>
              <a:t> genotype of individual 3 of generation III? How do you know?</a:t>
            </a:r>
            <a:endParaRPr sz="1600">
              <a:solidFill>
                <a:srgbClr val="393B3F"/>
              </a:solidFill>
              <a:latin typeface="Verdana"/>
              <a:ea typeface="Verdana"/>
              <a:cs typeface="Verdana"/>
              <a:sym typeface="Verdana"/>
            </a:endParaRPr>
          </a:p>
        </p:txBody>
      </p:sp>
      <p:sp>
        <p:nvSpPr>
          <p:cNvPr id="1071" name="Google Shape;1071;p90"/>
          <p:cNvSpPr txBox="1"/>
          <p:nvPr/>
        </p:nvSpPr>
        <p:spPr>
          <a:xfrm>
            <a:off x="1259632" y="9087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 </a:t>
            </a:r>
            <a:r>
              <a:rPr b="1" lang="en-CA" sz="2400">
                <a:solidFill>
                  <a:srgbClr val="393B3F"/>
                </a:solidFill>
                <a:latin typeface="Verdana"/>
                <a:ea typeface="Verdana"/>
                <a:cs typeface="Verdana"/>
                <a:sym typeface="Verdana"/>
              </a:rPr>
              <a:t>PREDICTING GENOTYPE</a:t>
            </a:r>
            <a:endParaRPr/>
          </a:p>
        </p:txBody>
      </p:sp>
      <p:sp>
        <p:nvSpPr>
          <p:cNvPr id="1072" name="Google Shape;1072;p90"/>
          <p:cNvSpPr txBox="1"/>
          <p:nvPr/>
        </p:nvSpPr>
        <p:spPr>
          <a:xfrm>
            <a:off x="4331825" y="2303575"/>
            <a:ext cx="4111200" cy="14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500">
                <a:solidFill>
                  <a:srgbClr val="C27BA0"/>
                </a:solidFill>
                <a:latin typeface="Verdana"/>
                <a:ea typeface="Verdana"/>
                <a:cs typeface="Verdana"/>
                <a:sym typeface="Verdana"/>
              </a:rPr>
              <a:t>Rr and Rr → we know they must have at least a dominant copy as they are not affected. But they must also each have a recessive copy because they were able to produce affected offsprings. </a:t>
            </a:r>
            <a:endParaRPr sz="1500">
              <a:solidFill>
                <a:srgbClr val="C27BA0"/>
              </a:solidFill>
              <a:latin typeface="Verdana"/>
              <a:ea typeface="Verdana"/>
              <a:cs typeface="Verdana"/>
              <a:sym typeface="Verdana"/>
            </a:endParaRPr>
          </a:p>
          <a:p>
            <a:pPr indent="0" lvl="0" marL="0" rtl="0" algn="l">
              <a:spcBef>
                <a:spcPts val="0"/>
              </a:spcBef>
              <a:spcAft>
                <a:spcPts val="0"/>
              </a:spcAft>
              <a:buNone/>
            </a:pPr>
            <a:r>
              <a:t/>
            </a:r>
            <a:endParaRPr sz="1500">
              <a:solidFill>
                <a:srgbClr val="C27BA0"/>
              </a:solidFill>
              <a:latin typeface="Verdana"/>
              <a:ea typeface="Verdana"/>
              <a:cs typeface="Verdana"/>
              <a:sym typeface="Verdana"/>
            </a:endParaRPr>
          </a:p>
          <a:p>
            <a:pPr indent="0" lvl="0" marL="0" rtl="0" algn="l">
              <a:spcBef>
                <a:spcPts val="0"/>
              </a:spcBef>
              <a:spcAft>
                <a:spcPts val="0"/>
              </a:spcAft>
              <a:buNone/>
            </a:pPr>
            <a:r>
              <a:t/>
            </a:r>
            <a:endParaRPr sz="1500">
              <a:solidFill>
                <a:srgbClr val="C27BA0"/>
              </a:solidFill>
              <a:latin typeface="Verdana"/>
              <a:ea typeface="Verdana"/>
              <a:cs typeface="Verdana"/>
              <a:sym typeface="Verdana"/>
            </a:endParaRPr>
          </a:p>
          <a:p>
            <a:pPr indent="0" lvl="0" marL="0" rtl="0" algn="l">
              <a:spcBef>
                <a:spcPts val="0"/>
              </a:spcBef>
              <a:spcAft>
                <a:spcPts val="0"/>
              </a:spcAft>
              <a:buNone/>
            </a:pPr>
            <a:r>
              <a:t/>
            </a:r>
            <a:endParaRPr sz="1500">
              <a:solidFill>
                <a:srgbClr val="C27BA0"/>
              </a:solidFill>
              <a:latin typeface="Verdana"/>
              <a:ea typeface="Verdana"/>
              <a:cs typeface="Verdana"/>
              <a:sym typeface="Verdana"/>
            </a:endParaRPr>
          </a:p>
        </p:txBody>
      </p:sp>
      <p:sp>
        <p:nvSpPr>
          <p:cNvPr id="1073" name="Google Shape;1073;p90"/>
          <p:cNvSpPr txBox="1"/>
          <p:nvPr/>
        </p:nvSpPr>
        <p:spPr>
          <a:xfrm>
            <a:off x="4331825" y="4467450"/>
            <a:ext cx="4111200" cy="1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500">
                <a:solidFill>
                  <a:srgbClr val="C27BA0"/>
                </a:solidFill>
                <a:latin typeface="Verdana"/>
                <a:ea typeface="Verdana"/>
                <a:cs typeface="Verdana"/>
                <a:sym typeface="Verdana"/>
              </a:rPr>
              <a:t>It is </a:t>
            </a:r>
            <a:r>
              <a:rPr lang="en-CA" sz="1500" u="sng">
                <a:solidFill>
                  <a:srgbClr val="C27BA0"/>
                </a:solidFill>
                <a:latin typeface="Verdana"/>
                <a:ea typeface="Verdana"/>
                <a:cs typeface="Verdana"/>
                <a:sym typeface="Verdana"/>
              </a:rPr>
              <a:t>most likely RR</a:t>
            </a:r>
            <a:r>
              <a:rPr lang="en-CA" sz="1500">
                <a:solidFill>
                  <a:srgbClr val="C27BA0"/>
                </a:solidFill>
                <a:latin typeface="Verdana"/>
                <a:ea typeface="Verdana"/>
                <a:cs typeface="Verdana"/>
                <a:sym typeface="Verdana"/>
              </a:rPr>
              <a:t>. Her partner, III-2 must be rr, and since none of their kids are affected this is likely because III-3 only has the dominant R allele. But technically, we can not be 100% certain since 4 kids is a relatively small sample size. </a:t>
            </a:r>
            <a:endParaRPr sz="15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pic>
        <p:nvPicPr>
          <p:cNvPr id="1079" name="Google Shape;1079;p91"/>
          <p:cNvPicPr preferRelativeResize="0"/>
          <p:nvPr/>
        </p:nvPicPr>
        <p:blipFill rotWithShape="1">
          <a:blip r:embed="rId3">
            <a:alphaModFix/>
          </a:blip>
          <a:srcRect b="14420" l="0" r="0" t="0"/>
          <a:stretch/>
        </p:blipFill>
        <p:spPr>
          <a:xfrm>
            <a:off x="545899" y="3103175"/>
            <a:ext cx="3216911" cy="1762775"/>
          </a:xfrm>
          <a:prstGeom prst="rect">
            <a:avLst/>
          </a:prstGeom>
          <a:noFill/>
          <a:ln cap="flat" cmpd="sng" w="9525">
            <a:solidFill>
              <a:srgbClr val="999999"/>
            </a:solidFill>
            <a:prstDash val="solid"/>
            <a:round/>
            <a:headEnd len="sm" w="sm" type="none"/>
            <a:tailEnd len="sm" w="sm" type="none"/>
          </a:ln>
        </p:spPr>
      </p:pic>
      <p:grpSp>
        <p:nvGrpSpPr>
          <p:cNvPr id="1080" name="Google Shape;1080;p91"/>
          <p:cNvGrpSpPr/>
          <p:nvPr/>
        </p:nvGrpSpPr>
        <p:grpSpPr>
          <a:xfrm>
            <a:off x="569288" y="1993500"/>
            <a:ext cx="3170100" cy="871800"/>
            <a:chOff x="899963" y="1929925"/>
            <a:chExt cx="3170100" cy="871800"/>
          </a:xfrm>
        </p:grpSpPr>
        <p:sp>
          <p:nvSpPr>
            <p:cNvPr id="1081" name="Google Shape;1081;p91"/>
            <p:cNvSpPr/>
            <p:nvPr/>
          </p:nvSpPr>
          <p:spPr>
            <a:xfrm>
              <a:off x="899975" y="2340025"/>
              <a:ext cx="3061500" cy="461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082" name="Google Shape;1082;p91"/>
            <p:cNvSpPr txBox="1"/>
            <p:nvPr/>
          </p:nvSpPr>
          <p:spPr>
            <a:xfrm>
              <a:off x="899963" y="1929925"/>
              <a:ext cx="3170100" cy="4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800">
                  <a:solidFill>
                    <a:schemeClr val="dk1"/>
                  </a:solidFill>
                  <a:latin typeface="Verdana"/>
                  <a:ea typeface="Verdana"/>
                  <a:cs typeface="Verdana"/>
                  <a:sym typeface="Verdana"/>
                </a:rPr>
                <a:t>Mode of Inheritance:</a:t>
              </a:r>
              <a:endParaRPr b="1" sz="1800">
                <a:solidFill>
                  <a:schemeClr val="dk1"/>
                </a:solidFill>
                <a:latin typeface="Verdana"/>
                <a:ea typeface="Verdana"/>
                <a:cs typeface="Verdana"/>
                <a:sym typeface="Verdana"/>
              </a:endParaRPr>
            </a:p>
            <a:p>
              <a:pPr indent="0" lvl="0" marL="0" rtl="0" algn="ctr">
                <a:spcBef>
                  <a:spcPts val="0"/>
                </a:spcBef>
                <a:spcAft>
                  <a:spcPts val="0"/>
                </a:spcAft>
                <a:buClr>
                  <a:schemeClr val="dk1"/>
                </a:buClr>
                <a:buSzPts val="1100"/>
                <a:buFont typeface="Arial"/>
                <a:buNone/>
              </a:pPr>
              <a:r>
                <a:t/>
              </a:r>
              <a:endParaRPr b="1" sz="1000">
                <a:solidFill>
                  <a:schemeClr val="dk1"/>
                </a:solidFill>
                <a:latin typeface="Verdana"/>
                <a:ea typeface="Verdana"/>
                <a:cs typeface="Verdana"/>
                <a:sym typeface="Verdana"/>
              </a:endParaRPr>
            </a:p>
            <a:p>
              <a:pPr indent="0" lvl="0" marL="0" rtl="0" algn="ctr">
                <a:spcBef>
                  <a:spcPts val="0"/>
                </a:spcBef>
                <a:spcAft>
                  <a:spcPts val="0"/>
                </a:spcAft>
                <a:buNone/>
              </a:pPr>
              <a:r>
                <a:rPr b="1" lang="en-CA" sz="1800">
                  <a:latin typeface="Verdana"/>
                  <a:ea typeface="Verdana"/>
                  <a:cs typeface="Verdana"/>
                  <a:sym typeface="Verdana"/>
                </a:rPr>
                <a:t>X-linked Recessive</a:t>
              </a:r>
              <a:endParaRPr b="1" sz="1800">
                <a:latin typeface="Verdana"/>
                <a:ea typeface="Verdana"/>
                <a:cs typeface="Verdana"/>
                <a:sym typeface="Verdana"/>
              </a:endParaRPr>
            </a:p>
          </p:txBody>
        </p:sp>
      </p:grpSp>
      <p:sp>
        <p:nvSpPr>
          <p:cNvPr id="1083" name="Google Shape;1083;p91"/>
          <p:cNvSpPr txBox="1"/>
          <p:nvPr/>
        </p:nvSpPr>
        <p:spPr>
          <a:xfrm>
            <a:off x="3877625" y="1486050"/>
            <a:ext cx="4877700" cy="3207300"/>
          </a:xfrm>
          <a:prstGeom prst="rect">
            <a:avLst/>
          </a:prstGeom>
          <a:noFill/>
          <a:ln>
            <a:noFill/>
          </a:ln>
        </p:spPr>
        <p:txBody>
          <a:bodyPr anchorCtr="0" anchor="t" bIns="45700" lIns="91425" spcFirstLastPara="1" rIns="91425" wrap="square" tIns="45700">
            <a:noAutofit/>
          </a:bodyPr>
          <a:lstStyle/>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must be the genotypes of individuals 1 &amp; 2 of generation I?</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200">
              <a:solidFill>
                <a:srgbClr val="393B3F"/>
              </a:solidFill>
              <a:latin typeface="Verdana"/>
              <a:ea typeface="Verdana"/>
              <a:cs typeface="Verdana"/>
              <a:sym typeface="Verdana"/>
            </a:endParaRPr>
          </a:p>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are the most likely genotypes of individuals 1 &amp; 2 of generation II?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p:txBody>
      </p:sp>
      <p:sp>
        <p:nvSpPr>
          <p:cNvPr id="1084" name="Google Shape;1084;p91"/>
          <p:cNvSpPr txBox="1"/>
          <p:nvPr/>
        </p:nvSpPr>
        <p:spPr>
          <a:xfrm>
            <a:off x="1259632" y="9087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 </a:t>
            </a:r>
            <a:r>
              <a:rPr b="1" lang="en-CA" sz="2400">
                <a:solidFill>
                  <a:srgbClr val="393B3F"/>
                </a:solidFill>
                <a:latin typeface="Verdana"/>
                <a:ea typeface="Verdana"/>
                <a:cs typeface="Verdana"/>
                <a:sym typeface="Verdana"/>
              </a:rPr>
              <a:t>PREDICTING GENOTYPE</a:t>
            </a:r>
            <a:endParaRPr/>
          </a:p>
        </p:txBody>
      </p:sp>
      <p:sp>
        <p:nvSpPr>
          <p:cNvPr id="1085" name="Google Shape;1085;p91"/>
          <p:cNvSpPr txBox="1"/>
          <p:nvPr/>
        </p:nvSpPr>
        <p:spPr>
          <a:xfrm>
            <a:off x="4304575" y="2194575"/>
            <a:ext cx="4232700" cy="14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500">
                <a:solidFill>
                  <a:srgbClr val="C27BA0"/>
                </a:solidFill>
                <a:latin typeface="Verdana"/>
                <a:ea typeface="Verdana"/>
                <a:cs typeface="Verdana"/>
                <a:sym typeface="Verdana"/>
              </a:rPr>
              <a:t>I-1: X</a:t>
            </a:r>
            <a:r>
              <a:rPr b="1" baseline="30000" lang="en-CA" sz="1500">
                <a:solidFill>
                  <a:srgbClr val="C27BA0"/>
                </a:solidFill>
                <a:latin typeface="Verdana"/>
                <a:ea typeface="Verdana"/>
                <a:cs typeface="Verdana"/>
                <a:sym typeface="Verdana"/>
              </a:rPr>
              <a:t>R</a:t>
            </a:r>
            <a:r>
              <a:rPr b="1" lang="en-CA" sz="1500">
                <a:solidFill>
                  <a:srgbClr val="C27BA0"/>
                </a:solidFill>
                <a:latin typeface="Verdana"/>
                <a:ea typeface="Verdana"/>
                <a:cs typeface="Verdana"/>
                <a:sym typeface="Verdana"/>
              </a:rPr>
              <a:t>X</a:t>
            </a:r>
            <a:r>
              <a:rPr b="1" baseline="30000" lang="en-CA" sz="1500">
                <a:solidFill>
                  <a:srgbClr val="C27BA0"/>
                </a:solidFill>
                <a:latin typeface="Verdana"/>
                <a:ea typeface="Verdana"/>
                <a:cs typeface="Verdana"/>
                <a:sym typeface="Verdana"/>
              </a:rPr>
              <a:t>r </a:t>
            </a:r>
            <a:r>
              <a:rPr lang="en-CA" sz="1500">
                <a:solidFill>
                  <a:srgbClr val="C27BA0"/>
                </a:solidFill>
                <a:latin typeface="Verdana"/>
                <a:ea typeface="Verdana"/>
                <a:cs typeface="Verdana"/>
                <a:sym typeface="Verdana"/>
              </a:rPr>
              <a:t>→ X</a:t>
            </a:r>
            <a:r>
              <a:rPr baseline="30000" lang="en-CA" sz="1500">
                <a:solidFill>
                  <a:srgbClr val="C27BA0"/>
                </a:solidFill>
                <a:latin typeface="Verdana"/>
                <a:ea typeface="Verdana"/>
                <a:cs typeface="Verdana"/>
                <a:sym typeface="Verdana"/>
              </a:rPr>
              <a:t>R </a:t>
            </a:r>
            <a:r>
              <a:rPr lang="en-CA" sz="1500">
                <a:solidFill>
                  <a:srgbClr val="C27BA0"/>
                </a:solidFill>
                <a:latin typeface="Verdana"/>
                <a:ea typeface="Verdana"/>
                <a:cs typeface="Verdana"/>
                <a:sym typeface="Verdana"/>
              </a:rPr>
              <a:t>because not affected and X</a:t>
            </a:r>
            <a:r>
              <a:rPr baseline="30000" lang="en-CA" sz="1500">
                <a:solidFill>
                  <a:srgbClr val="C27BA0"/>
                </a:solidFill>
                <a:latin typeface="Verdana"/>
                <a:ea typeface="Verdana"/>
                <a:cs typeface="Verdana"/>
                <a:sym typeface="Verdana"/>
              </a:rPr>
              <a:t>r </a:t>
            </a:r>
            <a:r>
              <a:rPr lang="en-CA" sz="1500">
                <a:solidFill>
                  <a:srgbClr val="C27BA0"/>
                </a:solidFill>
                <a:latin typeface="Verdana"/>
                <a:ea typeface="Verdana"/>
                <a:cs typeface="Verdana"/>
                <a:sym typeface="Verdana"/>
              </a:rPr>
              <a:t>b/c she has an affected son, who must have received the X</a:t>
            </a:r>
            <a:r>
              <a:rPr baseline="30000" lang="en-CA" sz="1500">
                <a:solidFill>
                  <a:srgbClr val="C27BA0"/>
                </a:solidFill>
                <a:latin typeface="Verdana"/>
                <a:ea typeface="Verdana"/>
                <a:cs typeface="Verdana"/>
                <a:sym typeface="Verdana"/>
              </a:rPr>
              <a:t>R </a:t>
            </a:r>
            <a:r>
              <a:rPr lang="en-CA" sz="1500">
                <a:solidFill>
                  <a:srgbClr val="C27BA0"/>
                </a:solidFill>
                <a:latin typeface="Verdana"/>
                <a:ea typeface="Verdana"/>
                <a:cs typeface="Verdana"/>
                <a:sym typeface="Verdana"/>
              </a:rPr>
              <a:t>allele from mom.</a:t>
            </a:r>
            <a:endParaRPr sz="1500">
              <a:solidFill>
                <a:srgbClr val="C27BA0"/>
              </a:solidFill>
              <a:latin typeface="Verdana"/>
              <a:ea typeface="Verdana"/>
              <a:cs typeface="Verdana"/>
              <a:sym typeface="Verdana"/>
            </a:endParaRPr>
          </a:p>
          <a:p>
            <a:pPr indent="0" lvl="0" marL="0" rtl="0" algn="l">
              <a:spcBef>
                <a:spcPts val="0"/>
              </a:spcBef>
              <a:spcAft>
                <a:spcPts val="0"/>
              </a:spcAft>
              <a:buNone/>
            </a:pPr>
            <a:r>
              <a:rPr b="1" lang="en-CA" sz="1500">
                <a:solidFill>
                  <a:srgbClr val="C27BA0"/>
                </a:solidFill>
                <a:latin typeface="Verdana"/>
                <a:ea typeface="Verdana"/>
                <a:cs typeface="Verdana"/>
                <a:sym typeface="Verdana"/>
              </a:rPr>
              <a:t>I-2: X</a:t>
            </a:r>
            <a:r>
              <a:rPr b="1" baseline="30000" lang="en-CA" sz="1500">
                <a:solidFill>
                  <a:srgbClr val="C27BA0"/>
                </a:solidFill>
                <a:latin typeface="Verdana"/>
                <a:ea typeface="Verdana"/>
                <a:cs typeface="Verdana"/>
                <a:sym typeface="Verdana"/>
              </a:rPr>
              <a:t>R</a:t>
            </a:r>
            <a:r>
              <a:rPr b="1" lang="en-CA" sz="1500">
                <a:solidFill>
                  <a:srgbClr val="C27BA0"/>
                </a:solidFill>
                <a:latin typeface="Verdana"/>
                <a:ea typeface="Verdana"/>
                <a:cs typeface="Verdana"/>
                <a:sym typeface="Verdana"/>
              </a:rPr>
              <a:t>Y</a:t>
            </a:r>
            <a:r>
              <a:rPr lang="en-CA" sz="1500">
                <a:solidFill>
                  <a:srgbClr val="C27BA0"/>
                </a:solidFill>
                <a:latin typeface="Verdana"/>
                <a:ea typeface="Verdana"/>
                <a:cs typeface="Verdana"/>
                <a:sym typeface="Verdana"/>
              </a:rPr>
              <a:t> → not affected so must have X</a:t>
            </a:r>
            <a:r>
              <a:rPr baseline="30000" lang="en-CA" sz="1500">
                <a:solidFill>
                  <a:srgbClr val="C27BA0"/>
                </a:solidFill>
                <a:latin typeface="Verdana"/>
                <a:ea typeface="Verdana"/>
                <a:cs typeface="Verdana"/>
                <a:sym typeface="Verdana"/>
              </a:rPr>
              <a:t>R</a:t>
            </a:r>
            <a:r>
              <a:rPr lang="en-CA" sz="1500">
                <a:solidFill>
                  <a:srgbClr val="C27BA0"/>
                </a:solidFill>
                <a:latin typeface="Verdana"/>
                <a:ea typeface="Verdana"/>
                <a:cs typeface="Verdana"/>
                <a:sym typeface="Verdana"/>
              </a:rPr>
              <a:t> as well as a Y b/c male</a:t>
            </a:r>
            <a:endParaRPr sz="1500">
              <a:solidFill>
                <a:srgbClr val="C27BA0"/>
              </a:solidFill>
              <a:latin typeface="Verdana"/>
              <a:ea typeface="Verdana"/>
              <a:cs typeface="Verdana"/>
              <a:sym typeface="Verdana"/>
            </a:endParaRPr>
          </a:p>
        </p:txBody>
      </p:sp>
      <p:sp>
        <p:nvSpPr>
          <p:cNvPr id="1086" name="Google Shape;1086;p91"/>
          <p:cNvSpPr txBox="1"/>
          <p:nvPr/>
        </p:nvSpPr>
        <p:spPr>
          <a:xfrm>
            <a:off x="4341825" y="4136400"/>
            <a:ext cx="4086600" cy="15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500">
                <a:solidFill>
                  <a:srgbClr val="C27BA0"/>
                </a:solidFill>
                <a:latin typeface="Verdana"/>
                <a:ea typeface="Verdana"/>
                <a:cs typeface="Verdana"/>
                <a:sym typeface="Verdana"/>
              </a:rPr>
              <a:t>I</a:t>
            </a:r>
            <a:r>
              <a:rPr b="1" lang="en-CA" sz="1500">
                <a:solidFill>
                  <a:srgbClr val="C27BA0"/>
                </a:solidFill>
                <a:latin typeface="Verdana"/>
                <a:ea typeface="Verdana"/>
                <a:cs typeface="Verdana"/>
                <a:sym typeface="Verdana"/>
              </a:rPr>
              <a:t>I-1: X</a:t>
            </a:r>
            <a:r>
              <a:rPr b="1" baseline="30000" lang="en-CA" sz="1500">
                <a:solidFill>
                  <a:srgbClr val="C27BA0"/>
                </a:solidFill>
                <a:latin typeface="Verdana"/>
                <a:ea typeface="Verdana"/>
                <a:cs typeface="Verdana"/>
                <a:sym typeface="Verdana"/>
              </a:rPr>
              <a:t>R</a:t>
            </a:r>
            <a:r>
              <a:rPr b="1" lang="en-CA" sz="1500">
                <a:solidFill>
                  <a:srgbClr val="C27BA0"/>
                </a:solidFill>
                <a:latin typeface="Verdana"/>
                <a:ea typeface="Verdana"/>
                <a:cs typeface="Verdana"/>
                <a:sym typeface="Verdana"/>
              </a:rPr>
              <a:t>Y</a:t>
            </a:r>
            <a:r>
              <a:rPr lang="en-CA" sz="1500">
                <a:solidFill>
                  <a:srgbClr val="C27BA0"/>
                </a:solidFill>
                <a:latin typeface="Verdana"/>
                <a:ea typeface="Verdana"/>
                <a:cs typeface="Verdana"/>
                <a:sym typeface="Verdana"/>
              </a:rPr>
              <a:t> → not affected so must have X</a:t>
            </a:r>
            <a:r>
              <a:rPr baseline="30000" lang="en-CA" sz="1500">
                <a:solidFill>
                  <a:srgbClr val="C27BA0"/>
                </a:solidFill>
                <a:latin typeface="Verdana"/>
                <a:ea typeface="Verdana"/>
                <a:cs typeface="Verdana"/>
                <a:sym typeface="Verdana"/>
              </a:rPr>
              <a:t>R</a:t>
            </a:r>
            <a:r>
              <a:rPr lang="en-CA" sz="1500">
                <a:solidFill>
                  <a:srgbClr val="C27BA0"/>
                </a:solidFill>
                <a:latin typeface="Verdana"/>
                <a:ea typeface="Verdana"/>
                <a:cs typeface="Verdana"/>
                <a:sym typeface="Verdana"/>
              </a:rPr>
              <a:t> as well as a Y b/c male</a:t>
            </a:r>
            <a:endParaRPr sz="1500">
              <a:solidFill>
                <a:srgbClr val="C27BA0"/>
              </a:solidFill>
              <a:latin typeface="Verdana"/>
              <a:ea typeface="Verdana"/>
              <a:cs typeface="Verdana"/>
              <a:sym typeface="Verdana"/>
            </a:endParaRPr>
          </a:p>
          <a:p>
            <a:pPr indent="0" lvl="0" marL="0" rtl="0" algn="l">
              <a:spcBef>
                <a:spcPts val="0"/>
              </a:spcBef>
              <a:spcAft>
                <a:spcPts val="0"/>
              </a:spcAft>
              <a:buNone/>
            </a:pPr>
            <a:r>
              <a:rPr b="1" lang="en-CA" sz="1500">
                <a:solidFill>
                  <a:srgbClr val="C27BA0"/>
                </a:solidFill>
                <a:latin typeface="Verdana"/>
                <a:ea typeface="Verdana"/>
                <a:cs typeface="Verdana"/>
                <a:sym typeface="Verdana"/>
              </a:rPr>
              <a:t>II-2:</a:t>
            </a:r>
            <a:r>
              <a:rPr lang="en-CA" sz="1500">
                <a:solidFill>
                  <a:srgbClr val="C27BA0"/>
                </a:solidFill>
                <a:latin typeface="Verdana"/>
                <a:ea typeface="Verdana"/>
                <a:cs typeface="Verdana"/>
                <a:sym typeface="Verdana"/>
              </a:rPr>
              <a:t> </a:t>
            </a:r>
            <a:r>
              <a:rPr lang="en-CA" sz="1500" u="sng">
                <a:solidFill>
                  <a:srgbClr val="C27BA0"/>
                </a:solidFill>
                <a:latin typeface="Verdana"/>
                <a:ea typeface="Verdana"/>
                <a:cs typeface="Verdana"/>
                <a:sym typeface="Verdana"/>
              </a:rPr>
              <a:t>most likely</a:t>
            </a:r>
            <a:r>
              <a:rPr lang="en-CA" sz="1500">
                <a:solidFill>
                  <a:srgbClr val="C27BA0"/>
                </a:solidFill>
                <a:latin typeface="Verdana"/>
                <a:ea typeface="Verdana"/>
                <a:cs typeface="Verdana"/>
                <a:sym typeface="Verdana"/>
              </a:rPr>
              <a:t> </a:t>
            </a:r>
            <a:r>
              <a:rPr b="1" lang="en-CA" sz="1500">
                <a:solidFill>
                  <a:srgbClr val="C27BA0"/>
                </a:solidFill>
                <a:latin typeface="Verdana"/>
                <a:ea typeface="Verdana"/>
                <a:cs typeface="Verdana"/>
                <a:sym typeface="Verdana"/>
              </a:rPr>
              <a:t>X</a:t>
            </a:r>
            <a:r>
              <a:rPr b="1" baseline="30000" lang="en-CA" sz="1500">
                <a:solidFill>
                  <a:srgbClr val="C27BA0"/>
                </a:solidFill>
                <a:latin typeface="Verdana"/>
                <a:ea typeface="Verdana"/>
                <a:cs typeface="Verdana"/>
                <a:sym typeface="Verdana"/>
              </a:rPr>
              <a:t>R</a:t>
            </a:r>
            <a:r>
              <a:rPr b="1" lang="en-CA" sz="1500">
                <a:solidFill>
                  <a:srgbClr val="C27BA0"/>
                </a:solidFill>
                <a:latin typeface="Verdana"/>
                <a:ea typeface="Verdana"/>
                <a:cs typeface="Verdana"/>
                <a:sym typeface="Verdana"/>
              </a:rPr>
              <a:t>X</a:t>
            </a:r>
            <a:r>
              <a:rPr b="1" baseline="30000" lang="en-CA" sz="1500">
                <a:solidFill>
                  <a:srgbClr val="C27BA0"/>
                </a:solidFill>
                <a:latin typeface="Verdana"/>
                <a:ea typeface="Verdana"/>
                <a:cs typeface="Verdana"/>
                <a:sym typeface="Verdana"/>
              </a:rPr>
              <a:t>R </a:t>
            </a:r>
            <a:r>
              <a:rPr lang="en-CA" sz="1500">
                <a:solidFill>
                  <a:srgbClr val="C27BA0"/>
                </a:solidFill>
                <a:latin typeface="Verdana"/>
                <a:ea typeface="Verdana"/>
                <a:cs typeface="Verdana"/>
                <a:sym typeface="Verdana"/>
              </a:rPr>
              <a:t>because none of her sons are affected.</a:t>
            </a:r>
            <a:endParaRPr sz="15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pic>
        <p:nvPicPr>
          <p:cNvPr id="1092" name="Google Shape;1092;p92"/>
          <p:cNvPicPr preferRelativeResize="0"/>
          <p:nvPr/>
        </p:nvPicPr>
        <p:blipFill rotWithShape="1">
          <a:blip r:embed="rId3">
            <a:alphaModFix/>
          </a:blip>
          <a:srcRect b="14420" l="0" r="0" t="0"/>
          <a:stretch/>
        </p:blipFill>
        <p:spPr>
          <a:xfrm>
            <a:off x="545899" y="3103175"/>
            <a:ext cx="3216911" cy="1762775"/>
          </a:xfrm>
          <a:prstGeom prst="rect">
            <a:avLst/>
          </a:prstGeom>
          <a:noFill/>
          <a:ln cap="flat" cmpd="sng" w="9525">
            <a:solidFill>
              <a:srgbClr val="999999"/>
            </a:solidFill>
            <a:prstDash val="solid"/>
            <a:round/>
            <a:headEnd len="sm" w="sm" type="none"/>
            <a:tailEnd len="sm" w="sm" type="none"/>
          </a:ln>
        </p:spPr>
      </p:pic>
      <p:grpSp>
        <p:nvGrpSpPr>
          <p:cNvPr id="1093" name="Google Shape;1093;p92"/>
          <p:cNvGrpSpPr/>
          <p:nvPr/>
        </p:nvGrpSpPr>
        <p:grpSpPr>
          <a:xfrm>
            <a:off x="569288" y="1993500"/>
            <a:ext cx="3170100" cy="871800"/>
            <a:chOff x="899963" y="1929925"/>
            <a:chExt cx="3170100" cy="871800"/>
          </a:xfrm>
        </p:grpSpPr>
        <p:sp>
          <p:nvSpPr>
            <p:cNvPr id="1094" name="Google Shape;1094;p92"/>
            <p:cNvSpPr/>
            <p:nvPr/>
          </p:nvSpPr>
          <p:spPr>
            <a:xfrm>
              <a:off x="899975" y="2340025"/>
              <a:ext cx="3061500" cy="461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095" name="Google Shape;1095;p92"/>
            <p:cNvSpPr txBox="1"/>
            <p:nvPr/>
          </p:nvSpPr>
          <p:spPr>
            <a:xfrm>
              <a:off x="899963" y="1929925"/>
              <a:ext cx="3170100" cy="4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800">
                  <a:solidFill>
                    <a:schemeClr val="dk1"/>
                  </a:solidFill>
                  <a:latin typeface="Verdana"/>
                  <a:ea typeface="Verdana"/>
                  <a:cs typeface="Verdana"/>
                  <a:sym typeface="Verdana"/>
                </a:rPr>
                <a:t>Mode of Inheritance:</a:t>
              </a:r>
              <a:endParaRPr b="1" sz="1800">
                <a:solidFill>
                  <a:schemeClr val="dk1"/>
                </a:solidFill>
                <a:latin typeface="Verdana"/>
                <a:ea typeface="Verdana"/>
                <a:cs typeface="Verdana"/>
                <a:sym typeface="Verdana"/>
              </a:endParaRPr>
            </a:p>
            <a:p>
              <a:pPr indent="0" lvl="0" marL="0" rtl="0" algn="ctr">
                <a:spcBef>
                  <a:spcPts val="0"/>
                </a:spcBef>
                <a:spcAft>
                  <a:spcPts val="0"/>
                </a:spcAft>
                <a:buNone/>
              </a:pPr>
              <a:r>
                <a:t/>
              </a:r>
              <a:endParaRPr b="1" sz="1000">
                <a:solidFill>
                  <a:schemeClr val="dk1"/>
                </a:solidFill>
                <a:latin typeface="Verdana"/>
                <a:ea typeface="Verdana"/>
                <a:cs typeface="Verdana"/>
                <a:sym typeface="Verdana"/>
              </a:endParaRPr>
            </a:p>
            <a:p>
              <a:pPr indent="0" lvl="0" marL="0" rtl="0" algn="ctr">
                <a:spcBef>
                  <a:spcPts val="0"/>
                </a:spcBef>
                <a:spcAft>
                  <a:spcPts val="0"/>
                </a:spcAft>
                <a:buNone/>
              </a:pPr>
              <a:r>
                <a:rPr b="1" lang="en-CA" sz="1800">
                  <a:latin typeface="Verdana"/>
                  <a:ea typeface="Verdana"/>
                  <a:cs typeface="Verdana"/>
                  <a:sym typeface="Verdana"/>
                </a:rPr>
                <a:t>X-linked Recessive</a:t>
              </a:r>
              <a:endParaRPr b="1" sz="1800">
                <a:latin typeface="Verdana"/>
                <a:ea typeface="Verdana"/>
                <a:cs typeface="Verdana"/>
                <a:sym typeface="Verdana"/>
              </a:endParaRPr>
            </a:p>
          </p:txBody>
        </p:sp>
      </p:grpSp>
      <p:sp>
        <p:nvSpPr>
          <p:cNvPr id="1096" name="Google Shape;1096;p92"/>
          <p:cNvSpPr txBox="1"/>
          <p:nvPr/>
        </p:nvSpPr>
        <p:spPr>
          <a:xfrm>
            <a:off x="1259632" y="9087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 </a:t>
            </a:r>
            <a:r>
              <a:rPr b="1" lang="en-CA" sz="2400">
                <a:solidFill>
                  <a:srgbClr val="393B3F"/>
                </a:solidFill>
                <a:latin typeface="Verdana"/>
                <a:ea typeface="Verdana"/>
                <a:cs typeface="Verdana"/>
                <a:sym typeface="Verdana"/>
              </a:rPr>
              <a:t>PREDICTING GENOTYPE</a:t>
            </a:r>
            <a:endParaRPr/>
          </a:p>
        </p:txBody>
      </p:sp>
      <p:sp>
        <p:nvSpPr>
          <p:cNvPr id="1097" name="Google Shape;1097;p92"/>
          <p:cNvSpPr txBox="1"/>
          <p:nvPr/>
        </p:nvSpPr>
        <p:spPr>
          <a:xfrm>
            <a:off x="4041175" y="1524975"/>
            <a:ext cx="4523400" cy="2226600"/>
          </a:xfrm>
          <a:prstGeom prst="rect">
            <a:avLst/>
          </a:prstGeom>
          <a:noFill/>
          <a:ln>
            <a:noFill/>
          </a:ln>
        </p:spPr>
        <p:txBody>
          <a:bodyPr anchorCtr="0" anchor="t" bIns="91425" lIns="91425" spcFirstLastPara="1" rIns="91425" wrap="square" tIns="91425">
            <a:spAutoFit/>
          </a:bodyPr>
          <a:lstStyle/>
          <a:p>
            <a:pPr indent="-330200" lvl="0" marL="457200" rtl="0" algn="l">
              <a:spcBef>
                <a:spcPts val="1000"/>
              </a:spcBef>
              <a:spcAft>
                <a:spcPts val="0"/>
              </a:spcAft>
              <a:buClr>
                <a:srgbClr val="393B3F"/>
              </a:buClr>
              <a:buSzPts val="1600"/>
              <a:buFont typeface="Verdana"/>
              <a:buAutoNum type="arabicPeriod" startAt="3"/>
            </a:pPr>
            <a:r>
              <a:rPr lang="en-CA" sz="1600">
                <a:solidFill>
                  <a:srgbClr val="393B3F"/>
                </a:solidFill>
                <a:latin typeface="Verdana"/>
                <a:ea typeface="Verdana"/>
                <a:cs typeface="Verdana"/>
                <a:sym typeface="Verdana"/>
              </a:rPr>
              <a:t>If individual 4 of generation II has children with a woman who is heterozygous for the trait, what is the probability that </a:t>
            </a:r>
            <a:endParaRPr sz="1600">
              <a:solidFill>
                <a:srgbClr val="393B3F"/>
              </a:solidFill>
              <a:latin typeface="Verdana"/>
              <a:ea typeface="Verdana"/>
              <a:cs typeface="Verdana"/>
              <a:sym typeface="Verdana"/>
            </a:endParaRPr>
          </a:p>
          <a:p>
            <a:pPr indent="-330200" lvl="1" marL="914400" rtl="0" algn="l">
              <a:spcBef>
                <a:spcPts val="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they will produce an affected child?</a:t>
            </a:r>
            <a:endParaRPr sz="1600">
              <a:solidFill>
                <a:srgbClr val="393B3F"/>
              </a:solidFill>
              <a:latin typeface="Verdana"/>
              <a:ea typeface="Verdana"/>
              <a:cs typeface="Verdana"/>
              <a:sym typeface="Verdana"/>
            </a:endParaRPr>
          </a:p>
          <a:p>
            <a:pPr indent="0" lvl="0" marL="914400" rtl="0" algn="l">
              <a:spcBef>
                <a:spcPts val="1000"/>
              </a:spcBef>
              <a:spcAft>
                <a:spcPts val="0"/>
              </a:spcAft>
              <a:buNone/>
            </a:pPr>
            <a:r>
              <a:t/>
            </a:r>
            <a:endParaRPr sz="400">
              <a:solidFill>
                <a:srgbClr val="393B3F"/>
              </a:solidFill>
              <a:latin typeface="Verdana"/>
              <a:ea typeface="Verdana"/>
              <a:cs typeface="Verdana"/>
              <a:sym typeface="Verdana"/>
            </a:endParaRPr>
          </a:p>
          <a:p>
            <a:pPr indent="-330200" lvl="1" marL="914400" rtl="0" algn="l">
              <a:spcBef>
                <a:spcPts val="1000"/>
              </a:spcBef>
              <a:spcAft>
                <a:spcPts val="0"/>
              </a:spcAft>
              <a:buClr>
                <a:srgbClr val="393B3F"/>
              </a:buClr>
              <a:buSzPts val="1600"/>
              <a:buFont typeface="Verdana"/>
              <a:buAutoNum type="alphaLcPeriod"/>
            </a:pPr>
            <a:r>
              <a:rPr lang="en-CA" sz="1600">
                <a:solidFill>
                  <a:srgbClr val="393B3F"/>
                </a:solidFill>
                <a:latin typeface="Verdana"/>
                <a:ea typeface="Verdana"/>
                <a:cs typeface="Verdana"/>
                <a:sym typeface="Verdana"/>
              </a:rPr>
              <a:t>Their next son will be affected?</a:t>
            </a:r>
            <a:endParaRPr sz="1600">
              <a:solidFill>
                <a:srgbClr val="393B3F"/>
              </a:solidFill>
              <a:latin typeface="Verdana"/>
              <a:ea typeface="Verdana"/>
              <a:cs typeface="Verdana"/>
              <a:sym typeface="Verdana"/>
            </a:endParaRPr>
          </a:p>
        </p:txBody>
      </p:sp>
      <p:sp>
        <p:nvSpPr>
          <p:cNvPr id="1098" name="Google Shape;1098;p92"/>
          <p:cNvSpPr txBox="1"/>
          <p:nvPr/>
        </p:nvSpPr>
        <p:spPr>
          <a:xfrm>
            <a:off x="5974825" y="2865300"/>
            <a:ext cx="14637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500">
                <a:solidFill>
                  <a:srgbClr val="C27BA0"/>
                </a:solidFill>
                <a:latin typeface="Verdana"/>
                <a:ea typeface="Verdana"/>
                <a:cs typeface="Verdana"/>
                <a:sym typeface="Verdana"/>
              </a:rPr>
              <a:t>¼ = 0.25</a:t>
            </a:r>
            <a:endParaRPr sz="1500">
              <a:solidFill>
                <a:srgbClr val="C27BA0"/>
              </a:solidFill>
              <a:latin typeface="Verdana"/>
              <a:ea typeface="Verdana"/>
              <a:cs typeface="Verdana"/>
              <a:sym typeface="Verdana"/>
            </a:endParaRPr>
          </a:p>
        </p:txBody>
      </p:sp>
      <p:grpSp>
        <p:nvGrpSpPr>
          <p:cNvPr id="1099" name="Google Shape;1099;p92"/>
          <p:cNvGrpSpPr/>
          <p:nvPr/>
        </p:nvGrpSpPr>
        <p:grpSpPr>
          <a:xfrm>
            <a:off x="4041175" y="4051075"/>
            <a:ext cx="3627600" cy="2709000"/>
            <a:chOff x="3995325" y="3184650"/>
            <a:chExt cx="3627600" cy="2709000"/>
          </a:xfrm>
        </p:grpSpPr>
        <p:sp>
          <p:nvSpPr>
            <p:cNvPr id="1100" name="Google Shape;1100;p92"/>
            <p:cNvSpPr txBox="1"/>
            <p:nvPr/>
          </p:nvSpPr>
          <p:spPr>
            <a:xfrm>
              <a:off x="3995325" y="3184650"/>
              <a:ext cx="3627600" cy="270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Y</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R</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2100">
                  <a:solidFill>
                    <a:srgbClr val="C27BA0"/>
                  </a:solidFill>
                  <a:latin typeface="Verdana"/>
                  <a:ea typeface="Verdana"/>
                  <a:cs typeface="Verdana"/>
                  <a:sym typeface="Verdana"/>
                </a:rPr>
                <a:t> </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Y</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Y</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r</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grpSp>
          <p:nvGrpSpPr>
            <p:cNvPr id="1101" name="Google Shape;1101;p92"/>
            <p:cNvGrpSpPr/>
            <p:nvPr/>
          </p:nvGrpSpPr>
          <p:grpSpPr>
            <a:xfrm>
              <a:off x="4650775" y="4210400"/>
              <a:ext cx="2167500" cy="1542300"/>
              <a:chOff x="961150" y="4778025"/>
              <a:chExt cx="2167500" cy="1542300"/>
            </a:xfrm>
          </p:grpSpPr>
          <p:cxnSp>
            <p:nvCxnSpPr>
              <p:cNvPr id="1102" name="Google Shape;1102;p92"/>
              <p:cNvCxnSpPr/>
              <p:nvPr/>
            </p:nvCxnSpPr>
            <p:spPr>
              <a:xfrm>
                <a:off x="961150" y="5127925"/>
                <a:ext cx="2167500" cy="9600"/>
              </a:xfrm>
              <a:prstGeom prst="straightConnector1">
                <a:avLst/>
              </a:prstGeom>
              <a:noFill/>
              <a:ln cap="flat" cmpd="sng" w="9525">
                <a:solidFill>
                  <a:schemeClr val="dk2"/>
                </a:solidFill>
                <a:prstDash val="solid"/>
                <a:round/>
                <a:headEnd len="med" w="med" type="none"/>
                <a:tailEnd len="med" w="med" type="none"/>
              </a:ln>
            </p:spPr>
          </p:cxnSp>
          <p:cxnSp>
            <p:nvCxnSpPr>
              <p:cNvPr id="1103" name="Google Shape;1103;p92"/>
              <p:cNvCxnSpPr/>
              <p:nvPr/>
            </p:nvCxnSpPr>
            <p:spPr>
              <a:xfrm flipH="1">
                <a:off x="1463550" y="4778025"/>
                <a:ext cx="3000" cy="1542300"/>
              </a:xfrm>
              <a:prstGeom prst="straightConnector1">
                <a:avLst/>
              </a:prstGeom>
              <a:noFill/>
              <a:ln cap="flat" cmpd="sng" w="9525">
                <a:solidFill>
                  <a:schemeClr val="dk2"/>
                </a:solidFill>
                <a:prstDash val="solid"/>
                <a:round/>
                <a:headEnd len="med" w="med" type="none"/>
                <a:tailEnd len="med" w="med" type="none"/>
              </a:ln>
            </p:spPr>
          </p:cxnSp>
        </p:grpSp>
      </p:grpSp>
      <p:sp>
        <p:nvSpPr>
          <p:cNvPr id="1104" name="Google Shape;1104;p92"/>
          <p:cNvSpPr txBox="1"/>
          <p:nvPr/>
        </p:nvSpPr>
        <p:spPr>
          <a:xfrm>
            <a:off x="6275675" y="5210275"/>
            <a:ext cx="5814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1105" name="Google Shape;1105;p92"/>
          <p:cNvSpPr txBox="1"/>
          <p:nvPr/>
        </p:nvSpPr>
        <p:spPr>
          <a:xfrm>
            <a:off x="5974825" y="3704575"/>
            <a:ext cx="14637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500">
                <a:solidFill>
                  <a:srgbClr val="C27BA0"/>
                </a:solidFill>
                <a:latin typeface="Verdana"/>
                <a:ea typeface="Verdana"/>
                <a:cs typeface="Verdana"/>
                <a:sym typeface="Verdana"/>
              </a:rPr>
              <a:t>½ </a:t>
            </a:r>
            <a:r>
              <a:rPr b="1" lang="en-CA" sz="1500">
                <a:solidFill>
                  <a:srgbClr val="C27BA0"/>
                </a:solidFill>
                <a:latin typeface="Verdana"/>
                <a:ea typeface="Verdana"/>
                <a:cs typeface="Verdana"/>
                <a:sym typeface="Verdana"/>
              </a:rPr>
              <a:t> = 0.50</a:t>
            </a:r>
            <a:endParaRPr sz="15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id="1111" name="Google Shape;1111;p93"/>
          <p:cNvPicPr preferRelativeResize="0"/>
          <p:nvPr/>
        </p:nvPicPr>
        <p:blipFill rotWithShape="1">
          <a:blip r:embed="rId3">
            <a:alphaModFix/>
          </a:blip>
          <a:srcRect b="0" l="0" r="0" t="19361"/>
          <a:stretch/>
        </p:blipFill>
        <p:spPr>
          <a:xfrm>
            <a:off x="658825" y="2473438"/>
            <a:ext cx="3217225" cy="2539825"/>
          </a:xfrm>
          <a:prstGeom prst="rect">
            <a:avLst/>
          </a:prstGeom>
          <a:noFill/>
          <a:ln cap="flat" cmpd="sng" w="9525">
            <a:solidFill>
              <a:srgbClr val="999999"/>
            </a:solidFill>
            <a:prstDash val="solid"/>
            <a:round/>
            <a:headEnd len="sm" w="sm" type="none"/>
            <a:tailEnd len="sm" w="sm" type="none"/>
          </a:ln>
        </p:spPr>
      </p:pic>
      <p:sp>
        <p:nvSpPr>
          <p:cNvPr id="1112" name="Google Shape;1112;p93"/>
          <p:cNvSpPr txBox="1"/>
          <p:nvPr/>
        </p:nvSpPr>
        <p:spPr>
          <a:xfrm>
            <a:off x="3876050" y="677625"/>
            <a:ext cx="4697700" cy="4734300"/>
          </a:xfrm>
          <a:prstGeom prst="rect">
            <a:avLst/>
          </a:prstGeom>
          <a:noFill/>
          <a:ln>
            <a:noFill/>
          </a:ln>
        </p:spPr>
        <p:txBody>
          <a:bodyPr anchorCtr="0" anchor="t" bIns="45700" lIns="91425" spcFirstLastPara="1" rIns="91425" wrap="square" tIns="45700">
            <a:noAutofit/>
          </a:bodyPr>
          <a:lstStyle/>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are the genotypes of individuals 1 &amp; 2 of generation I? </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a:p>
            <a:pPr indent="-241300" lvl="0" marL="457200" marR="0" rtl="0" algn="l">
              <a:lnSpc>
                <a:spcPct val="100000"/>
              </a:lnSpc>
              <a:spcBef>
                <a:spcPts val="100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What is the probability that if individuals 6 &amp; 7 of generation II have another girl, she will be affected?</a:t>
            </a:r>
            <a:endParaRPr sz="1600">
              <a:solidFill>
                <a:srgbClr val="393B3F"/>
              </a:solidFill>
              <a:latin typeface="Verdana"/>
              <a:ea typeface="Verdana"/>
              <a:cs typeface="Verdana"/>
              <a:sym typeface="Verdana"/>
            </a:endParaRPr>
          </a:p>
        </p:txBody>
      </p:sp>
      <p:grpSp>
        <p:nvGrpSpPr>
          <p:cNvPr id="1113" name="Google Shape;1113;p93"/>
          <p:cNvGrpSpPr/>
          <p:nvPr/>
        </p:nvGrpSpPr>
        <p:grpSpPr>
          <a:xfrm>
            <a:off x="560238" y="1430325"/>
            <a:ext cx="3261338" cy="871800"/>
            <a:chOff x="700138" y="1929925"/>
            <a:chExt cx="3261338" cy="871800"/>
          </a:xfrm>
        </p:grpSpPr>
        <p:sp>
          <p:nvSpPr>
            <p:cNvPr id="1114" name="Google Shape;1114;p93"/>
            <p:cNvSpPr/>
            <p:nvPr/>
          </p:nvSpPr>
          <p:spPr>
            <a:xfrm>
              <a:off x="899975" y="2340025"/>
              <a:ext cx="3061500" cy="461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115" name="Google Shape;1115;p93"/>
            <p:cNvSpPr txBox="1"/>
            <p:nvPr/>
          </p:nvSpPr>
          <p:spPr>
            <a:xfrm>
              <a:off x="700138" y="1929925"/>
              <a:ext cx="3170100" cy="4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800">
                  <a:solidFill>
                    <a:schemeClr val="dk1"/>
                  </a:solidFill>
                  <a:latin typeface="Verdana"/>
                  <a:ea typeface="Verdana"/>
                  <a:cs typeface="Verdana"/>
                  <a:sym typeface="Verdana"/>
                </a:rPr>
                <a:t>Mode of Inheritance:</a:t>
              </a:r>
              <a:endParaRPr b="1" sz="1800">
                <a:solidFill>
                  <a:schemeClr val="dk1"/>
                </a:solidFill>
                <a:latin typeface="Verdana"/>
                <a:ea typeface="Verdana"/>
                <a:cs typeface="Verdana"/>
                <a:sym typeface="Verdana"/>
              </a:endParaRPr>
            </a:p>
            <a:p>
              <a:pPr indent="0" lvl="0" marL="0" rtl="0" algn="ctr">
                <a:spcBef>
                  <a:spcPts val="0"/>
                </a:spcBef>
                <a:spcAft>
                  <a:spcPts val="0"/>
                </a:spcAft>
                <a:buNone/>
              </a:pPr>
              <a:r>
                <a:t/>
              </a:r>
              <a:endParaRPr b="1" sz="1000">
                <a:solidFill>
                  <a:schemeClr val="dk1"/>
                </a:solidFill>
                <a:latin typeface="Verdana"/>
                <a:ea typeface="Verdana"/>
                <a:cs typeface="Verdana"/>
                <a:sym typeface="Verdana"/>
              </a:endParaRPr>
            </a:p>
            <a:p>
              <a:pPr indent="0" lvl="0" marL="0" rtl="0" algn="ctr">
                <a:spcBef>
                  <a:spcPts val="0"/>
                </a:spcBef>
                <a:spcAft>
                  <a:spcPts val="0"/>
                </a:spcAft>
                <a:buNone/>
              </a:pPr>
              <a:r>
                <a:rPr b="1" lang="en-CA" sz="1800">
                  <a:latin typeface="Verdana"/>
                  <a:ea typeface="Verdana"/>
                  <a:cs typeface="Verdana"/>
                  <a:sym typeface="Verdana"/>
                </a:rPr>
                <a:t>X-linked Dominant</a:t>
              </a:r>
              <a:endParaRPr b="1" sz="1800">
                <a:latin typeface="Verdana"/>
                <a:ea typeface="Verdana"/>
                <a:cs typeface="Verdana"/>
                <a:sym typeface="Verdana"/>
              </a:endParaRPr>
            </a:p>
          </p:txBody>
        </p:sp>
      </p:grpSp>
      <p:sp>
        <p:nvSpPr>
          <p:cNvPr id="1116" name="Google Shape;1116;p93"/>
          <p:cNvSpPr txBox="1"/>
          <p:nvPr/>
        </p:nvSpPr>
        <p:spPr>
          <a:xfrm>
            <a:off x="4222825" y="1377050"/>
            <a:ext cx="4296600" cy="15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I-1: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 </a:t>
            </a:r>
            <a:r>
              <a:rPr b="1" lang="en-CA" sz="1600">
                <a:solidFill>
                  <a:srgbClr val="C27BA0"/>
                </a:solidFill>
                <a:latin typeface="Verdana"/>
                <a:ea typeface="Verdana"/>
                <a:cs typeface="Verdana"/>
                <a:sym typeface="Verdana"/>
              </a:rPr>
              <a:t>→ must have X</a:t>
            </a:r>
            <a:r>
              <a:rPr b="1" baseline="30000" lang="en-CA" sz="1600">
                <a:solidFill>
                  <a:srgbClr val="C27BA0"/>
                </a:solidFill>
                <a:latin typeface="Verdana"/>
                <a:ea typeface="Verdana"/>
                <a:cs typeface="Verdana"/>
                <a:sym typeface="Verdana"/>
              </a:rPr>
              <a:t>D </a:t>
            </a:r>
            <a:r>
              <a:rPr b="1" lang="en-CA" sz="1600">
                <a:solidFill>
                  <a:srgbClr val="C27BA0"/>
                </a:solidFill>
                <a:latin typeface="Verdana"/>
                <a:ea typeface="Verdana"/>
                <a:cs typeface="Verdana"/>
                <a:sym typeface="Verdana"/>
              </a:rPr>
              <a:t>b/c affected, and must have 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 b/c has unaffected son.</a:t>
            </a:r>
            <a:endParaRPr b="1" sz="1600">
              <a:solidFill>
                <a:srgbClr val="C27BA0"/>
              </a:solidFill>
              <a:latin typeface="Verdana"/>
              <a:ea typeface="Verdana"/>
              <a:cs typeface="Verdana"/>
              <a:sym typeface="Verdana"/>
            </a:endParaRPr>
          </a:p>
          <a:p>
            <a:pPr indent="0" lvl="0" marL="0" rtl="0" algn="l">
              <a:spcBef>
                <a:spcPts val="0"/>
              </a:spcBef>
              <a:spcAft>
                <a:spcPts val="0"/>
              </a:spcAft>
              <a:buNone/>
            </a:pPr>
            <a:r>
              <a:rPr b="1" lang="en-CA" sz="1600">
                <a:solidFill>
                  <a:srgbClr val="C27BA0"/>
                </a:solidFill>
                <a:latin typeface="Verdana"/>
                <a:ea typeface="Verdana"/>
                <a:cs typeface="Verdana"/>
                <a:sym typeface="Verdana"/>
              </a:rPr>
              <a:t>I-2: 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Y → 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 b/c unaffected male</a:t>
            </a:r>
            <a:endParaRPr b="1" sz="1600">
              <a:solidFill>
                <a:srgbClr val="C27BA0"/>
              </a:solidFill>
              <a:latin typeface="Verdana"/>
              <a:ea typeface="Verdana"/>
              <a:cs typeface="Verdana"/>
              <a:sym typeface="Verdana"/>
            </a:endParaRPr>
          </a:p>
        </p:txBody>
      </p:sp>
      <p:sp>
        <p:nvSpPr>
          <p:cNvPr id="1117" name="Google Shape;1117;p93"/>
          <p:cNvSpPr txBox="1"/>
          <p:nvPr/>
        </p:nvSpPr>
        <p:spPr>
          <a:xfrm>
            <a:off x="4041175" y="4220275"/>
            <a:ext cx="3627600" cy="261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600">
              <a:solidFill>
                <a:srgbClr val="C27BA0"/>
              </a:solidFill>
              <a:latin typeface="Verdana"/>
              <a:ea typeface="Verdana"/>
              <a:cs typeface="Verdana"/>
              <a:sym typeface="Verdana"/>
            </a:endParaRPr>
          </a:p>
          <a:p>
            <a:pPr indent="457200" lvl="0" marL="457200" rtl="0" algn="l">
              <a:spcBef>
                <a:spcPts val="0"/>
              </a:spcBef>
              <a:spcAft>
                <a:spcPts val="0"/>
              </a:spcAft>
              <a:buNone/>
            </a:pP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x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Y</a:t>
            </a:r>
            <a:endParaRPr b="1" sz="2100">
              <a:solidFill>
                <a:srgbClr val="C27BA0"/>
              </a:solidFill>
              <a:latin typeface="Verdana"/>
              <a:ea typeface="Verdana"/>
              <a:cs typeface="Verdana"/>
              <a:sym typeface="Verdana"/>
            </a:endParaRPr>
          </a:p>
          <a:p>
            <a:pPr indent="457200" lvl="0" marL="0" rtl="0" algn="l">
              <a:spcBef>
                <a:spcPts val="0"/>
              </a:spcBef>
              <a:spcAft>
                <a:spcPts val="0"/>
              </a:spcAft>
              <a:buNone/>
            </a:pPr>
            <a:r>
              <a:t/>
            </a:r>
            <a:endParaRPr b="1" sz="1500">
              <a:solidFill>
                <a:srgbClr val="C27BA0"/>
              </a:solidFill>
              <a:latin typeface="Verdana"/>
              <a:ea typeface="Verdana"/>
              <a:cs typeface="Verdana"/>
              <a:sym typeface="Verdana"/>
            </a:endParaRPr>
          </a:p>
          <a:p>
            <a:pPr indent="457200" lvl="0" marL="0" rtl="0" algn="l">
              <a:spcBef>
                <a:spcPts val="0"/>
              </a:spcBef>
              <a:spcAft>
                <a:spcPts val="0"/>
              </a:spcAft>
              <a:buNone/>
            </a:pP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sz="2100">
              <a:solidFill>
                <a:srgbClr val="C27BA0"/>
              </a:solidFill>
              <a:latin typeface="Verdana"/>
              <a:ea typeface="Verdana"/>
              <a:cs typeface="Verdana"/>
              <a:sym typeface="Verdana"/>
            </a:endParaRPr>
          </a:p>
          <a:p>
            <a:pPr indent="0" lvl="0" marL="0" rtl="0" algn="l">
              <a:spcBef>
                <a:spcPts val="0"/>
              </a:spcBef>
              <a:spcAft>
                <a:spcPts val="0"/>
              </a:spcAft>
              <a:buNone/>
            </a:pPr>
            <a:r>
              <a:t/>
            </a:r>
            <a:endParaRPr b="1" sz="11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457200" lvl="0" marL="457200" rtl="0" algn="l">
              <a:spcBef>
                <a:spcPts val="0"/>
              </a:spcBef>
              <a:spcAft>
                <a:spcPts val="0"/>
              </a:spcAft>
              <a:buNone/>
            </a:pPr>
            <a:r>
              <a:t/>
            </a:r>
            <a:endParaRPr b="1" baseline="-25000" sz="1600">
              <a:solidFill>
                <a:srgbClr val="C27BA0"/>
              </a:solidFill>
              <a:latin typeface="Verdana"/>
              <a:ea typeface="Verdana"/>
              <a:cs typeface="Verdana"/>
              <a:sym typeface="Verdana"/>
            </a:endParaRPr>
          </a:p>
          <a:p>
            <a:pPr indent="457200" lvl="0" marL="0" rtl="0" algn="l">
              <a:spcBef>
                <a:spcPts val="0"/>
              </a:spcBef>
              <a:spcAft>
                <a:spcPts val="0"/>
              </a:spcAft>
              <a:buNone/>
            </a:pPr>
            <a:r>
              <a:rPr b="1" lang="en-CA" sz="16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2100">
                <a:solidFill>
                  <a:srgbClr val="C27BA0"/>
                </a:solidFill>
                <a:latin typeface="Verdana"/>
                <a:ea typeface="Verdana"/>
                <a:cs typeface="Verdana"/>
                <a:sym typeface="Verdana"/>
              </a:rPr>
              <a:t>     </a:t>
            </a:r>
            <a:r>
              <a:rPr b="1" lang="en-CA" sz="1600">
                <a:solidFill>
                  <a:srgbClr val="C27BA0"/>
                </a:solidFill>
                <a:latin typeface="Verdana"/>
                <a:ea typeface="Verdana"/>
                <a:cs typeface="Verdana"/>
                <a:sym typeface="Verdana"/>
              </a:rPr>
              <a:t>X</a:t>
            </a:r>
            <a:r>
              <a:rPr b="1" baseline="30000" lang="en-CA" sz="1600">
                <a:solidFill>
                  <a:srgbClr val="C27BA0"/>
                </a:solidFill>
                <a:latin typeface="Verdana"/>
                <a:ea typeface="Verdana"/>
                <a:cs typeface="Verdana"/>
                <a:sym typeface="Verdana"/>
              </a:rPr>
              <a:t>d</a:t>
            </a:r>
            <a:r>
              <a:rPr b="1" lang="en-CA" sz="1600">
                <a:solidFill>
                  <a:srgbClr val="C27BA0"/>
                </a:solidFill>
                <a:latin typeface="Verdana"/>
                <a:ea typeface="Verdana"/>
                <a:cs typeface="Verdana"/>
                <a:sym typeface="Verdana"/>
              </a:rPr>
              <a:t>Y</a:t>
            </a:r>
            <a:r>
              <a:rPr b="1" baseline="-25000" lang="en-CA" sz="1600">
                <a:solidFill>
                  <a:srgbClr val="C27BA0"/>
                </a:solidFill>
                <a:latin typeface="Verdana"/>
                <a:ea typeface="Verdana"/>
                <a:cs typeface="Verdana"/>
                <a:sym typeface="Verdana"/>
              </a:rPr>
              <a:t> </a:t>
            </a:r>
            <a:endParaRPr b="1" baseline="-25000" sz="1600">
              <a:solidFill>
                <a:srgbClr val="C27BA0"/>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a:p>
            <a:pPr indent="0" lvl="0" marL="0" rtl="0" algn="l">
              <a:spcBef>
                <a:spcPts val="0"/>
              </a:spcBef>
              <a:spcAft>
                <a:spcPts val="0"/>
              </a:spcAft>
              <a:buNone/>
            </a:pPr>
            <a:r>
              <a:t/>
            </a:r>
            <a:endParaRPr sz="800">
              <a:solidFill>
                <a:srgbClr val="A64D79"/>
              </a:solidFill>
              <a:latin typeface="Verdana"/>
              <a:ea typeface="Verdana"/>
              <a:cs typeface="Verdana"/>
              <a:sym typeface="Verdana"/>
            </a:endParaRPr>
          </a:p>
        </p:txBody>
      </p:sp>
      <p:grpSp>
        <p:nvGrpSpPr>
          <p:cNvPr id="1118" name="Google Shape;1118;p93"/>
          <p:cNvGrpSpPr/>
          <p:nvPr/>
        </p:nvGrpSpPr>
        <p:grpSpPr>
          <a:xfrm>
            <a:off x="4696625" y="5076825"/>
            <a:ext cx="2167500" cy="1542300"/>
            <a:chOff x="961150" y="4778025"/>
            <a:chExt cx="2167500" cy="1542300"/>
          </a:xfrm>
        </p:grpSpPr>
        <p:cxnSp>
          <p:nvCxnSpPr>
            <p:cNvPr id="1119" name="Google Shape;1119;p93"/>
            <p:cNvCxnSpPr/>
            <p:nvPr/>
          </p:nvCxnSpPr>
          <p:spPr>
            <a:xfrm>
              <a:off x="961150" y="5127925"/>
              <a:ext cx="2167500" cy="9600"/>
            </a:xfrm>
            <a:prstGeom prst="straightConnector1">
              <a:avLst/>
            </a:prstGeom>
            <a:noFill/>
            <a:ln cap="flat" cmpd="sng" w="9525">
              <a:solidFill>
                <a:schemeClr val="dk2"/>
              </a:solidFill>
              <a:prstDash val="solid"/>
              <a:round/>
              <a:headEnd len="med" w="med" type="none"/>
              <a:tailEnd len="med" w="med" type="none"/>
            </a:ln>
          </p:spPr>
        </p:cxnSp>
        <p:cxnSp>
          <p:nvCxnSpPr>
            <p:cNvPr id="1120" name="Google Shape;1120;p93"/>
            <p:cNvCxnSpPr/>
            <p:nvPr/>
          </p:nvCxnSpPr>
          <p:spPr>
            <a:xfrm flipH="1">
              <a:off x="1463550" y="4778025"/>
              <a:ext cx="3000" cy="1542300"/>
            </a:xfrm>
            <a:prstGeom prst="straightConnector1">
              <a:avLst/>
            </a:prstGeom>
            <a:noFill/>
            <a:ln cap="flat" cmpd="sng" w="9525">
              <a:solidFill>
                <a:schemeClr val="dk2"/>
              </a:solidFill>
              <a:prstDash val="solid"/>
              <a:round/>
              <a:headEnd len="med" w="med" type="none"/>
              <a:tailEnd len="med" w="med" type="none"/>
            </a:ln>
          </p:spPr>
        </p:cxnSp>
      </p:grpSp>
      <p:sp>
        <p:nvSpPr>
          <p:cNvPr id="1121" name="Google Shape;1121;p93"/>
          <p:cNvSpPr txBox="1"/>
          <p:nvPr/>
        </p:nvSpPr>
        <p:spPr>
          <a:xfrm>
            <a:off x="4277150" y="3336263"/>
            <a:ext cx="42966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600">
                <a:solidFill>
                  <a:srgbClr val="C27BA0"/>
                </a:solidFill>
                <a:latin typeface="Verdana"/>
                <a:ea typeface="Verdana"/>
                <a:cs typeface="Verdana"/>
                <a:sym typeface="Verdana"/>
              </a:rPr>
              <a:t>2/2 = 1 (100 % →dads affected with an X-linked dominant condition will pass it on to all their daughters)</a:t>
            </a:r>
            <a:endParaRPr b="1" sz="1600">
              <a:solidFill>
                <a:srgbClr val="C27BA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94"/>
          <p:cNvSpPr txBox="1"/>
          <p:nvPr/>
        </p:nvSpPr>
        <p:spPr>
          <a:xfrm>
            <a:off x="1183432" y="9849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 PREDICTING </a:t>
            </a:r>
            <a:r>
              <a:rPr b="1" lang="en-CA" sz="2400">
                <a:solidFill>
                  <a:srgbClr val="393B3F"/>
                </a:solidFill>
                <a:latin typeface="Verdana"/>
                <a:ea typeface="Verdana"/>
                <a:cs typeface="Verdana"/>
                <a:sym typeface="Verdana"/>
              </a:rPr>
              <a:t>MODE OF INHERITANCE</a:t>
            </a:r>
            <a:endParaRPr/>
          </a:p>
        </p:txBody>
      </p:sp>
      <p:sp>
        <p:nvSpPr>
          <p:cNvPr id="1128" name="Google Shape;1128;p94"/>
          <p:cNvSpPr txBox="1"/>
          <p:nvPr/>
        </p:nvSpPr>
        <p:spPr>
          <a:xfrm>
            <a:off x="4622500" y="3114375"/>
            <a:ext cx="3872400" cy="2959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CA" sz="1800" u="none" cap="none" strike="noStrike">
                <a:solidFill>
                  <a:srgbClr val="393B3F"/>
                </a:solidFill>
                <a:latin typeface="Verdana"/>
                <a:ea typeface="Verdana"/>
                <a:cs typeface="Verdana"/>
                <a:sym typeface="Verdana"/>
              </a:rPr>
              <a:t>CLUES:</a:t>
            </a:r>
            <a:endParaRPr/>
          </a:p>
          <a:p>
            <a:pPr indent="-330200" lvl="0" marL="457200" marR="0" rtl="0" algn="l">
              <a:lnSpc>
                <a:spcPct val="100000"/>
              </a:lnSpc>
              <a:spcBef>
                <a:spcPts val="1000"/>
              </a:spcBef>
              <a:spcAft>
                <a:spcPts val="0"/>
              </a:spcAft>
              <a:buClr>
                <a:srgbClr val="393B3F"/>
              </a:buClr>
              <a:buSzPts val="1600"/>
              <a:buFont typeface="Verdana"/>
              <a:buChar char="●"/>
            </a:pPr>
            <a:r>
              <a:rPr b="0" i="0" lang="en-CA" sz="1600" u="none" cap="none" strike="noStrike">
                <a:solidFill>
                  <a:srgbClr val="393B3F"/>
                </a:solidFill>
                <a:latin typeface="Verdana"/>
                <a:ea typeface="Verdana"/>
                <a:cs typeface="Verdana"/>
                <a:sym typeface="Verdana"/>
              </a:rPr>
              <a:t>both males and females are equally affected </a:t>
            </a:r>
            <a:r>
              <a:rPr lang="en-CA" sz="1600">
                <a:solidFill>
                  <a:srgbClr val="393B3F"/>
                </a:solidFill>
                <a:latin typeface="Verdana"/>
                <a:ea typeface="Verdana"/>
                <a:cs typeface="Verdana"/>
                <a:sym typeface="Verdana"/>
              </a:rPr>
              <a:t>→ not likely to be sex-linked</a:t>
            </a:r>
            <a:endParaRPr sz="1600"/>
          </a:p>
          <a:p>
            <a:pPr indent="-330200" lvl="0" marL="457200" marR="0" rtl="0" algn="l">
              <a:lnSpc>
                <a:spcPct val="100000"/>
              </a:lnSpc>
              <a:spcBef>
                <a:spcPts val="1000"/>
              </a:spcBef>
              <a:spcAft>
                <a:spcPts val="0"/>
              </a:spcAft>
              <a:buClr>
                <a:srgbClr val="393B3F"/>
              </a:buClr>
              <a:buSzPts val="1600"/>
              <a:buFont typeface="Verdana"/>
              <a:buChar char="●"/>
            </a:pPr>
            <a:r>
              <a:rPr b="0" i="0" lang="en-CA" sz="1600" u="none" cap="none" strike="noStrike">
                <a:solidFill>
                  <a:srgbClr val="393B3F"/>
                </a:solidFill>
                <a:latin typeface="Verdana"/>
                <a:ea typeface="Verdana"/>
                <a:cs typeface="Verdana"/>
                <a:sym typeface="Verdana"/>
              </a:rPr>
              <a:t>trait appears in all generations</a:t>
            </a:r>
            <a:endParaRPr sz="1600"/>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affected children cannot be born to unaffected parents</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affected parents can produce an unaffected child</a:t>
            </a:r>
            <a:endParaRPr sz="1600">
              <a:solidFill>
                <a:srgbClr val="393B3F"/>
              </a:solidFill>
              <a:latin typeface="Verdana"/>
              <a:ea typeface="Verdana"/>
              <a:cs typeface="Verdana"/>
              <a:sym typeface="Verdana"/>
            </a:endParaRPr>
          </a:p>
        </p:txBody>
      </p:sp>
      <p:sp>
        <p:nvSpPr>
          <p:cNvPr id="1129" name="Google Shape;1129;p94"/>
          <p:cNvSpPr txBox="1"/>
          <p:nvPr/>
        </p:nvSpPr>
        <p:spPr>
          <a:xfrm>
            <a:off x="1558938" y="3036925"/>
            <a:ext cx="22812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#1</a:t>
            </a:r>
            <a:endParaRPr/>
          </a:p>
        </p:txBody>
      </p:sp>
      <p:sp>
        <p:nvSpPr>
          <p:cNvPr id="1130" name="Google Shape;1130;p94"/>
          <p:cNvSpPr txBox="1"/>
          <p:nvPr/>
        </p:nvSpPr>
        <p:spPr>
          <a:xfrm>
            <a:off x="971600" y="19461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Pedigrees can </a:t>
            </a:r>
            <a:r>
              <a:rPr lang="en-CA" sz="2000">
                <a:solidFill>
                  <a:srgbClr val="393B3F"/>
                </a:solidFill>
                <a:latin typeface="Verdana"/>
                <a:ea typeface="Verdana"/>
                <a:cs typeface="Verdana"/>
                <a:sym typeface="Verdana"/>
              </a:rPr>
              <a:t>also be used to determine the mode of inheritance for a particular trait. </a:t>
            </a:r>
            <a:endParaRPr/>
          </a:p>
        </p:txBody>
      </p:sp>
      <p:sp>
        <p:nvSpPr>
          <p:cNvPr id="1131" name="Google Shape;1131;p94"/>
          <p:cNvSpPr txBox="1"/>
          <p:nvPr/>
        </p:nvSpPr>
        <p:spPr>
          <a:xfrm>
            <a:off x="4667900" y="5419200"/>
            <a:ext cx="3951300" cy="12261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highlight>
                <a:schemeClr val="accent2"/>
              </a:highlight>
              <a:latin typeface="Verdana"/>
              <a:ea typeface="Verdana"/>
              <a:cs typeface="Verdana"/>
              <a:sym typeface="Verdana"/>
            </a:endParaRPr>
          </a:p>
          <a:p>
            <a:pPr indent="0" lvl="0" marL="0" rtl="0" algn="l">
              <a:spcBef>
                <a:spcPts val="0"/>
              </a:spcBef>
              <a:spcAft>
                <a:spcPts val="0"/>
              </a:spcAft>
              <a:buNone/>
            </a:pPr>
            <a:r>
              <a:t/>
            </a:r>
            <a:endParaRPr sz="1200">
              <a:solidFill>
                <a:schemeClr val="dk1"/>
              </a:solidFill>
              <a:highlight>
                <a:schemeClr val="accent2"/>
              </a:highlight>
              <a:latin typeface="Verdana"/>
              <a:ea typeface="Verdana"/>
              <a:cs typeface="Verdana"/>
              <a:sym typeface="Verdana"/>
            </a:endParaRPr>
          </a:p>
          <a:p>
            <a:pPr indent="0" lvl="0" marL="0" rtl="0" algn="ctr">
              <a:spcBef>
                <a:spcPts val="0"/>
              </a:spcBef>
              <a:spcAft>
                <a:spcPts val="0"/>
              </a:spcAft>
              <a:buNone/>
            </a:pPr>
            <a:r>
              <a:rPr lang="en-CA" sz="1800" u="sng">
                <a:solidFill>
                  <a:schemeClr val="dk1"/>
                </a:solidFill>
                <a:highlight>
                  <a:schemeClr val="accent2"/>
                </a:highlight>
                <a:latin typeface="Verdana"/>
                <a:ea typeface="Verdana"/>
                <a:cs typeface="Verdana"/>
                <a:sym typeface="Verdana"/>
              </a:rPr>
              <a:t>Definitive</a:t>
            </a:r>
            <a:r>
              <a:rPr lang="en-CA" sz="1800">
                <a:solidFill>
                  <a:schemeClr val="dk1"/>
                </a:solidFill>
                <a:highlight>
                  <a:schemeClr val="accent2"/>
                </a:highlight>
                <a:latin typeface="Verdana"/>
                <a:ea typeface="Verdana"/>
                <a:cs typeface="Verdana"/>
                <a:sym typeface="Verdana"/>
              </a:rPr>
              <a:t> clue </a:t>
            </a:r>
            <a:r>
              <a:rPr lang="en-CA" sz="1800">
                <a:solidFill>
                  <a:schemeClr val="dk1"/>
                </a:solidFill>
                <a:highlight>
                  <a:schemeClr val="accent2"/>
                </a:highlight>
                <a:latin typeface="Verdana"/>
                <a:ea typeface="Verdana"/>
                <a:cs typeface="Verdana"/>
                <a:sym typeface="Verdana"/>
              </a:rPr>
              <a:t>that it is a dominant trait.</a:t>
            </a:r>
            <a:endParaRPr sz="1800">
              <a:solidFill>
                <a:schemeClr val="dk1"/>
              </a:solidFill>
              <a:highlight>
                <a:schemeClr val="accent2"/>
              </a:highlight>
              <a:latin typeface="Verdana"/>
              <a:ea typeface="Verdana"/>
              <a:cs typeface="Verdana"/>
              <a:sym typeface="Verdana"/>
            </a:endParaRPr>
          </a:p>
        </p:txBody>
      </p:sp>
      <p:pic>
        <p:nvPicPr>
          <p:cNvPr id="1132" name="Google Shape;1132;p94"/>
          <p:cNvPicPr preferRelativeResize="0"/>
          <p:nvPr/>
        </p:nvPicPr>
        <p:blipFill>
          <a:blip r:embed="rId3">
            <a:alphaModFix/>
          </a:blip>
          <a:stretch>
            <a:fillRect/>
          </a:stretch>
        </p:blipFill>
        <p:spPr>
          <a:xfrm>
            <a:off x="824575" y="3663000"/>
            <a:ext cx="3234775" cy="2839575"/>
          </a:xfrm>
          <a:prstGeom prst="rect">
            <a:avLst/>
          </a:prstGeom>
          <a:noFill/>
          <a:ln>
            <a:noFill/>
          </a:ln>
        </p:spPr>
      </p:pic>
      <p:sp>
        <p:nvSpPr>
          <p:cNvPr id="1133" name="Google Shape;1133;p94"/>
          <p:cNvSpPr txBox="1"/>
          <p:nvPr/>
        </p:nvSpPr>
        <p:spPr>
          <a:xfrm>
            <a:off x="3187300" y="4265600"/>
            <a:ext cx="1162800" cy="13263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95"/>
          <p:cNvSpPr txBox="1"/>
          <p:nvPr/>
        </p:nvSpPr>
        <p:spPr>
          <a:xfrm>
            <a:off x="1183432" y="11373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40" name="Google Shape;1140;p95"/>
          <p:cNvSpPr txBox="1"/>
          <p:nvPr/>
        </p:nvSpPr>
        <p:spPr>
          <a:xfrm>
            <a:off x="895400" y="16413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41" name="Google Shape;1141;p95"/>
          <p:cNvSpPr txBox="1"/>
          <p:nvPr/>
        </p:nvSpPr>
        <p:spPr>
          <a:xfrm>
            <a:off x="1943500" y="2233575"/>
            <a:ext cx="53751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#1 = Autosomal Dominant</a:t>
            </a:r>
            <a:endParaRPr/>
          </a:p>
        </p:txBody>
      </p:sp>
      <p:pic>
        <p:nvPicPr>
          <p:cNvPr id="1142" name="Google Shape;1142;p95"/>
          <p:cNvPicPr preferRelativeResize="0"/>
          <p:nvPr/>
        </p:nvPicPr>
        <p:blipFill>
          <a:blip r:embed="rId3">
            <a:alphaModFix/>
          </a:blip>
          <a:stretch>
            <a:fillRect/>
          </a:stretch>
        </p:blipFill>
        <p:spPr>
          <a:xfrm>
            <a:off x="2690125" y="2884925"/>
            <a:ext cx="3611450" cy="33826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96"/>
          <p:cNvSpPr txBox="1"/>
          <p:nvPr/>
        </p:nvSpPr>
        <p:spPr>
          <a:xfrm>
            <a:off x="1183432" y="10611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49" name="Google Shape;1149;p96"/>
          <p:cNvSpPr txBox="1"/>
          <p:nvPr/>
        </p:nvSpPr>
        <p:spPr>
          <a:xfrm>
            <a:off x="895400" y="1488975"/>
            <a:ext cx="7200900" cy="10157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50" name="Google Shape;1150;p96"/>
          <p:cNvSpPr txBox="1"/>
          <p:nvPr/>
        </p:nvSpPr>
        <p:spPr>
          <a:xfrm>
            <a:off x="4913550" y="2711600"/>
            <a:ext cx="3814800" cy="337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CA" sz="1800" u="none" cap="none" strike="noStrike">
                <a:solidFill>
                  <a:srgbClr val="393B3F"/>
                </a:solidFill>
                <a:latin typeface="Verdana"/>
                <a:ea typeface="Verdana"/>
                <a:cs typeface="Verdana"/>
                <a:sym typeface="Verdana"/>
              </a:rPr>
              <a:t>CLUES:</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both males and females are equally affected </a:t>
            </a:r>
            <a:r>
              <a:rPr lang="en-CA" sz="1800">
                <a:solidFill>
                  <a:srgbClr val="393B3F"/>
                </a:solidFill>
                <a:latin typeface="Verdana"/>
                <a:ea typeface="Verdana"/>
                <a:cs typeface="Verdana"/>
                <a:sym typeface="Verdana"/>
              </a:rPr>
              <a:t>→ not likely to be sex-linked</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trait tends to skip generations</a:t>
            </a:r>
            <a:endParaRPr/>
          </a:p>
          <a:p>
            <a:pPr indent="-342900" lvl="0" marL="457200" marR="0" rtl="0" algn="l">
              <a:lnSpc>
                <a:spcPct val="100000"/>
              </a:lnSpc>
              <a:spcBef>
                <a:spcPts val="100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unaffected parents may produce affected offspring</a:t>
            </a:r>
            <a:endParaRPr/>
          </a:p>
        </p:txBody>
      </p:sp>
      <p:sp>
        <p:nvSpPr>
          <p:cNvPr id="1151" name="Google Shape;1151;p96"/>
          <p:cNvSpPr txBox="1"/>
          <p:nvPr/>
        </p:nvSpPr>
        <p:spPr>
          <a:xfrm>
            <a:off x="1511325" y="2062000"/>
            <a:ext cx="22812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#2</a:t>
            </a:r>
            <a:endParaRPr/>
          </a:p>
        </p:txBody>
      </p:sp>
      <p:pic>
        <p:nvPicPr>
          <p:cNvPr id="1152" name="Google Shape;1152;p96"/>
          <p:cNvPicPr preferRelativeResize="0"/>
          <p:nvPr/>
        </p:nvPicPr>
        <p:blipFill rotWithShape="1">
          <a:blip r:embed="rId3">
            <a:alphaModFix/>
          </a:blip>
          <a:srcRect b="0" l="0" r="0" t="0"/>
          <a:stretch/>
        </p:blipFill>
        <p:spPr>
          <a:xfrm>
            <a:off x="1696675" y="2875599"/>
            <a:ext cx="2208599" cy="2414049"/>
          </a:xfrm>
          <a:prstGeom prst="rect">
            <a:avLst/>
          </a:prstGeom>
          <a:noFill/>
          <a:ln>
            <a:noFill/>
          </a:ln>
        </p:spPr>
      </p:pic>
      <p:pic>
        <p:nvPicPr>
          <p:cNvPr id="1153" name="Google Shape;1153;p96"/>
          <p:cNvPicPr preferRelativeResize="0"/>
          <p:nvPr/>
        </p:nvPicPr>
        <p:blipFill rotWithShape="1">
          <a:blip r:embed="rId4">
            <a:alphaModFix/>
          </a:blip>
          <a:srcRect b="0" l="33984" r="29665" t="73471"/>
          <a:stretch/>
        </p:blipFill>
        <p:spPr>
          <a:xfrm>
            <a:off x="2117300" y="5489149"/>
            <a:ext cx="1497074" cy="607775"/>
          </a:xfrm>
          <a:prstGeom prst="rect">
            <a:avLst/>
          </a:prstGeom>
          <a:noFill/>
          <a:ln>
            <a:noFill/>
          </a:ln>
        </p:spPr>
      </p:pic>
      <p:sp>
        <p:nvSpPr>
          <p:cNvPr id="1154" name="Google Shape;1154;p96"/>
          <p:cNvSpPr/>
          <p:nvPr/>
        </p:nvSpPr>
        <p:spPr>
          <a:xfrm>
            <a:off x="1055075" y="2723250"/>
            <a:ext cx="3407700" cy="337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96"/>
          <p:cNvSpPr txBox="1"/>
          <p:nvPr/>
        </p:nvSpPr>
        <p:spPr>
          <a:xfrm>
            <a:off x="4777050" y="4765200"/>
            <a:ext cx="3951300" cy="12261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dk1"/>
              </a:solidFill>
              <a:highlight>
                <a:schemeClr val="accent2"/>
              </a:highlight>
              <a:latin typeface="Verdana"/>
              <a:ea typeface="Verdana"/>
              <a:cs typeface="Verdana"/>
              <a:sym typeface="Verdana"/>
            </a:endParaRPr>
          </a:p>
          <a:p>
            <a:pPr indent="0" lvl="0" marL="0" rtl="0" algn="l">
              <a:spcBef>
                <a:spcPts val="0"/>
              </a:spcBef>
              <a:spcAft>
                <a:spcPts val="0"/>
              </a:spcAft>
              <a:buNone/>
            </a:pPr>
            <a:r>
              <a:t/>
            </a:r>
            <a:endParaRPr sz="1200">
              <a:solidFill>
                <a:schemeClr val="dk1"/>
              </a:solidFill>
              <a:highlight>
                <a:schemeClr val="accent2"/>
              </a:highlight>
              <a:latin typeface="Verdana"/>
              <a:ea typeface="Verdana"/>
              <a:cs typeface="Verdana"/>
              <a:sym typeface="Verdana"/>
            </a:endParaRPr>
          </a:p>
          <a:p>
            <a:pPr indent="0" lvl="0" marL="0" rtl="0" algn="ctr">
              <a:spcBef>
                <a:spcPts val="0"/>
              </a:spcBef>
              <a:spcAft>
                <a:spcPts val="0"/>
              </a:spcAft>
              <a:buNone/>
            </a:pPr>
            <a:r>
              <a:rPr lang="en-CA" sz="1800" u="sng">
                <a:solidFill>
                  <a:schemeClr val="dk1"/>
                </a:solidFill>
                <a:highlight>
                  <a:schemeClr val="accent2"/>
                </a:highlight>
                <a:latin typeface="Verdana"/>
                <a:ea typeface="Verdana"/>
                <a:cs typeface="Verdana"/>
                <a:sym typeface="Verdana"/>
              </a:rPr>
              <a:t>Definitive</a:t>
            </a:r>
            <a:r>
              <a:rPr lang="en-CA" sz="1800">
                <a:solidFill>
                  <a:schemeClr val="dk1"/>
                </a:solidFill>
                <a:highlight>
                  <a:schemeClr val="accent2"/>
                </a:highlight>
                <a:latin typeface="Verdana"/>
                <a:ea typeface="Verdana"/>
                <a:cs typeface="Verdana"/>
                <a:sym typeface="Verdana"/>
              </a:rPr>
              <a:t> clue that it is a recessive trait.</a:t>
            </a:r>
            <a:endParaRPr sz="1800">
              <a:solidFill>
                <a:schemeClr val="dk1"/>
              </a:solidFill>
              <a:highlight>
                <a:schemeClr val="accent2"/>
              </a:highlight>
              <a:latin typeface="Verdana"/>
              <a:ea typeface="Verdana"/>
              <a:cs typeface="Verdana"/>
              <a:sym typeface="Verdana"/>
            </a:endParaRPr>
          </a:p>
        </p:txBody>
      </p:sp>
      <p:sp>
        <p:nvSpPr>
          <p:cNvPr id="1156" name="Google Shape;1156;p96"/>
          <p:cNvSpPr txBox="1"/>
          <p:nvPr/>
        </p:nvSpPr>
        <p:spPr>
          <a:xfrm>
            <a:off x="1634050" y="4220175"/>
            <a:ext cx="1743900" cy="1326300"/>
          </a:xfrm>
          <a:prstGeom prst="rect">
            <a:avLst/>
          </a:prstGeom>
          <a:noFill/>
          <a:ln cap="flat" cmpd="sng" w="381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97"/>
          <p:cNvSpPr txBox="1"/>
          <p:nvPr/>
        </p:nvSpPr>
        <p:spPr>
          <a:xfrm>
            <a:off x="1183432" y="11373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63" name="Google Shape;1163;p97"/>
          <p:cNvSpPr txBox="1"/>
          <p:nvPr/>
        </p:nvSpPr>
        <p:spPr>
          <a:xfrm>
            <a:off x="895400" y="16413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64" name="Google Shape;1164;p97"/>
          <p:cNvSpPr txBox="1"/>
          <p:nvPr/>
        </p:nvSpPr>
        <p:spPr>
          <a:xfrm>
            <a:off x="1943500" y="2233575"/>
            <a:ext cx="53751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#2 = Autosomal Recessive</a:t>
            </a:r>
            <a:endParaRPr/>
          </a:p>
        </p:txBody>
      </p:sp>
      <p:pic>
        <p:nvPicPr>
          <p:cNvPr id="1165" name="Google Shape;1165;p97"/>
          <p:cNvPicPr preferRelativeResize="0"/>
          <p:nvPr/>
        </p:nvPicPr>
        <p:blipFill rotWithShape="1">
          <a:blip r:embed="rId3">
            <a:alphaModFix/>
          </a:blip>
          <a:srcRect b="0" l="0" r="0" t="0"/>
          <a:stretch/>
        </p:blipFill>
        <p:spPr>
          <a:xfrm>
            <a:off x="3531348" y="2962048"/>
            <a:ext cx="3452749" cy="3159325"/>
          </a:xfrm>
          <a:prstGeom prst="rect">
            <a:avLst/>
          </a:prstGeom>
          <a:noFill/>
          <a:ln>
            <a:noFill/>
          </a:ln>
        </p:spPr>
      </p:pic>
      <p:pic>
        <p:nvPicPr>
          <p:cNvPr id="1166" name="Google Shape;1166;p97"/>
          <p:cNvPicPr preferRelativeResize="0"/>
          <p:nvPr/>
        </p:nvPicPr>
        <p:blipFill rotWithShape="1">
          <a:blip r:embed="rId4">
            <a:alphaModFix/>
          </a:blip>
          <a:srcRect b="0" l="0" r="0" t="0"/>
          <a:stretch/>
        </p:blipFill>
        <p:spPr>
          <a:xfrm>
            <a:off x="2016718" y="3992168"/>
            <a:ext cx="2061650" cy="1217674"/>
          </a:xfrm>
          <a:prstGeom prst="rect">
            <a:avLst/>
          </a:prstGeom>
          <a:noFill/>
          <a:ln>
            <a:noFill/>
          </a:ln>
        </p:spPr>
      </p:pic>
      <p:sp>
        <p:nvSpPr>
          <p:cNvPr id="1167" name="Google Shape;1167;p97"/>
          <p:cNvSpPr/>
          <p:nvPr/>
        </p:nvSpPr>
        <p:spPr>
          <a:xfrm>
            <a:off x="1625400" y="2994125"/>
            <a:ext cx="6002400" cy="303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98"/>
          <p:cNvSpPr txBox="1"/>
          <p:nvPr/>
        </p:nvSpPr>
        <p:spPr>
          <a:xfrm>
            <a:off x="1183432" y="10611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74" name="Google Shape;1174;p98"/>
          <p:cNvSpPr txBox="1"/>
          <p:nvPr/>
        </p:nvSpPr>
        <p:spPr>
          <a:xfrm>
            <a:off x="895400" y="1488975"/>
            <a:ext cx="7200900" cy="10157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75" name="Google Shape;1175;p98"/>
          <p:cNvSpPr txBox="1"/>
          <p:nvPr/>
        </p:nvSpPr>
        <p:spPr>
          <a:xfrm>
            <a:off x="5154775" y="2590975"/>
            <a:ext cx="3428100" cy="205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CA" sz="1800" u="none" cap="none" strike="noStrike">
                <a:solidFill>
                  <a:srgbClr val="393B3F"/>
                </a:solidFill>
                <a:latin typeface="Verdana"/>
                <a:ea typeface="Verdana"/>
                <a:cs typeface="Verdana"/>
                <a:sym typeface="Verdana"/>
              </a:rPr>
              <a:t>CLUES:</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only males affected </a:t>
            </a:r>
            <a:r>
              <a:rPr lang="en-CA" sz="1800">
                <a:solidFill>
                  <a:srgbClr val="393B3F"/>
                </a:solidFill>
                <a:latin typeface="Verdana"/>
                <a:ea typeface="Verdana"/>
                <a:cs typeface="Verdana"/>
                <a:sym typeface="Verdana"/>
              </a:rPr>
              <a:t>→ likely sex-linked</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no transmission of trait from father to son </a:t>
            </a:r>
            <a:r>
              <a:rPr lang="en-CA" sz="1800">
                <a:solidFill>
                  <a:srgbClr val="393B3F"/>
                </a:solidFill>
                <a:latin typeface="Verdana"/>
                <a:ea typeface="Verdana"/>
                <a:cs typeface="Verdana"/>
                <a:sym typeface="Verdana"/>
              </a:rPr>
              <a:t>→ not Y-linked, so likely X-linked at this point</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trait skips generations</a:t>
            </a:r>
            <a:endParaRPr b="0" i="0" sz="1800" u="none" cap="none" strike="noStrike">
              <a:solidFill>
                <a:srgbClr val="393B3F"/>
              </a:solidFill>
              <a:latin typeface="Verdana"/>
              <a:ea typeface="Verdana"/>
              <a:cs typeface="Verdana"/>
              <a:sym typeface="Verdana"/>
            </a:endParaRPr>
          </a:p>
          <a:p>
            <a:pPr indent="-342900" lvl="0" marL="457200" marR="0" rtl="0" algn="l">
              <a:lnSpc>
                <a:spcPct val="100000"/>
              </a:lnSpc>
              <a:spcBef>
                <a:spcPts val="100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Unaffected</a:t>
            </a:r>
            <a:r>
              <a:rPr lang="en-CA" sz="1800">
                <a:solidFill>
                  <a:srgbClr val="393B3F"/>
                </a:solidFill>
                <a:latin typeface="Verdana"/>
                <a:ea typeface="Verdana"/>
                <a:cs typeface="Verdana"/>
                <a:sym typeface="Verdana"/>
              </a:rPr>
              <a:t> parents produce affected </a:t>
            </a:r>
            <a:r>
              <a:rPr lang="en-CA" sz="1800">
                <a:solidFill>
                  <a:srgbClr val="393B3F"/>
                </a:solidFill>
                <a:latin typeface="Verdana"/>
                <a:ea typeface="Verdana"/>
                <a:cs typeface="Verdana"/>
                <a:sym typeface="Verdana"/>
              </a:rPr>
              <a:t>offspring</a:t>
            </a:r>
            <a:r>
              <a:rPr b="0" i="0" lang="en-CA" sz="1800" u="none" cap="none" strike="noStrike">
                <a:solidFill>
                  <a:srgbClr val="393B3F"/>
                </a:solidFill>
                <a:latin typeface="Verdana"/>
                <a:ea typeface="Verdana"/>
                <a:cs typeface="Verdana"/>
                <a:sym typeface="Verdana"/>
              </a:rPr>
              <a:t> </a:t>
            </a:r>
            <a:r>
              <a:rPr lang="en-CA" sz="1800">
                <a:solidFill>
                  <a:srgbClr val="393B3F"/>
                </a:solidFill>
                <a:latin typeface="Verdana"/>
                <a:ea typeface="Verdana"/>
                <a:cs typeface="Verdana"/>
                <a:sym typeface="Verdana"/>
              </a:rPr>
              <a:t>→ recessive</a:t>
            </a:r>
            <a:endParaRPr/>
          </a:p>
        </p:txBody>
      </p:sp>
      <p:sp>
        <p:nvSpPr>
          <p:cNvPr id="1176" name="Google Shape;1176;p98"/>
          <p:cNvSpPr txBox="1"/>
          <p:nvPr/>
        </p:nvSpPr>
        <p:spPr>
          <a:xfrm>
            <a:off x="1511325" y="2062000"/>
            <a:ext cx="22812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#3</a:t>
            </a:r>
            <a:endParaRPr/>
          </a:p>
        </p:txBody>
      </p:sp>
      <p:pic>
        <p:nvPicPr>
          <p:cNvPr id="1177" name="Google Shape;1177;p98"/>
          <p:cNvPicPr preferRelativeResize="0"/>
          <p:nvPr/>
        </p:nvPicPr>
        <p:blipFill rotWithShape="1">
          <a:blip r:embed="rId3">
            <a:alphaModFix/>
          </a:blip>
          <a:srcRect b="0" l="0" r="0" t="10362"/>
          <a:stretch/>
        </p:blipFill>
        <p:spPr>
          <a:xfrm>
            <a:off x="902725" y="2979875"/>
            <a:ext cx="3763862" cy="2315625"/>
          </a:xfrm>
          <a:prstGeom prst="rect">
            <a:avLst/>
          </a:prstGeom>
          <a:noFill/>
          <a:ln>
            <a:noFill/>
          </a:ln>
        </p:spPr>
      </p:pic>
      <p:pic>
        <p:nvPicPr>
          <p:cNvPr id="1178" name="Google Shape;1178;p98"/>
          <p:cNvPicPr preferRelativeResize="0"/>
          <p:nvPr/>
        </p:nvPicPr>
        <p:blipFill rotWithShape="1">
          <a:blip r:embed="rId4">
            <a:alphaModFix/>
          </a:blip>
          <a:srcRect b="0" l="33984" r="29665" t="73471"/>
          <a:stretch/>
        </p:blipFill>
        <p:spPr>
          <a:xfrm>
            <a:off x="2269700" y="5108149"/>
            <a:ext cx="1497074" cy="607775"/>
          </a:xfrm>
          <a:prstGeom prst="rect">
            <a:avLst/>
          </a:prstGeom>
          <a:noFill/>
          <a:ln>
            <a:noFill/>
          </a:ln>
        </p:spPr>
      </p:pic>
      <p:sp>
        <p:nvSpPr>
          <p:cNvPr id="1179" name="Google Shape;1179;p98"/>
          <p:cNvSpPr/>
          <p:nvPr/>
        </p:nvSpPr>
        <p:spPr>
          <a:xfrm>
            <a:off x="712900" y="2794525"/>
            <a:ext cx="4320000" cy="292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99"/>
          <p:cNvSpPr txBox="1"/>
          <p:nvPr/>
        </p:nvSpPr>
        <p:spPr>
          <a:xfrm>
            <a:off x="1183432" y="11373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86" name="Google Shape;1186;p99"/>
          <p:cNvSpPr txBox="1"/>
          <p:nvPr/>
        </p:nvSpPr>
        <p:spPr>
          <a:xfrm>
            <a:off x="895400" y="16413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87" name="Google Shape;1187;p99"/>
          <p:cNvSpPr txBox="1"/>
          <p:nvPr/>
        </p:nvSpPr>
        <p:spPr>
          <a:xfrm>
            <a:off x="1943500" y="2233575"/>
            <a:ext cx="53751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#3 = X-linked Recessive</a:t>
            </a:r>
            <a:endParaRPr/>
          </a:p>
        </p:txBody>
      </p:sp>
      <p:pic>
        <p:nvPicPr>
          <p:cNvPr id="1188" name="Google Shape;1188;p99"/>
          <p:cNvPicPr preferRelativeResize="0"/>
          <p:nvPr/>
        </p:nvPicPr>
        <p:blipFill rotWithShape="1">
          <a:blip r:embed="rId3">
            <a:alphaModFix/>
          </a:blip>
          <a:srcRect b="0" l="0" r="0" t="0"/>
          <a:stretch/>
        </p:blipFill>
        <p:spPr>
          <a:xfrm>
            <a:off x="681275" y="3028125"/>
            <a:ext cx="4691799" cy="2979325"/>
          </a:xfrm>
          <a:prstGeom prst="rect">
            <a:avLst/>
          </a:prstGeom>
          <a:noFill/>
          <a:ln cap="flat" cmpd="sng" w="9525">
            <a:solidFill>
              <a:srgbClr val="666666"/>
            </a:solidFill>
            <a:prstDash val="solid"/>
            <a:round/>
            <a:headEnd len="sm" w="sm" type="none"/>
            <a:tailEnd len="sm" w="sm" type="none"/>
          </a:ln>
        </p:spPr>
      </p:pic>
      <p:sp>
        <p:nvSpPr>
          <p:cNvPr id="1189" name="Google Shape;1189;p99"/>
          <p:cNvSpPr txBox="1"/>
          <p:nvPr/>
        </p:nvSpPr>
        <p:spPr>
          <a:xfrm>
            <a:off x="5440625" y="3130500"/>
            <a:ext cx="3075600" cy="20505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All affected males must be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Y</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All unaffected males must be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Y</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Unaffected females can be either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 </a:t>
            </a:r>
            <a:r>
              <a:rPr b="0" i="0" lang="en-CA" sz="1800" u="none" cap="none" strike="noStrike">
                <a:solidFill>
                  <a:srgbClr val="393B3F"/>
                </a:solidFill>
                <a:latin typeface="Verdana"/>
                <a:ea typeface="Verdana"/>
                <a:cs typeface="Verdana"/>
                <a:sym typeface="Verdana"/>
              </a:rPr>
              <a:t>or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Affected females must be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00"/>
          <p:cNvSpPr txBox="1"/>
          <p:nvPr/>
        </p:nvSpPr>
        <p:spPr>
          <a:xfrm>
            <a:off x="1183432" y="10611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196" name="Google Shape;1196;p100"/>
          <p:cNvSpPr txBox="1"/>
          <p:nvPr/>
        </p:nvSpPr>
        <p:spPr>
          <a:xfrm>
            <a:off x="895400" y="14889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197" name="Google Shape;1197;p100"/>
          <p:cNvSpPr txBox="1"/>
          <p:nvPr/>
        </p:nvSpPr>
        <p:spPr>
          <a:xfrm>
            <a:off x="4558900" y="2676100"/>
            <a:ext cx="4151100" cy="3096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1800"/>
              <a:buFont typeface="Verdana"/>
              <a:buNone/>
            </a:pPr>
            <a:r>
              <a:rPr b="1" i="0" lang="en-CA" sz="1800" u="none" cap="none" strike="noStrike">
                <a:solidFill>
                  <a:srgbClr val="393B3F"/>
                </a:solidFill>
                <a:latin typeface="Verdana"/>
                <a:ea typeface="Verdana"/>
                <a:cs typeface="Verdana"/>
                <a:sym typeface="Verdana"/>
              </a:rPr>
              <a:t>CLUES:</a:t>
            </a:r>
            <a:endParaRPr/>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Females affected more than males</a:t>
            </a:r>
            <a:endParaRPr sz="1600"/>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trait does not skip generations → likely dominant</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affected sons have an affected mother</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still no father to son transmission</a:t>
            </a:r>
            <a:endParaRPr sz="1600">
              <a:solidFill>
                <a:srgbClr val="393B3F"/>
              </a:solidFill>
              <a:latin typeface="Verdana"/>
              <a:ea typeface="Verdana"/>
              <a:cs typeface="Verdana"/>
              <a:sym typeface="Verdana"/>
            </a:endParaRPr>
          </a:p>
          <a:p>
            <a:pPr indent="-330200" lvl="0" marL="457200" marR="0" rtl="0" algn="l">
              <a:lnSpc>
                <a:spcPct val="100000"/>
              </a:lnSpc>
              <a:spcBef>
                <a:spcPts val="100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All daughters born to an affected father are also affected → huge clue it is x-linked dominant</a:t>
            </a:r>
            <a:endParaRPr sz="16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600">
              <a:solidFill>
                <a:srgbClr val="393B3F"/>
              </a:solidFill>
              <a:latin typeface="Verdana"/>
              <a:ea typeface="Verdana"/>
              <a:cs typeface="Verdana"/>
              <a:sym typeface="Verdana"/>
            </a:endParaRPr>
          </a:p>
        </p:txBody>
      </p:sp>
      <p:sp>
        <p:nvSpPr>
          <p:cNvPr id="1198" name="Google Shape;1198;p100"/>
          <p:cNvSpPr txBox="1"/>
          <p:nvPr/>
        </p:nvSpPr>
        <p:spPr>
          <a:xfrm>
            <a:off x="1511325" y="2062000"/>
            <a:ext cx="22812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a:t>
            </a:r>
            <a:r>
              <a:rPr b="1" lang="en-CA" sz="2400" u="sng">
                <a:latin typeface="Calibri"/>
                <a:ea typeface="Calibri"/>
                <a:cs typeface="Calibri"/>
                <a:sym typeface="Calibri"/>
              </a:rPr>
              <a:t>4</a:t>
            </a:r>
            <a:endParaRPr/>
          </a:p>
        </p:txBody>
      </p:sp>
      <p:pic>
        <p:nvPicPr>
          <p:cNvPr id="1199" name="Google Shape;1199;p100"/>
          <p:cNvPicPr preferRelativeResize="0"/>
          <p:nvPr/>
        </p:nvPicPr>
        <p:blipFill rotWithShape="1">
          <a:blip r:embed="rId3">
            <a:alphaModFix/>
          </a:blip>
          <a:srcRect b="0" l="0" r="0" t="23166"/>
          <a:stretch/>
        </p:blipFill>
        <p:spPr>
          <a:xfrm>
            <a:off x="567075" y="2852050"/>
            <a:ext cx="4029500" cy="30961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01"/>
          <p:cNvSpPr txBox="1"/>
          <p:nvPr/>
        </p:nvSpPr>
        <p:spPr>
          <a:xfrm>
            <a:off x="1183432" y="11373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none" cap="none" strike="noStrike">
                <a:solidFill>
                  <a:srgbClr val="393B3F"/>
                </a:solidFill>
                <a:latin typeface="Verdana"/>
                <a:ea typeface="Verdana"/>
                <a:cs typeface="Verdana"/>
                <a:sym typeface="Verdana"/>
              </a:rPr>
              <a:t>PEDIGREES</a:t>
            </a:r>
            <a:endParaRPr/>
          </a:p>
        </p:txBody>
      </p:sp>
      <p:sp>
        <p:nvSpPr>
          <p:cNvPr id="1206" name="Google Shape;1206;p101"/>
          <p:cNvSpPr txBox="1"/>
          <p:nvPr/>
        </p:nvSpPr>
        <p:spPr>
          <a:xfrm>
            <a:off x="895400" y="1641375"/>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Predicting mode of inheritance</a:t>
            </a:r>
            <a:endParaRPr/>
          </a:p>
        </p:txBody>
      </p:sp>
      <p:sp>
        <p:nvSpPr>
          <p:cNvPr id="1207" name="Google Shape;1207;p101"/>
          <p:cNvSpPr txBox="1"/>
          <p:nvPr/>
        </p:nvSpPr>
        <p:spPr>
          <a:xfrm>
            <a:off x="1943500" y="2233575"/>
            <a:ext cx="5375100" cy="46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Calibri"/>
              <a:buNone/>
            </a:pPr>
            <a:r>
              <a:rPr b="1" i="0" lang="en-CA" sz="2400" u="sng" cap="none" strike="noStrike">
                <a:solidFill>
                  <a:srgbClr val="000000"/>
                </a:solidFill>
                <a:latin typeface="Calibri"/>
                <a:ea typeface="Calibri"/>
                <a:cs typeface="Calibri"/>
                <a:sym typeface="Calibri"/>
              </a:rPr>
              <a:t>Example #</a:t>
            </a:r>
            <a:r>
              <a:rPr b="1" lang="en-CA" sz="2400" u="sng">
                <a:latin typeface="Calibri"/>
                <a:ea typeface="Calibri"/>
                <a:cs typeface="Calibri"/>
                <a:sym typeface="Calibri"/>
              </a:rPr>
              <a:t>4</a:t>
            </a:r>
            <a:r>
              <a:rPr b="1" i="0" lang="en-CA" sz="2400" u="sng" cap="none" strike="noStrike">
                <a:solidFill>
                  <a:srgbClr val="000000"/>
                </a:solidFill>
                <a:latin typeface="Calibri"/>
                <a:ea typeface="Calibri"/>
                <a:cs typeface="Calibri"/>
                <a:sym typeface="Calibri"/>
              </a:rPr>
              <a:t> = X-linked </a:t>
            </a:r>
            <a:r>
              <a:rPr b="1" lang="en-CA" sz="2400" u="sng">
                <a:latin typeface="Calibri"/>
                <a:ea typeface="Calibri"/>
                <a:cs typeface="Calibri"/>
                <a:sym typeface="Calibri"/>
              </a:rPr>
              <a:t>Dominant</a:t>
            </a:r>
            <a:endParaRPr/>
          </a:p>
        </p:txBody>
      </p:sp>
      <p:sp>
        <p:nvSpPr>
          <p:cNvPr id="1208" name="Google Shape;1208;p101"/>
          <p:cNvSpPr txBox="1"/>
          <p:nvPr/>
        </p:nvSpPr>
        <p:spPr>
          <a:xfrm>
            <a:off x="5212025" y="3282900"/>
            <a:ext cx="3269100" cy="20505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All affected males must be X</a:t>
            </a:r>
            <a:r>
              <a:rPr baseline="30000"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Y</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All unaffected males must be X</a:t>
            </a:r>
            <a:r>
              <a:rPr baseline="30000"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Y</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Unaffected females </a:t>
            </a:r>
            <a:r>
              <a:rPr lang="en-CA" sz="1800">
                <a:solidFill>
                  <a:srgbClr val="393B3F"/>
                </a:solidFill>
                <a:latin typeface="Verdana"/>
                <a:ea typeface="Verdana"/>
                <a:cs typeface="Verdana"/>
                <a:sym typeface="Verdana"/>
              </a:rPr>
              <a:t>must be</a:t>
            </a:r>
            <a:r>
              <a:rPr b="0" i="0" lang="en-CA" sz="1800" u="none" cap="none" strike="noStrike">
                <a:solidFill>
                  <a:srgbClr val="393B3F"/>
                </a:solidFill>
                <a:latin typeface="Verdana"/>
                <a:ea typeface="Verdana"/>
                <a:cs typeface="Verdana"/>
                <a:sym typeface="Verdana"/>
              </a:rPr>
              <a:t> X</a:t>
            </a:r>
            <a:r>
              <a:rPr baseline="30000"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a:t>
            </a:r>
            <a:endParaRPr/>
          </a:p>
          <a:p>
            <a:pPr indent="-342900" lvl="0" marL="457200" marR="0" rtl="0" algn="l">
              <a:lnSpc>
                <a:spcPct val="100000"/>
              </a:lnSpc>
              <a:spcBef>
                <a:spcPts val="1000"/>
              </a:spcBef>
              <a:spcAft>
                <a:spcPts val="0"/>
              </a:spcAft>
              <a:buClr>
                <a:srgbClr val="393B3F"/>
              </a:buClr>
              <a:buSzPts val="1800"/>
              <a:buFont typeface="Verdana"/>
              <a:buChar char="●"/>
            </a:pPr>
            <a:r>
              <a:rPr b="0" i="0" lang="en-CA" sz="1800" u="none" cap="none" strike="noStrike">
                <a:solidFill>
                  <a:srgbClr val="393B3F"/>
                </a:solidFill>
                <a:latin typeface="Verdana"/>
                <a:ea typeface="Verdana"/>
                <a:cs typeface="Verdana"/>
                <a:sym typeface="Verdana"/>
              </a:rPr>
              <a:t>Affected females </a:t>
            </a:r>
            <a:r>
              <a:rPr lang="en-CA" sz="1800">
                <a:solidFill>
                  <a:srgbClr val="393B3F"/>
                </a:solidFill>
                <a:latin typeface="Verdana"/>
                <a:ea typeface="Verdana"/>
                <a:cs typeface="Verdana"/>
                <a:sym typeface="Verdana"/>
              </a:rPr>
              <a:t>can be either</a:t>
            </a:r>
            <a:r>
              <a:rPr b="0" i="0" lang="en-CA" sz="1800" u="none" cap="none" strike="noStrike">
                <a:solidFill>
                  <a:srgbClr val="393B3F"/>
                </a:solidFill>
                <a:latin typeface="Verdana"/>
                <a:ea typeface="Verdana"/>
                <a:cs typeface="Verdana"/>
                <a:sym typeface="Verdana"/>
              </a:rPr>
              <a:t> X</a:t>
            </a:r>
            <a:r>
              <a:rPr baseline="30000" lang="en-CA" sz="1800">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 or X</a:t>
            </a:r>
            <a:r>
              <a:rPr b="0" baseline="30000" i="0" lang="en-CA" sz="1800" u="none" cap="none" strike="noStrike">
                <a:solidFill>
                  <a:srgbClr val="393B3F"/>
                </a:solidFill>
                <a:latin typeface="Verdana"/>
                <a:ea typeface="Verdana"/>
                <a:cs typeface="Verdana"/>
                <a:sym typeface="Verdana"/>
              </a:rPr>
              <a:t>B</a:t>
            </a:r>
            <a:r>
              <a:rPr b="0" i="0" lang="en-CA" sz="1800" u="none" cap="none" strike="noStrike">
                <a:solidFill>
                  <a:srgbClr val="393B3F"/>
                </a:solidFill>
                <a:latin typeface="Verdana"/>
                <a:ea typeface="Verdana"/>
                <a:cs typeface="Verdana"/>
                <a:sym typeface="Verdana"/>
              </a:rPr>
              <a:t>X</a:t>
            </a:r>
            <a:r>
              <a:rPr b="0" baseline="30000" i="0" lang="en-CA" sz="1800" u="none" cap="none" strike="noStrike">
                <a:solidFill>
                  <a:srgbClr val="393B3F"/>
                </a:solidFill>
                <a:latin typeface="Verdana"/>
                <a:ea typeface="Verdana"/>
                <a:cs typeface="Verdana"/>
                <a:sym typeface="Verdana"/>
              </a:rPr>
              <a:t>B</a:t>
            </a:r>
            <a:endParaRPr baseline="30000"/>
          </a:p>
        </p:txBody>
      </p:sp>
      <p:pic>
        <p:nvPicPr>
          <p:cNvPr id="1209" name="Google Shape;1209;p101"/>
          <p:cNvPicPr preferRelativeResize="0"/>
          <p:nvPr/>
        </p:nvPicPr>
        <p:blipFill>
          <a:blip r:embed="rId3">
            <a:alphaModFix/>
          </a:blip>
          <a:stretch>
            <a:fillRect/>
          </a:stretch>
        </p:blipFill>
        <p:spPr>
          <a:xfrm>
            <a:off x="827225" y="2989250"/>
            <a:ext cx="4243575" cy="317542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pic>
        <p:nvPicPr>
          <p:cNvPr id="1215" name="Google Shape;1215;p102"/>
          <p:cNvPicPr preferRelativeResize="0"/>
          <p:nvPr/>
        </p:nvPicPr>
        <p:blipFill>
          <a:blip r:embed="rId3">
            <a:alphaModFix/>
          </a:blip>
          <a:stretch>
            <a:fillRect/>
          </a:stretch>
        </p:blipFill>
        <p:spPr>
          <a:xfrm>
            <a:off x="1723800" y="152400"/>
            <a:ext cx="6810375" cy="6400800"/>
          </a:xfrm>
          <a:prstGeom prst="rect">
            <a:avLst/>
          </a:prstGeom>
          <a:noFill/>
          <a:ln>
            <a:noFill/>
          </a:ln>
        </p:spPr>
      </p:pic>
      <p:sp>
        <p:nvSpPr>
          <p:cNvPr id="1216" name="Google Shape;1216;p102"/>
          <p:cNvSpPr txBox="1"/>
          <p:nvPr/>
        </p:nvSpPr>
        <p:spPr>
          <a:xfrm>
            <a:off x="1846350" y="6358500"/>
            <a:ext cx="3170100" cy="499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100">
                <a:solidFill>
                  <a:schemeClr val="dk2"/>
                </a:solidFill>
                <a:latin typeface="Verdana"/>
                <a:ea typeface="Verdana"/>
                <a:cs typeface="Verdana"/>
                <a:sym typeface="Verdana"/>
              </a:rPr>
              <a:t>As well as generally unequal distribution of males and females. </a:t>
            </a:r>
            <a:endParaRPr b="1" sz="1100">
              <a:solidFill>
                <a:schemeClr val="dk2"/>
              </a:solidFill>
              <a:latin typeface="Verdana"/>
              <a:ea typeface="Verdana"/>
              <a:cs typeface="Verdana"/>
              <a:sym typeface="Verdana"/>
            </a:endParaRPr>
          </a:p>
        </p:txBody>
      </p:sp>
      <p:sp>
        <p:nvSpPr>
          <p:cNvPr id="1217" name="Google Shape;1217;p102"/>
          <p:cNvSpPr txBox="1"/>
          <p:nvPr/>
        </p:nvSpPr>
        <p:spPr>
          <a:xfrm>
            <a:off x="5241525" y="6358500"/>
            <a:ext cx="3170100" cy="499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100">
                <a:solidFill>
                  <a:schemeClr val="dk2"/>
                </a:solidFill>
                <a:latin typeface="Verdana"/>
                <a:ea typeface="Verdana"/>
                <a:cs typeface="Verdana"/>
                <a:sym typeface="Verdana"/>
              </a:rPr>
              <a:t>As well as generally unequal distribution of males and females. </a:t>
            </a:r>
            <a:endParaRPr b="1" sz="1100">
              <a:solidFill>
                <a:schemeClr val="dk2"/>
              </a:solidFill>
              <a:latin typeface="Verdana"/>
              <a:ea typeface="Verdana"/>
              <a:cs typeface="Verdana"/>
              <a:sym typeface="Verdana"/>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3"/>
          <p:cNvSpPr txBox="1"/>
          <p:nvPr/>
        </p:nvSpPr>
        <p:spPr>
          <a:xfrm>
            <a:off x="1183432" y="11373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lang="en-CA" sz="2400">
                <a:solidFill>
                  <a:srgbClr val="393B3F"/>
                </a:solidFill>
                <a:latin typeface="Verdana"/>
                <a:ea typeface="Verdana"/>
                <a:cs typeface="Verdana"/>
                <a:sym typeface="Verdana"/>
              </a:rPr>
              <a:t>Recap, and further explanation and examples of Pedigree problems</a:t>
            </a:r>
            <a:endParaRPr/>
          </a:p>
        </p:txBody>
      </p:sp>
      <p:pic>
        <p:nvPicPr>
          <p:cNvPr descr="An introduction to reading and analyzing pedigrees.&#10;&#10;View more lessons or practice this subject at https://www.khanacademy.org/science/high-school-biology/hs-classical-genetics/hs-pedigrees/v/pedigrees?utm_source=youtube&amp;utm_medium=desc&amp;utm_campaign=highschoolbiology&#10;&#10;Khan Academy is a nonprofit organization with the mission of providing a free, world-class education for anyone, anywhere. We offer quizzes, questions, instructional videos, and articles on a range of academic subjects, including math, biology, chemistry, physics, history, economics, finance, grammar, preschool learning, and more. We provide teachers with tools and data so they can help their students develop the skills, habits, and mindsets for success in school and beyond. Khan Academy has been translated into dozens of languages, and 15 million people around the globe learn on Khan Academy every month. As a 501(c)(3) nonprofit organization, we would love your help! Donate or volunteer today! &#10;&#10;Donate here: https://www.khanacademy.org/donate?utm_source=youtube&amp;utm_medium=desc&#10;&#10;Volunteer here: https://www.khanacademy.org/contribute?utm_source=youtube&amp;utm_medium=desc" id="1224" name="Google Shape;1224;p103" title="Pedigrees | Classical genetics | High school biology | Khan Academy">
            <a:hlinkClick r:id="rId3"/>
          </p:cNvPr>
          <p:cNvPicPr preferRelativeResize="0"/>
          <p:nvPr/>
        </p:nvPicPr>
        <p:blipFill>
          <a:blip r:embed="rId4">
            <a:alphaModFix/>
          </a:blip>
          <a:stretch>
            <a:fillRect/>
          </a:stretch>
        </p:blipFill>
        <p:spPr>
          <a:xfrm>
            <a:off x="488475" y="2605277"/>
            <a:ext cx="4470100" cy="2514425"/>
          </a:xfrm>
          <a:prstGeom prst="rect">
            <a:avLst/>
          </a:prstGeom>
          <a:noFill/>
          <a:ln>
            <a:noFill/>
          </a:ln>
        </p:spPr>
      </p:pic>
      <p:pic>
        <p:nvPicPr>
          <p:cNvPr descr="Once you have a background in pedigree conventions, this video should provide you with the tools to evaluate a pedigree to determine if a given trait could be autosomal dominant, autosomal recessive, or X-linked recessive." id="1225" name="Google Shape;1225;p103" title="Solving pedigree genetics problems">
            <a:hlinkClick r:id="rId5"/>
          </p:cNvPr>
          <p:cNvPicPr preferRelativeResize="0"/>
          <p:nvPr/>
        </p:nvPicPr>
        <p:blipFill>
          <a:blip r:embed="rId6">
            <a:alphaModFix/>
          </a:blip>
          <a:stretch>
            <a:fillRect/>
          </a:stretch>
        </p:blipFill>
        <p:spPr>
          <a:xfrm>
            <a:off x="5105925" y="2790514"/>
            <a:ext cx="3811450" cy="2143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4"/>
                                        </p:tgtEl>
                                        <p:attrNameLst>
                                          <p:attrName>style.visibility</p:attrName>
                                        </p:attrNameLst>
                                      </p:cBhvr>
                                      <p:to>
                                        <p:strVal val="visible"/>
                                      </p:to>
                                    </p:set>
                                    <p:animEffect filter="fade" transition="in">
                                      <p:cBhvr>
                                        <p:cTn dur="1000"/>
                                        <p:tgtEl>
                                          <p:spTgt spid="1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1000"/>
                                        <p:tgtEl>
                                          <p:spTgt spid="1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04"/>
          <p:cNvSpPr txBox="1"/>
          <p:nvPr/>
        </p:nvSpPr>
        <p:spPr>
          <a:xfrm>
            <a:off x="1475655" y="1052736"/>
            <a:ext cx="6480719" cy="89255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50"/>
              <a:buFont typeface="Verdana"/>
              <a:buNone/>
            </a:pPr>
            <a:r>
              <a:rPr b="1" lang="en-CA" sz="2600" u="sng">
                <a:solidFill>
                  <a:srgbClr val="393B3F"/>
                </a:solidFill>
                <a:latin typeface="Verdana"/>
                <a:ea typeface="Verdana"/>
                <a:cs typeface="Verdana"/>
                <a:sym typeface="Verdana"/>
              </a:rPr>
              <a:t>Extra: </a:t>
            </a:r>
            <a:r>
              <a:rPr b="1" i="0" lang="en-CA" sz="2600" u="sng" cap="none" strike="noStrike">
                <a:solidFill>
                  <a:srgbClr val="393B3F"/>
                </a:solidFill>
                <a:latin typeface="Verdana"/>
                <a:ea typeface="Verdana"/>
                <a:cs typeface="Verdana"/>
                <a:sym typeface="Verdana"/>
              </a:rPr>
              <a:t>Genes and the Environment: Epigenetics</a:t>
            </a:r>
            <a:endParaRPr u="sng"/>
          </a:p>
        </p:txBody>
      </p:sp>
      <p:sp>
        <p:nvSpPr>
          <p:cNvPr id="1231" name="Google Shape;1231;p104"/>
          <p:cNvSpPr txBox="1"/>
          <p:nvPr/>
        </p:nvSpPr>
        <p:spPr>
          <a:xfrm>
            <a:off x="755575" y="2099464"/>
            <a:ext cx="7704855" cy="9694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75"/>
              <a:buFont typeface="Verdana"/>
              <a:buNone/>
            </a:pPr>
            <a:r>
              <a:rPr b="0" i="0" lang="en-CA" sz="1900" u="none" cap="none" strike="noStrike">
                <a:solidFill>
                  <a:srgbClr val="393B3F"/>
                </a:solidFill>
                <a:latin typeface="Verdana"/>
                <a:ea typeface="Verdana"/>
                <a:cs typeface="Verdana"/>
                <a:sym typeface="Verdana"/>
              </a:rPr>
              <a:t>Recent findings have suggested that just because you possess a particular allele does not mean you will express it. This is due to </a:t>
            </a:r>
            <a:r>
              <a:rPr b="0" i="1" lang="en-CA" sz="1900" u="none" cap="none" strike="noStrike">
                <a:solidFill>
                  <a:srgbClr val="393B3F"/>
                </a:solidFill>
                <a:latin typeface="Verdana"/>
                <a:ea typeface="Verdana"/>
                <a:cs typeface="Verdana"/>
                <a:sym typeface="Verdana"/>
              </a:rPr>
              <a:t>epigenetics…</a:t>
            </a:r>
            <a:endParaRPr/>
          </a:p>
        </p:txBody>
      </p:sp>
      <p:sp>
        <p:nvSpPr>
          <p:cNvPr id="1232" name="Google Shape;1232;p104"/>
          <p:cNvSpPr txBox="1"/>
          <p:nvPr/>
        </p:nvSpPr>
        <p:spPr>
          <a:xfrm>
            <a:off x="4572000" y="3466955"/>
            <a:ext cx="3888432" cy="2554544"/>
          </a:xfrm>
          <a:prstGeom prst="rect">
            <a:avLst/>
          </a:prstGeom>
          <a:noFill/>
          <a:ln>
            <a:noFill/>
          </a:ln>
        </p:spPr>
        <p:txBody>
          <a:bodyPr anchorCtr="0" anchor="t" bIns="45700" lIns="91425" spcFirstLastPara="1" rIns="91425" wrap="square" tIns="45700">
            <a:noAutofit/>
          </a:bodyPr>
          <a:lstStyle/>
          <a:p>
            <a:pPr indent="-279400" lvl="0" marL="285750" marR="0" rtl="0" algn="l">
              <a:lnSpc>
                <a:spcPct val="100000"/>
              </a:lnSpc>
              <a:spcBef>
                <a:spcPts val="0"/>
              </a:spcBef>
              <a:spcAft>
                <a:spcPts val="0"/>
              </a:spcAft>
              <a:buClr>
                <a:srgbClr val="393B3F"/>
              </a:buClr>
              <a:buSzPts val="1500"/>
              <a:buFont typeface="Courier New"/>
              <a:buChar char="o"/>
            </a:pPr>
            <a:r>
              <a:rPr b="0" i="0" lang="en-CA" sz="1500" u="none" cap="none" strike="noStrike">
                <a:solidFill>
                  <a:srgbClr val="393B3F"/>
                </a:solidFill>
                <a:latin typeface="Verdana"/>
                <a:ea typeface="Verdana"/>
                <a:cs typeface="Verdana"/>
                <a:sym typeface="Verdana"/>
              </a:rPr>
              <a:t>Genes can be turned “on” or </a:t>
            </a:r>
            <a:endParaRPr sz="1500"/>
          </a:p>
          <a:p>
            <a:pPr indent="0" lvl="0" marL="0" marR="0" rtl="0" algn="l">
              <a:lnSpc>
                <a:spcPct val="100000"/>
              </a:lnSpc>
              <a:spcBef>
                <a:spcPts val="0"/>
              </a:spcBef>
              <a:spcAft>
                <a:spcPts val="0"/>
              </a:spcAft>
              <a:buClr>
                <a:srgbClr val="393B3F"/>
              </a:buClr>
              <a:buSzPts val="400"/>
              <a:buFont typeface="Verdana"/>
              <a:buNone/>
            </a:pPr>
            <a:r>
              <a:rPr b="0" i="0" lang="en-CA" sz="1500" u="none" cap="none" strike="noStrike">
                <a:solidFill>
                  <a:srgbClr val="393B3F"/>
                </a:solidFill>
                <a:latin typeface="Verdana"/>
                <a:ea typeface="Verdana"/>
                <a:cs typeface="Verdana"/>
                <a:sym typeface="Verdana"/>
              </a:rPr>
              <a:t>    “off “ by methylation of the DNA</a:t>
            </a:r>
            <a:endParaRPr sz="1500"/>
          </a:p>
          <a:p>
            <a:pPr indent="-279400" lvl="0" marL="285750" marR="0" rtl="0" algn="l">
              <a:lnSpc>
                <a:spcPct val="100000"/>
              </a:lnSpc>
              <a:spcBef>
                <a:spcPts val="1000"/>
              </a:spcBef>
              <a:spcAft>
                <a:spcPts val="0"/>
              </a:spcAft>
              <a:buClr>
                <a:srgbClr val="393B3F"/>
              </a:buClr>
              <a:buSzPts val="1500"/>
              <a:buFont typeface="Courier New"/>
              <a:buChar char="o"/>
            </a:pPr>
            <a:r>
              <a:rPr b="0" i="0" lang="en-CA" sz="1500" u="none" cap="none" strike="noStrike">
                <a:solidFill>
                  <a:srgbClr val="393B3F"/>
                </a:solidFill>
                <a:latin typeface="Verdana"/>
                <a:ea typeface="Verdana"/>
                <a:cs typeface="Verdana"/>
                <a:sym typeface="Verdana"/>
              </a:rPr>
              <a:t>Environmental factors can trigger methylation</a:t>
            </a:r>
            <a:endParaRPr sz="1500"/>
          </a:p>
          <a:p>
            <a:pPr indent="-279400" lvl="0" marL="285750" marR="0" rtl="0" algn="l">
              <a:lnSpc>
                <a:spcPct val="100000"/>
              </a:lnSpc>
              <a:spcBef>
                <a:spcPts val="1000"/>
              </a:spcBef>
              <a:spcAft>
                <a:spcPts val="1000"/>
              </a:spcAft>
              <a:buClr>
                <a:srgbClr val="393B3F"/>
              </a:buClr>
              <a:buSzPts val="1500"/>
              <a:buFont typeface="Courier New"/>
              <a:buChar char="o"/>
            </a:pPr>
            <a:r>
              <a:rPr b="0" i="0" lang="en-CA" sz="1500" u="none" cap="none" strike="noStrike">
                <a:solidFill>
                  <a:srgbClr val="393B3F"/>
                </a:solidFill>
                <a:latin typeface="Verdana"/>
                <a:ea typeface="Verdana"/>
                <a:cs typeface="Verdana"/>
                <a:sym typeface="Verdana"/>
              </a:rPr>
              <a:t>E.g. Breast cancer (people with the BRCA1 or BRCA2 allele are more likely to develop breast cancer, but only if something causes these genes to be turned “on”)</a:t>
            </a:r>
            <a:endParaRPr sz="1500"/>
          </a:p>
        </p:txBody>
      </p:sp>
      <p:pic>
        <p:nvPicPr>
          <p:cNvPr descr="http://www.ultimategreenblog.com/wp-content/uploads/2014/01/smoking.jpg" id="1233" name="Google Shape;1233;p104"/>
          <p:cNvPicPr preferRelativeResize="0"/>
          <p:nvPr/>
        </p:nvPicPr>
        <p:blipFill rotWithShape="1">
          <a:blip r:embed="rId3">
            <a:alphaModFix/>
          </a:blip>
          <a:srcRect b="0" l="0" r="0" t="0"/>
          <a:stretch/>
        </p:blipFill>
        <p:spPr>
          <a:xfrm>
            <a:off x="755575" y="3381957"/>
            <a:ext cx="3528390" cy="2338360"/>
          </a:xfrm>
          <a:prstGeom prst="rect">
            <a:avLst/>
          </a:prstGeom>
          <a:noFill/>
          <a:ln>
            <a:noFill/>
          </a:ln>
        </p:spPr>
      </p:pic>
      <p:sp>
        <p:nvSpPr>
          <p:cNvPr id="1234" name="Google Shape;1234;p104"/>
          <p:cNvSpPr txBox="1"/>
          <p:nvPr/>
        </p:nvSpPr>
        <p:spPr>
          <a:xfrm>
            <a:off x="1019775" y="5790375"/>
            <a:ext cx="3000000" cy="35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CA" u="sng">
                <a:solidFill>
                  <a:schemeClr val="hlink"/>
                </a:solidFill>
                <a:hlinkClick r:id="rId4"/>
              </a:rPr>
              <a:t>https://vimeo.com/248146854</a:t>
            </a:r>
            <a:r>
              <a:rPr lang="en-CA">
                <a:solidFill>
                  <a:schemeClr val="dk1"/>
                </a:solidFill>
              </a:rPr>
              <a:t> </a:t>
            </a:r>
            <a:endParaRPr>
              <a:solidFill>
                <a:schemeClr val="dk1"/>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pic>
        <p:nvPicPr>
          <p:cNvPr descr="Hank &amp; his clone Circus Hank explain the power of epigenetics, which studies the factors that determine how much or whether some genes are expressed in your body.&#10;&#10;Like SciShow on Facebook! http://www.facebook.com/scishow&#10;Follow SciShow on Twitter! http://www.twitter.com/scishow&#10;&#10;More SciShow!&#10;Solar Energy - http://youtu.be/4uPVZUTLAvA&#10;Foldit Gamers FTW - http://youtu.be/JdBcpdH_ptA" id="1240" name="Google Shape;1240;p105" title="Epigenetics">
            <a:hlinkClick r:id="rId3"/>
          </p:cNvPr>
          <p:cNvPicPr preferRelativeResize="0"/>
          <p:nvPr/>
        </p:nvPicPr>
        <p:blipFill>
          <a:blip r:embed="rId4">
            <a:alphaModFix/>
          </a:blip>
          <a:stretch>
            <a:fillRect/>
          </a:stretch>
        </p:blipFill>
        <p:spPr>
          <a:xfrm>
            <a:off x="2189438" y="2054800"/>
            <a:ext cx="4765124" cy="3573850"/>
          </a:xfrm>
          <a:prstGeom prst="rect">
            <a:avLst/>
          </a:prstGeom>
          <a:noFill/>
          <a:ln>
            <a:noFill/>
          </a:ln>
        </p:spPr>
      </p:pic>
      <p:sp>
        <p:nvSpPr>
          <p:cNvPr id="1241" name="Google Shape;1241;p105"/>
          <p:cNvSpPr txBox="1"/>
          <p:nvPr/>
        </p:nvSpPr>
        <p:spPr>
          <a:xfrm>
            <a:off x="3010288" y="1048575"/>
            <a:ext cx="3000000" cy="78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2600" u="sng">
                <a:solidFill>
                  <a:srgbClr val="393B3F"/>
                </a:solidFill>
                <a:latin typeface="Verdana"/>
                <a:ea typeface="Verdana"/>
                <a:cs typeface="Verdana"/>
                <a:sym typeface="Verdana"/>
              </a:rPr>
              <a:t>Extra: </a:t>
            </a:r>
            <a:r>
              <a:rPr b="1" lang="en-CA" sz="2600" u="sng">
                <a:solidFill>
                  <a:srgbClr val="393B3F"/>
                </a:solidFill>
                <a:latin typeface="Verdana"/>
                <a:ea typeface="Verdana"/>
                <a:cs typeface="Verdana"/>
                <a:sym typeface="Verdana"/>
              </a:rPr>
              <a:t>Epigenetics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06"/>
          <p:cNvSpPr txBox="1"/>
          <p:nvPr/>
        </p:nvSpPr>
        <p:spPr>
          <a:xfrm>
            <a:off x="827575" y="3161225"/>
            <a:ext cx="7476000" cy="3309900"/>
          </a:xfrm>
          <a:prstGeom prst="rect">
            <a:avLst/>
          </a:prstGeom>
          <a:noFill/>
          <a:ln>
            <a:noFill/>
          </a:ln>
        </p:spPr>
        <p:txBody>
          <a:bodyPr anchorCtr="0" anchor="t" bIns="45700" lIns="91425" spcFirstLastPara="1" rIns="91425" wrap="square" tIns="45700">
            <a:noAutofit/>
          </a:bodyPr>
          <a:lstStyle/>
          <a:p>
            <a:pPr indent="-306473" lvl="0" marL="342900" rtl="0" algn="l">
              <a:lnSpc>
                <a:spcPct val="115000"/>
              </a:lnSpc>
              <a:spcBef>
                <a:spcPts val="40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Evidence for gene linkage</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Parental vs. recombinant gametes</a:t>
            </a:r>
            <a:endParaRPr sz="2000">
              <a:solidFill>
                <a:srgbClr val="3F3F3F"/>
              </a:solidFill>
              <a:latin typeface="Verdana"/>
              <a:ea typeface="Verdana"/>
              <a:cs typeface="Verdana"/>
              <a:sym typeface="Verdana"/>
            </a:endParaRPr>
          </a:p>
          <a:p>
            <a:pPr indent="-306473" lvl="0" marL="342900" rtl="0" algn="l">
              <a:lnSpc>
                <a:spcPct val="115000"/>
              </a:lnSpc>
              <a:spcBef>
                <a:spcPts val="0"/>
              </a:spcBef>
              <a:spcAft>
                <a:spcPts val="0"/>
              </a:spcAft>
              <a:buClr>
                <a:srgbClr val="3F3F3F"/>
              </a:buClr>
              <a:buSzPts val="2000"/>
              <a:buFont typeface="Verdana"/>
              <a:buChar char="○"/>
            </a:pPr>
            <a:r>
              <a:rPr lang="en-CA" sz="2000">
                <a:solidFill>
                  <a:srgbClr val="3F3F3F"/>
                </a:solidFill>
                <a:latin typeface="Verdana"/>
                <a:ea typeface="Verdana"/>
                <a:cs typeface="Verdana"/>
                <a:sym typeface="Verdana"/>
              </a:rPr>
              <a:t>Gene mapping</a:t>
            </a:r>
            <a:endParaRPr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ctr">
              <a:lnSpc>
                <a:spcPct val="115000"/>
              </a:lnSpc>
              <a:spcBef>
                <a:spcPts val="800"/>
              </a:spcBef>
              <a:spcAft>
                <a:spcPts val="0"/>
              </a:spcAft>
              <a:buNone/>
            </a:pPr>
            <a:r>
              <a:rPr b="1" i="1" lang="en-CA" sz="2000">
                <a:solidFill>
                  <a:srgbClr val="3F3F3F"/>
                </a:solidFill>
                <a:latin typeface="Verdana"/>
                <a:ea typeface="Verdana"/>
                <a:cs typeface="Verdana"/>
                <a:sym typeface="Verdana"/>
              </a:rPr>
              <a:t>Textbook pgs. 599-601</a:t>
            </a:r>
            <a:endParaRPr b="1" i="1" sz="2000">
              <a:solidFill>
                <a:srgbClr val="3F3F3F"/>
              </a:solidFill>
              <a:latin typeface="Verdana"/>
              <a:ea typeface="Verdana"/>
              <a:cs typeface="Verdana"/>
              <a:sym typeface="Verdana"/>
            </a:endParaRPr>
          </a:p>
          <a:p>
            <a:pPr indent="0" lvl="0" marL="342900" rtl="0" algn="l">
              <a:lnSpc>
                <a:spcPct val="115000"/>
              </a:lnSpc>
              <a:spcBef>
                <a:spcPts val="800"/>
              </a:spcBef>
              <a:spcAft>
                <a:spcPts val="0"/>
              </a:spcAft>
              <a:buNone/>
            </a:pPr>
            <a:r>
              <a:t/>
            </a:r>
            <a:endParaRPr sz="2000">
              <a:solidFill>
                <a:srgbClr val="3F3F3F"/>
              </a:solidFill>
              <a:latin typeface="Verdana"/>
              <a:ea typeface="Verdana"/>
              <a:cs typeface="Verdana"/>
              <a:sym typeface="Verdana"/>
            </a:endParaRPr>
          </a:p>
          <a:p>
            <a:pPr indent="0" lvl="0" marL="342900" rtl="0" algn="l">
              <a:spcBef>
                <a:spcPts val="1407"/>
              </a:spcBef>
              <a:spcAft>
                <a:spcPts val="0"/>
              </a:spcAft>
              <a:buNone/>
            </a:pPr>
            <a:r>
              <a:t/>
            </a:r>
            <a:endParaRPr sz="2400">
              <a:solidFill>
                <a:srgbClr val="676A73"/>
              </a:solidFill>
              <a:latin typeface="Verdana"/>
              <a:ea typeface="Verdana"/>
              <a:cs typeface="Verdana"/>
              <a:sym typeface="Verdana"/>
            </a:endParaRPr>
          </a:p>
        </p:txBody>
      </p:sp>
      <p:sp>
        <p:nvSpPr>
          <p:cNvPr id="1248" name="Google Shape;1248;p106"/>
          <p:cNvSpPr txBox="1"/>
          <p:nvPr/>
        </p:nvSpPr>
        <p:spPr>
          <a:xfrm>
            <a:off x="1289275" y="1941052"/>
            <a:ext cx="6552600" cy="66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CA" sz="2800">
                <a:solidFill>
                  <a:srgbClr val="4D4F55"/>
                </a:solidFill>
                <a:latin typeface="Verdana"/>
                <a:ea typeface="Verdana"/>
                <a:cs typeface="Verdana"/>
                <a:sym typeface="Verdana"/>
              </a:rPr>
              <a:t>TOPIC 5: GENE LINKAGE &amp; MAPPING</a:t>
            </a:r>
            <a:endParaRPr sz="4000">
              <a:solidFill>
                <a:srgbClr val="4D4F55"/>
              </a:solidFill>
              <a:latin typeface="Verdana"/>
              <a:ea typeface="Verdana"/>
              <a:cs typeface="Verdana"/>
              <a:sym typeface="Verdana"/>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07"/>
          <p:cNvSpPr txBox="1"/>
          <p:nvPr/>
        </p:nvSpPr>
        <p:spPr>
          <a:xfrm>
            <a:off x="1259632" y="745220"/>
            <a:ext cx="6624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u="sng" cap="none" strike="noStrike">
                <a:solidFill>
                  <a:srgbClr val="393B3F"/>
                </a:solidFill>
                <a:latin typeface="Verdana"/>
                <a:ea typeface="Verdana"/>
                <a:cs typeface="Verdana"/>
                <a:sym typeface="Verdana"/>
              </a:rPr>
              <a:t>GENE LINKAGE</a:t>
            </a:r>
            <a:endParaRPr u="sng"/>
          </a:p>
        </p:txBody>
      </p:sp>
      <p:sp>
        <p:nvSpPr>
          <p:cNvPr id="1255" name="Google Shape;1255;p107"/>
          <p:cNvSpPr txBox="1"/>
          <p:nvPr/>
        </p:nvSpPr>
        <p:spPr>
          <a:xfrm>
            <a:off x="471350" y="1253000"/>
            <a:ext cx="8147700" cy="1068900"/>
          </a:xfrm>
          <a:prstGeom prst="rect">
            <a:avLst/>
          </a:prstGeom>
          <a:noFill/>
          <a:ln cap="flat" cmpd="sng" w="9525">
            <a:solidFill>
              <a:srgbClr val="6666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lang="en-CA" sz="1600">
                <a:solidFill>
                  <a:srgbClr val="393B3F"/>
                </a:solidFill>
                <a:latin typeface="Verdana"/>
                <a:ea typeface="Verdana"/>
                <a:cs typeface="Verdana"/>
                <a:sym typeface="Verdana"/>
              </a:rPr>
              <a:t>Typically, the inheritance of a particular trait is thought to follow Mendel’s law of independent assortment, allowing us to accurately predict the phenotypic and genotypic ratios of offspring. Occasionally, however, genes may be observed as “breaking” this rule… </a:t>
            </a:r>
            <a:endParaRPr sz="1600"/>
          </a:p>
        </p:txBody>
      </p:sp>
      <p:pic>
        <p:nvPicPr>
          <p:cNvPr descr="We just learned about X-linked genes, but what about gene linkage in general? If two genes are on the same chromosome, we can say that they are linked. Are they always inherited together? Can the alleles rearrange in some way? Well don't forget about crossing over in meiosis! That complicates things a little bit. Let's check back with Morgan and his fruit flies to see how things panned out!&#10;&#10;Watch the whole Biology/Genetics playlist: http://bit.ly/ProfDaveBio&#10;&#10;General Chemistry Tutorials: http://bit.ly/ProfDaveGenChem&#10;Organic Chemistry Tutorials: http://bit.ly/ProfDaveOrgChem&#10;Biochemistry Tutorials: http://bit.ly/ProfDaveBiochem&#10;Anatomy &amp; Physiology Tutorials: http://bit.ly/ProfDaveAnatPhys&#10;Biopsychology Tutorials: http://bit.ly/ProfDaveBiopsych&#10;Microbiology/Infectious Diseases Tutorials: http://bit.ly/ProfDaveMicrobio&#10;Pharmacology Tutorials: http://bit.ly/ProfDavePharma&#10; History of Drugs Videos: http://bit.ly/ProfDaveHistoryDrugs&#10;&#10;EMAIL► ProfessorDaveExplains@gmail.com&#10;PATREON► http://patreon.com/ProfessorDaveExplains&#10;&#10;Check out &quot;Is This Wi-Fi Organic?&quot;, my book on disarming pseudoscience!&#10;Amazon: https://amzn.to/2HtNpVH&#10;Bookshop: https://bit.ly/39cKADM&#10; Barnes and Noble: https://bit.ly/3pUjmrn &#10;Book Depository: http://bit.ly/3aOVDlT" id="1256" name="Google Shape;1256;p107" title="Gene Linkage and Genetic Maps">
            <a:hlinkClick r:id="rId3"/>
          </p:cNvPr>
          <p:cNvPicPr preferRelativeResize="0"/>
          <p:nvPr/>
        </p:nvPicPr>
        <p:blipFill>
          <a:blip r:embed="rId4">
            <a:alphaModFix/>
          </a:blip>
          <a:stretch>
            <a:fillRect/>
          </a:stretch>
        </p:blipFill>
        <p:spPr>
          <a:xfrm>
            <a:off x="5289100" y="4710812"/>
            <a:ext cx="3240662" cy="1822875"/>
          </a:xfrm>
          <a:prstGeom prst="rect">
            <a:avLst/>
          </a:prstGeom>
          <a:noFill/>
          <a:ln>
            <a:noFill/>
          </a:ln>
        </p:spPr>
      </p:pic>
      <p:sp>
        <p:nvSpPr>
          <p:cNvPr id="1257" name="Google Shape;1257;p107"/>
          <p:cNvSpPr txBox="1"/>
          <p:nvPr/>
        </p:nvSpPr>
        <p:spPr>
          <a:xfrm>
            <a:off x="749775" y="2413400"/>
            <a:ext cx="7474800" cy="22779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Verdana"/>
              <a:buChar char="➢"/>
            </a:pPr>
            <a:r>
              <a:rPr lang="en-CA" sz="1700">
                <a:solidFill>
                  <a:schemeClr val="dk1"/>
                </a:solidFill>
                <a:latin typeface="Verdana"/>
                <a:ea typeface="Verdana"/>
                <a:cs typeface="Verdana"/>
                <a:sym typeface="Verdana"/>
              </a:rPr>
              <a:t>Genes that are located close together on the same chromosome are called </a:t>
            </a:r>
            <a:r>
              <a:rPr b="1" lang="en-CA" sz="1700">
                <a:solidFill>
                  <a:schemeClr val="dk1"/>
                </a:solidFill>
                <a:latin typeface="Verdana"/>
                <a:ea typeface="Verdana"/>
                <a:cs typeface="Verdana"/>
                <a:sym typeface="Verdana"/>
              </a:rPr>
              <a:t>linked genes</a:t>
            </a:r>
            <a:r>
              <a:rPr lang="en-CA" sz="1700">
                <a:solidFill>
                  <a:schemeClr val="dk1"/>
                </a:solidFill>
                <a:latin typeface="Verdana"/>
                <a:ea typeface="Verdana"/>
                <a:cs typeface="Verdana"/>
                <a:sym typeface="Verdana"/>
              </a:rPr>
              <a:t>. </a:t>
            </a:r>
            <a:endParaRPr sz="1700">
              <a:solidFill>
                <a:schemeClr val="dk1"/>
              </a:solidFill>
              <a:latin typeface="Verdana"/>
              <a:ea typeface="Verdana"/>
              <a:cs typeface="Verdana"/>
              <a:sym typeface="Verdana"/>
            </a:endParaRPr>
          </a:p>
          <a:p>
            <a:pPr indent="-336550" lvl="0" marL="457200" rtl="0" algn="l">
              <a:spcBef>
                <a:spcPts val="0"/>
              </a:spcBef>
              <a:spcAft>
                <a:spcPts val="0"/>
              </a:spcAft>
              <a:buClr>
                <a:schemeClr val="dk1"/>
              </a:buClr>
              <a:buSzPts val="1700"/>
              <a:buFont typeface="Verdana"/>
              <a:buChar char="➢"/>
            </a:pPr>
            <a:r>
              <a:rPr lang="en-CA" sz="1700">
                <a:solidFill>
                  <a:schemeClr val="dk1"/>
                </a:solidFill>
                <a:latin typeface="Verdana"/>
                <a:ea typeface="Verdana"/>
                <a:cs typeface="Verdana"/>
                <a:sym typeface="Verdana"/>
              </a:rPr>
              <a:t>Alleles for these genes tend to segregate together during meiosis unless they are separated by crossing over. </a:t>
            </a:r>
            <a:endParaRPr sz="1700">
              <a:solidFill>
                <a:schemeClr val="dk1"/>
              </a:solidFill>
              <a:latin typeface="Verdana"/>
              <a:ea typeface="Verdana"/>
              <a:cs typeface="Verdana"/>
              <a:sym typeface="Verdana"/>
            </a:endParaRPr>
          </a:p>
          <a:p>
            <a:pPr indent="-336550" lvl="1" marL="914400" rtl="0" algn="l">
              <a:spcBef>
                <a:spcPts val="0"/>
              </a:spcBef>
              <a:spcAft>
                <a:spcPts val="0"/>
              </a:spcAft>
              <a:buClr>
                <a:schemeClr val="dk1"/>
              </a:buClr>
              <a:buSzPts val="1700"/>
              <a:buFont typeface="Verdana"/>
              <a:buChar char="○"/>
            </a:pPr>
            <a:r>
              <a:rPr b="1" lang="en-CA" sz="1700">
                <a:solidFill>
                  <a:schemeClr val="dk1"/>
                </a:solidFill>
                <a:latin typeface="Verdana"/>
                <a:ea typeface="Verdana"/>
                <a:cs typeface="Verdana"/>
                <a:sym typeface="Verdana"/>
              </a:rPr>
              <a:t>Crossing over</a:t>
            </a:r>
            <a:r>
              <a:rPr lang="en-CA" sz="1700">
                <a:solidFill>
                  <a:schemeClr val="dk1"/>
                </a:solidFill>
                <a:latin typeface="Verdana"/>
                <a:ea typeface="Verdana"/>
                <a:cs typeface="Verdana"/>
                <a:sym typeface="Verdana"/>
              </a:rPr>
              <a:t> occurs when two homologous chromosomes exchange genetic material during meiosis I. The closer together two genes are on a chromosome, the less likely their alleles will be separated by crossing over</a:t>
            </a:r>
            <a:endParaRPr sz="1700">
              <a:solidFill>
                <a:schemeClr val="dk1"/>
              </a:solidFill>
              <a:latin typeface="Verdana"/>
              <a:ea typeface="Verdana"/>
              <a:cs typeface="Verdana"/>
              <a:sym typeface="Verdana"/>
            </a:endParaRPr>
          </a:p>
        </p:txBody>
      </p:sp>
      <p:pic>
        <p:nvPicPr>
          <p:cNvPr id="1258" name="Google Shape;1258;p107"/>
          <p:cNvPicPr preferRelativeResize="0"/>
          <p:nvPr/>
        </p:nvPicPr>
        <p:blipFill rotWithShape="1">
          <a:blip r:embed="rId5">
            <a:alphaModFix/>
          </a:blip>
          <a:srcRect b="0" l="0" r="31243" t="0"/>
          <a:stretch/>
        </p:blipFill>
        <p:spPr>
          <a:xfrm>
            <a:off x="597500" y="4691300"/>
            <a:ext cx="3688925" cy="1861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1000"/>
                                        <p:tgtEl>
                                          <p:spTgt spid="1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08"/>
          <p:cNvSpPr txBox="1"/>
          <p:nvPr/>
        </p:nvSpPr>
        <p:spPr>
          <a:xfrm>
            <a:off x="5240175" y="632225"/>
            <a:ext cx="3488100" cy="16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chemeClr val="dk2"/>
                </a:solidFill>
                <a:latin typeface="Verdana"/>
                <a:ea typeface="Verdana"/>
                <a:cs typeface="Verdana"/>
                <a:sym typeface="Verdana"/>
              </a:rPr>
              <a:t>Unlinked</a:t>
            </a:r>
            <a:r>
              <a:rPr lang="en-CA">
                <a:solidFill>
                  <a:schemeClr val="dk2"/>
                </a:solidFill>
                <a:latin typeface="Verdana"/>
                <a:ea typeface="Verdana"/>
                <a:cs typeface="Verdana"/>
                <a:sym typeface="Verdana"/>
              </a:rPr>
              <a:t> genes found on different chromosomes will assort independently and yield all </a:t>
            </a:r>
            <a:r>
              <a:rPr lang="en-CA">
                <a:solidFill>
                  <a:schemeClr val="dk2"/>
                </a:solidFill>
                <a:latin typeface="Verdana"/>
                <a:ea typeface="Verdana"/>
                <a:cs typeface="Verdana"/>
                <a:sym typeface="Verdana"/>
              </a:rPr>
              <a:t>possible</a:t>
            </a:r>
            <a:r>
              <a:rPr lang="en-CA">
                <a:solidFill>
                  <a:schemeClr val="dk2"/>
                </a:solidFill>
                <a:latin typeface="Verdana"/>
                <a:ea typeface="Verdana"/>
                <a:cs typeface="Verdana"/>
                <a:sym typeface="Verdana"/>
              </a:rPr>
              <a:t> allele combination in a 1:1:1:1 ratio.</a:t>
            </a:r>
            <a:endParaRPr>
              <a:solidFill>
                <a:schemeClr val="dk2"/>
              </a:solidFill>
              <a:latin typeface="Verdana"/>
              <a:ea typeface="Verdana"/>
              <a:cs typeface="Verdana"/>
              <a:sym typeface="Verdana"/>
            </a:endParaRPr>
          </a:p>
          <a:p>
            <a:pPr indent="0" lvl="0" marL="0" rtl="0" algn="ctr">
              <a:spcBef>
                <a:spcPts val="0"/>
              </a:spcBef>
              <a:spcAft>
                <a:spcPts val="0"/>
              </a:spcAft>
              <a:buNone/>
            </a:pPr>
            <a:r>
              <a:t/>
            </a:r>
            <a:endParaRPr b="1">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Ab:AB:ab:aB</a:t>
            </a:r>
            <a:endParaRPr b="1">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 1 : 1 : 1 : 1</a:t>
            </a:r>
            <a:endParaRPr b="1">
              <a:solidFill>
                <a:schemeClr val="dk2"/>
              </a:solidFill>
              <a:latin typeface="Verdana"/>
              <a:ea typeface="Verdana"/>
              <a:cs typeface="Verdana"/>
              <a:sym typeface="Verdana"/>
            </a:endParaRPr>
          </a:p>
        </p:txBody>
      </p:sp>
      <p:pic>
        <p:nvPicPr>
          <p:cNvPr id="1265" name="Google Shape;1265;p108"/>
          <p:cNvPicPr preferRelativeResize="0"/>
          <p:nvPr/>
        </p:nvPicPr>
        <p:blipFill rotWithShape="1">
          <a:blip r:embed="rId3">
            <a:alphaModFix/>
          </a:blip>
          <a:srcRect b="0" l="1410" r="-1410" t="0"/>
          <a:stretch/>
        </p:blipFill>
        <p:spPr>
          <a:xfrm>
            <a:off x="369500" y="509475"/>
            <a:ext cx="4834325" cy="5839050"/>
          </a:xfrm>
          <a:prstGeom prst="rect">
            <a:avLst/>
          </a:prstGeom>
          <a:noFill/>
          <a:ln>
            <a:noFill/>
          </a:ln>
        </p:spPr>
      </p:pic>
      <p:sp>
        <p:nvSpPr>
          <p:cNvPr id="1266" name="Google Shape;1266;p108"/>
          <p:cNvSpPr txBox="1"/>
          <p:nvPr/>
        </p:nvSpPr>
        <p:spPr>
          <a:xfrm>
            <a:off x="5203825" y="2367150"/>
            <a:ext cx="3488100" cy="20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chemeClr val="dk2"/>
                </a:solidFill>
                <a:latin typeface="Verdana"/>
                <a:ea typeface="Verdana"/>
                <a:cs typeface="Verdana"/>
                <a:sym typeface="Verdana"/>
              </a:rPr>
              <a:t>Linked</a:t>
            </a:r>
            <a:r>
              <a:rPr lang="en-CA">
                <a:solidFill>
                  <a:schemeClr val="dk2"/>
                </a:solidFill>
                <a:latin typeface="Verdana"/>
                <a:ea typeface="Verdana"/>
                <a:cs typeface="Verdana"/>
                <a:sym typeface="Verdana"/>
              </a:rPr>
              <a:t> genes found on the same chromosomes will not assort independently and are only expected to yield the original/parental combinations:</a:t>
            </a:r>
            <a:endParaRPr>
              <a:solidFill>
                <a:schemeClr val="dk2"/>
              </a:solidFill>
              <a:latin typeface="Verdana"/>
              <a:ea typeface="Verdana"/>
              <a:cs typeface="Verdana"/>
              <a:sym typeface="Verdana"/>
            </a:endParaRPr>
          </a:p>
          <a:p>
            <a:pPr indent="0" lvl="0" marL="0" rtl="0" algn="ctr">
              <a:spcBef>
                <a:spcPts val="0"/>
              </a:spcBef>
              <a:spcAft>
                <a:spcPts val="0"/>
              </a:spcAft>
              <a:buNone/>
            </a:pPr>
            <a:r>
              <a:t/>
            </a:r>
            <a:endParaRPr b="1">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Ab:AB:ab:aB</a:t>
            </a:r>
            <a:endParaRPr b="1">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 0 : 1 : 1 : 0</a:t>
            </a:r>
            <a:endParaRPr b="1">
              <a:solidFill>
                <a:schemeClr val="dk2"/>
              </a:solidFill>
              <a:latin typeface="Verdana"/>
              <a:ea typeface="Verdana"/>
              <a:cs typeface="Verdana"/>
              <a:sym typeface="Verdana"/>
            </a:endParaRPr>
          </a:p>
        </p:txBody>
      </p:sp>
      <p:sp>
        <p:nvSpPr>
          <p:cNvPr id="1267" name="Google Shape;1267;p108"/>
          <p:cNvSpPr txBox="1"/>
          <p:nvPr/>
        </p:nvSpPr>
        <p:spPr>
          <a:xfrm>
            <a:off x="5314925" y="4272525"/>
            <a:ext cx="3395100" cy="20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a:solidFill>
                  <a:schemeClr val="dk2"/>
                </a:solidFill>
                <a:latin typeface="Verdana"/>
                <a:ea typeface="Verdana"/>
                <a:cs typeface="Verdana"/>
                <a:sym typeface="Verdana"/>
              </a:rPr>
              <a:t>Linked</a:t>
            </a:r>
            <a:r>
              <a:rPr lang="en-CA">
                <a:solidFill>
                  <a:schemeClr val="dk2"/>
                </a:solidFill>
                <a:latin typeface="Verdana"/>
                <a:ea typeface="Verdana"/>
                <a:cs typeface="Verdana"/>
                <a:sym typeface="Verdana"/>
              </a:rPr>
              <a:t> genes found on the same chromosomes will not assort independently, however </a:t>
            </a:r>
            <a:r>
              <a:rPr lang="en-CA" u="sng">
                <a:solidFill>
                  <a:schemeClr val="dk2"/>
                </a:solidFill>
                <a:latin typeface="Verdana"/>
                <a:ea typeface="Verdana"/>
                <a:cs typeface="Verdana"/>
                <a:sym typeface="Verdana"/>
              </a:rPr>
              <a:t>crossing over</a:t>
            </a:r>
            <a:r>
              <a:rPr lang="en-CA">
                <a:solidFill>
                  <a:schemeClr val="dk2"/>
                </a:solidFill>
                <a:latin typeface="Verdana"/>
                <a:ea typeface="Verdana"/>
                <a:cs typeface="Verdana"/>
                <a:sym typeface="Verdana"/>
              </a:rPr>
              <a:t> may occur between then, yielding </a:t>
            </a:r>
            <a:r>
              <a:rPr b="1" lang="en-CA">
                <a:solidFill>
                  <a:schemeClr val="dk2"/>
                </a:solidFill>
                <a:latin typeface="Verdana"/>
                <a:ea typeface="Verdana"/>
                <a:cs typeface="Verdana"/>
                <a:sym typeface="Verdana"/>
              </a:rPr>
              <a:t>some recombinants</a:t>
            </a:r>
            <a:r>
              <a:rPr lang="en-CA">
                <a:solidFill>
                  <a:schemeClr val="dk2"/>
                </a:solidFill>
                <a:latin typeface="Verdana"/>
                <a:ea typeface="Verdana"/>
                <a:cs typeface="Verdana"/>
                <a:sym typeface="Verdana"/>
              </a:rPr>
              <a:t> </a:t>
            </a:r>
            <a:endParaRPr>
              <a:solidFill>
                <a:schemeClr val="dk2"/>
              </a:solidFill>
              <a:latin typeface="Verdana"/>
              <a:ea typeface="Verdana"/>
              <a:cs typeface="Verdana"/>
              <a:sym typeface="Verdana"/>
            </a:endParaRPr>
          </a:p>
          <a:p>
            <a:pPr indent="0" lvl="0" marL="0" rtl="0" algn="l">
              <a:spcBef>
                <a:spcPts val="0"/>
              </a:spcBef>
              <a:spcAft>
                <a:spcPts val="0"/>
              </a:spcAft>
              <a:buNone/>
            </a:pPr>
            <a:r>
              <a:t/>
            </a:r>
            <a:endParaRPr>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Ab:AB:ab:aB</a:t>
            </a:r>
            <a:endParaRPr b="1">
              <a:solidFill>
                <a:schemeClr val="dk2"/>
              </a:solidFill>
              <a:latin typeface="Verdana"/>
              <a:ea typeface="Verdana"/>
              <a:cs typeface="Verdana"/>
              <a:sym typeface="Verdana"/>
            </a:endParaRPr>
          </a:p>
          <a:p>
            <a:pPr indent="0" lvl="0" marL="0" rtl="0" algn="ctr">
              <a:spcBef>
                <a:spcPts val="0"/>
              </a:spcBef>
              <a:spcAft>
                <a:spcPts val="0"/>
              </a:spcAft>
              <a:buNone/>
            </a:pPr>
            <a:r>
              <a:rPr b="1" lang="en-CA">
                <a:solidFill>
                  <a:schemeClr val="dk2"/>
                </a:solidFill>
                <a:latin typeface="Verdana"/>
                <a:ea typeface="Verdana"/>
                <a:cs typeface="Verdana"/>
                <a:sym typeface="Verdana"/>
              </a:rPr>
              <a:t> some : most : some : most</a:t>
            </a:r>
            <a:endParaRPr b="1">
              <a:solidFill>
                <a:schemeClr val="dk2"/>
              </a:solidFill>
              <a:latin typeface="Verdana"/>
              <a:ea typeface="Verdana"/>
              <a:cs typeface="Verdana"/>
              <a:sym typeface="Verdana"/>
            </a:endParaRPr>
          </a:p>
          <a:p>
            <a:pPr indent="0" lvl="0" marL="0" rtl="0" algn="ctr">
              <a:spcBef>
                <a:spcPts val="0"/>
              </a:spcBef>
              <a:spcAft>
                <a:spcPts val="0"/>
              </a:spcAft>
              <a:buNone/>
            </a:pPr>
            <a:r>
              <a:t/>
            </a:r>
            <a:endParaRPr b="1">
              <a:solidFill>
                <a:schemeClr val="dk2"/>
              </a:solidFill>
              <a:latin typeface="Verdana"/>
              <a:ea typeface="Verdana"/>
              <a:cs typeface="Verdana"/>
              <a:sym typeface="Verdana"/>
            </a:endParaRPr>
          </a:p>
        </p:txBody>
      </p:sp>
      <p:sp>
        <p:nvSpPr>
          <p:cNvPr id="1268" name="Google Shape;1268;p108"/>
          <p:cNvSpPr txBox="1"/>
          <p:nvPr/>
        </p:nvSpPr>
        <p:spPr>
          <a:xfrm>
            <a:off x="4985825" y="6109975"/>
            <a:ext cx="4096800" cy="702600"/>
          </a:xfrm>
          <a:prstGeom prst="rect">
            <a:avLst/>
          </a:prstGeom>
          <a:solidFill>
            <a:schemeClr val="accent5"/>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CA" sz="1300">
                <a:solidFill>
                  <a:schemeClr val="dk2"/>
                </a:solidFill>
                <a:latin typeface="Verdana"/>
                <a:ea typeface="Verdana"/>
                <a:cs typeface="Verdana"/>
                <a:sym typeface="Verdana"/>
              </a:rPr>
              <a:t>T</a:t>
            </a:r>
            <a:r>
              <a:rPr b="1" lang="en-CA" sz="1300">
                <a:solidFill>
                  <a:schemeClr val="dk2"/>
                </a:solidFill>
                <a:latin typeface="Verdana"/>
                <a:ea typeface="Verdana"/>
                <a:cs typeface="Verdana"/>
                <a:sym typeface="Verdana"/>
              </a:rPr>
              <a:t>he farther apart the genes are, the greater the likelihood of crossing over and greater the number of recombinants. </a:t>
            </a:r>
            <a:endParaRPr b="1" sz="1300">
              <a:solidFill>
                <a:schemeClr val="dk2"/>
              </a:solidFill>
              <a:latin typeface="Verdana"/>
              <a:ea typeface="Verdana"/>
              <a:cs typeface="Verdana"/>
              <a:sym typeface="Verdana"/>
            </a:endParaRPr>
          </a:p>
          <a:p>
            <a:pPr indent="0" lvl="0" marL="0" rtl="0" algn="l">
              <a:spcBef>
                <a:spcPts val="0"/>
              </a:spcBef>
              <a:spcAft>
                <a:spcPts val="0"/>
              </a:spcAft>
              <a:buNone/>
            </a:pPr>
            <a:r>
              <a:t/>
            </a:r>
            <a:endParaRPr sz="2300">
              <a:solidFill>
                <a:schemeClr val="dk2"/>
              </a:solidFill>
              <a:latin typeface="Verdana"/>
              <a:ea typeface="Verdana"/>
              <a:cs typeface="Verdana"/>
              <a:sym typeface="Verdana"/>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pic>
        <p:nvPicPr>
          <p:cNvPr id="1274" name="Google Shape;1274;p109"/>
          <p:cNvPicPr preferRelativeResize="0"/>
          <p:nvPr/>
        </p:nvPicPr>
        <p:blipFill>
          <a:blip r:embed="rId3">
            <a:alphaModFix/>
          </a:blip>
          <a:stretch>
            <a:fillRect/>
          </a:stretch>
        </p:blipFill>
        <p:spPr>
          <a:xfrm>
            <a:off x="352225" y="262275"/>
            <a:ext cx="3807500" cy="6383175"/>
          </a:xfrm>
          <a:prstGeom prst="rect">
            <a:avLst/>
          </a:prstGeom>
          <a:noFill/>
          <a:ln>
            <a:noFill/>
          </a:ln>
        </p:spPr>
      </p:pic>
      <p:sp>
        <p:nvSpPr>
          <p:cNvPr id="1275" name="Google Shape;1275;p109"/>
          <p:cNvSpPr txBox="1"/>
          <p:nvPr/>
        </p:nvSpPr>
        <p:spPr>
          <a:xfrm>
            <a:off x="4586125" y="1159050"/>
            <a:ext cx="3079200" cy="9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10"/>
          <p:cNvSpPr txBox="1"/>
          <p:nvPr/>
        </p:nvSpPr>
        <p:spPr>
          <a:xfrm>
            <a:off x="562200" y="911275"/>
            <a:ext cx="42897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sz="1700">
                <a:solidFill>
                  <a:srgbClr val="666666"/>
                </a:solidFill>
                <a:latin typeface="Verdana"/>
                <a:ea typeface="Verdana"/>
                <a:cs typeface="Verdana"/>
                <a:sym typeface="Verdana"/>
              </a:rPr>
              <a:t>Linkage Map for the Human X Chromosome. This linkage map shows the locations of several genes on the X chromosome. Some of the genes code for normal proteins. Others code for proteins that are associated with genetic disorders. </a:t>
            </a:r>
            <a:endParaRPr sz="1700">
              <a:solidFill>
                <a:srgbClr val="666666"/>
              </a:solidFill>
              <a:latin typeface="Verdana"/>
              <a:ea typeface="Verdana"/>
              <a:cs typeface="Verdana"/>
              <a:sym typeface="Verdana"/>
            </a:endParaRPr>
          </a:p>
          <a:p>
            <a:pPr indent="-336550" lvl="0" marL="457200" rtl="0" algn="l">
              <a:spcBef>
                <a:spcPts val="0"/>
              </a:spcBef>
              <a:spcAft>
                <a:spcPts val="0"/>
              </a:spcAft>
              <a:buClr>
                <a:srgbClr val="666666"/>
              </a:buClr>
              <a:buSzPts val="1700"/>
              <a:buFont typeface="Verdana"/>
              <a:buChar char="➢"/>
            </a:pPr>
            <a:r>
              <a:rPr lang="en-CA" sz="1700">
                <a:solidFill>
                  <a:srgbClr val="666666"/>
                </a:solidFill>
                <a:latin typeface="Verdana"/>
                <a:ea typeface="Verdana"/>
                <a:cs typeface="Verdana"/>
                <a:sym typeface="Verdana"/>
              </a:rPr>
              <a:t>Which pair of genes would you expect to have a lower frequency of crossing over: the genes that code for hemophilia A and G6PD deficiency, or the genes that code for Protan and Xm?</a:t>
            </a:r>
            <a:endParaRPr sz="1700">
              <a:latin typeface="Verdana"/>
              <a:ea typeface="Verdana"/>
              <a:cs typeface="Verdana"/>
              <a:sym typeface="Verdana"/>
            </a:endParaRPr>
          </a:p>
        </p:txBody>
      </p:sp>
      <p:pic>
        <p:nvPicPr>
          <p:cNvPr id="1282" name="Google Shape;1282;p110"/>
          <p:cNvPicPr preferRelativeResize="0"/>
          <p:nvPr/>
        </p:nvPicPr>
        <p:blipFill>
          <a:blip r:embed="rId3">
            <a:alphaModFix/>
          </a:blip>
          <a:stretch>
            <a:fillRect/>
          </a:stretch>
        </p:blipFill>
        <p:spPr>
          <a:xfrm>
            <a:off x="4851800" y="969925"/>
            <a:ext cx="4157975" cy="3504575"/>
          </a:xfrm>
          <a:prstGeom prst="rect">
            <a:avLst/>
          </a:prstGeom>
          <a:noFill/>
          <a:ln>
            <a:noFill/>
          </a:ln>
        </p:spPr>
      </p:pic>
      <p:sp>
        <p:nvSpPr>
          <p:cNvPr id="1283" name="Google Shape;1283;p110"/>
          <p:cNvSpPr txBox="1"/>
          <p:nvPr/>
        </p:nvSpPr>
        <p:spPr>
          <a:xfrm>
            <a:off x="798375" y="5782525"/>
            <a:ext cx="3560700" cy="5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latin typeface="Verdana"/>
              <a:ea typeface="Verdana"/>
              <a:cs typeface="Verdana"/>
              <a:sym typeface="Verdana"/>
            </a:endParaRPr>
          </a:p>
        </p:txBody>
      </p:sp>
      <p:sp>
        <p:nvSpPr>
          <p:cNvPr id="1284" name="Google Shape;1284;p110"/>
          <p:cNvSpPr txBox="1"/>
          <p:nvPr/>
        </p:nvSpPr>
        <p:spPr>
          <a:xfrm>
            <a:off x="671225" y="4497775"/>
            <a:ext cx="4541700" cy="8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700">
                <a:solidFill>
                  <a:srgbClr val="A64D79"/>
                </a:solidFill>
                <a:latin typeface="Verdana"/>
                <a:ea typeface="Verdana"/>
                <a:cs typeface="Verdana"/>
                <a:sym typeface="Verdana"/>
              </a:rPr>
              <a:t>Hemophilia A and G6PD would have a lower crossing over frequency because they are closer together. There’s a lower chance that the chiasma (break in the chromosome where crossing over occurs) will occur between these two genes. </a:t>
            </a:r>
            <a:endParaRPr sz="1700">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11"/>
          <p:cNvSpPr/>
          <p:nvPr/>
        </p:nvSpPr>
        <p:spPr>
          <a:xfrm>
            <a:off x="1115625" y="2745200"/>
            <a:ext cx="6983700" cy="1678200"/>
          </a:xfrm>
          <a:prstGeom prst="rect">
            <a:avLst/>
          </a:prstGeom>
          <a:solidFill>
            <a:schemeClr val="accent3"/>
          </a:solidFill>
          <a:ln cap="flat" cmpd="sng" w="1587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290" name="Google Shape;1290;p111"/>
          <p:cNvSpPr txBox="1"/>
          <p:nvPr/>
        </p:nvSpPr>
        <p:spPr>
          <a:xfrm>
            <a:off x="755550" y="1120500"/>
            <a:ext cx="7632900" cy="1037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0" i="0" lang="en-CA" sz="2000" u="none" cap="none" strike="noStrike">
                <a:solidFill>
                  <a:srgbClr val="393B3F"/>
                </a:solidFill>
                <a:latin typeface="Verdana"/>
                <a:ea typeface="Verdana"/>
                <a:cs typeface="Verdana"/>
                <a:sym typeface="Verdana"/>
              </a:rPr>
              <a:t>However, </a:t>
            </a:r>
            <a:r>
              <a:rPr lang="en-CA" sz="2000">
                <a:solidFill>
                  <a:srgbClr val="393B3F"/>
                </a:solidFill>
                <a:latin typeface="Verdana"/>
                <a:ea typeface="Verdana"/>
                <a:cs typeface="Verdana"/>
                <a:sym typeface="Verdana"/>
              </a:rPr>
              <a:t>because the genes for hair and eye colour are on the same chromosome, they will undergo crossing over less often, causing them to produce fewer recombinant gametes…  </a:t>
            </a:r>
            <a:endParaRPr sz="2000"/>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sz="2000">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Non-linked genes = 50% parental gametes, </a:t>
            </a:r>
            <a:endParaRPr/>
          </a:p>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   50% recombinants</a:t>
            </a:r>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1" i="0" lang="en-CA" sz="2000" u="none" cap="none" strike="noStrike">
                <a:solidFill>
                  <a:srgbClr val="393B3F"/>
                </a:solidFill>
                <a:latin typeface="Verdana"/>
                <a:ea typeface="Verdana"/>
                <a:cs typeface="Verdana"/>
                <a:sym typeface="Verdana"/>
              </a:rPr>
              <a:t>Linked genes = less than 50% recombinants</a:t>
            </a:r>
            <a:endParaRPr/>
          </a:p>
        </p:txBody>
      </p:sp>
      <p:sp>
        <p:nvSpPr>
          <p:cNvPr id="1291" name="Google Shape;1291;p111"/>
          <p:cNvSpPr/>
          <p:nvPr/>
        </p:nvSpPr>
        <p:spPr>
          <a:xfrm>
            <a:off x="687975" y="4719175"/>
            <a:ext cx="7839000" cy="126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75"/>
              <a:buFont typeface="Verdana"/>
              <a:buNone/>
            </a:pPr>
            <a:r>
              <a:rPr i="1" lang="en-CA" sz="2600">
                <a:solidFill>
                  <a:srgbClr val="393B3F"/>
                </a:solidFill>
                <a:latin typeface="Verdana"/>
                <a:ea typeface="Verdana"/>
                <a:cs typeface="Verdana"/>
                <a:sym typeface="Verdana"/>
              </a:rPr>
              <a:t>The g</a:t>
            </a:r>
            <a:r>
              <a:rPr i="1" lang="en-CA" sz="2600">
                <a:solidFill>
                  <a:srgbClr val="393B3F"/>
                </a:solidFill>
                <a:latin typeface="Verdana"/>
                <a:ea typeface="Verdana"/>
                <a:cs typeface="Verdana"/>
                <a:sym typeface="Verdana"/>
              </a:rPr>
              <a:t>enes for hair and eye colour are therefore said to be linked.  </a:t>
            </a:r>
            <a:endParaRPr i="1" sz="26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pic>
        <p:nvPicPr>
          <p:cNvPr id="1296" name="Google Shape;1296;p112"/>
          <p:cNvPicPr preferRelativeResize="0"/>
          <p:nvPr/>
        </p:nvPicPr>
        <p:blipFill rotWithShape="1">
          <a:blip r:embed="rId3">
            <a:alphaModFix/>
          </a:blip>
          <a:srcRect b="0" l="0" r="0" t="0"/>
          <a:stretch/>
        </p:blipFill>
        <p:spPr>
          <a:xfrm>
            <a:off x="1079574" y="2746953"/>
            <a:ext cx="2562225" cy="2686049"/>
          </a:xfrm>
          <a:prstGeom prst="rect">
            <a:avLst/>
          </a:prstGeom>
          <a:noFill/>
          <a:ln>
            <a:noFill/>
          </a:ln>
        </p:spPr>
      </p:pic>
      <p:sp>
        <p:nvSpPr>
          <p:cNvPr id="1297" name="Google Shape;1297;p112"/>
          <p:cNvSpPr txBox="1"/>
          <p:nvPr/>
        </p:nvSpPr>
        <p:spPr>
          <a:xfrm>
            <a:off x="3959894" y="2831442"/>
            <a:ext cx="4248600" cy="29853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700"/>
              <a:buFont typeface="Courier New"/>
              <a:buChar char="o"/>
            </a:pPr>
            <a:r>
              <a:rPr b="0" i="0" lang="en-CA" sz="1700" u="none" cap="none" strike="noStrike">
                <a:solidFill>
                  <a:srgbClr val="393B3F"/>
                </a:solidFill>
                <a:latin typeface="Verdana"/>
                <a:ea typeface="Verdana"/>
                <a:cs typeface="Verdana"/>
                <a:sym typeface="Verdana"/>
              </a:rPr>
              <a:t>For example, genes H and d will cross over less often than genes</a:t>
            </a:r>
            <a:endParaRPr/>
          </a:p>
          <a:p>
            <a:pPr indent="0" lvl="0" marL="0" marR="0" rtl="0" algn="l">
              <a:lnSpc>
                <a:spcPct val="100000"/>
              </a:lnSpc>
              <a:spcBef>
                <a:spcPts val="0"/>
              </a:spcBef>
              <a:spcAft>
                <a:spcPts val="0"/>
              </a:spcAft>
              <a:buClr>
                <a:srgbClr val="393B3F"/>
              </a:buClr>
              <a:buSzPts val="425"/>
              <a:buFont typeface="Verdana"/>
              <a:buNone/>
            </a:pPr>
            <a:r>
              <a:rPr b="0" i="0" lang="en-CA" sz="1700" u="none" cap="none" strike="noStrike">
                <a:solidFill>
                  <a:srgbClr val="393B3F"/>
                </a:solidFill>
                <a:latin typeface="Verdana"/>
                <a:ea typeface="Verdana"/>
                <a:cs typeface="Verdana"/>
                <a:sym typeface="Verdana"/>
              </a:rPr>
              <a:t>    B and H, thus producing fewer   </a:t>
            </a:r>
            <a:endParaRPr/>
          </a:p>
          <a:p>
            <a:pPr indent="0" lvl="0" marL="0" marR="0" rtl="0" algn="l">
              <a:lnSpc>
                <a:spcPct val="100000"/>
              </a:lnSpc>
              <a:spcBef>
                <a:spcPts val="0"/>
              </a:spcBef>
              <a:spcAft>
                <a:spcPts val="0"/>
              </a:spcAft>
              <a:buClr>
                <a:srgbClr val="393B3F"/>
              </a:buClr>
              <a:buSzPts val="425"/>
              <a:buFont typeface="Verdana"/>
              <a:buNone/>
            </a:pPr>
            <a:r>
              <a:rPr b="0" i="0" lang="en-CA" sz="1700" u="none" cap="none" strike="noStrike">
                <a:solidFill>
                  <a:srgbClr val="393B3F"/>
                </a:solidFill>
                <a:latin typeface="Verdana"/>
                <a:ea typeface="Verdana"/>
                <a:cs typeface="Verdana"/>
                <a:sym typeface="Verdana"/>
              </a:rPr>
              <a:t>    recombinant gametes</a:t>
            </a:r>
            <a:endParaRPr/>
          </a:p>
          <a:p>
            <a:pPr indent="-285750" lvl="0" marL="285750" marR="0" rtl="0" algn="l">
              <a:lnSpc>
                <a:spcPct val="100000"/>
              </a:lnSpc>
              <a:spcBef>
                <a:spcPts val="1000"/>
              </a:spcBef>
              <a:spcAft>
                <a:spcPts val="0"/>
              </a:spcAft>
              <a:buClr>
                <a:srgbClr val="393B3F"/>
              </a:buClr>
              <a:buSzPts val="1700"/>
              <a:buFont typeface="Courier New"/>
              <a:buChar char="o"/>
            </a:pPr>
            <a:r>
              <a:rPr b="0" i="0" lang="en-CA" sz="1700" u="none" cap="none" strike="noStrike">
                <a:solidFill>
                  <a:srgbClr val="393B3F"/>
                </a:solidFill>
                <a:latin typeface="Verdana"/>
                <a:ea typeface="Verdana"/>
                <a:cs typeface="Verdana"/>
                <a:sym typeface="Verdana"/>
              </a:rPr>
              <a:t>Based on the number of recombinant gametes for each set of genes, then, we can determine their distance relative to one another on a chromosome (</a:t>
            </a:r>
            <a:r>
              <a:rPr b="0" i="1" lang="en-CA" sz="1700" u="none" cap="none" strike="noStrike">
                <a:solidFill>
                  <a:srgbClr val="393B3F"/>
                </a:solidFill>
                <a:latin typeface="Verdana"/>
                <a:ea typeface="Verdana"/>
                <a:cs typeface="Verdana"/>
                <a:sym typeface="Verdana"/>
              </a:rPr>
              <a:t>gene mapping</a:t>
            </a:r>
            <a:r>
              <a:rPr b="0" i="0" lang="en-CA" sz="1700" u="none" cap="none" strike="noStrike">
                <a:solidFill>
                  <a:srgbClr val="393B3F"/>
                </a:solidFill>
                <a:latin typeface="Verdana"/>
                <a:ea typeface="Verdana"/>
                <a:cs typeface="Verdana"/>
                <a:sym typeface="Verdana"/>
              </a:rPr>
              <a:t>)</a:t>
            </a:r>
            <a:endParaRPr/>
          </a:p>
          <a:p>
            <a:pPr indent="-285750" lvl="0" marL="285750" marR="0" rtl="0" algn="l">
              <a:lnSpc>
                <a:spcPct val="100000"/>
              </a:lnSpc>
              <a:spcBef>
                <a:spcPts val="1000"/>
              </a:spcBef>
              <a:spcAft>
                <a:spcPts val="0"/>
              </a:spcAft>
              <a:buClr>
                <a:schemeClr val="dk1"/>
              </a:buClr>
              <a:buSzPts val="1800"/>
              <a:buFont typeface="Courier New"/>
              <a:buNone/>
            </a:pPr>
            <a:r>
              <a:t/>
            </a:r>
            <a:endParaRPr b="0" i="0" sz="1800" u="none" cap="none" strike="noStrike">
              <a:solidFill>
                <a:srgbClr val="393B3F"/>
              </a:solidFill>
              <a:latin typeface="Verdana"/>
              <a:ea typeface="Verdana"/>
              <a:cs typeface="Verdana"/>
              <a:sym typeface="Verdana"/>
            </a:endParaRPr>
          </a:p>
        </p:txBody>
      </p:sp>
      <p:sp>
        <p:nvSpPr>
          <p:cNvPr id="1298" name="Google Shape;1298;p112"/>
          <p:cNvSpPr/>
          <p:nvPr/>
        </p:nvSpPr>
        <p:spPr>
          <a:xfrm>
            <a:off x="791550" y="2613510"/>
            <a:ext cx="7560900" cy="3085800"/>
          </a:xfrm>
          <a:prstGeom prst="rect">
            <a:avLst/>
          </a:prstGeom>
          <a:noFill/>
          <a:ln cap="flat" cmpd="sng" w="285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299" name="Google Shape;1299;p112"/>
          <p:cNvSpPr/>
          <p:nvPr/>
        </p:nvSpPr>
        <p:spPr>
          <a:xfrm>
            <a:off x="652500" y="958900"/>
            <a:ext cx="7839000" cy="13230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rgbClr val="393B3F"/>
              </a:buClr>
              <a:buSzPts val="475"/>
              <a:buFont typeface="Verdana"/>
              <a:buNone/>
            </a:pPr>
            <a:r>
              <a:rPr i="1" lang="en-CA" sz="1800">
                <a:solidFill>
                  <a:srgbClr val="393B3F"/>
                </a:solidFill>
                <a:latin typeface="Verdana"/>
                <a:ea typeface="Verdana"/>
                <a:cs typeface="Verdana"/>
                <a:sym typeface="Verdana"/>
              </a:rPr>
              <a:t>Genes that are closer together on the same chromosome will cross over less frequently, thus producing fewer recombinant gametes. These genes are more closely linked than genes that are further apart on a chromosome… </a:t>
            </a:r>
            <a:r>
              <a:rPr i="1" lang="en-CA" sz="2600">
                <a:solidFill>
                  <a:srgbClr val="393B3F"/>
                </a:solidFill>
                <a:latin typeface="Verdana"/>
                <a:ea typeface="Verdana"/>
                <a:cs typeface="Verdana"/>
                <a:sym typeface="Verdana"/>
              </a:rPr>
              <a:t>  </a:t>
            </a:r>
            <a:endParaRPr i="1" sz="26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13"/>
          <p:cNvSpPr txBox="1"/>
          <p:nvPr/>
        </p:nvSpPr>
        <p:spPr>
          <a:xfrm>
            <a:off x="1259707" y="1311620"/>
            <a:ext cx="6624600" cy="461700"/>
          </a:xfrm>
          <a:prstGeom prst="rect">
            <a:avLst/>
          </a:prstGeom>
          <a:noFill/>
          <a:ln cap="flat" cmpd="sng" w="9525">
            <a:solidFill>
              <a:srgbClr val="B7B7B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lang="en-CA" sz="2400">
                <a:solidFill>
                  <a:srgbClr val="393B3F"/>
                </a:solidFill>
                <a:latin typeface="Verdana"/>
                <a:ea typeface="Verdana"/>
                <a:cs typeface="Verdana"/>
                <a:sym typeface="Verdana"/>
              </a:rPr>
              <a:t>In Summary...</a:t>
            </a:r>
            <a:endParaRPr/>
          </a:p>
        </p:txBody>
      </p:sp>
      <p:sp>
        <p:nvSpPr>
          <p:cNvPr id="1306" name="Google Shape;1306;p113"/>
          <p:cNvSpPr txBox="1"/>
          <p:nvPr/>
        </p:nvSpPr>
        <p:spPr>
          <a:xfrm>
            <a:off x="1259700" y="2277350"/>
            <a:ext cx="6624600" cy="2423700"/>
          </a:xfrm>
          <a:prstGeom prst="rect">
            <a:avLst/>
          </a:prstGeom>
          <a:noFill/>
          <a:ln>
            <a:noFill/>
          </a:ln>
        </p:spPr>
        <p:txBody>
          <a:bodyPr anchorCtr="0" anchor="t" bIns="45700" lIns="91425" spcFirstLastPara="1" rIns="91425" wrap="square" tIns="45700">
            <a:noAutofit/>
          </a:bodyPr>
          <a:lstStyle/>
          <a:p>
            <a:pPr indent="-311150" lvl="0" marL="285750" marR="0" rtl="0" algn="l">
              <a:lnSpc>
                <a:spcPct val="100000"/>
              </a:lnSpc>
              <a:spcBef>
                <a:spcPts val="0"/>
              </a:spcBef>
              <a:spcAft>
                <a:spcPts val="0"/>
              </a:spcAft>
              <a:buClr>
                <a:srgbClr val="393B3F"/>
              </a:buClr>
              <a:buSzPts val="2000"/>
              <a:buFont typeface="Verdana"/>
              <a:buChar char="o"/>
            </a:pPr>
            <a:r>
              <a:rPr lang="en-CA" sz="2000">
                <a:solidFill>
                  <a:srgbClr val="393B3F"/>
                </a:solidFill>
                <a:latin typeface="Verdana"/>
                <a:ea typeface="Verdana"/>
                <a:cs typeface="Verdana"/>
                <a:sym typeface="Verdana"/>
              </a:rPr>
              <a:t>Genes are more likely to be linked if they are found on the same chromosome</a:t>
            </a:r>
            <a:endParaRPr sz="2000">
              <a:solidFill>
                <a:srgbClr val="393B3F"/>
              </a:solidFill>
              <a:latin typeface="Verdana"/>
              <a:ea typeface="Verdana"/>
              <a:cs typeface="Verdana"/>
              <a:sym typeface="Verdana"/>
            </a:endParaRPr>
          </a:p>
          <a:p>
            <a:pPr indent="-311150" lvl="0" marL="285750" marR="0" rtl="0" algn="l">
              <a:lnSpc>
                <a:spcPct val="100000"/>
              </a:lnSpc>
              <a:spcBef>
                <a:spcPts val="1000"/>
              </a:spcBef>
              <a:spcAft>
                <a:spcPts val="0"/>
              </a:spcAft>
              <a:buClr>
                <a:srgbClr val="393B3F"/>
              </a:buClr>
              <a:buSzPts val="2000"/>
              <a:buFont typeface="Verdana"/>
              <a:buChar char="o"/>
            </a:pPr>
            <a:r>
              <a:rPr lang="en-CA" sz="2000">
                <a:solidFill>
                  <a:srgbClr val="393B3F"/>
                </a:solidFill>
                <a:latin typeface="Verdana"/>
                <a:ea typeface="Verdana"/>
                <a:cs typeface="Verdana"/>
                <a:sym typeface="Verdana"/>
              </a:rPr>
              <a:t>We know that two genes are linked if we see </a:t>
            </a:r>
            <a:r>
              <a:rPr lang="en-CA" sz="2000" u="sng">
                <a:solidFill>
                  <a:srgbClr val="393B3F"/>
                </a:solidFill>
                <a:latin typeface="Verdana"/>
                <a:ea typeface="Verdana"/>
                <a:cs typeface="Verdana"/>
                <a:sym typeface="Verdana"/>
              </a:rPr>
              <a:t>gametes</a:t>
            </a:r>
            <a:r>
              <a:rPr lang="en-CA" sz="2000">
                <a:solidFill>
                  <a:srgbClr val="393B3F"/>
                </a:solidFill>
                <a:latin typeface="Verdana"/>
                <a:ea typeface="Verdana"/>
                <a:cs typeface="Verdana"/>
                <a:sym typeface="Verdana"/>
              </a:rPr>
              <a:t> with more parental genotypes than recombinant genotypes (because crossing over occurs less frequently when genes are on the same chromosome)</a:t>
            </a:r>
            <a:endParaRPr sz="2000">
              <a:solidFill>
                <a:srgbClr val="393B3F"/>
              </a:solidFill>
              <a:latin typeface="Verdana"/>
              <a:ea typeface="Verdana"/>
              <a:cs typeface="Verdana"/>
              <a:sym typeface="Verdana"/>
            </a:endParaRPr>
          </a:p>
          <a:p>
            <a:pPr indent="-311150" lvl="0" marL="285750" marR="0" rtl="0" algn="l">
              <a:lnSpc>
                <a:spcPct val="100000"/>
              </a:lnSpc>
              <a:spcBef>
                <a:spcPts val="1000"/>
              </a:spcBef>
              <a:spcAft>
                <a:spcPts val="0"/>
              </a:spcAft>
              <a:buClr>
                <a:srgbClr val="393B3F"/>
              </a:buClr>
              <a:buSzPts val="2000"/>
              <a:buFont typeface="Verdana"/>
              <a:buChar char="o"/>
            </a:pPr>
            <a:r>
              <a:rPr lang="en-CA" sz="2000">
                <a:solidFill>
                  <a:srgbClr val="393B3F"/>
                </a:solidFill>
                <a:latin typeface="Verdana"/>
                <a:ea typeface="Verdana"/>
                <a:cs typeface="Verdana"/>
                <a:sym typeface="Verdana"/>
              </a:rPr>
              <a:t>We also know that two genes are linked if we see a different ratio of parental &amp; recombinant </a:t>
            </a:r>
            <a:r>
              <a:rPr lang="en-CA" sz="2000" u="sng">
                <a:solidFill>
                  <a:srgbClr val="393B3F"/>
                </a:solidFill>
                <a:latin typeface="Verdana"/>
                <a:ea typeface="Verdana"/>
                <a:cs typeface="Verdana"/>
                <a:sym typeface="Verdana"/>
              </a:rPr>
              <a:t>offspring</a:t>
            </a:r>
            <a:r>
              <a:rPr lang="en-CA" sz="2000">
                <a:solidFill>
                  <a:srgbClr val="393B3F"/>
                </a:solidFill>
                <a:latin typeface="Verdana"/>
                <a:ea typeface="Verdana"/>
                <a:cs typeface="Verdana"/>
                <a:sym typeface="Verdana"/>
              </a:rPr>
              <a:t> than predicted </a:t>
            </a:r>
            <a:endParaRPr sz="2000">
              <a:solidFill>
                <a:srgbClr val="393B3F"/>
              </a:solidFill>
              <a:latin typeface="Verdana"/>
              <a:ea typeface="Verdana"/>
              <a:cs typeface="Verdana"/>
              <a:sym typeface="Verdana"/>
            </a:endParaRPr>
          </a:p>
          <a:p>
            <a:pPr indent="0" lvl="0" marL="0" marR="0" rtl="0" algn="l">
              <a:lnSpc>
                <a:spcPct val="100000"/>
              </a:lnSpc>
              <a:spcBef>
                <a:spcPts val="1000"/>
              </a:spcBef>
              <a:spcAft>
                <a:spcPts val="0"/>
              </a:spcAft>
              <a:buNone/>
            </a:pPr>
            <a:r>
              <a:t/>
            </a:r>
            <a:endParaRPr sz="12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14"/>
          <p:cNvSpPr txBox="1"/>
          <p:nvPr/>
        </p:nvSpPr>
        <p:spPr>
          <a:xfrm>
            <a:off x="1835696" y="980728"/>
            <a:ext cx="56166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900" u="sng" cap="none" strike="noStrike">
                <a:solidFill>
                  <a:srgbClr val="393B3F"/>
                </a:solidFill>
                <a:latin typeface="Verdana"/>
                <a:ea typeface="Verdana"/>
                <a:cs typeface="Verdana"/>
                <a:sym typeface="Verdana"/>
              </a:rPr>
              <a:t>Gene Mapping</a:t>
            </a:r>
            <a:endParaRPr sz="1900" u="sng"/>
          </a:p>
        </p:txBody>
      </p:sp>
      <p:sp>
        <p:nvSpPr>
          <p:cNvPr id="1313" name="Google Shape;1313;p114"/>
          <p:cNvSpPr txBox="1"/>
          <p:nvPr/>
        </p:nvSpPr>
        <p:spPr>
          <a:xfrm>
            <a:off x="742300" y="1735575"/>
            <a:ext cx="4320000" cy="43512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SzPts val="1400"/>
              <a:buFont typeface="Verdana"/>
              <a:buChar char="●"/>
            </a:pPr>
            <a:r>
              <a:rPr lang="en-CA">
                <a:latin typeface="Verdana"/>
                <a:ea typeface="Verdana"/>
                <a:cs typeface="Verdana"/>
                <a:sym typeface="Verdana"/>
              </a:rPr>
              <a:t>The relative distance between two genes on the same chromosome may be determined using a method known as gene mapping.</a:t>
            </a:r>
            <a:endParaRPr>
              <a:latin typeface="Verdana"/>
              <a:ea typeface="Verdana"/>
              <a:cs typeface="Verdana"/>
              <a:sym typeface="Verdana"/>
            </a:endParaRPr>
          </a:p>
          <a:p>
            <a:pPr indent="0" lvl="0" marL="0" marR="0" rtl="0" algn="l">
              <a:lnSpc>
                <a:spcPct val="100000"/>
              </a:lnSpc>
              <a:spcBef>
                <a:spcPts val="0"/>
              </a:spcBef>
              <a:spcAft>
                <a:spcPts val="0"/>
              </a:spcAft>
              <a:buNone/>
            </a:pPr>
            <a:r>
              <a:t/>
            </a:r>
            <a:endParaRPr>
              <a:latin typeface="Verdana"/>
              <a:ea typeface="Verdana"/>
              <a:cs typeface="Verdana"/>
              <a:sym typeface="Verdana"/>
            </a:endParaRPr>
          </a:p>
          <a:p>
            <a:pPr indent="-317500" lvl="0" marL="457200" marR="0" rtl="0" algn="l">
              <a:lnSpc>
                <a:spcPct val="100000"/>
              </a:lnSpc>
              <a:spcBef>
                <a:spcPts val="0"/>
              </a:spcBef>
              <a:spcAft>
                <a:spcPts val="0"/>
              </a:spcAft>
              <a:buSzPts val="1400"/>
              <a:buFont typeface="Verdana"/>
              <a:buChar char="●"/>
            </a:pPr>
            <a:r>
              <a:rPr lang="en-CA">
                <a:latin typeface="Verdana"/>
                <a:ea typeface="Verdana"/>
                <a:cs typeface="Verdana"/>
                <a:sym typeface="Verdana"/>
              </a:rPr>
              <a:t>Recall that in non-linked (“normal”) genes, 50% of gametes will be parental, and 50% will be recombinant.</a:t>
            </a:r>
            <a:endParaRPr>
              <a:latin typeface="Verdana"/>
              <a:ea typeface="Verdana"/>
              <a:cs typeface="Verdana"/>
              <a:sym typeface="Verdana"/>
            </a:endParaRPr>
          </a:p>
          <a:p>
            <a:pPr indent="0" lvl="0" marL="0" marR="0" rtl="0" algn="l">
              <a:lnSpc>
                <a:spcPct val="100000"/>
              </a:lnSpc>
              <a:spcBef>
                <a:spcPts val="0"/>
              </a:spcBef>
              <a:spcAft>
                <a:spcPts val="0"/>
              </a:spcAft>
              <a:buNone/>
            </a:pPr>
            <a:r>
              <a:t/>
            </a:r>
            <a:endParaRPr>
              <a:latin typeface="Verdana"/>
              <a:ea typeface="Verdana"/>
              <a:cs typeface="Verdana"/>
              <a:sym typeface="Verdana"/>
            </a:endParaRPr>
          </a:p>
          <a:p>
            <a:pPr indent="-317500" lvl="0" marL="457200" marR="0" rtl="0" algn="l">
              <a:lnSpc>
                <a:spcPct val="100000"/>
              </a:lnSpc>
              <a:spcBef>
                <a:spcPts val="0"/>
              </a:spcBef>
              <a:spcAft>
                <a:spcPts val="0"/>
              </a:spcAft>
              <a:buSzPts val="1400"/>
              <a:buFont typeface="Verdana"/>
              <a:buChar char="●"/>
            </a:pPr>
            <a:r>
              <a:rPr lang="en-CA">
                <a:latin typeface="Verdana"/>
                <a:ea typeface="Verdana"/>
                <a:cs typeface="Verdana"/>
                <a:sym typeface="Verdana"/>
              </a:rPr>
              <a:t>In linked genes, less than 50% of gametes will be recombinant due to reduced frequency of crossing over.</a:t>
            </a:r>
            <a:endParaRPr>
              <a:latin typeface="Verdana"/>
              <a:ea typeface="Verdana"/>
              <a:cs typeface="Verdana"/>
              <a:sym typeface="Verdana"/>
            </a:endParaRPr>
          </a:p>
          <a:p>
            <a:pPr indent="0" lvl="0" marL="0" marR="0" rtl="0" algn="l">
              <a:lnSpc>
                <a:spcPct val="100000"/>
              </a:lnSpc>
              <a:spcBef>
                <a:spcPts val="0"/>
              </a:spcBef>
              <a:spcAft>
                <a:spcPts val="0"/>
              </a:spcAft>
              <a:buNone/>
            </a:pPr>
            <a:r>
              <a:t/>
            </a:r>
            <a:endParaRPr>
              <a:latin typeface="Verdana"/>
              <a:ea typeface="Verdana"/>
              <a:cs typeface="Verdana"/>
              <a:sym typeface="Verdana"/>
            </a:endParaRPr>
          </a:p>
          <a:p>
            <a:pPr indent="-317500" lvl="0" marL="457200" marR="0" rtl="0" algn="l">
              <a:lnSpc>
                <a:spcPct val="100000"/>
              </a:lnSpc>
              <a:spcBef>
                <a:spcPts val="0"/>
              </a:spcBef>
              <a:spcAft>
                <a:spcPts val="0"/>
              </a:spcAft>
              <a:buSzPts val="1400"/>
              <a:buFont typeface="Verdana"/>
              <a:buChar char="●"/>
            </a:pPr>
            <a:r>
              <a:rPr lang="en-CA">
                <a:latin typeface="Verdana"/>
                <a:ea typeface="Verdana"/>
                <a:cs typeface="Verdana"/>
                <a:sym typeface="Verdana"/>
              </a:rPr>
              <a:t>Genes that are closer together cross over less frequently. So, the lower the recombination frequency, the closer together they are.</a:t>
            </a:r>
            <a:endParaRPr>
              <a:latin typeface="Verdana"/>
              <a:ea typeface="Verdana"/>
              <a:cs typeface="Verdana"/>
              <a:sym typeface="Verdana"/>
            </a:endParaRPr>
          </a:p>
          <a:p>
            <a:pPr indent="-317500" lvl="0" marL="457200" marR="0" rtl="0" algn="l">
              <a:lnSpc>
                <a:spcPct val="100000"/>
              </a:lnSpc>
              <a:spcBef>
                <a:spcPts val="1000"/>
              </a:spcBef>
              <a:spcAft>
                <a:spcPts val="0"/>
              </a:spcAft>
              <a:buSzPts val="1400"/>
              <a:buFont typeface="Verdana"/>
              <a:buChar char="●"/>
            </a:pPr>
            <a:r>
              <a:rPr lang="en-CA">
                <a:latin typeface="Verdana"/>
                <a:ea typeface="Verdana"/>
                <a:cs typeface="Verdana"/>
                <a:sym typeface="Verdana"/>
              </a:rPr>
              <a:t>For example, genes H and d will cross over less than genes B and H, producing fewer recombinant gametes. </a:t>
            </a:r>
            <a:endParaRPr>
              <a:latin typeface="Verdana"/>
              <a:ea typeface="Verdana"/>
              <a:cs typeface="Verdana"/>
              <a:sym typeface="Verdana"/>
            </a:endParaRPr>
          </a:p>
        </p:txBody>
      </p:sp>
      <p:pic>
        <p:nvPicPr>
          <p:cNvPr id="1314" name="Google Shape;1314;p114"/>
          <p:cNvPicPr preferRelativeResize="0"/>
          <p:nvPr/>
        </p:nvPicPr>
        <p:blipFill rotWithShape="1">
          <a:blip r:embed="rId3">
            <a:alphaModFix/>
          </a:blip>
          <a:srcRect b="0" l="0" r="0" t="0"/>
          <a:stretch/>
        </p:blipFill>
        <p:spPr>
          <a:xfrm>
            <a:off x="5333572" y="2138596"/>
            <a:ext cx="2943175" cy="3225849"/>
          </a:xfrm>
          <a:prstGeom prst="rect">
            <a:avLst/>
          </a:prstGeom>
          <a:noFill/>
          <a:ln cap="flat" cmpd="sng" w="9525">
            <a:solidFill>
              <a:srgbClr val="434343"/>
            </a:solidFill>
            <a:prstDash val="solid"/>
            <a:round/>
            <a:headEnd len="sm" w="sm" type="none"/>
            <a:tailEnd len="sm" w="sm" type="none"/>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15"/>
          <p:cNvSpPr txBox="1"/>
          <p:nvPr/>
        </p:nvSpPr>
        <p:spPr>
          <a:xfrm>
            <a:off x="1835696" y="980728"/>
            <a:ext cx="5616623" cy="46166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0" lang="en-CA" sz="2400" cap="none" strike="noStrike">
                <a:solidFill>
                  <a:srgbClr val="393B3F"/>
                </a:solidFill>
                <a:latin typeface="Verdana"/>
                <a:ea typeface="Verdana"/>
                <a:cs typeface="Verdana"/>
                <a:sym typeface="Verdana"/>
              </a:rPr>
              <a:t>Gene Mapping</a:t>
            </a:r>
            <a:endParaRPr/>
          </a:p>
        </p:txBody>
      </p:sp>
      <p:sp>
        <p:nvSpPr>
          <p:cNvPr id="1320" name="Google Shape;1320;p115"/>
          <p:cNvSpPr txBox="1"/>
          <p:nvPr/>
        </p:nvSpPr>
        <p:spPr>
          <a:xfrm>
            <a:off x="1043608" y="1484783"/>
            <a:ext cx="6984776" cy="47089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0" i="0" lang="en-CA" sz="2000" u="sng" cap="none" strike="noStrike">
                <a:solidFill>
                  <a:srgbClr val="393B3F"/>
                </a:solidFill>
                <a:latin typeface="Verdana"/>
                <a:ea typeface="Verdana"/>
                <a:cs typeface="Verdana"/>
                <a:sym typeface="Verdana"/>
              </a:rPr>
              <a:t>Example</a:t>
            </a:r>
            <a:r>
              <a:rPr b="0" i="0" lang="en-CA" sz="2000" cap="none" strike="noStrike">
                <a:solidFill>
                  <a:srgbClr val="393B3F"/>
                </a:solidFill>
                <a:latin typeface="Verdana"/>
                <a:ea typeface="Verdana"/>
                <a:cs typeface="Verdana"/>
                <a:sym typeface="Verdana"/>
              </a:rPr>
              <a:t>:</a:t>
            </a:r>
            <a:endParaRPr/>
          </a:p>
          <a:p>
            <a:pPr indent="0" lvl="0" marL="0" marR="0" rtl="0" algn="l">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In smurfs, white hair (H) is dominant to blonde hair (h), and large noses (N) are dominant to small noses (n). </a:t>
            </a:r>
            <a:endParaRPr sz="1800"/>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sz="20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sz="20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b="0" i="0" lang="en-CA" sz="1800" u="none" cap="none" strike="noStrike">
                <a:solidFill>
                  <a:srgbClr val="393B3F"/>
                </a:solidFill>
                <a:latin typeface="Verdana"/>
                <a:ea typeface="Verdana"/>
                <a:cs typeface="Verdana"/>
                <a:sym typeface="Verdana"/>
              </a:rPr>
              <a:t>A smurf heterozygous for both traits (HhNn) is crossed with a blonde haired, small nosed smurf (hhnn). If these two genes are </a:t>
            </a:r>
            <a:r>
              <a:rPr lang="en-CA" sz="1800">
                <a:solidFill>
                  <a:srgbClr val="393B3F"/>
                </a:solidFill>
                <a:latin typeface="Verdana"/>
                <a:ea typeface="Verdana"/>
                <a:cs typeface="Verdana"/>
                <a:sym typeface="Verdana"/>
              </a:rPr>
              <a:t>NOT </a:t>
            </a:r>
            <a:r>
              <a:rPr b="0" i="0" lang="en-CA" sz="1800" u="none" cap="none" strike="noStrike">
                <a:solidFill>
                  <a:srgbClr val="393B3F"/>
                </a:solidFill>
                <a:latin typeface="Verdana"/>
                <a:ea typeface="Verdana"/>
                <a:cs typeface="Verdana"/>
                <a:sym typeface="Verdana"/>
              </a:rPr>
              <a:t>linked, what would we expect the phenotypic ratio of offspring to be?  </a:t>
            </a:r>
            <a:endParaRPr sz="1800"/>
          </a:p>
        </p:txBody>
      </p:sp>
      <p:pic>
        <p:nvPicPr>
          <p:cNvPr descr="http://doyouremember.com/wp-content/uploads/2013/07/characters_smurfette_002-Converted-small.jpg" id="1321" name="Google Shape;1321;p115"/>
          <p:cNvPicPr preferRelativeResize="0"/>
          <p:nvPr/>
        </p:nvPicPr>
        <p:blipFill rotWithShape="1">
          <a:blip r:embed="rId3">
            <a:alphaModFix/>
          </a:blip>
          <a:srcRect b="0" l="0" r="19849" t="0"/>
          <a:stretch/>
        </p:blipFill>
        <p:spPr>
          <a:xfrm>
            <a:off x="4932039" y="2747080"/>
            <a:ext cx="1584175" cy="2145436"/>
          </a:xfrm>
          <a:prstGeom prst="rect">
            <a:avLst/>
          </a:prstGeom>
          <a:noFill/>
          <a:ln>
            <a:noFill/>
          </a:ln>
        </p:spPr>
      </p:pic>
      <p:sp>
        <p:nvSpPr>
          <p:cNvPr id="1322" name="Google Shape;1322;p115"/>
          <p:cNvSpPr/>
          <p:nvPr/>
        </p:nvSpPr>
        <p:spPr>
          <a:xfrm>
            <a:off x="4073276" y="3435682"/>
            <a:ext cx="642600" cy="679200"/>
          </a:xfrm>
          <a:prstGeom prst="mathMultiply">
            <a:avLst>
              <a:gd fmla="val 23520" name="adj1"/>
            </a:avLst>
          </a:prstGeom>
          <a:solidFill>
            <a:schemeClr val="accent1"/>
          </a:solidFill>
          <a:ln cap="flat" cmpd="sng" w="15875">
            <a:solidFill>
              <a:srgbClr val="3839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id="1323" name="Google Shape;1323;p115"/>
          <p:cNvPicPr preferRelativeResize="0"/>
          <p:nvPr/>
        </p:nvPicPr>
        <p:blipFill>
          <a:blip r:embed="rId4">
            <a:alphaModFix/>
          </a:blip>
          <a:stretch>
            <a:fillRect/>
          </a:stretch>
        </p:blipFill>
        <p:spPr>
          <a:xfrm>
            <a:off x="1965500" y="2757213"/>
            <a:ext cx="1820111" cy="203612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pic>
        <p:nvPicPr>
          <p:cNvPr id="1328" name="Google Shape;1328;p116"/>
          <p:cNvPicPr preferRelativeResize="0"/>
          <p:nvPr/>
        </p:nvPicPr>
        <p:blipFill rotWithShape="1">
          <a:blip r:embed="rId3">
            <a:alphaModFix/>
          </a:blip>
          <a:srcRect b="0" l="0" r="32941" t="0"/>
          <a:stretch/>
        </p:blipFill>
        <p:spPr>
          <a:xfrm>
            <a:off x="1476871" y="1052736"/>
            <a:ext cx="6190255" cy="2828781"/>
          </a:xfrm>
          <a:prstGeom prst="rect">
            <a:avLst/>
          </a:prstGeom>
          <a:noFill/>
          <a:ln>
            <a:noFill/>
          </a:ln>
        </p:spPr>
      </p:pic>
      <p:sp>
        <p:nvSpPr>
          <p:cNvPr id="1329" name="Google Shape;1329;p116"/>
          <p:cNvSpPr txBox="1"/>
          <p:nvPr/>
        </p:nvSpPr>
        <p:spPr>
          <a:xfrm>
            <a:off x="971600" y="4221080"/>
            <a:ext cx="7200900" cy="725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Although this cross should yield a 1:1:1:1 phenotypic ratio, you observe the following…</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Verdana"/>
              <a:ea typeface="Verdana"/>
              <a:cs typeface="Verdana"/>
              <a:sym typeface="Verdana"/>
            </a:endParaRPr>
          </a:p>
        </p:txBody>
      </p:sp>
      <p:grpSp>
        <p:nvGrpSpPr>
          <p:cNvPr id="1330" name="Google Shape;1330;p116"/>
          <p:cNvGrpSpPr/>
          <p:nvPr/>
        </p:nvGrpSpPr>
        <p:grpSpPr>
          <a:xfrm>
            <a:off x="1476871" y="5128235"/>
            <a:ext cx="6190200" cy="1200329"/>
            <a:chOff x="1476871" y="5128235"/>
            <a:chExt cx="6190200" cy="1200329"/>
          </a:xfrm>
        </p:grpSpPr>
        <p:sp>
          <p:nvSpPr>
            <p:cNvPr id="1331" name="Google Shape;1331;p116"/>
            <p:cNvSpPr txBox="1"/>
            <p:nvPr/>
          </p:nvSpPr>
          <p:spPr>
            <a:xfrm>
              <a:off x="1728291" y="5128235"/>
              <a:ext cx="5687416"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6 offspring with white hair and large noses</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2 offspring with white hair and small noses</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2 offspring with blonde hair and large noses</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6 offspring with blonde hair and small noses</a:t>
              </a:r>
              <a:endParaRPr/>
            </a:p>
          </p:txBody>
        </p:sp>
        <p:sp>
          <p:nvSpPr>
            <p:cNvPr id="1332" name="Google Shape;1332;p116"/>
            <p:cNvSpPr/>
            <p:nvPr/>
          </p:nvSpPr>
          <p:spPr>
            <a:xfrm>
              <a:off x="1476871" y="5128235"/>
              <a:ext cx="6190200" cy="1200300"/>
            </a:xfrm>
            <a:prstGeom prst="rect">
              <a:avLst/>
            </a:prstGeom>
            <a:noFill/>
            <a:ln cap="flat" cmpd="sng" w="285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17"/>
          <p:cNvSpPr/>
          <p:nvPr/>
        </p:nvSpPr>
        <p:spPr>
          <a:xfrm>
            <a:off x="1043608" y="1340767"/>
            <a:ext cx="7056783" cy="1512167"/>
          </a:xfrm>
          <a:prstGeom prst="rect">
            <a:avLst/>
          </a:prstGeom>
          <a:noFill/>
          <a:ln cap="flat" cmpd="sng" w="285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pic>
        <p:nvPicPr>
          <p:cNvPr id="1338" name="Google Shape;1338;p117"/>
          <p:cNvPicPr preferRelativeResize="0"/>
          <p:nvPr/>
        </p:nvPicPr>
        <p:blipFill rotWithShape="1">
          <a:blip r:embed="rId3">
            <a:alphaModFix/>
          </a:blip>
          <a:srcRect b="0" l="0" r="0" t="0"/>
          <a:stretch/>
        </p:blipFill>
        <p:spPr>
          <a:xfrm rot="1497439">
            <a:off x="7386874" y="2356522"/>
            <a:ext cx="1035794" cy="1432163"/>
          </a:xfrm>
          <a:prstGeom prst="rect">
            <a:avLst/>
          </a:prstGeom>
          <a:noFill/>
          <a:ln>
            <a:noFill/>
          </a:ln>
        </p:spPr>
      </p:pic>
      <p:pic>
        <p:nvPicPr>
          <p:cNvPr id="1339" name="Google Shape;1339;p117"/>
          <p:cNvPicPr preferRelativeResize="0"/>
          <p:nvPr/>
        </p:nvPicPr>
        <p:blipFill rotWithShape="1">
          <a:blip r:embed="rId4">
            <a:alphaModFix/>
          </a:blip>
          <a:srcRect b="9632" l="3451" r="0" t="7802"/>
          <a:stretch/>
        </p:blipFill>
        <p:spPr>
          <a:xfrm rot="1073428">
            <a:off x="662788" y="565129"/>
            <a:ext cx="1313813" cy="1342441"/>
          </a:xfrm>
          <a:prstGeom prst="rect">
            <a:avLst/>
          </a:prstGeom>
          <a:noFill/>
          <a:ln>
            <a:noFill/>
          </a:ln>
        </p:spPr>
      </p:pic>
      <p:sp>
        <p:nvSpPr>
          <p:cNvPr id="1340" name="Google Shape;1340;p117"/>
          <p:cNvSpPr txBox="1"/>
          <p:nvPr/>
        </p:nvSpPr>
        <p:spPr>
          <a:xfrm>
            <a:off x="1259632" y="1484783"/>
            <a:ext cx="6624735" cy="12003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   6 offspring with white hair and large noses (HhNn)</a:t>
            </a:r>
            <a:endParaRPr/>
          </a:p>
          <a:p>
            <a:pPr indent="0" lvl="0" marL="0" marR="0" rtl="0" algn="l">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   2 offspring with white hair and small noses (Hhnn)</a:t>
            </a:r>
            <a:endParaRPr/>
          </a:p>
          <a:p>
            <a:pPr indent="0" lvl="0" marL="0" marR="0" rtl="0" algn="l">
              <a:lnSpc>
                <a:spcPct val="100000"/>
              </a:lnSpc>
              <a:spcBef>
                <a:spcPts val="0"/>
              </a:spcBef>
              <a:spcAft>
                <a:spcPts val="0"/>
              </a:spcAft>
              <a:buClr>
                <a:srgbClr val="393B3F"/>
              </a:buClr>
              <a:buSzPts val="450"/>
              <a:buFont typeface="Verdana"/>
              <a:buNone/>
            </a:pPr>
            <a:r>
              <a:rPr b="0" i="0" lang="en-CA" sz="1800" u="none" cap="none" strike="noStrike">
                <a:solidFill>
                  <a:srgbClr val="393B3F"/>
                </a:solidFill>
                <a:latin typeface="Verdana"/>
                <a:ea typeface="Verdana"/>
                <a:cs typeface="Verdana"/>
                <a:sym typeface="Verdana"/>
              </a:rPr>
              <a:t>   2 offspring with blonde hair and large noses (hhNn)</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6 offspring with blonde hair and small noses (hhnn)</a:t>
            </a:r>
            <a:endParaRPr/>
          </a:p>
        </p:txBody>
      </p:sp>
      <p:sp>
        <p:nvSpPr>
          <p:cNvPr id="1341" name="Google Shape;1341;p117"/>
          <p:cNvSpPr txBox="1"/>
          <p:nvPr/>
        </p:nvSpPr>
        <p:spPr>
          <a:xfrm>
            <a:off x="880601" y="3212975"/>
            <a:ext cx="7219800" cy="2862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Recall that the original cross was</a:t>
            </a:r>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 HhNn x hhnn…</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Because there are more parental genotypes (HhNn and hhnn) than recombinants (Hhnn and hhNn) compared to the predicted ratio, we can conclude that the genes for hair colour and nose size are likely linked</a:t>
            </a:r>
            <a:r>
              <a:rPr lang="en-CA"/>
              <a:t> </a:t>
            </a:r>
            <a:r>
              <a:rPr b="0" i="0" lang="en-CA" sz="2000" u="none" cap="none" strike="noStrike">
                <a:solidFill>
                  <a:srgbClr val="393B3F"/>
                </a:solidFill>
                <a:latin typeface="Verdana"/>
                <a:ea typeface="Verdana"/>
                <a:cs typeface="Verdana"/>
                <a:sym typeface="Verdana"/>
              </a:rPr>
              <a:t>(i.e. they are on the same chromosome)</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But how far apart are they? </a:t>
            </a:r>
            <a:endParaRPr/>
          </a:p>
        </p:txBody>
      </p:sp>
      <p:pic>
        <p:nvPicPr>
          <p:cNvPr id="1342" name="Google Shape;1342;p117"/>
          <p:cNvPicPr preferRelativeResize="0"/>
          <p:nvPr/>
        </p:nvPicPr>
        <p:blipFill rotWithShape="1">
          <a:blip r:embed="rId5">
            <a:alphaModFix/>
          </a:blip>
          <a:srcRect b="0" l="0" r="0" t="0"/>
          <a:stretch/>
        </p:blipFill>
        <p:spPr>
          <a:xfrm rot="-884456">
            <a:off x="639297" y="2330626"/>
            <a:ext cx="1079386" cy="1489619"/>
          </a:xfrm>
          <a:prstGeom prst="rect">
            <a:avLst/>
          </a:prstGeom>
          <a:noFill/>
          <a:ln>
            <a:noFill/>
          </a:ln>
        </p:spPr>
      </p:pic>
      <p:pic>
        <p:nvPicPr>
          <p:cNvPr id="1343" name="Google Shape;1343;p117"/>
          <p:cNvPicPr preferRelativeResize="0"/>
          <p:nvPr/>
        </p:nvPicPr>
        <p:blipFill rotWithShape="1">
          <a:blip r:embed="rId6">
            <a:alphaModFix/>
          </a:blip>
          <a:srcRect b="7557" l="1041" r="0" t="0"/>
          <a:stretch/>
        </p:blipFill>
        <p:spPr>
          <a:xfrm rot="-1339133">
            <a:off x="7472118" y="723072"/>
            <a:ext cx="970526" cy="1422809"/>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pic>
        <p:nvPicPr>
          <p:cNvPr id="1348" name="Google Shape;1348;p118"/>
          <p:cNvPicPr preferRelativeResize="0"/>
          <p:nvPr/>
        </p:nvPicPr>
        <p:blipFill rotWithShape="1">
          <a:blip r:embed="rId3">
            <a:alphaModFix/>
          </a:blip>
          <a:srcRect b="62623" l="0" r="0" t="0"/>
          <a:stretch/>
        </p:blipFill>
        <p:spPr>
          <a:xfrm>
            <a:off x="914346" y="776671"/>
            <a:ext cx="7243339" cy="940513"/>
          </a:xfrm>
          <a:prstGeom prst="rect">
            <a:avLst/>
          </a:prstGeom>
          <a:noFill/>
          <a:ln>
            <a:noFill/>
          </a:ln>
        </p:spPr>
      </p:pic>
      <p:sp>
        <p:nvSpPr>
          <p:cNvPr id="1349" name="Google Shape;1349;p118"/>
          <p:cNvSpPr/>
          <p:nvPr/>
        </p:nvSpPr>
        <p:spPr>
          <a:xfrm>
            <a:off x="827571" y="778926"/>
            <a:ext cx="7416900" cy="936000"/>
          </a:xfrm>
          <a:prstGeom prst="rect">
            <a:avLst/>
          </a:pr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4"/>
              </a:solidFill>
              <a:latin typeface="Verdana"/>
              <a:ea typeface="Verdana"/>
              <a:cs typeface="Verdana"/>
              <a:sym typeface="Verdana"/>
            </a:endParaRPr>
          </a:p>
        </p:txBody>
      </p:sp>
      <p:pic>
        <p:nvPicPr>
          <p:cNvPr id="1350" name="Google Shape;1350;p118"/>
          <p:cNvPicPr preferRelativeResize="0"/>
          <p:nvPr/>
        </p:nvPicPr>
        <p:blipFill rotWithShape="1">
          <a:blip r:embed="rId4">
            <a:alphaModFix/>
          </a:blip>
          <a:srcRect b="0" l="0" r="0" t="0"/>
          <a:stretch/>
        </p:blipFill>
        <p:spPr>
          <a:xfrm>
            <a:off x="1016984" y="2054919"/>
            <a:ext cx="6750321" cy="631984"/>
          </a:xfrm>
          <a:prstGeom prst="rect">
            <a:avLst/>
          </a:prstGeom>
          <a:noFill/>
          <a:ln>
            <a:noFill/>
          </a:ln>
        </p:spPr>
      </p:pic>
      <p:sp>
        <p:nvSpPr>
          <p:cNvPr id="1351" name="Google Shape;1351;p118"/>
          <p:cNvSpPr txBox="1"/>
          <p:nvPr/>
        </p:nvSpPr>
        <p:spPr>
          <a:xfrm>
            <a:off x="971550" y="2877661"/>
            <a:ext cx="7200900" cy="1015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With a recombination frequency of 25%, we may conclude that the genes for hair colour and nose size in smurfs is 25 </a:t>
            </a:r>
            <a:r>
              <a:rPr b="1" i="0" lang="en-CA" sz="2000" u="none" cap="none" strike="noStrike">
                <a:solidFill>
                  <a:srgbClr val="393B3F"/>
                </a:solidFill>
                <a:latin typeface="Verdana"/>
                <a:ea typeface="Verdana"/>
                <a:cs typeface="Verdana"/>
                <a:sym typeface="Verdana"/>
              </a:rPr>
              <a:t>map units</a:t>
            </a:r>
            <a:r>
              <a:rPr b="0" i="0" lang="en-CA" sz="2000" u="none" cap="none" strike="noStrike">
                <a:solidFill>
                  <a:srgbClr val="393B3F"/>
                </a:solidFill>
                <a:latin typeface="Verdana"/>
                <a:ea typeface="Verdana"/>
                <a:cs typeface="Verdana"/>
                <a:sym typeface="Verdana"/>
              </a:rPr>
              <a:t> apart:</a:t>
            </a:r>
            <a:endParaRPr/>
          </a:p>
        </p:txBody>
      </p:sp>
      <p:pic>
        <p:nvPicPr>
          <p:cNvPr id="1352" name="Google Shape;1352;p118"/>
          <p:cNvPicPr preferRelativeResize="0"/>
          <p:nvPr/>
        </p:nvPicPr>
        <p:blipFill rotWithShape="1">
          <a:blip r:embed="rId5">
            <a:alphaModFix/>
          </a:blip>
          <a:srcRect b="0" l="0" r="0" t="0"/>
          <a:stretch/>
        </p:blipFill>
        <p:spPr>
          <a:xfrm>
            <a:off x="1449461" y="4218285"/>
            <a:ext cx="5885345" cy="153499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19"/>
          <p:cNvSpPr txBox="1"/>
          <p:nvPr/>
        </p:nvSpPr>
        <p:spPr>
          <a:xfrm>
            <a:off x="511500" y="1350600"/>
            <a:ext cx="8121000" cy="2944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Verdana"/>
              <a:buChar char="➢"/>
            </a:pPr>
            <a:r>
              <a:rPr lang="en-CA" sz="1600">
                <a:solidFill>
                  <a:schemeClr val="dk2"/>
                </a:solidFill>
                <a:latin typeface="Verdana"/>
                <a:ea typeface="Verdana"/>
                <a:cs typeface="Verdana"/>
                <a:sym typeface="Verdana"/>
              </a:rPr>
              <a:t>A </a:t>
            </a:r>
            <a:r>
              <a:rPr b="1" lang="en-CA" sz="1600">
                <a:solidFill>
                  <a:schemeClr val="dk2"/>
                </a:solidFill>
                <a:latin typeface="Verdana"/>
                <a:ea typeface="Verdana"/>
                <a:cs typeface="Verdana"/>
                <a:sym typeface="Verdana"/>
              </a:rPr>
              <a:t>map unit (mu)</a:t>
            </a:r>
            <a:r>
              <a:rPr lang="en-CA" sz="1600">
                <a:solidFill>
                  <a:schemeClr val="dk2"/>
                </a:solidFill>
                <a:latin typeface="Verdana"/>
                <a:ea typeface="Verdana"/>
                <a:cs typeface="Verdana"/>
                <a:sym typeface="Verdana"/>
              </a:rPr>
              <a:t>, also known as a</a:t>
            </a:r>
            <a:r>
              <a:rPr b="1" lang="en-CA" sz="1600">
                <a:solidFill>
                  <a:schemeClr val="dk2"/>
                </a:solidFill>
                <a:latin typeface="Verdana"/>
                <a:ea typeface="Verdana"/>
                <a:cs typeface="Verdana"/>
                <a:sym typeface="Verdana"/>
              </a:rPr>
              <a:t> centiMorgan (cM), </a:t>
            </a:r>
            <a:r>
              <a:rPr lang="en-CA" sz="1600">
                <a:solidFill>
                  <a:schemeClr val="dk2"/>
                </a:solidFill>
                <a:latin typeface="Verdana"/>
                <a:ea typeface="Verdana"/>
                <a:cs typeface="Verdana"/>
                <a:sym typeface="Verdana"/>
              </a:rPr>
              <a:t>is a unit of measure for gene linkage. It describes how closely together are two gene loci (plural of locus) are located. </a:t>
            </a:r>
            <a:endParaRPr sz="1600">
              <a:solidFill>
                <a:schemeClr val="dk2"/>
              </a:solidFill>
              <a:latin typeface="Verdana"/>
              <a:ea typeface="Verdana"/>
              <a:cs typeface="Verdana"/>
              <a:sym typeface="Verdana"/>
            </a:endParaRPr>
          </a:p>
          <a:p>
            <a:pPr indent="-330200" lvl="1" marL="914400" rtl="0" algn="l">
              <a:spcBef>
                <a:spcPts val="1000"/>
              </a:spcBef>
              <a:spcAft>
                <a:spcPts val="0"/>
              </a:spcAft>
              <a:buClr>
                <a:schemeClr val="dk2"/>
              </a:buClr>
              <a:buSzPts val="1600"/>
              <a:buFont typeface="Verdana"/>
              <a:buChar char="○"/>
            </a:pPr>
            <a:r>
              <a:rPr lang="en-CA" sz="1600">
                <a:solidFill>
                  <a:schemeClr val="dk2"/>
                </a:solidFill>
                <a:latin typeface="Verdana"/>
                <a:ea typeface="Verdana"/>
                <a:cs typeface="Verdana"/>
                <a:sym typeface="Verdana"/>
              </a:rPr>
              <a:t>A cM is about 1 million base pairs long, but we don’t want to think of it in terms of an actual physical distance, but rather as a measure of the recombination frequency and therefore how close together those two genes are, relatively speaking. </a:t>
            </a:r>
            <a:endParaRPr sz="1600">
              <a:solidFill>
                <a:schemeClr val="dk2"/>
              </a:solidFill>
              <a:latin typeface="Verdana"/>
              <a:ea typeface="Verdana"/>
              <a:cs typeface="Verdana"/>
              <a:sym typeface="Verdana"/>
            </a:endParaRPr>
          </a:p>
          <a:p>
            <a:pPr indent="-330200" lvl="1" marL="914400" rtl="0" algn="l">
              <a:spcBef>
                <a:spcPts val="1000"/>
              </a:spcBef>
              <a:spcAft>
                <a:spcPts val="0"/>
              </a:spcAft>
              <a:buClr>
                <a:schemeClr val="dk2"/>
              </a:buClr>
              <a:buSzPts val="1600"/>
              <a:buFont typeface="Verdana"/>
              <a:buChar char="○"/>
            </a:pPr>
            <a:r>
              <a:rPr lang="en-CA" sz="1600">
                <a:solidFill>
                  <a:schemeClr val="dk2"/>
                </a:solidFill>
                <a:latin typeface="Verdana"/>
                <a:ea typeface="Verdana"/>
                <a:cs typeface="Verdana"/>
                <a:sym typeface="Verdana"/>
              </a:rPr>
              <a:t>For example, if hair colour and nose size are 25 map units apart, it means that 25% of the time they will cross over and create recombinants, as we have seen in this example</a:t>
            </a:r>
            <a:endParaRPr sz="1600">
              <a:solidFill>
                <a:schemeClr val="dk2"/>
              </a:solidFill>
              <a:latin typeface="Verdana"/>
              <a:ea typeface="Verdana"/>
              <a:cs typeface="Verdana"/>
              <a:sym typeface="Verdana"/>
            </a:endParaRPr>
          </a:p>
          <a:p>
            <a:pPr indent="0" lvl="0" marL="0" rtl="0" algn="l">
              <a:spcBef>
                <a:spcPts val="1000"/>
              </a:spcBef>
              <a:spcAft>
                <a:spcPts val="0"/>
              </a:spcAft>
              <a:buNone/>
            </a:pPr>
            <a:r>
              <a:t/>
            </a:r>
            <a:endParaRPr sz="1600">
              <a:solidFill>
                <a:schemeClr val="dk2"/>
              </a:solidFill>
              <a:latin typeface="Verdana"/>
              <a:ea typeface="Verdana"/>
              <a:cs typeface="Verdana"/>
              <a:sym typeface="Verdana"/>
            </a:endParaRPr>
          </a:p>
        </p:txBody>
      </p:sp>
      <p:pic>
        <p:nvPicPr>
          <p:cNvPr id="1359" name="Google Shape;1359;p119"/>
          <p:cNvPicPr preferRelativeResize="0"/>
          <p:nvPr/>
        </p:nvPicPr>
        <p:blipFill rotWithShape="1">
          <a:blip r:embed="rId3">
            <a:alphaModFix/>
          </a:blip>
          <a:srcRect b="0" l="0" r="0" t="0"/>
          <a:stretch/>
        </p:blipFill>
        <p:spPr>
          <a:xfrm>
            <a:off x="1710951" y="5159476"/>
            <a:ext cx="5362350" cy="1398575"/>
          </a:xfrm>
          <a:prstGeom prst="rect">
            <a:avLst/>
          </a:prstGeom>
          <a:noFill/>
          <a:ln>
            <a:noFill/>
          </a:ln>
        </p:spPr>
      </p:pic>
      <p:sp>
        <p:nvSpPr>
          <p:cNvPr id="1360" name="Google Shape;1360;p119"/>
          <p:cNvSpPr txBox="1"/>
          <p:nvPr/>
        </p:nvSpPr>
        <p:spPr>
          <a:xfrm>
            <a:off x="92774" y="553325"/>
            <a:ext cx="46467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600"/>
              <a:buFont typeface="Verdana"/>
              <a:buNone/>
            </a:pPr>
            <a:r>
              <a:rPr b="1" i="1" lang="en-CA" sz="2400">
                <a:solidFill>
                  <a:srgbClr val="393B3F"/>
                </a:solidFill>
                <a:latin typeface="Verdana"/>
                <a:ea typeface="Verdana"/>
                <a:cs typeface="Verdana"/>
                <a:sym typeface="Verdana"/>
              </a:rPr>
              <a:t>‘Map What’??</a:t>
            </a:r>
            <a:endParaRPr i="1"/>
          </a:p>
        </p:txBody>
      </p:sp>
      <p:pic>
        <p:nvPicPr>
          <p:cNvPr id="1361" name="Google Shape;1361;p119"/>
          <p:cNvPicPr preferRelativeResize="0"/>
          <p:nvPr/>
        </p:nvPicPr>
        <p:blipFill rotWithShape="1">
          <a:blip r:embed="rId4">
            <a:alphaModFix/>
          </a:blip>
          <a:srcRect b="0" l="0" r="0" t="0"/>
          <a:stretch/>
        </p:blipFill>
        <p:spPr>
          <a:xfrm>
            <a:off x="1538426" y="4443274"/>
            <a:ext cx="6067126" cy="568025"/>
          </a:xfrm>
          <a:prstGeom prst="rect">
            <a:avLst/>
          </a:prstGeom>
          <a:noFill/>
          <a:ln>
            <a:noFill/>
          </a:ln>
        </p:spPr>
      </p:pic>
      <p:pic>
        <p:nvPicPr>
          <p:cNvPr descr="🔥In this Part 4 (Final Part) of Classical Genetics Chapter we will discuss the Work of &#10;►Thomas Hunt Morgan &#10;►Alfred Sturtevant &#10;► Chromosomal Theory of Inheritance&#10;► Chromosomal Heredity &#10;► X Linked Traits&#10;► Sex Linked Traits&#10;► Crossing Over&#10;► Genetic Linkage&#10;► Physical Location of Genes on Chromosome&#10;►Genetic Recombination&#10;&#10;&#10;⭐ALSO WATCH:&#10;&#10;👉 https://youtu.be/mi9AuvGzzRM  Classical Genetics Part 01&#10;👉 https://youtu.be/tbHKBN0izVg    Classical Genetics Part 02&#10;👉https://youtu.be/IfLT_soTQvE       Classical Genetics Part 03&#10;&#10;💙 LET'S CONNECT!&#10;Send me a DM ► https://www.instagram.com/biotechreview&#10;Facebook  ► https://www.facebook.com/biotechreview1&#10;&#10;🎬 Background Music:  Liquid Time by Aakash Gandhi&#10;&#10;⚡ Chapters:&#10;0:00 Thomas Hunt Morgan&#10;0:30 X Linked Traits&#10;1:21 Physical Location of Genes on Chromosomes&#10;1:50 Alfred Sturtevant and Genetic Map&#10;2:05 Crossing Over &#10;3:25 Genetic Recombination&#10;3:51Genetic Linkage&#10;4:08 Centi Morgan&#10;&#10;#genetics #biotechnology #chromosome #classicalgenetics #biotechreview" id="1362" name="Google Shape;1362;p119" title="Thomas H Morgan | Chromosomal Theory of Inheritance | X Linked Traits | Crossing Over | Genetic Map">
            <a:hlinkClick r:id="rId5"/>
          </p:cNvPr>
          <p:cNvPicPr preferRelativeResize="0"/>
          <p:nvPr/>
        </p:nvPicPr>
        <p:blipFill>
          <a:blip r:embed="rId6">
            <a:alphaModFix/>
          </a:blip>
          <a:stretch>
            <a:fillRect/>
          </a:stretch>
        </p:blipFill>
        <p:spPr>
          <a:xfrm>
            <a:off x="6583100" y="0"/>
            <a:ext cx="2486350" cy="1398575"/>
          </a:xfrm>
          <a:prstGeom prst="rect">
            <a:avLst/>
          </a:prstGeom>
          <a:noFill/>
          <a:ln>
            <a:noFill/>
          </a:ln>
        </p:spPr>
      </p:pic>
      <p:sp>
        <p:nvSpPr>
          <p:cNvPr id="1363" name="Google Shape;1363;p119"/>
          <p:cNvSpPr/>
          <p:nvPr/>
        </p:nvSpPr>
        <p:spPr>
          <a:xfrm>
            <a:off x="4565200" y="63925"/>
            <a:ext cx="2252100" cy="1334700"/>
          </a:xfrm>
          <a:prstGeom prst="downArrow">
            <a:avLst>
              <a:gd fmla="val 50000" name="adj1"/>
              <a:gd fmla="val 19491"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364" name="Google Shape;1364;p119"/>
          <p:cNvSpPr txBox="1"/>
          <p:nvPr/>
        </p:nvSpPr>
        <p:spPr>
          <a:xfrm>
            <a:off x="5189088" y="363925"/>
            <a:ext cx="944400" cy="734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CA" sz="1300">
                <a:solidFill>
                  <a:schemeClr val="dk2"/>
                </a:solidFill>
                <a:latin typeface="Verdana"/>
                <a:ea typeface="Verdana"/>
                <a:cs typeface="Verdana"/>
                <a:sym typeface="Verdana"/>
              </a:rPr>
              <a:t>Named in honour of Thomas Morgan</a:t>
            </a:r>
            <a:endParaRPr b="1" sz="1300">
              <a:solidFill>
                <a:schemeClr val="dk2"/>
              </a:solidFill>
              <a:latin typeface="Verdana"/>
              <a:ea typeface="Verdana"/>
              <a:cs typeface="Verdana"/>
              <a:sym typeface="Verdana"/>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20"/>
          <p:cNvSpPr txBox="1"/>
          <p:nvPr/>
        </p:nvSpPr>
        <p:spPr>
          <a:xfrm>
            <a:off x="1115616" y="1090479"/>
            <a:ext cx="6912767" cy="255454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Now consider another trait on the same chromosome: eye colour (where brown eyes are dominant and blue eyes are recessive)</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A smurf heterozygous for both eye colour and nose size (EeNn) is crossed with a smurf with blue eyes and a small nose (eenn), producing the following genotypic ratio:</a:t>
            </a:r>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393B3F"/>
              </a:solidFill>
              <a:latin typeface="Verdana"/>
              <a:ea typeface="Verdana"/>
              <a:cs typeface="Verdana"/>
              <a:sym typeface="Verdana"/>
            </a:endParaRPr>
          </a:p>
        </p:txBody>
      </p:sp>
      <p:sp>
        <p:nvSpPr>
          <p:cNvPr id="1370" name="Google Shape;1370;p120"/>
          <p:cNvSpPr txBox="1"/>
          <p:nvPr/>
        </p:nvSpPr>
        <p:spPr>
          <a:xfrm>
            <a:off x="2519772" y="3849930"/>
            <a:ext cx="4248600" cy="12003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7 EeNn (brown eyes, long nose)</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1 Eenn (brown eyes, short nose)</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1 eeNn (blue eyes, long nose)</a:t>
            </a:r>
            <a:endParaRPr/>
          </a:p>
          <a:p>
            <a:pPr indent="-285750" lvl="0" marL="285750" marR="0" rtl="0" algn="l">
              <a:lnSpc>
                <a:spcPct val="100000"/>
              </a:lnSpc>
              <a:spcBef>
                <a:spcPts val="0"/>
              </a:spcBef>
              <a:spcAft>
                <a:spcPts val="0"/>
              </a:spcAft>
              <a:buClr>
                <a:srgbClr val="393B3F"/>
              </a:buClr>
              <a:buSzPts val="1800"/>
              <a:buFont typeface="Courier New"/>
              <a:buChar char="o"/>
            </a:pPr>
            <a:r>
              <a:rPr b="0" i="0" lang="en-CA" sz="1800" u="none" cap="none" strike="noStrike">
                <a:solidFill>
                  <a:srgbClr val="393B3F"/>
                </a:solidFill>
                <a:latin typeface="Verdana"/>
                <a:ea typeface="Verdana"/>
                <a:cs typeface="Verdana"/>
                <a:sym typeface="Verdana"/>
              </a:rPr>
              <a:t>7 eenn (blue eyes, short nose)</a:t>
            </a:r>
            <a:endParaRPr/>
          </a:p>
        </p:txBody>
      </p:sp>
      <p:sp>
        <p:nvSpPr>
          <p:cNvPr id="1371" name="Google Shape;1371;p120"/>
          <p:cNvSpPr/>
          <p:nvPr/>
        </p:nvSpPr>
        <p:spPr>
          <a:xfrm>
            <a:off x="2303743" y="3747145"/>
            <a:ext cx="4680600" cy="1405800"/>
          </a:xfrm>
          <a:prstGeom prst="rect">
            <a:avLst/>
          </a:prstGeom>
          <a:noFill/>
          <a:ln cap="flat" cmpd="sng" w="285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372" name="Google Shape;1372;p120"/>
          <p:cNvSpPr txBox="1"/>
          <p:nvPr/>
        </p:nvSpPr>
        <p:spPr>
          <a:xfrm>
            <a:off x="1115616" y="5301207"/>
            <a:ext cx="6912767" cy="10156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What is the position of the gene that encodes eye colour relative to the genes encoding nose size and hair colour?</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pic>
        <p:nvPicPr>
          <p:cNvPr id="1377" name="Google Shape;1377;p121"/>
          <p:cNvPicPr preferRelativeResize="0"/>
          <p:nvPr/>
        </p:nvPicPr>
        <p:blipFill rotWithShape="1">
          <a:blip r:embed="rId3">
            <a:alphaModFix/>
          </a:blip>
          <a:srcRect b="62623" l="0" r="0" t="0"/>
          <a:stretch/>
        </p:blipFill>
        <p:spPr>
          <a:xfrm>
            <a:off x="929059" y="976317"/>
            <a:ext cx="7243339" cy="940513"/>
          </a:xfrm>
          <a:prstGeom prst="rect">
            <a:avLst/>
          </a:prstGeom>
          <a:noFill/>
          <a:ln>
            <a:noFill/>
          </a:ln>
        </p:spPr>
      </p:pic>
      <p:pic>
        <p:nvPicPr>
          <p:cNvPr id="1378" name="Google Shape;1378;p121"/>
          <p:cNvPicPr preferRelativeResize="0"/>
          <p:nvPr/>
        </p:nvPicPr>
        <p:blipFill rotWithShape="1">
          <a:blip r:embed="rId4">
            <a:alphaModFix/>
          </a:blip>
          <a:srcRect b="0" l="0" r="0" t="0"/>
          <a:stretch/>
        </p:blipFill>
        <p:spPr>
          <a:xfrm>
            <a:off x="1407479" y="2340867"/>
            <a:ext cx="6286499" cy="533399"/>
          </a:xfrm>
          <a:prstGeom prst="rect">
            <a:avLst/>
          </a:prstGeom>
          <a:noFill/>
          <a:ln>
            <a:noFill/>
          </a:ln>
        </p:spPr>
      </p:pic>
      <p:sp>
        <p:nvSpPr>
          <p:cNvPr id="1379" name="Google Shape;1379;p121"/>
          <p:cNvSpPr/>
          <p:nvPr/>
        </p:nvSpPr>
        <p:spPr>
          <a:xfrm>
            <a:off x="899591" y="980728"/>
            <a:ext cx="7459364" cy="940513"/>
          </a:xfrm>
          <a:prstGeom prst="rect">
            <a:avLst/>
          </a:prstGeom>
          <a:noFill/>
          <a:ln cap="flat" cmpd="sng" w="158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380" name="Google Shape;1380;p121"/>
          <p:cNvSpPr txBox="1"/>
          <p:nvPr/>
        </p:nvSpPr>
        <p:spPr>
          <a:xfrm>
            <a:off x="929059" y="3062486"/>
            <a:ext cx="7429896" cy="10156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The genes for eye colour and nose size are 12.5 map units apart, and we already know that the genes for nose size and hair colour are 25 map units apart. So…</a:t>
            </a:r>
            <a:endParaRPr/>
          </a:p>
        </p:txBody>
      </p:sp>
      <p:pic>
        <p:nvPicPr>
          <p:cNvPr id="1381" name="Google Shape;1381;p121"/>
          <p:cNvPicPr preferRelativeResize="0"/>
          <p:nvPr/>
        </p:nvPicPr>
        <p:blipFill rotWithShape="1">
          <a:blip r:embed="rId5">
            <a:alphaModFix/>
          </a:blip>
          <a:srcRect b="0" l="0" r="0" t="0"/>
          <a:stretch/>
        </p:blipFill>
        <p:spPr>
          <a:xfrm>
            <a:off x="1407479" y="4221087"/>
            <a:ext cx="6286499" cy="20168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grpSp>
        <p:nvGrpSpPr>
          <p:cNvPr id="1387" name="Google Shape;1387;p122"/>
          <p:cNvGrpSpPr/>
          <p:nvPr/>
        </p:nvGrpSpPr>
        <p:grpSpPr>
          <a:xfrm>
            <a:off x="842241" y="1204928"/>
            <a:ext cx="7459500" cy="1030314"/>
            <a:chOff x="842241" y="1877103"/>
            <a:chExt cx="7459500" cy="1030314"/>
          </a:xfrm>
        </p:grpSpPr>
        <p:pic>
          <p:nvPicPr>
            <p:cNvPr id="1388" name="Google Shape;1388;p122"/>
            <p:cNvPicPr preferRelativeResize="0"/>
            <p:nvPr/>
          </p:nvPicPr>
          <p:blipFill rotWithShape="1">
            <a:blip r:embed="rId3">
              <a:alphaModFix/>
            </a:blip>
            <a:srcRect b="62622" l="0" r="0" t="0"/>
            <a:stretch/>
          </p:blipFill>
          <p:spPr>
            <a:xfrm>
              <a:off x="929059" y="1966917"/>
              <a:ext cx="7243200" cy="940500"/>
            </a:xfrm>
            <a:prstGeom prst="rect">
              <a:avLst/>
            </a:prstGeom>
            <a:noFill/>
            <a:ln>
              <a:noFill/>
            </a:ln>
          </p:spPr>
        </p:pic>
        <p:sp>
          <p:nvSpPr>
            <p:cNvPr id="1389" name="Google Shape;1389;p122"/>
            <p:cNvSpPr/>
            <p:nvPr/>
          </p:nvSpPr>
          <p:spPr>
            <a:xfrm>
              <a:off x="842241" y="1877103"/>
              <a:ext cx="7459500" cy="940500"/>
            </a:xfrm>
            <a:prstGeom prst="rect">
              <a:avLst/>
            </a:prstGeom>
            <a:noFill/>
            <a:ln cap="flat" cmpd="sng" w="15875">
              <a:solidFill>
                <a:srgbClr val="4D4F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grpSp>
      <p:sp>
        <p:nvSpPr>
          <p:cNvPr id="1390" name="Google Shape;1390;p122"/>
          <p:cNvSpPr txBox="1"/>
          <p:nvPr/>
        </p:nvSpPr>
        <p:spPr>
          <a:xfrm>
            <a:off x="743875" y="2733350"/>
            <a:ext cx="3951600" cy="281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393B3F"/>
              </a:buClr>
              <a:buSzPts val="500"/>
              <a:buFont typeface="Verdana"/>
              <a:buNone/>
            </a:pPr>
            <a:r>
              <a:rPr b="0" i="0" lang="en-CA" sz="2000" u="none" cap="none" strike="noStrike">
                <a:solidFill>
                  <a:srgbClr val="393B3F"/>
                </a:solidFill>
                <a:latin typeface="Verdana"/>
                <a:ea typeface="Verdana"/>
                <a:cs typeface="Verdana"/>
                <a:sym typeface="Verdana"/>
              </a:rPr>
              <a:t>* Note that a recombination frequency greater than 50% indicates that the genes </a:t>
            </a:r>
            <a:r>
              <a:rPr lang="en-CA" sz="2000">
                <a:solidFill>
                  <a:srgbClr val="393B3F"/>
                </a:solidFill>
                <a:latin typeface="Verdana"/>
                <a:ea typeface="Verdana"/>
                <a:cs typeface="Verdana"/>
                <a:sym typeface="Verdana"/>
              </a:rPr>
              <a:t>are likely </a:t>
            </a:r>
            <a:r>
              <a:rPr b="0" i="0" lang="en-CA" sz="2000" u="none" cap="none" strike="noStrike">
                <a:solidFill>
                  <a:srgbClr val="393B3F"/>
                </a:solidFill>
                <a:latin typeface="Verdana"/>
                <a:ea typeface="Verdana"/>
                <a:cs typeface="Verdana"/>
                <a:sym typeface="Verdana"/>
              </a:rPr>
              <a:t>on different chromosomes (or are </a:t>
            </a:r>
            <a:r>
              <a:rPr b="1" i="0" lang="en-CA" sz="2000" u="none" cap="none" strike="noStrike">
                <a:solidFill>
                  <a:srgbClr val="393B3F"/>
                </a:solidFill>
                <a:latin typeface="Verdana"/>
                <a:ea typeface="Verdana"/>
                <a:cs typeface="Verdana"/>
                <a:sym typeface="Verdana"/>
              </a:rPr>
              <a:t>very</a:t>
            </a:r>
            <a:r>
              <a:rPr b="0" i="0" lang="en-CA" sz="2000" u="none" cap="none" strike="noStrike">
                <a:solidFill>
                  <a:srgbClr val="393B3F"/>
                </a:solidFill>
                <a:latin typeface="Verdana"/>
                <a:ea typeface="Verdana"/>
                <a:cs typeface="Verdana"/>
                <a:sym typeface="Verdana"/>
              </a:rPr>
              <a:t> far apart on the same chromosome) and </a:t>
            </a:r>
            <a:r>
              <a:rPr lang="en-CA" sz="2000">
                <a:solidFill>
                  <a:srgbClr val="393B3F"/>
                </a:solidFill>
                <a:latin typeface="Verdana"/>
                <a:ea typeface="Verdana"/>
                <a:cs typeface="Verdana"/>
                <a:sym typeface="Verdana"/>
              </a:rPr>
              <a:t>therefore</a:t>
            </a:r>
            <a:r>
              <a:rPr b="0" i="0" lang="en-CA" sz="2000" u="none" cap="none" strike="noStrike">
                <a:solidFill>
                  <a:srgbClr val="393B3F"/>
                </a:solidFill>
                <a:latin typeface="Verdana"/>
                <a:ea typeface="Verdana"/>
                <a:cs typeface="Verdana"/>
                <a:sym typeface="Verdana"/>
              </a:rPr>
              <a:t> assort independently</a:t>
            </a:r>
            <a:endParaRPr/>
          </a:p>
        </p:txBody>
      </p:sp>
      <p:pic>
        <p:nvPicPr>
          <p:cNvPr id="1391" name="Google Shape;1391;p122"/>
          <p:cNvPicPr preferRelativeResize="0"/>
          <p:nvPr/>
        </p:nvPicPr>
        <p:blipFill rotWithShape="1">
          <a:blip r:embed="rId4">
            <a:alphaModFix/>
          </a:blip>
          <a:srcRect b="0" l="0" r="0" t="0"/>
          <a:stretch/>
        </p:blipFill>
        <p:spPr>
          <a:xfrm>
            <a:off x="5047800" y="3288725"/>
            <a:ext cx="3322825" cy="1866999"/>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23"/>
          <p:cNvSpPr txBox="1"/>
          <p:nvPr/>
        </p:nvSpPr>
        <p:spPr>
          <a:xfrm>
            <a:off x="655500" y="510025"/>
            <a:ext cx="7833000" cy="3237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93B3F"/>
              </a:buClr>
              <a:buSzPts val="500"/>
              <a:buFont typeface="Verdana"/>
              <a:buNone/>
            </a:pPr>
            <a:r>
              <a:rPr b="1" lang="en-CA" sz="2400">
                <a:solidFill>
                  <a:srgbClr val="393B3F"/>
                </a:solidFill>
                <a:latin typeface="Verdana"/>
                <a:ea typeface="Verdana"/>
                <a:cs typeface="Verdana"/>
                <a:sym typeface="Verdana"/>
              </a:rPr>
              <a:t>PRACTICE:</a:t>
            </a:r>
            <a:endParaRPr b="1" sz="24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b="1" sz="18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rPr lang="en-CA" sz="1600">
                <a:solidFill>
                  <a:srgbClr val="393B3F"/>
                </a:solidFill>
                <a:latin typeface="Verdana"/>
                <a:ea typeface="Verdana"/>
                <a:cs typeface="Verdana"/>
                <a:sym typeface="Verdana"/>
              </a:rPr>
              <a:t>Flies can be characterized by a number of traits, including…</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Clr>
                <a:srgbClr val="393B3F"/>
              </a:buClr>
              <a:buSzPts val="500"/>
              <a:buFont typeface="Verdana"/>
              <a:buNone/>
            </a:pPr>
            <a:r>
              <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Eye colour, where red eyes (E) are dominant to purple (e)</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Body colour, where black (B) is dominant to grey (b)</a:t>
            </a:r>
            <a:endParaRPr sz="16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Wing size, where large wings (L) are dominant to vestigial (l)</a:t>
            </a:r>
            <a:endParaRPr sz="1600">
              <a:solidFill>
                <a:srgbClr val="393B3F"/>
              </a:solidFill>
              <a:latin typeface="Verdana"/>
              <a:ea typeface="Verdana"/>
              <a:cs typeface="Verdana"/>
              <a:sym typeface="Verdana"/>
            </a:endParaRPr>
          </a:p>
          <a:p>
            <a:pPr indent="0" lvl="0" marL="0" marR="0" rtl="0" algn="l">
              <a:lnSpc>
                <a:spcPct val="100000"/>
              </a:lnSpc>
              <a:spcBef>
                <a:spcPts val="0"/>
              </a:spcBef>
              <a:spcAft>
                <a:spcPts val="0"/>
              </a:spcAft>
              <a:buNone/>
            </a:pPr>
            <a:r>
              <a:t/>
            </a:r>
            <a:endParaRPr sz="1700">
              <a:solidFill>
                <a:srgbClr val="393B3F"/>
              </a:solidFill>
              <a:latin typeface="Verdana"/>
              <a:ea typeface="Verdana"/>
              <a:cs typeface="Verdana"/>
              <a:sym typeface="Verdana"/>
            </a:endParaRPr>
          </a:p>
          <a:p>
            <a:pPr indent="-330200" lvl="0" marL="457200" marR="0" rtl="0" algn="l">
              <a:lnSpc>
                <a:spcPct val="100000"/>
              </a:lnSpc>
              <a:spcBef>
                <a:spcPts val="0"/>
              </a:spcBef>
              <a:spcAft>
                <a:spcPts val="0"/>
              </a:spcAft>
              <a:buClr>
                <a:srgbClr val="393B3F"/>
              </a:buClr>
              <a:buSzPts val="1600"/>
              <a:buFont typeface="Verdana"/>
              <a:buAutoNum type="arabicPeriod"/>
            </a:pPr>
            <a:r>
              <a:rPr lang="en-CA" sz="1600">
                <a:solidFill>
                  <a:srgbClr val="393B3F"/>
                </a:solidFill>
                <a:latin typeface="Verdana"/>
                <a:ea typeface="Verdana"/>
                <a:cs typeface="Verdana"/>
                <a:sym typeface="Verdana"/>
              </a:rPr>
              <a:t>Use a Punnett Square to represent the cross between a purple-eyed fly with vestigial wings and a fly that is heterozygous for both eye colour and wing size. List the predicted phenotypic ratio of this cross IF the traits for eye colour and wing size are not linked.</a:t>
            </a:r>
            <a:endParaRPr sz="1600">
              <a:solidFill>
                <a:srgbClr val="393B3F"/>
              </a:solidFill>
              <a:latin typeface="Verdana"/>
              <a:ea typeface="Verdana"/>
              <a:cs typeface="Verdana"/>
              <a:sym typeface="Verdana"/>
            </a:endParaRPr>
          </a:p>
          <a:p>
            <a:pPr indent="0" lvl="0" marL="457200" marR="0" rtl="0" algn="l">
              <a:lnSpc>
                <a:spcPct val="100000"/>
              </a:lnSpc>
              <a:spcBef>
                <a:spcPts val="1000"/>
              </a:spcBef>
              <a:spcAft>
                <a:spcPts val="0"/>
              </a:spcAft>
              <a:buNone/>
            </a:pPr>
            <a:r>
              <a:t/>
            </a:r>
            <a:endParaRPr sz="1800">
              <a:solidFill>
                <a:srgbClr val="393B3F"/>
              </a:solidFill>
              <a:latin typeface="Verdana"/>
              <a:ea typeface="Verdana"/>
              <a:cs typeface="Verdana"/>
              <a:sym typeface="Verdana"/>
            </a:endParaRPr>
          </a:p>
        </p:txBody>
      </p:sp>
      <p:sp>
        <p:nvSpPr>
          <p:cNvPr id="1398" name="Google Shape;1398;p123"/>
          <p:cNvSpPr txBox="1"/>
          <p:nvPr/>
        </p:nvSpPr>
        <p:spPr>
          <a:xfrm>
            <a:off x="3406500" y="3712800"/>
            <a:ext cx="18894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CA" sz="1900">
                <a:solidFill>
                  <a:srgbClr val="A64D79"/>
                </a:solidFill>
                <a:latin typeface="Verdana"/>
                <a:ea typeface="Verdana"/>
                <a:cs typeface="Verdana"/>
                <a:sym typeface="Verdana"/>
              </a:rPr>
              <a:t>e</a:t>
            </a:r>
            <a:r>
              <a:rPr b="1" lang="en-CA" sz="1900">
                <a:solidFill>
                  <a:srgbClr val="A64D79"/>
                </a:solidFill>
                <a:latin typeface="Verdana"/>
                <a:ea typeface="Verdana"/>
                <a:cs typeface="Verdana"/>
                <a:sym typeface="Verdana"/>
              </a:rPr>
              <a:t>ell x EeLl</a:t>
            </a:r>
            <a:endParaRPr b="1" sz="1900">
              <a:solidFill>
                <a:srgbClr val="A64D79"/>
              </a:solidFill>
              <a:latin typeface="Verdana"/>
              <a:ea typeface="Verdana"/>
              <a:cs typeface="Verdana"/>
              <a:sym typeface="Verdana"/>
            </a:endParaRPr>
          </a:p>
        </p:txBody>
      </p:sp>
      <p:graphicFrame>
        <p:nvGraphicFramePr>
          <p:cNvPr id="1399" name="Google Shape;1399;p123"/>
          <p:cNvGraphicFramePr/>
          <p:nvPr/>
        </p:nvGraphicFramePr>
        <p:xfrm>
          <a:off x="952500" y="4119875"/>
          <a:ext cx="3000000" cy="3000000"/>
        </p:xfrm>
        <a:graphic>
          <a:graphicData uri="http://schemas.openxmlformats.org/drawingml/2006/table">
            <a:tbl>
              <a:tblPr>
                <a:noFill/>
                <a:tableStyleId>{6A1E2D6C-7FDB-4D57-BEA6-0CDAB9F65119}</a:tableStyleId>
              </a:tblPr>
              <a:tblGrid>
                <a:gridCol w="1447800"/>
                <a:gridCol w="1447800"/>
                <a:gridCol w="1447800"/>
                <a:gridCol w="1447800"/>
                <a:gridCol w="1447800"/>
              </a:tblGrid>
              <a:tr h="381000">
                <a:tc>
                  <a:txBody>
                    <a:bodyPr/>
                    <a:lstStyle/>
                    <a:p>
                      <a:pPr indent="0" lvl="0" marL="0" rtl="0" algn="ctr">
                        <a:spcBef>
                          <a:spcPts val="0"/>
                        </a:spcBef>
                        <a:spcAft>
                          <a:spcPts val="0"/>
                        </a:spcAft>
                        <a:buNone/>
                      </a:pPr>
                      <a:r>
                        <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el</a:t>
                      </a:r>
                      <a:endParaRPr b="1">
                        <a:solidFill>
                          <a:srgbClr val="A64D79"/>
                        </a:solidFill>
                      </a:endParaRPr>
                    </a:p>
                  </a:txBody>
                  <a:tcPr marT="91425" marB="91425" marR="91425" marL="91425"/>
                </a:tc>
              </a:tr>
              <a:tr h="381000">
                <a:tc>
                  <a:txBody>
                    <a:bodyPr/>
                    <a:lstStyle/>
                    <a:p>
                      <a:pPr indent="0" lvl="0" marL="0" rtl="0" algn="ctr">
                        <a:spcBef>
                          <a:spcPts val="0"/>
                        </a:spcBef>
                        <a:spcAft>
                          <a:spcPts val="0"/>
                        </a:spcAft>
                        <a:buNone/>
                      </a:pPr>
                      <a:r>
                        <a:rPr b="1" lang="en-CA">
                          <a:solidFill>
                            <a:srgbClr val="A64D79"/>
                          </a:solidFill>
                        </a:rPr>
                        <a:t>el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EeLl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Eell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eeLl</a:t>
                      </a:r>
                      <a:endParaRPr b="1">
                        <a:solidFill>
                          <a:srgbClr val="A64D79"/>
                        </a:solidFill>
                      </a:endParaRPr>
                    </a:p>
                  </a:txBody>
                  <a:tcPr marT="91425" marB="91425" marR="91425" marL="91425"/>
                </a:tc>
                <a:tc>
                  <a:txBody>
                    <a:bodyPr/>
                    <a:lstStyle/>
                    <a:p>
                      <a:pPr indent="0" lvl="0" marL="0" rtl="0" algn="ctr">
                        <a:spcBef>
                          <a:spcPts val="0"/>
                        </a:spcBef>
                        <a:spcAft>
                          <a:spcPts val="0"/>
                        </a:spcAft>
                        <a:buNone/>
                      </a:pPr>
                      <a:r>
                        <a:rPr b="1" lang="en-CA">
                          <a:solidFill>
                            <a:srgbClr val="A64D79"/>
                          </a:solidFill>
                        </a:rPr>
                        <a:t>eell</a:t>
                      </a:r>
                      <a:endParaRPr b="1">
                        <a:solidFill>
                          <a:srgbClr val="A64D79"/>
                        </a:solidFill>
                      </a:endParaRPr>
                    </a:p>
                  </a:txBody>
                  <a:tcPr marT="91425" marB="91425" marR="91425" marL="91425"/>
                </a:tc>
              </a:tr>
            </a:tbl>
          </a:graphicData>
        </a:graphic>
      </p:graphicFrame>
      <p:sp>
        <p:nvSpPr>
          <p:cNvPr id="1400" name="Google Shape;1400;p123"/>
          <p:cNvSpPr txBox="1"/>
          <p:nvPr/>
        </p:nvSpPr>
        <p:spPr>
          <a:xfrm>
            <a:off x="952500" y="5019500"/>
            <a:ext cx="7403100" cy="4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500">
                <a:solidFill>
                  <a:srgbClr val="A64D79"/>
                </a:solidFill>
                <a:latin typeface="Verdana"/>
                <a:ea typeface="Verdana"/>
                <a:cs typeface="Verdana"/>
                <a:sym typeface="Verdana"/>
              </a:rPr>
              <a:t>IF the traits are not linked, we can see in the Punnett square that the phenotypic ratio should be:</a:t>
            </a:r>
            <a:endParaRPr sz="1500">
              <a:solidFill>
                <a:srgbClr val="A64D79"/>
              </a:solidFill>
              <a:latin typeface="Verdana"/>
              <a:ea typeface="Verdana"/>
              <a:cs typeface="Verdana"/>
              <a:sym typeface="Verdana"/>
            </a:endParaRPr>
          </a:p>
          <a:p>
            <a:pPr indent="0" lvl="0" marL="0" rtl="0" algn="l">
              <a:spcBef>
                <a:spcPts val="0"/>
              </a:spcBef>
              <a:spcAft>
                <a:spcPts val="0"/>
              </a:spcAft>
              <a:buNone/>
            </a:pPr>
            <a:r>
              <a:rPr lang="en-CA" sz="1500">
                <a:solidFill>
                  <a:srgbClr val="A64D79"/>
                </a:solidFill>
                <a:latin typeface="Verdana"/>
                <a:ea typeface="Verdana"/>
                <a:cs typeface="Verdana"/>
                <a:sym typeface="Verdana"/>
              </a:rPr>
              <a:t>			         1	        :	     1	        :	     1	         :	       1</a:t>
            </a:r>
            <a:endParaRPr sz="1500">
              <a:solidFill>
                <a:srgbClr val="A64D79"/>
              </a:solidFill>
              <a:latin typeface="Verdana"/>
              <a:ea typeface="Verdana"/>
              <a:cs typeface="Verdana"/>
              <a:sym typeface="Verdana"/>
            </a:endParaRPr>
          </a:p>
          <a:p>
            <a:pPr indent="0" lvl="0" marL="0" rtl="0" algn="l">
              <a:spcBef>
                <a:spcPts val="0"/>
              </a:spcBef>
              <a:spcAft>
                <a:spcPts val="0"/>
              </a:spcAft>
              <a:buNone/>
            </a:pPr>
            <a:r>
              <a:rPr lang="en-CA" sz="1500">
                <a:solidFill>
                  <a:srgbClr val="A64D79"/>
                </a:solidFill>
                <a:latin typeface="Verdana"/>
                <a:ea typeface="Verdana"/>
                <a:cs typeface="Verdana"/>
                <a:sym typeface="Verdana"/>
              </a:rPr>
              <a:t>		          Red eyes	      red eyes      purple eyes	      purple eyes</a:t>
            </a:r>
            <a:endParaRPr sz="1500">
              <a:solidFill>
                <a:srgbClr val="A64D79"/>
              </a:solidFill>
              <a:latin typeface="Verdana"/>
              <a:ea typeface="Verdana"/>
              <a:cs typeface="Verdana"/>
              <a:sym typeface="Verdana"/>
            </a:endParaRPr>
          </a:p>
          <a:p>
            <a:pPr indent="0" lvl="0" marL="0" rtl="0" algn="l">
              <a:spcBef>
                <a:spcPts val="0"/>
              </a:spcBef>
              <a:spcAft>
                <a:spcPts val="0"/>
              </a:spcAft>
              <a:buNone/>
            </a:pPr>
            <a:r>
              <a:rPr lang="en-CA" sz="1500">
                <a:solidFill>
                  <a:srgbClr val="A64D79"/>
                </a:solidFill>
                <a:latin typeface="Verdana"/>
                <a:ea typeface="Verdana"/>
                <a:cs typeface="Verdana"/>
                <a:sym typeface="Verdana"/>
              </a:rPr>
              <a:t>			   Large w</a:t>
            </a:r>
            <a:r>
              <a:rPr lang="en-CA" sz="1500">
                <a:solidFill>
                  <a:srgbClr val="A64D79"/>
                </a:solidFill>
                <a:latin typeface="Verdana"/>
                <a:ea typeface="Verdana"/>
                <a:cs typeface="Verdana"/>
                <a:sym typeface="Verdana"/>
              </a:rPr>
              <a:t>ings	 </a:t>
            </a:r>
            <a:r>
              <a:rPr lang="en-CA" sz="1500">
                <a:solidFill>
                  <a:srgbClr val="A64D79"/>
                </a:solidFill>
                <a:latin typeface="Verdana"/>
                <a:ea typeface="Verdana"/>
                <a:cs typeface="Verdana"/>
                <a:sym typeface="Verdana"/>
              </a:rPr>
              <a:t>     vestigial w.   Large wings	vestigial w.</a:t>
            </a:r>
            <a:endParaRPr sz="1500">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24"/>
          <p:cNvSpPr txBox="1"/>
          <p:nvPr/>
        </p:nvSpPr>
        <p:spPr>
          <a:xfrm>
            <a:off x="783900" y="2168425"/>
            <a:ext cx="7576200" cy="3000000"/>
          </a:xfrm>
          <a:prstGeom prst="rect">
            <a:avLst/>
          </a:prstGeom>
          <a:noFill/>
          <a:ln>
            <a:noFill/>
          </a:ln>
        </p:spPr>
        <p:txBody>
          <a:bodyPr anchorCtr="0" anchor="ctr" bIns="91425" lIns="91425" spcFirstLastPara="1" rIns="91425" wrap="square" tIns="91425">
            <a:noAutofit/>
          </a:bodyPr>
          <a:lstStyle/>
          <a:p>
            <a:pPr indent="-342900" lvl="0" marL="457200" rtl="0" algn="l">
              <a:spcBef>
                <a:spcPts val="0"/>
              </a:spcBef>
              <a:spcAft>
                <a:spcPts val="0"/>
              </a:spcAft>
              <a:buClr>
                <a:srgbClr val="393B3F"/>
              </a:buClr>
              <a:buSzPts val="1800"/>
              <a:buFont typeface="Verdana"/>
              <a:buAutoNum type="arabicPeriod" startAt="2"/>
            </a:pPr>
            <a:r>
              <a:rPr lang="en-CA" sz="1800">
                <a:solidFill>
                  <a:srgbClr val="393B3F"/>
                </a:solidFill>
                <a:latin typeface="Verdana"/>
                <a:ea typeface="Verdana"/>
                <a:cs typeface="Verdana"/>
                <a:sym typeface="Verdana"/>
              </a:rPr>
              <a:t>A scientist performs the cross described above and obtains the following results: </a:t>
            </a:r>
            <a:endParaRPr sz="18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800">
              <a:solidFill>
                <a:srgbClr val="393B3F"/>
              </a:solidFill>
              <a:latin typeface="Verdana"/>
              <a:ea typeface="Verdana"/>
              <a:cs typeface="Verdana"/>
              <a:sym typeface="Verdana"/>
            </a:endParaRPr>
          </a:p>
          <a:p>
            <a:pPr indent="-342900" lvl="0" marL="914400" rtl="0" algn="l">
              <a:spcBef>
                <a:spcPts val="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40 EeLl</a:t>
            </a:r>
            <a:endParaRPr sz="1800">
              <a:solidFill>
                <a:srgbClr val="393B3F"/>
              </a:solidFill>
              <a:latin typeface="Verdana"/>
              <a:ea typeface="Verdana"/>
              <a:cs typeface="Verdana"/>
              <a:sym typeface="Verdana"/>
            </a:endParaRPr>
          </a:p>
          <a:p>
            <a:pPr indent="-342900" lvl="0" marL="914400" rtl="0" algn="l">
              <a:spcBef>
                <a:spcPts val="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40 eell</a:t>
            </a:r>
            <a:endParaRPr sz="1800">
              <a:solidFill>
                <a:srgbClr val="393B3F"/>
              </a:solidFill>
              <a:latin typeface="Verdana"/>
              <a:ea typeface="Verdana"/>
              <a:cs typeface="Verdana"/>
              <a:sym typeface="Verdana"/>
            </a:endParaRPr>
          </a:p>
          <a:p>
            <a:pPr indent="-342900" lvl="0" marL="914400" rtl="0" algn="l">
              <a:spcBef>
                <a:spcPts val="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10 Eell</a:t>
            </a:r>
            <a:endParaRPr sz="1800">
              <a:solidFill>
                <a:srgbClr val="393B3F"/>
              </a:solidFill>
              <a:latin typeface="Verdana"/>
              <a:ea typeface="Verdana"/>
              <a:cs typeface="Verdana"/>
              <a:sym typeface="Verdana"/>
            </a:endParaRPr>
          </a:p>
          <a:p>
            <a:pPr indent="-342900" lvl="0" marL="914400" rtl="0" algn="l">
              <a:spcBef>
                <a:spcPts val="0"/>
              </a:spcBef>
              <a:spcAft>
                <a:spcPts val="0"/>
              </a:spcAft>
              <a:buClr>
                <a:srgbClr val="393B3F"/>
              </a:buClr>
              <a:buSzPts val="1800"/>
              <a:buFont typeface="Verdana"/>
              <a:buChar char="●"/>
            </a:pPr>
            <a:r>
              <a:rPr lang="en-CA" sz="1800">
                <a:solidFill>
                  <a:srgbClr val="393B3F"/>
                </a:solidFill>
                <a:latin typeface="Verdana"/>
                <a:ea typeface="Verdana"/>
                <a:cs typeface="Verdana"/>
                <a:sym typeface="Verdana"/>
              </a:rPr>
              <a:t>10 eeLl </a:t>
            </a:r>
            <a:endParaRPr sz="1800">
              <a:solidFill>
                <a:srgbClr val="393B3F"/>
              </a:solidFill>
              <a:latin typeface="Verdana"/>
              <a:ea typeface="Verdana"/>
              <a:cs typeface="Verdana"/>
              <a:sym typeface="Verdana"/>
            </a:endParaRPr>
          </a:p>
          <a:p>
            <a:pPr indent="0" lvl="0" marL="0" rtl="0" algn="l">
              <a:spcBef>
                <a:spcPts val="0"/>
              </a:spcBef>
              <a:spcAft>
                <a:spcPts val="0"/>
              </a:spcAft>
              <a:buNone/>
            </a:pPr>
            <a:r>
              <a:t/>
            </a:r>
            <a:endParaRPr sz="1800">
              <a:solidFill>
                <a:srgbClr val="393B3F"/>
              </a:solidFill>
              <a:latin typeface="Verdana"/>
              <a:ea typeface="Verdana"/>
              <a:cs typeface="Verdana"/>
              <a:sym typeface="Verdana"/>
            </a:endParaRPr>
          </a:p>
          <a:p>
            <a:pPr indent="0" lvl="0" marL="0" rtl="0" algn="l">
              <a:spcBef>
                <a:spcPts val="0"/>
              </a:spcBef>
              <a:spcAft>
                <a:spcPts val="0"/>
              </a:spcAft>
              <a:buNone/>
            </a:pPr>
            <a:r>
              <a:rPr lang="en-CA" sz="1800">
                <a:solidFill>
                  <a:srgbClr val="393B3F"/>
                </a:solidFill>
                <a:latin typeface="Verdana"/>
                <a:ea typeface="Verdana"/>
                <a:cs typeface="Verdana"/>
                <a:sym typeface="Verdana"/>
              </a:rPr>
              <a:t>	Label each genotype above as parental or recombinant.</a:t>
            </a:r>
            <a:endParaRPr sz="1800">
              <a:solidFill>
                <a:srgbClr val="393B3F"/>
              </a:solidFill>
              <a:latin typeface="Verdana"/>
              <a:ea typeface="Verdana"/>
              <a:cs typeface="Verdana"/>
              <a:sym typeface="Verdana"/>
            </a:endParaRPr>
          </a:p>
          <a:p>
            <a:pPr indent="0" lvl="0" marL="0" rtl="0" algn="l">
              <a:spcBef>
                <a:spcPts val="0"/>
              </a:spcBef>
              <a:spcAft>
                <a:spcPts val="0"/>
              </a:spcAft>
              <a:buNone/>
            </a:pPr>
            <a:r>
              <a:t/>
            </a:r>
            <a:endParaRPr sz="1800">
              <a:solidFill>
                <a:srgbClr val="393B3F"/>
              </a:solidFill>
              <a:latin typeface="Verdana"/>
              <a:ea typeface="Verdana"/>
              <a:cs typeface="Verdana"/>
              <a:sym typeface="Verdana"/>
            </a:endParaRPr>
          </a:p>
          <a:p>
            <a:pPr indent="-342900" lvl="0" marL="457200" rtl="0" algn="l">
              <a:spcBef>
                <a:spcPts val="0"/>
              </a:spcBef>
              <a:spcAft>
                <a:spcPts val="0"/>
              </a:spcAft>
              <a:buClr>
                <a:srgbClr val="393B3F"/>
              </a:buClr>
              <a:buSzPts val="1800"/>
              <a:buFont typeface="Verdana"/>
              <a:buAutoNum type="arabicPeriod" startAt="2"/>
            </a:pPr>
            <a:r>
              <a:rPr lang="en-CA" sz="1800">
                <a:solidFill>
                  <a:srgbClr val="393B3F"/>
                </a:solidFill>
                <a:latin typeface="Verdana"/>
                <a:ea typeface="Verdana"/>
                <a:cs typeface="Verdana"/>
                <a:sym typeface="Verdana"/>
              </a:rPr>
              <a:t>Are the genes for eye colour and wing size linked? Explain how you know. </a:t>
            </a:r>
            <a:endParaRPr sz="18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8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8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800">
              <a:solidFill>
                <a:srgbClr val="393B3F"/>
              </a:solidFill>
              <a:latin typeface="Verdana"/>
              <a:ea typeface="Verdana"/>
              <a:cs typeface="Verdana"/>
              <a:sym typeface="Verdana"/>
            </a:endParaRPr>
          </a:p>
          <a:p>
            <a:pPr indent="-342900" lvl="0" marL="457200" rtl="0" algn="l">
              <a:spcBef>
                <a:spcPts val="0"/>
              </a:spcBef>
              <a:spcAft>
                <a:spcPts val="0"/>
              </a:spcAft>
              <a:buClr>
                <a:srgbClr val="393B3F"/>
              </a:buClr>
              <a:buSzPts val="1800"/>
              <a:buFont typeface="Verdana"/>
              <a:buAutoNum type="arabicPeriod" startAt="2"/>
            </a:pPr>
            <a:r>
              <a:rPr lang="en-CA" sz="1800">
                <a:solidFill>
                  <a:srgbClr val="393B3F"/>
                </a:solidFill>
                <a:latin typeface="Verdana"/>
                <a:ea typeface="Verdana"/>
                <a:cs typeface="Verdana"/>
                <a:sym typeface="Verdana"/>
              </a:rPr>
              <a:t>How far apart on the same chromosome are the genes for eye colour and wing size? </a:t>
            </a:r>
            <a:endParaRPr sz="18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800">
              <a:solidFill>
                <a:srgbClr val="393B3F"/>
              </a:solidFill>
              <a:latin typeface="Verdana"/>
              <a:ea typeface="Verdana"/>
              <a:cs typeface="Verdana"/>
              <a:sym typeface="Verdana"/>
            </a:endParaRPr>
          </a:p>
        </p:txBody>
      </p:sp>
      <p:sp>
        <p:nvSpPr>
          <p:cNvPr id="1407" name="Google Shape;1407;p124"/>
          <p:cNvSpPr txBox="1"/>
          <p:nvPr/>
        </p:nvSpPr>
        <p:spPr>
          <a:xfrm>
            <a:off x="2857850" y="1905000"/>
            <a:ext cx="4305600" cy="9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800">
                <a:solidFill>
                  <a:srgbClr val="A64D79"/>
                </a:solidFill>
                <a:latin typeface="Verdana"/>
                <a:ea typeface="Verdana"/>
                <a:cs typeface="Verdana"/>
                <a:sym typeface="Verdana"/>
              </a:rPr>
              <a:t>Parental</a:t>
            </a:r>
            <a:endParaRPr sz="1800">
              <a:solidFill>
                <a:srgbClr val="A64D79"/>
              </a:solidFill>
              <a:latin typeface="Verdana"/>
              <a:ea typeface="Verdana"/>
              <a:cs typeface="Verdana"/>
              <a:sym typeface="Verdana"/>
            </a:endParaRPr>
          </a:p>
          <a:p>
            <a:pPr indent="0" lvl="0" marL="0" rtl="0" algn="l">
              <a:spcBef>
                <a:spcPts val="0"/>
              </a:spcBef>
              <a:spcAft>
                <a:spcPts val="0"/>
              </a:spcAft>
              <a:buNone/>
            </a:pPr>
            <a:r>
              <a:rPr lang="en-CA" sz="1800">
                <a:solidFill>
                  <a:srgbClr val="A64D79"/>
                </a:solidFill>
                <a:latin typeface="Verdana"/>
                <a:ea typeface="Verdana"/>
                <a:cs typeface="Verdana"/>
                <a:sym typeface="Verdana"/>
              </a:rPr>
              <a:t>Parental</a:t>
            </a:r>
            <a:endParaRPr sz="1800">
              <a:solidFill>
                <a:srgbClr val="A64D79"/>
              </a:solidFill>
              <a:latin typeface="Verdana"/>
              <a:ea typeface="Verdana"/>
              <a:cs typeface="Verdana"/>
              <a:sym typeface="Verdana"/>
            </a:endParaRPr>
          </a:p>
          <a:p>
            <a:pPr indent="0" lvl="0" marL="0" rtl="0" algn="l">
              <a:spcBef>
                <a:spcPts val="0"/>
              </a:spcBef>
              <a:spcAft>
                <a:spcPts val="0"/>
              </a:spcAft>
              <a:buNone/>
            </a:pPr>
            <a:r>
              <a:rPr lang="en-CA" sz="1800">
                <a:solidFill>
                  <a:srgbClr val="A64D79"/>
                </a:solidFill>
                <a:latin typeface="Verdana"/>
                <a:ea typeface="Verdana"/>
                <a:cs typeface="Verdana"/>
                <a:sym typeface="Verdana"/>
              </a:rPr>
              <a:t>Recombinant</a:t>
            </a:r>
            <a:endParaRPr sz="1800">
              <a:solidFill>
                <a:srgbClr val="A64D79"/>
              </a:solidFill>
              <a:latin typeface="Verdana"/>
              <a:ea typeface="Verdana"/>
              <a:cs typeface="Verdana"/>
              <a:sym typeface="Verdana"/>
            </a:endParaRPr>
          </a:p>
          <a:p>
            <a:pPr indent="0" lvl="0" marL="0" rtl="0" algn="l">
              <a:spcBef>
                <a:spcPts val="0"/>
              </a:spcBef>
              <a:spcAft>
                <a:spcPts val="0"/>
              </a:spcAft>
              <a:buNone/>
            </a:pPr>
            <a:r>
              <a:rPr lang="en-CA" sz="1800">
                <a:solidFill>
                  <a:srgbClr val="A64D79"/>
                </a:solidFill>
                <a:latin typeface="Verdana"/>
                <a:ea typeface="Verdana"/>
                <a:cs typeface="Verdana"/>
                <a:sym typeface="Verdana"/>
              </a:rPr>
              <a:t>Recombinant</a:t>
            </a:r>
            <a:endParaRPr sz="1800">
              <a:solidFill>
                <a:srgbClr val="A64D79"/>
              </a:solidFill>
              <a:latin typeface="Verdana"/>
              <a:ea typeface="Verdana"/>
              <a:cs typeface="Verdana"/>
              <a:sym typeface="Verdana"/>
            </a:endParaRPr>
          </a:p>
        </p:txBody>
      </p:sp>
      <p:sp>
        <p:nvSpPr>
          <p:cNvPr id="1408" name="Google Shape;1408;p124"/>
          <p:cNvSpPr txBox="1"/>
          <p:nvPr/>
        </p:nvSpPr>
        <p:spPr>
          <a:xfrm>
            <a:off x="1316125" y="4529025"/>
            <a:ext cx="70857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600">
                <a:solidFill>
                  <a:srgbClr val="A64D79"/>
                </a:solidFill>
                <a:latin typeface="Verdana"/>
                <a:ea typeface="Verdana"/>
                <a:cs typeface="Verdana"/>
                <a:sym typeface="Verdana"/>
              </a:rPr>
              <a:t>They are linked, because we did not observe the expected 1:1:1:1 ratio that we would expect if the genes would assort independently during meiosis.</a:t>
            </a:r>
            <a:endParaRPr sz="1600">
              <a:solidFill>
                <a:srgbClr val="A64D79"/>
              </a:solidFill>
              <a:latin typeface="Verdana"/>
              <a:ea typeface="Verdana"/>
              <a:cs typeface="Verdana"/>
              <a:sym typeface="Verdana"/>
            </a:endParaRPr>
          </a:p>
        </p:txBody>
      </p:sp>
      <p:sp>
        <p:nvSpPr>
          <p:cNvPr id="1409" name="Google Shape;1409;p124"/>
          <p:cNvSpPr txBox="1"/>
          <p:nvPr/>
        </p:nvSpPr>
        <p:spPr>
          <a:xfrm>
            <a:off x="1316125" y="5871350"/>
            <a:ext cx="70857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600">
                <a:solidFill>
                  <a:srgbClr val="A64D79"/>
                </a:solidFill>
                <a:latin typeface="Verdana"/>
                <a:ea typeface="Verdana"/>
                <a:cs typeface="Verdana"/>
                <a:sym typeface="Verdana"/>
              </a:rPr>
              <a:t>Recombination frequency = 20/100 = 20% </a:t>
            </a:r>
            <a:endParaRPr sz="1600">
              <a:solidFill>
                <a:srgbClr val="A64D79"/>
              </a:solidFill>
              <a:latin typeface="Verdana"/>
              <a:ea typeface="Verdana"/>
              <a:cs typeface="Verdana"/>
              <a:sym typeface="Verdana"/>
            </a:endParaRPr>
          </a:p>
          <a:p>
            <a:pPr indent="0" lvl="0" marL="0" rtl="0" algn="l">
              <a:spcBef>
                <a:spcPts val="0"/>
              </a:spcBef>
              <a:spcAft>
                <a:spcPts val="0"/>
              </a:spcAft>
              <a:buNone/>
            </a:pPr>
            <a:r>
              <a:rPr lang="en-CA" sz="1600">
                <a:solidFill>
                  <a:srgbClr val="A64D79"/>
                </a:solidFill>
                <a:latin typeface="Verdana"/>
                <a:ea typeface="Verdana"/>
                <a:cs typeface="Verdana"/>
                <a:sym typeface="Verdana"/>
              </a:rPr>
              <a:t>The genes for eye color and wing size are 20 map units apart. </a:t>
            </a:r>
            <a:endParaRPr sz="1600">
              <a:solidFill>
                <a:srgbClr val="A64D79"/>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25"/>
          <p:cNvSpPr txBox="1"/>
          <p:nvPr/>
        </p:nvSpPr>
        <p:spPr>
          <a:xfrm>
            <a:off x="783900" y="828825"/>
            <a:ext cx="7576200" cy="2715000"/>
          </a:xfrm>
          <a:prstGeom prst="rect">
            <a:avLst/>
          </a:prstGeom>
          <a:noFill/>
          <a:ln>
            <a:noFill/>
          </a:ln>
        </p:spPr>
        <p:txBody>
          <a:bodyPr anchorCtr="0" anchor="ctr" bIns="91425" lIns="91425" spcFirstLastPara="1" rIns="91425" wrap="square" tIns="91425">
            <a:noAutofit/>
          </a:bodyPr>
          <a:lstStyle/>
          <a:p>
            <a:pPr indent="-330200" lvl="0" marL="457200" rtl="0" algn="l">
              <a:spcBef>
                <a:spcPts val="0"/>
              </a:spcBef>
              <a:spcAft>
                <a:spcPts val="0"/>
              </a:spcAft>
              <a:buClr>
                <a:srgbClr val="393B3F"/>
              </a:buClr>
              <a:buSzPts val="1600"/>
              <a:buFont typeface="Verdana"/>
              <a:buAutoNum type="arabicPeriod" startAt="5"/>
            </a:pPr>
            <a:r>
              <a:rPr lang="en-CA" sz="1600">
                <a:solidFill>
                  <a:srgbClr val="393B3F"/>
                </a:solidFill>
                <a:latin typeface="Verdana"/>
                <a:ea typeface="Verdana"/>
                <a:cs typeface="Verdana"/>
                <a:sym typeface="Verdana"/>
              </a:rPr>
              <a:t>Two more crosses are conducted, and the following results are obtained:</a:t>
            </a:r>
            <a:endParaRPr sz="1600">
              <a:solidFill>
                <a:srgbClr val="393B3F"/>
              </a:solidFill>
              <a:latin typeface="Verdana"/>
              <a:ea typeface="Verdana"/>
              <a:cs typeface="Verdana"/>
              <a:sym typeface="Verdana"/>
            </a:endParaRPr>
          </a:p>
          <a:p>
            <a:pPr indent="0" lvl="0" marL="457200" rtl="0" algn="l">
              <a:spcBef>
                <a:spcPts val="0"/>
              </a:spcBef>
              <a:spcAft>
                <a:spcPts val="0"/>
              </a:spcAft>
              <a:buNone/>
            </a:pPr>
            <a:r>
              <a:t/>
            </a:r>
            <a:endParaRPr sz="1600">
              <a:solidFill>
                <a:srgbClr val="393B3F"/>
              </a:solidFill>
              <a:latin typeface="Verdana"/>
              <a:ea typeface="Verdana"/>
              <a:cs typeface="Verdana"/>
              <a:sym typeface="Verdana"/>
            </a:endParaRPr>
          </a:p>
          <a:p>
            <a:pPr indent="-330200" lvl="0" marL="914400" rtl="0" algn="l">
              <a:spcBef>
                <a:spcPts val="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Eye colour &amp; body colour are found to have a recombination frequency of 14%</a:t>
            </a:r>
            <a:endParaRPr sz="1600">
              <a:solidFill>
                <a:srgbClr val="393B3F"/>
              </a:solidFill>
              <a:latin typeface="Verdana"/>
              <a:ea typeface="Verdana"/>
              <a:cs typeface="Verdana"/>
              <a:sym typeface="Verdana"/>
            </a:endParaRPr>
          </a:p>
          <a:p>
            <a:pPr indent="-330200" lvl="0" marL="914400" rtl="0" algn="l">
              <a:spcBef>
                <a:spcPts val="0"/>
              </a:spcBef>
              <a:spcAft>
                <a:spcPts val="0"/>
              </a:spcAft>
              <a:buClr>
                <a:srgbClr val="393B3F"/>
              </a:buClr>
              <a:buSzPts val="1600"/>
              <a:buFont typeface="Verdana"/>
              <a:buChar char="●"/>
            </a:pPr>
            <a:r>
              <a:rPr lang="en-CA" sz="1600">
                <a:solidFill>
                  <a:srgbClr val="393B3F"/>
                </a:solidFill>
                <a:latin typeface="Verdana"/>
                <a:ea typeface="Verdana"/>
                <a:cs typeface="Verdana"/>
                <a:sym typeface="Verdana"/>
              </a:rPr>
              <a:t>Body colour and wing size are found to have a recombination frequency of 6%</a:t>
            </a:r>
            <a:endParaRPr sz="1600">
              <a:solidFill>
                <a:srgbClr val="393B3F"/>
              </a:solidFill>
              <a:latin typeface="Verdana"/>
              <a:ea typeface="Verdana"/>
              <a:cs typeface="Verdana"/>
              <a:sym typeface="Verdana"/>
            </a:endParaRPr>
          </a:p>
          <a:p>
            <a:pPr indent="0" lvl="0" marL="0" rtl="0" algn="l">
              <a:spcBef>
                <a:spcPts val="0"/>
              </a:spcBef>
              <a:spcAft>
                <a:spcPts val="0"/>
              </a:spcAft>
              <a:buNone/>
            </a:pPr>
            <a:r>
              <a:t/>
            </a:r>
            <a:endParaRPr sz="1600">
              <a:solidFill>
                <a:srgbClr val="393B3F"/>
              </a:solidFill>
              <a:latin typeface="Verdana"/>
              <a:ea typeface="Verdana"/>
              <a:cs typeface="Verdana"/>
              <a:sym typeface="Verdana"/>
            </a:endParaRPr>
          </a:p>
          <a:p>
            <a:pPr indent="0" lvl="0" marL="0" rtl="0" algn="l">
              <a:spcBef>
                <a:spcPts val="0"/>
              </a:spcBef>
              <a:spcAft>
                <a:spcPts val="0"/>
              </a:spcAft>
              <a:buNone/>
            </a:pPr>
            <a:r>
              <a:rPr lang="en-CA" sz="1600">
                <a:solidFill>
                  <a:srgbClr val="393B3F"/>
                </a:solidFill>
                <a:latin typeface="Verdana"/>
                <a:ea typeface="Verdana"/>
                <a:cs typeface="Verdana"/>
                <a:sym typeface="Verdana"/>
              </a:rPr>
              <a:t>	Given this information, construct a chromosome map for </a:t>
            </a:r>
            <a:endParaRPr sz="1600">
              <a:solidFill>
                <a:srgbClr val="393B3F"/>
              </a:solidFill>
              <a:latin typeface="Verdana"/>
              <a:ea typeface="Verdana"/>
              <a:cs typeface="Verdana"/>
              <a:sym typeface="Verdana"/>
            </a:endParaRPr>
          </a:p>
          <a:p>
            <a:pPr indent="0" lvl="0" marL="0" rtl="0" algn="l">
              <a:spcBef>
                <a:spcPts val="0"/>
              </a:spcBef>
              <a:spcAft>
                <a:spcPts val="0"/>
              </a:spcAft>
              <a:buNone/>
            </a:pPr>
            <a:r>
              <a:rPr lang="en-CA" sz="1600">
                <a:solidFill>
                  <a:srgbClr val="393B3F"/>
                </a:solidFill>
                <a:latin typeface="Verdana"/>
                <a:ea typeface="Verdana"/>
                <a:cs typeface="Verdana"/>
                <a:sym typeface="Verdana"/>
              </a:rPr>
              <a:t>     the genes for eye colour, body colour, and wing size in flies.</a:t>
            </a:r>
            <a:endParaRPr sz="1800">
              <a:solidFill>
                <a:srgbClr val="393B3F"/>
              </a:solidFill>
              <a:latin typeface="Verdana"/>
              <a:ea typeface="Verdana"/>
              <a:cs typeface="Verdana"/>
              <a:sym typeface="Verdana"/>
            </a:endParaRPr>
          </a:p>
        </p:txBody>
      </p:sp>
      <p:grpSp>
        <p:nvGrpSpPr>
          <p:cNvPr id="1416" name="Google Shape;1416;p125"/>
          <p:cNvGrpSpPr/>
          <p:nvPr/>
        </p:nvGrpSpPr>
        <p:grpSpPr>
          <a:xfrm>
            <a:off x="1406400" y="3813250"/>
            <a:ext cx="6331200" cy="1551500"/>
            <a:chOff x="1406400" y="3813250"/>
            <a:chExt cx="6331200" cy="1551500"/>
          </a:xfrm>
        </p:grpSpPr>
        <p:sp>
          <p:nvSpPr>
            <p:cNvPr id="1417" name="Google Shape;1417;p125"/>
            <p:cNvSpPr/>
            <p:nvPr/>
          </p:nvSpPr>
          <p:spPr>
            <a:xfrm>
              <a:off x="1406400" y="4192925"/>
              <a:ext cx="6331200" cy="145200"/>
            </a:xfrm>
            <a:prstGeom prst="roundRect">
              <a:avLst>
                <a:gd fmla="val 16667"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5A6BD"/>
                </a:solidFill>
                <a:latin typeface="Verdana"/>
                <a:ea typeface="Verdana"/>
                <a:cs typeface="Verdana"/>
                <a:sym typeface="Verdana"/>
              </a:endParaRPr>
            </a:p>
          </p:txBody>
        </p:sp>
        <p:sp>
          <p:nvSpPr>
            <p:cNvPr id="1418" name="Google Shape;1418;p125"/>
            <p:cNvSpPr/>
            <p:nvPr/>
          </p:nvSpPr>
          <p:spPr>
            <a:xfrm>
              <a:off x="1906575" y="3979325"/>
              <a:ext cx="190800" cy="7911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419" name="Google Shape;1419;p125"/>
            <p:cNvSpPr txBox="1"/>
            <p:nvPr/>
          </p:nvSpPr>
          <p:spPr>
            <a:xfrm>
              <a:off x="1697650" y="4619850"/>
              <a:ext cx="790200" cy="7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2"/>
                  </a:solidFill>
                  <a:latin typeface="Verdana"/>
                  <a:ea typeface="Verdana"/>
                  <a:cs typeface="Verdana"/>
                  <a:sym typeface="Verdana"/>
                </a:rPr>
                <a:t>Eye color</a:t>
              </a:r>
              <a:endParaRPr sz="1500">
                <a:solidFill>
                  <a:schemeClr val="dk2"/>
                </a:solidFill>
                <a:latin typeface="Verdana"/>
                <a:ea typeface="Verdana"/>
                <a:cs typeface="Verdana"/>
                <a:sym typeface="Verdana"/>
              </a:endParaRPr>
            </a:p>
          </p:txBody>
        </p:sp>
        <p:sp>
          <p:nvSpPr>
            <p:cNvPr id="1420" name="Google Shape;1420;p125"/>
            <p:cNvSpPr txBox="1"/>
            <p:nvPr/>
          </p:nvSpPr>
          <p:spPr>
            <a:xfrm>
              <a:off x="5192725" y="4658050"/>
              <a:ext cx="790200" cy="1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2"/>
                  </a:solidFill>
                  <a:latin typeface="Verdana"/>
                  <a:ea typeface="Verdana"/>
                  <a:cs typeface="Verdana"/>
                  <a:sym typeface="Verdana"/>
                </a:rPr>
                <a:t>Body</a:t>
              </a:r>
              <a:r>
                <a:rPr lang="en-CA" sz="1900">
                  <a:solidFill>
                    <a:schemeClr val="dk2"/>
                  </a:solidFill>
                  <a:latin typeface="Verdana"/>
                  <a:ea typeface="Verdana"/>
                  <a:cs typeface="Verdana"/>
                  <a:sym typeface="Verdana"/>
                </a:rPr>
                <a:t>color</a:t>
              </a:r>
              <a:endParaRPr sz="1500">
                <a:solidFill>
                  <a:schemeClr val="dk2"/>
                </a:solidFill>
                <a:latin typeface="Verdana"/>
                <a:ea typeface="Verdana"/>
                <a:cs typeface="Verdana"/>
                <a:sym typeface="Verdana"/>
              </a:endParaRPr>
            </a:p>
          </p:txBody>
        </p:sp>
        <p:sp>
          <p:nvSpPr>
            <p:cNvPr id="1421" name="Google Shape;1421;p125"/>
            <p:cNvSpPr txBox="1"/>
            <p:nvPr/>
          </p:nvSpPr>
          <p:spPr>
            <a:xfrm>
              <a:off x="6753000" y="4658050"/>
              <a:ext cx="984600" cy="1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900">
                  <a:solidFill>
                    <a:schemeClr val="dk2"/>
                  </a:solidFill>
                  <a:latin typeface="Verdana"/>
                  <a:ea typeface="Verdana"/>
                  <a:cs typeface="Verdana"/>
                  <a:sym typeface="Verdana"/>
                </a:rPr>
                <a:t>Wing size</a:t>
              </a:r>
              <a:endParaRPr sz="1500">
                <a:solidFill>
                  <a:schemeClr val="dk2"/>
                </a:solidFill>
                <a:latin typeface="Verdana"/>
                <a:ea typeface="Verdana"/>
                <a:cs typeface="Verdana"/>
                <a:sym typeface="Verdana"/>
              </a:endParaRPr>
            </a:p>
          </p:txBody>
        </p:sp>
        <p:sp>
          <p:nvSpPr>
            <p:cNvPr id="1422" name="Google Shape;1422;p125"/>
            <p:cNvSpPr/>
            <p:nvPr/>
          </p:nvSpPr>
          <p:spPr>
            <a:xfrm>
              <a:off x="5492425" y="3979325"/>
              <a:ext cx="190800" cy="7449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423" name="Google Shape;1423;p125"/>
            <p:cNvSpPr/>
            <p:nvPr/>
          </p:nvSpPr>
          <p:spPr>
            <a:xfrm>
              <a:off x="7149900" y="3979325"/>
              <a:ext cx="190800" cy="7911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424" name="Google Shape;1424;p125"/>
            <p:cNvSpPr/>
            <p:nvPr/>
          </p:nvSpPr>
          <p:spPr>
            <a:xfrm rot="-5400000">
              <a:off x="4370650" y="1973375"/>
              <a:ext cx="432300" cy="5161800"/>
            </a:xfrm>
            <a:prstGeom prst="leftBrace">
              <a:avLst>
                <a:gd fmla="val 50000" name="adj1"/>
                <a:gd fmla="val 49704"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425" name="Google Shape;1425;p125"/>
            <p:cNvSpPr/>
            <p:nvPr/>
          </p:nvSpPr>
          <p:spPr>
            <a:xfrm rot="5400000">
              <a:off x="6286050" y="3204100"/>
              <a:ext cx="290700" cy="1650600"/>
            </a:xfrm>
            <a:prstGeom prst="leftBrace">
              <a:avLst>
                <a:gd fmla="val 50000" name="adj1"/>
                <a:gd fmla="val 4952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sp>
          <p:nvSpPr>
            <p:cNvPr id="1426" name="Google Shape;1426;p125"/>
            <p:cNvSpPr/>
            <p:nvPr/>
          </p:nvSpPr>
          <p:spPr>
            <a:xfrm rot="5400000">
              <a:off x="3558700" y="2260450"/>
              <a:ext cx="432300" cy="3537900"/>
            </a:xfrm>
            <a:prstGeom prst="leftBrace">
              <a:avLst>
                <a:gd fmla="val 50000" name="adj1"/>
                <a:gd fmla="val 49704"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dana"/>
                <a:ea typeface="Verdana"/>
                <a:cs typeface="Verdana"/>
                <a:sym typeface="Verdan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pic>
        <p:nvPicPr>
          <p:cNvPr descr="In this video Paul Andersen explains how the frequency of recombination between linked genes can be used to determine the relative location of genes on a chromosome.  Thomas Hunt Morgan and Alfred Strutevant used the fruit fly to develop a theory of chromosomal inheritance and discover crossing over.&#10;&#10;Do you speak another language?  Help me translate my videos:&#10;http://www.bozemanscience.com/translations/&#10;&#10;Music Attribution&#10;Title: String Theory&#10;Artist: Herman Jolly&#10;http://sunsetvalley.bandcamp.com/track/string-theory&#10;&#10;All of the images are licensed under creative commons and public domain licensing:&#10;&quot;File:Drosophila Repleta Lateral.jpg.&quot; Wikipedia, the Free Encyclopedia. Accessed March 13, 2014. http://en.wikipedia.org/wiki/File:Drosophila_repleta_lateral.jpg.&#10;&quot;File:Morgan Crossover 1.jpg.&quot; Wikipedia, the Free Encyclopedia. Accessed March 13, 2014. http://en.wikipedia.org/wiki/File:Morgan_crossover_1.jpg.&#10;&quot;File:Thomas Hunt Morgan.jpg.&quot; Wikipedia, the Free Encyclopedia. Accessed March 13, 2014. http://en.wikipedia.org/wiki/File:Thomas_Hunt_Morgan.jpg.&#10;&quot;FlyBase,&quot; n.d. http://flybase.org/reports/FBgn0003975.html.&#10;spax89. Illustration of a Tobacco Pipe, 2009. Extracted from Media:Blason de la ville de Saint-Quentin-la-Poterie (30).svg. http://commons.wikimedia.org/wiki/File:Tobacco_pipe.svg." id="1432" name="Google Shape;1432;p126" title="Genetic Recombination and Gene Mapping">
            <a:hlinkClick r:id="rId3"/>
          </p:cNvPr>
          <p:cNvPicPr preferRelativeResize="0"/>
          <p:nvPr/>
        </p:nvPicPr>
        <p:blipFill>
          <a:blip r:embed="rId4">
            <a:alphaModFix/>
          </a:blip>
          <a:stretch>
            <a:fillRect/>
          </a:stretch>
        </p:blipFill>
        <p:spPr>
          <a:xfrm>
            <a:off x="1945250" y="1555625"/>
            <a:ext cx="4995676" cy="3746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