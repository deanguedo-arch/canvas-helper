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embeddedFontLst>
    <p:embeddedFont>
      <p:font typeface="Roboto"/>
      <p:regular r:id="rId72"/>
      <p:bold r:id="rId73"/>
      <p:italic r:id="rId74"/>
      <p:boldItalic r:id="rId75"/>
    </p:embeddedFont>
    <p:embeddedFont>
      <p:font typeface="Average"/>
      <p:regular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8EB904-603E-4B81-8E50-529128083466}">
  <a:tblStyle styleId="{408EB904-603E-4B81-8E50-529128083466}" styleName="Table_0">
    <a:wholeTbl>
      <a:tcTxStyle>
        <a:font>
          <a:latin typeface="Arial"/>
          <a:ea typeface="Arial"/>
          <a:cs typeface="Arial"/>
        </a:font>
        <a:schemeClr val="tx1"/>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C2E5EA4-41D9-4FD6-BFBA-0A56BD602EA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bold.fntdata"/><Relationship Id="rId72" Type="http://schemas.openxmlformats.org/officeDocument/2006/relationships/font" Target="fonts/Roboto-regular.fntdata"/><Relationship Id="rId31" Type="http://schemas.openxmlformats.org/officeDocument/2006/relationships/slide" Target="slides/slide26.xml"/><Relationship Id="rId75" Type="http://schemas.openxmlformats.org/officeDocument/2006/relationships/font" Target="fonts/Roboto-boldItalic.fntdata"/><Relationship Id="rId30" Type="http://schemas.openxmlformats.org/officeDocument/2006/relationships/slide" Target="slides/slide25.xml"/><Relationship Id="rId74" Type="http://schemas.openxmlformats.org/officeDocument/2006/relationships/font" Target="fonts/Roboto-italic.fntdata"/><Relationship Id="rId33" Type="http://schemas.openxmlformats.org/officeDocument/2006/relationships/slide" Target="slides/slide28.xml"/><Relationship Id="rId32" Type="http://schemas.openxmlformats.org/officeDocument/2006/relationships/slide" Target="slides/slide27.xml"/><Relationship Id="rId76" Type="http://schemas.openxmlformats.org/officeDocument/2006/relationships/font" Target="fonts/Average-regular.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59f34370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a59f34370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add0e7ce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add0e7ce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54c03295f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254c03295f4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06945a2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06945a2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54c03295f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54c03295f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add0e7ce4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add0e7ce4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4c03295f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4c03295f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a394fb9dd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g2a394fb9ddf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a394fb9dd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a394fb9dd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7ac58c5b5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7ac58c5b5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7b6e55ff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7b6e55ff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a59f34370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a59f34370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2921ce8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2921ce8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add0e7ce4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add0e7ce4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a59f34370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a59f34370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4a5117d4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4a5117d4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4a5117d41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4a5117d41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3" name="Google Shape;58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6963907c4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6963907c4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6963907c4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6963907c4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2921ce87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2921ce87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6" name="Google Shape;65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3" name="Google Shape;66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9" name="Google Shape;67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8" name="Google Shape;68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7" name="Google Shape;697;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aed38a8a0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aed38a8a0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49dbc40fe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49dbc40fe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0f0abae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0f0abae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0f0abae3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0f0abae3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49dbc40fe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49dbc40fe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6963907c4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6963907c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grpSp>
        <p:nvGrpSpPr>
          <p:cNvPr id="54" name="Google Shape;54;p2"/>
          <p:cNvGrpSpPr/>
          <p:nvPr/>
        </p:nvGrpSpPr>
        <p:grpSpPr>
          <a:xfrm>
            <a:off x="-645041" y="0"/>
            <a:ext cx="10458613" cy="5337692"/>
            <a:chOff x="-645041" y="0"/>
            <a:chExt cx="10458613" cy="7116923"/>
          </a:xfrm>
        </p:grpSpPr>
        <p:grpSp>
          <p:nvGrpSpPr>
            <p:cNvPr id="55" name="Google Shape;55;p2"/>
            <p:cNvGrpSpPr/>
            <p:nvPr/>
          </p:nvGrpSpPr>
          <p:grpSpPr>
            <a:xfrm>
              <a:off x="0" y="0"/>
              <a:ext cx="9144000" cy="6858000"/>
              <a:chOff x="0" y="0"/>
              <a:chExt cx="9144000" cy="6858000"/>
            </a:xfrm>
          </p:grpSpPr>
          <p:grpSp>
            <p:nvGrpSpPr>
              <p:cNvPr id="56" name="Google Shape;56;p2"/>
              <p:cNvGrpSpPr/>
              <p:nvPr/>
            </p:nvGrpSpPr>
            <p:grpSpPr>
              <a:xfrm>
                <a:off x="0" y="0"/>
                <a:ext cx="2514600" cy="6858000"/>
                <a:chOff x="0" y="0"/>
                <a:chExt cx="2514600" cy="6858000"/>
              </a:xfrm>
            </p:grpSpPr>
            <p:sp>
              <p:nvSpPr>
                <p:cNvPr id="57" name="Google Shape;57;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8" name="Google Shape;58;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9" name="Google Shape;59;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0" name="Google Shape;60;p2"/>
              <p:cNvGrpSpPr/>
              <p:nvPr/>
            </p:nvGrpSpPr>
            <p:grpSpPr>
              <a:xfrm>
                <a:off x="42291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rot="10800000">
                <a:off x="662940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68" name="Google Shape;68;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9" name="Google Shape;69;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1" name="Google Shape;71;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2" name="Google Shape;72;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3" name="Google Shape;73;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4" name="Google Shape;74;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5" name="Google Shape;75;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7" name="Google Shape;77;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8" name="Google Shape;78;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9" name="Google Shape;79;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0" name="Google Shape;80;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3" name="Google Shape;93;p2"/>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a:off x="4649096" y="-16133"/>
            <a:ext cx="3505200" cy="173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txBox="1"/>
          <p:nvPr>
            <p:ph type="ctrTitle"/>
          </p:nvPr>
        </p:nvSpPr>
        <p:spPr>
          <a:xfrm>
            <a:off x="4733365" y="2031357"/>
            <a:ext cx="3313500" cy="1276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96" name="Google Shape;96;p2"/>
          <p:cNvSpPr txBox="1"/>
          <p:nvPr>
            <p:ph idx="1" type="subTitle"/>
          </p:nvPr>
        </p:nvSpPr>
        <p:spPr>
          <a:xfrm>
            <a:off x="4733365" y="3315810"/>
            <a:ext cx="3309900" cy="945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97" name="Google Shape;97;p2"/>
          <p:cNvSpPr txBox="1"/>
          <p:nvPr>
            <p:ph idx="10" type="dt"/>
          </p:nvPr>
        </p:nvSpPr>
        <p:spPr>
          <a:xfrm>
            <a:off x="4738744" y="1137621"/>
            <a:ext cx="2133600" cy="5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98" name="Google Shape;98;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idx="11" type="ftr"/>
          </p:nvPr>
        </p:nvSpPr>
        <p:spPr>
          <a:xfrm>
            <a:off x="5303520" y="4289975"/>
            <a:ext cx="28317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0" name="Google Shape;100;p2"/>
          <p:cNvSpPr txBox="1"/>
          <p:nvPr>
            <p:ph idx="12" type="sldNum"/>
          </p:nvPr>
        </p:nvSpPr>
        <p:spPr>
          <a:xfrm>
            <a:off x="4649096" y="4289975"/>
            <a:ext cx="6438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3"/>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4" name="Google Shape;104;p3"/>
          <p:cNvSpPr txBox="1"/>
          <p:nvPr>
            <p:ph idx="1" type="body"/>
          </p:nvPr>
        </p:nvSpPr>
        <p:spPr>
          <a:xfrm>
            <a:off x="1043492" y="1742739"/>
            <a:ext cx="6777300" cy="2631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5" name="Google Shape;105;p3"/>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6" name="Google Shape;106;p3"/>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7" name="Google Shape;107;p3"/>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4"/>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4"/>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4"/>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5"/>
          <p:cNvSpPr txBox="1"/>
          <p:nvPr>
            <p:ph type="title"/>
          </p:nvPr>
        </p:nvSpPr>
        <p:spPr>
          <a:xfrm>
            <a:off x="1258645" y="2175622"/>
            <a:ext cx="6637500" cy="1021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4" name="Google Shape;114;p5"/>
          <p:cNvSpPr txBox="1"/>
          <p:nvPr>
            <p:ph idx="1" type="body"/>
          </p:nvPr>
        </p:nvSpPr>
        <p:spPr>
          <a:xfrm>
            <a:off x="1258645" y="3200400"/>
            <a:ext cx="6637500" cy="11403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5" name="Google Shape;115;p5"/>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6" name="Google Shape;116;p5"/>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7" name="Google Shape;117;p5"/>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p6"/>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0" name="Google Shape;120;p6"/>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6"/>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2" name="Google Shape;122;p6"/>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23" name="Google Shape;123;p6"/>
          <p:cNvSpPr txBox="1"/>
          <p:nvPr>
            <p:ph idx="1" type="body"/>
          </p:nvPr>
        </p:nvSpPr>
        <p:spPr>
          <a:xfrm>
            <a:off x="1042416" y="1735074"/>
            <a:ext cx="3420000" cy="2619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4" name="Google Shape;124;p6"/>
          <p:cNvSpPr txBox="1"/>
          <p:nvPr>
            <p:ph idx="2" type="body"/>
          </p:nvPr>
        </p:nvSpPr>
        <p:spPr>
          <a:xfrm>
            <a:off x="4645152" y="1735073"/>
            <a:ext cx="3420000" cy="2619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7"/>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7" name="Google Shape;127;p7"/>
          <p:cNvSpPr txBox="1"/>
          <p:nvPr>
            <p:ph idx="1" type="body"/>
          </p:nvPr>
        </p:nvSpPr>
        <p:spPr>
          <a:xfrm>
            <a:off x="1412111" y="1737007"/>
            <a:ext cx="3057000" cy="4797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28" name="Google Shape;128;p7"/>
          <p:cNvSpPr txBox="1"/>
          <p:nvPr>
            <p:ph idx="2" type="body"/>
          </p:nvPr>
        </p:nvSpPr>
        <p:spPr>
          <a:xfrm>
            <a:off x="1041721" y="2231020"/>
            <a:ext cx="3420000" cy="2126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29" name="Google Shape;129;p7"/>
          <p:cNvSpPr txBox="1"/>
          <p:nvPr>
            <p:ph idx="3" type="body"/>
          </p:nvPr>
        </p:nvSpPr>
        <p:spPr>
          <a:xfrm>
            <a:off x="5011837" y="1737007"/>
            <a:ext cx="3055800" cy="4797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0" name="Google Shape;130;p7"/>
          <p:cNvSpPr txBox="1"/>
          <p:nvPr>
            <p:ph idx="4" type="body"/>
          </p:nvPr>
        </p:nvSpPr>
        <p:spPr>
          <a:xfrm>
            <a:off x="4645152" y="2231020"/>
            <a:ext cx="3420000" cy="2126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1" name="Google Shape;131;p7"/>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2" name="Google Shape;132;p7"/>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3" name="Google Shape;133;p7"/>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8"/>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6" name="Google Shape;136;p8"/>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8"/>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8" name="Google Shape;138;p8"/>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grpSp>
        <p:nvGrpSpPr>
          <p:cNvPr id="140" name="Google Shape;140;p9"/>
          <p:cNvGrpSpPr/>
          <p:nvPr/>
        </p:nvGrpSpPr>
        <p:grpSpPr>
          <a:xfrm>
            <a:off x="-645041" y="0"/>
            <a:ext cx="10458613" cy="5337692"/>
            <a:chOff x="-645041" y="0"/>
            <a:chExt cx="10458613" cy="7116923"/>
          </a:xfrm>
        </p:grpSpPr>
        <p:grpSp>
          <p:nvGrpSpPr>
            <p:cNvPr id="141" name="Google Shape;141;p9"/>
            <p:cNvGrpSpPr/>
            <p:nvPr/>
          </p:nvGrpSpPr>
          <p:grpSpPr>
            <a:xfrm>
              <a:off x="0" y="0"/>
              <a:ext cx="9144000" cy="6858000"/>
              <a:chOff x="0" y="0"/>
              <a:chExt cx="9144000" cy="6858000"/>
            </a:xfrm>
          </p:grpSpPr>
          <p:grpSp>
            <p:nvGrpSpPr>
              <p:cNvPr id="142" name="Google Shape;142;p9"/>
              <p:cNvGrpSpPr/>
              <p:nvPr/>
            </p:nvGrpSpPr>
            <p:grpSpPr>
              <a:xfrm>
                <a:off x="0" y="0"/>
                <a:ext cx="2514600" cy="6858000"/>
                <a:chOff x="0" y="0"/>
                <a:chExt cx="2514600" cy="6858000"/>
              </a:xfrm>
            </p:grpSpPr>
            <p:sp>
              <p:nvSpPr>
                <p:cNvPr id="143" name="Google Shape;143;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4" name="Google Shape;144;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5" name="Google Shape;145;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46" name="Google Shape;146;p9"/>
              <p:cNvGrpSpPr/>
              <p:nvPr/>
            </p:nvGrpSpPr>
            <p:grpSpPr>
              <a:xfrm>
                <a:off x="42291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rot="10800000">
                <a:off x="662940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4" name="Google Shape;154;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5" name="Google Shape;155;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7" name="Google Shape;157;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8" name="Google Shape;158;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9" name="Google Shape;159;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0" name="Google Shape;160;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1" name="Google Shape;161;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3" name="Google Shape;163;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4" name="Google Shape;164;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5" name="Google Shape;165;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6" name="Google Shape;166;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79" name="Google Shape;179;p9"/>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2" name="Google Shape;182;p9"/>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83" name="Google Shape;183;p9"/>
          <p:cNvSpPr/>
          <p:nvPr/>
        </p:nvSpPr>
        <p:spPr>
          <a:xfrm>
            <a:off x="905571" y="451412"/>
            <a:ext cx="3562200" cy="4236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txBox="1"/>
          <p:nvPr>
            <p:ph idx="1" type="body"/>
          </p:nvPr>
        </p:nvSpPr>
        <p:spPr>
          <a:xfrm>
            <a:off x="1145894" y="642395"/>
            <a:ext cx="3090300" cy="3863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5" name="Google Shape;185;p9"/>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6" name="Google Shape;186;p9"/>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7" name="Google Shape;187;p9"/>
          <p:cNvSpPr txBox="1"/>
          <p:nvPr>
            <p:ph type="title"/>
          </p:nvPr>
        </p:nvSpPr>
        <p:spPr>
          <a:xfrm>
            <a:off x="4739833" y="1993075"/>
            <a:ext cx="33045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8" name="Google Shape;188;p9"/>
          <p:cNvSpPr txBox="1"/>
          <p:nvPr>
            <p:ph idx="2" type="body"/>
          </p:nvPr>
        </p:nvSpPr>
        <p:spPr>
          <a:xfrm>
            <a:off x="4736592" y="3102746"/>
            <a:ext cx="3298800" cy="1138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9" name="Shape 189"/>
        <p:cNvGrpSpPr/>
        <p:nvPr/>
      </p:nvGrpSpPr>
      <p:grpSpPr>
        <a:xfrm>
          <a:off x="0" y="0"/>
          <a:ext cx="0" cy="0"/>
          <a:chOff x="0" y="0"/>
          <a:chExt cx="0" cy="0"/>
        </a:xfrm>
      </p:grpSpPr>
      <p:grpSp>
        <p:nvGrpSpPr>
          <p:cNvPr id="190" name="Google Shape;190;p10"/>
          <p:cNvGrpSpPr/>
          <p:nvPr/>
        </p:nvGrpSpPr>
        <p:grpSpPr>
          <a:xfrm>
            <a:off x="-645041" y="0"/>
            <a:ext cx="10458613" cy="5337692"/>
            <a:chOff x="-645041" y="0"/>
            <a:chExt cx="10458613" cy="7116923"/>
          </a:xfrm>
        </p:grpSpPr>
        <p:grpSp>
          <p:nvGrpSpPr>
            <p:cNvPr id="191" name="Google Shape;191;p10"/>
            <p:cNvGrpSpPr/>
            <p:nvPr/>
          </p:nvGrpSpPr>
          <p:grpSpPr>
            <a:xfrm>
              <a:off x="0" y="0"/>
              <a:ext cx="9144000" cy="6858000"/>
              <a:chOff x="0" y="0"/>
              <a:chExt cx="9144000" cy="6858000"/>
            </a:xfrm>
          </p:grpSpPr>
          <p:grpSp>
            <p:nvGrpSpPr>
              <p:cNvPr id="192" name="Google Shape;192;p10"/>
              <p:cNvGrpSpPr/>
              <p:nvPr/>
            </p:nvGrpSpPr>
            <p:grpSpPr>
              <a:xfrm>
                <a:off x="0" y="0"/>
                <a:ext cx="2514600" cy="6858000"/>
                <a:chOff x="0" y="0"/>
                <a:chExt cx="2514600" cy="6858000"/>
              </a:xfrm>
            </p:grpSpPr>
            <p:sp>
              <p:nvSpPr>
                <p:cNvPr id="193" name="Google Shape;193;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4" name="Google Shape;194;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5" name="Google Shape;195;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96" name="Google Shape;196;p10"/>
              <p:cNvGrpSpPr/>
              <p:nvPr/>
            </p:nvGrpSpPr>
            <p:grpSpPr>
              <a:xfrm>
                <a:off x="42291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rot="10800000">
                <a:off x="662940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4" name="Google Shape;204;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5" name="Google Shape;205;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7" name="Google Shape;207;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8" name="Google Shape;208;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9" name="Google Shape;209;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0" name="Google Shape;210;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1" name="Google Shape;211;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3" name="Google Shape;213;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4" name="Google Shape;214;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5" name="Google Shape;215;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6" name="Google Shape;216;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29" name="Google Shape;229;p10"/>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a:off x="905571" y="451412"/>
            <a:ext cx="3562200" cy="42363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3" name="Google Shape;233;p10"/>
          <p:cNvSpPr txBox="1"/>
          <p:nvPr>
            <p:ph type="title"/>
          </p:nvPr>
        </p:nvSpPr>
        <p:spPr>
          <a:xfrm>
            <a:off x="4734424" y="1995678"/>
            <a:ext cx="33009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4" name="Google Shape;234;p10"/>
          <p:cNvSpPr/>
          <p:nvPr>
            <p:ph idx="2" type="pic"/>
          </p:nvPr>
        </p:nvSpPr>
        <p:spPr>
          <a:xfrm>
            <a:off x="1005208" y="520346"/>
            <a:ext cx="3359700" cy="41010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5" name="Google Shape;235;p10"/>
          <p:cNvSpPr txBox="1"/>
          <p:nvPr>
            <p:ph idx="1" type="body"/>
          </p:nvPr>
        </p:nvSpPr>
        <p:spPr>
          <a:xfrm>
            <a:off x="4734630" y="3099816"/>
            <a:ext cx="3300600" cy="11397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36" name="Google Shape;236;p10"/>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7" name="Google Shape;237;p10"/>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8" name="Google Shape;238;p10"/>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9" name="Shape 239"/>
        <p:cNvGrpSpPr/>
        <p:nvPr/>
      </p:nvGrpSpPr>
      <p:grpSpPr>
        <a:xfrm>
          <a:off x="0" y="0"/>
          <a:ext cx="0" cy="0"/>
          <a:chOff x="0" y="0"/>
          <a:chExt cx="0" cy="0"/>
        </a:xfrm>
      </p:grpSpPr>
      <p:sp>
        <p:nvSpPr>
          <p:cNvPr id="240" name="Google Shape;240;p1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1" name="Google Shape;241;p11"/>
          <p:cNvSpPr txBox="1"/>
          <p:nvPr>
            <p:ph idx="1" type="body"/>
          </p:nvPr>
        </p:nvSpPr>
        <p:spPr>
          <a:xfrm rot="5400000">
            <a:off x="3116359" y="-330111"/>
            <a:ext cx="26316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2" name="Google Shape;242;p1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3" name="Google Shape;243;p1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4" name="Google Shape;244;p1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5" name="Shape 245"/>
        <p:cNvGrpSpPr/>
        <p:nvPr/>
      </p:nvGrpSpPr>
      <p:grpSpPr>
        <a:xfrm>
          <a:off x="0" y="0"/>
          <a:ext cx="0" cy="0"/>
          <a:chOff x="0" y="0"/>
          <a:chExt cx="0" cy="0"/>
        </a:xfrm>
      </p:grpSpPr>
      <p:sp>
        <p:nvSpPr>
          <p:cNvPr id="246" name="Google Shape;246;p12"/>
          <p:cNvSpPr txBox="1"/>
          <p:nvPr>
            <p:ph type="title"/>
          </p:nvPr>
        </p:nvSpPr>
        <p:spPr>
          <a:xfrm rot="5400000">
            <a:off x="5579003" y="1823060"/>
            <a:ext cx="35853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7" name="Google Shape;247;p12"/>
          <p:cNvSpPr txBox="1"/>
          <p:nvPr>
            <p:ph idx="1" type="body"/>
          </p:nvPr>
        </p:nvSpPr>
        <p:spPr>
          <a:xfrm rot="5400000">
            <a:off x="1972500" y="-146590"/>
            <a:ext cx="35853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8" name="Google Shape;248;p12"/>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9" name="Google Shape;249;p12"/>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0" name="Google Shape;250;p12"/>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567437" y="0"/>
            <a:ext cx="10458613" cy="5337692"/>
            <a:chOff x="-645041" y="0"/>
            <a:chExt cx="10458613" cy="7116923"/>
          </a:xfrm>
        </p:grpSpPr>
        <p:grpSp>
          <p:nvGrpSpPr>
            <p:cNvPr id="7" name="Google Shape;7;p1"/>
            <p:cNvGrpSpPr/>
            <p:nvPr/>
          </p:nvGrpSpPr>
          <p:grpSpPr>
            <a:xfrm>
              <a:off x="0" y="0"/>
              <a:ext cx="9144000" cy="6858000"/>
              <a:chOff x="0" y="0"/>
              <a:chExt cx="9144000" cy="6858000"/>
            </a:xfrm>
          </p:grpSpPr>
          <p:grpSp>
            <p:nvGrpSpPr>
              <p:cNvPr id="8" name="Google Shape;8;p1"/>
              <p:cNvGrpSpPr/>
              <p:nvPr/>
            </p:nvGrpSpPr>
            <p:grpSpPr>
              <a:xfrm>
                <a:off x="0" y="0"/>
                <a:ext cx="2514600" cy="6858000"/>
                <a:chOff x="0" y="0"/>
                <a:chExt cx="2514600" cy="6858000"/>
              </a:xfrm>
            </p:grpSpPr>
            <p:sp>
              <p:nvSpPr>
                <p:cNvPr id="9" name="Google Shape;9;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 name="Google Shape;10;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1" name="Google Shape;11;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2" name="Google Shape;12;p1"/>
              <p:cNvGrpSpPr/>
              <p:nvPr/>
            </p:nvGrpSpPr>
            <p:grpSpPr>
              <a:xfrm>
                <a:off x="42291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rot="10800000">
                <a:off x="662940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0" name="Google Shape;20;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1" name="Google Shape;21;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3" name="Google Shape;23;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6" name="Google Shape;26;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 name="Google Shape;27;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9" name="Google Shape;29;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0" name="Google Shape;30;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1" name="Google Shape;31;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2" name="Google Shape;32;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5" name="Google Shape;45;p1"/>
          <p:cNvSpPr/>
          <p:nvPr/>
        </p:nvSpPr>
        <p:spPr>
          <a:xfrm>
            <a:off x="457200" y="250115"/>
            <a:ext cx="8229600" cy="4639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a:off x="4561242" y="-16133"/>
            <a:ext cx="3679200" cy="5244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49" name="Google Shape;49;p1"/>
          <p:cNvSpPr txBox="1"/>
          <p:nvPr>
            <p:ph idx="1" type="body"/>
          </p:nvPr>
        </p:nvSpPr>
        <p:spPr>
          <a:xfrm>
            <a:off x="1043492" y="1742739"/>
            <a:ext cx="6777300" cy="2631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0" name="Google Shape;50;p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1" name="Google Shape;51;p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2" name="Google Shape;52;p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qPix_X-9t7E" TargetMode="External"/><Relationship Id="rId4"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A44brRGG4Ys" TargetMode="Externa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aaQWxko6qmk" TargetMode="External"/><Relationship Id="rId4" Type="http://schemas.openxmlformats.org/officeDocument/2006/relationships/image" Target="../media/image45.jpg"/><Relationship Id="rId5" Type="http://schemas.openxmlformats.org/officeDocument/2006/relationships/hyperlink" Target="http://www.youtube.com/watch?v=4WcZR_k_a0I" TargetMode="External"/><Relationship Id="rId6"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youtube.com/watch?v=ZAmUjvgoO0A" TargetMode="External"/><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www.youtube.com/watch?v=oa6rvUJlg7o" TargetMode="External"/><Relationship Id="rId4" Type="http://schemas.openxmlformats.org/officeDocument/2006/relationships/image" Target="../media/image30.jpg"/><Relationship Id="rId5" Type="http://schemas.openxmlformats.org/officeDocument/2006/relationships/hyperlink" Target="http://www.youtube.com/watch?v=_0PFBI5K9s4" TargetMode="External"/><Relationship Id="rId6" Type="http://schemas.openxmlformats.org/officeDocument/2006/relationships/image" Target="../media/image29.jpg"/><Relationship Id="rId7" Type="http://schemas.openxmlformats.org/officeDocument/2006/relationships/hyperlink" Target="http://www.youtube.com/watch?v=vzA3pQB25Xk" TargetMode="External"/><Relationship Id="rId8"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8.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www.youtube.com/watch?v=GvUrdCQv3JM" TargetMode="External"/><Relationship Id="rId4" Type="http://schemas.openxmlformats.org/officeDocument/2006/relationships/image" Target="../media/image5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www.youtube.com/watch?v=ecGEcj1tBBI" TargetMode="External"/><Relationship Id="rId4" Type="http://schemas.openxmlformats.org/officeDocument/2006/relationships/image" Target="../media/image27.jpg"/><Relationship Id="rId5" Type="http://schemas.openxmlformats.org/officeDocument/2006/relationships/hyperlink" Target="http://www.youtube.com/watch?v=YcJy28Nnrb8" TargetMode="External"/><Relationship Id="rId6" Type="http://schemas.openxmlformats.org/officeDocument/2006/relationships/image" Target="../media/image5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learn.genetics.utah.edu/content/addiction/mouse/" TargetMode="Externa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www.youtube.com/watch?v=QY9NTVh-Awo" TargetMode="External"/><Relationship Id="rId4" Type="http://schemas.openxmlformats.org/officeDocument/2006/relationships/image" Target="../media/image32.jpg"/><Relationship Id="rId5" Type="http://schemas.openxmlformats.org/officeDocument/2006/relationships/hyperlink" Target="http://www.youtube.com/watch?v=jaWrMYChc5A" TargetMode="External"/><Relationship Id="rId6" Type="http://schemas.openxmlformats.org/officeDocument/2006/relationships/image" Target="../media/image4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www.youtube.com/watch?v=DPWEhl7gbu4" TargetMode="External"/><Relationship Id="rId4" Type="http://schemas.openxmlformats.org/officeDocument/2006/relationships/image" Target="../media/image37.jpg"/><Relationship Id="rId5"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www.youtube.com/watch?v=jEHwB1PG_-Q" TargetMode="External"/><Relationship Id="rId4" Type="http://schemas.openxmlformats.org/officeDocument/2006/relationships/image" Target="../media/image41.jpg"/><Relationship Id="rId5" Type="http://schemas.openxmlformats.org/officeDocument/2006/relationships/hyperlink" Target="http://www.youtube.com/watch?v=FPH5CFSmYEU" TargetMode="External"/><Relationship Id="rId6" Type="http://schemas.openxmlformats.org/officeDocument/2006/relationships/image" Target="../media/image57.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9.png"/><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www.youtube.com/watch?v=q8NtmDrb_qo" TargetMode="External"/><Relationship Id="rId4" Type="http://schemas.openxmlformats.org/officeDocument/2006/relationships/image" Target="../media/image4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6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1.png"/><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7.png"/><Relationship Id="rId4" Type="http://schemas.openxmlformats.org/officeDocument/2006/relationships/image" Target="../media/image6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www.youtube.com/watch?v=0-8PvNOdByc" TargetMode="External"/><Relationship Id="rId4" Type="http://schemas.openxmlformats.org/officeDocument/2006/relationships/image" Target="../media/image64.jpg"/><Relationship Id="rId5" Type="http://schemas.openxmlformats.org/officeDocument/2006/relationships/hyperlink" Target="http://www.youtube.com/watch?v=jYlxv9gUYSs" TargetMode="External"/><Relationship Id="rId6" Type="http://schemas.openxmlformats.org/officeDocument/2006/relationships/image" Target="../media/image59.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www.blueknot.org.au/Resources/General-Information/Impact-on-brain" TargetMode="External"/><Relationship Id="rId4" Type="http://schemas.openxmlformats.org/officeDocument/2006/relationships/hyperlink" Target="http://www.youtube.com/watch?v=qEEEu1HEtU0" TargetMode="External"/><Relationship Id="rId5" Type="http://schemas.openxmlformats.org/officeDocument/2006/relationships/image" Target="../media/image55.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6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www.youtube.com/watch?v=-w8n9UOiBxE" TargetMode="External"/><Relationship Id="rId4" Type="http://schemas.openxmlformats.org/officeDocument/2006/relationships/image" Target="../media/image70.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hyperlink" Target="http://www.youtube.com/watch?v=RNLceVI8jcc" TargetMode="External"/><Relationship Id="rId4" Type="http://schemas.openxmlformats.org/officeDocument/2006/relationships/image" Target="../media/image6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nvSpPr>
        <p:spPr>
          <a:xfrm>
            <a:off x="4704675" y="2004150"/>
            <a:ext cx="3366900" cy="1437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 sz="2400">
                <a:solidFill>
                  <a:srgbClr val="4D4F55"/>
                </a:solidFill>
                <a:latin typeface="Verdana"/>
                <a:ea typeface="Verdana"/>
                <a:cs typeface="Verdana"/>
                <a:sym typeface="Verdana"/>
              </a:rPr>
              <a:t>UNIT A</a:t>
            </a:r>
            <a:endParaRPr b="1" sz="2400">
              <a:solidFill>
                <a:srgbClr val="4D4F55"/>
              </a:solidFill>
              <a:latin typeface="Verdana"/>
              <a:ea typeface="Verdana"/>
              <a:cs typeface="Verdana"/>
              <a:sym typeface="Verdana"/>
            </a:endParaRPr>
          </a:p>
          <a:p>
            <a:pPr indent="0" lvl="0" marL="0" rtl="0" algn="ctr">
              <a:spcBef>
                <a:spcPts val="1000"/>
              </a:spcBef>
              <a:spcAft>
                <a:spcPts val="0"/>
              </a:spcAft>
              <a:buNone/>
            </a:pPr>
            <a:r>
              <a:rPr b="1" lang="en" sz="2800">
                <a:solidFill>
                  <a:srgbClr val="4D4F55"/>
                </a:solidFill>
                <a:latin typeface="Verdana"/>
                <a:ea typeface="Verdana"/>
                <a:cs typeface="Verdana"/>
                <a:sym typeface="Verdana"/>
              </a:rPr>
              <a:t>The Nervous and Endocrine  System</a:t>
            </a:r>
            <a:endParaRPr sz="2800">
              <a:solidFill>
                <a:srgbClr val="4D4F55"/>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4"/>
          <p:cNvSpPr txBox="1"/>
          <p:nvPr>
            <p:ph type="ctrTitle"/>
          </p:nvPr>
        </p:nvSpPr>
        <p:spPr>
          <a:xfrm>
            <a:off x="4733365" y="2031357"/>
            <a:ext cx="3313500" cy="127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Chapter 11</a:t>
            </a:r>
            <a:endParaRPr/>
          </a:p>
        </p:txBody>
      </p:sp>
      <p:sp>
        <p:nvSpPr>
          <p:cNvPr id="261" name="Google Shape;261;p14"/>
          <p:cNvSpPr txBox="1"/>
          <p:nvPr>
            <p:ph idx="1" type="subTitle"/>
          </p:nvPr>
        </p:nvSpPr>
        <p:spPr>
          <a:xfrm>
            <a:off x="4733365" y="3315810"/>
            <a:ext cx="3309900" cy="9456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a:t>The Nervous System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idx="4294967295" type="title"/>
          </p:nvPr>
        </p:nvSpPr>
        <p:spPr>
          <a:xfrm>
            <a:off x="843300" y="931100"/>
            <a:ext cx="74574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INDEX</a:t>
            </a:r>
            <a:endParaRPr/>
          </a:p>
        </p:txBody>
      </p:sp>
      <p:sp>
        <p:nvSpPr>
          <p:cNvPr id="267" name="Google Shape;267;p15"/>
          <p:cNvSpPr txBox="1"/>
          <p:nvPr>
            <p:ph idx="4294967295" type="body"/>
          </p:nvPr>
        </p:nvSpPr>
        <p:spPr>
          <a:xfrm>
            <a:off x="843300" y="2147750"/>
            <a:ext cx="7457400" cy="1738200"/>
          </a:xfrm>
          <a:prstGeom prst="rect">
            <a:avLst/>
          </a:prstGeom>
          <a:noFill/>
          <a:ln cap="flat" cmpd="sng" w="19050">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434343"/>
              </a:buClr>
              <a:buSzPts val="1800"/>
              <a:buFont typeface="Average"/>
              <a:buChar char="○"/>
            </a:pPr>
            <a:r>
              <a:rPr b="0" i="0" lang="en" sz="2400" u="sng" cap="none" strike="noStrike">
                <a:solidFill>
                  <a:srgbClr val="434343"/>
                </a:solidFill>
                <a:latin typeface="Average"/>
                <a:ea typeface="Average"/>
                <a:cs typeface="Average"/>
                <a:sym typeface="Average"/>
                <a:hlinkClick>
                  <a:extLst>
                    <a:ext uri="{A12FA001-AC4F-418D-AE19-62706E023703}">
                      <ahyp:hlinkClr val="tx"/>
                    </a:ext>
                  </a:extLst>
                </a:hlinkClick>
              </a:rPr>
              <a:t>Topic 1: Nerves &amp; Action Potential</a:t>
            </a:r>
            <a:endParaRPr/>
          </a:p>
          <a:p>
            <a:pPr indent="-342900" lvl="0" marL="457200" marR="0" rtl="0" algn="l">
              <a:lnSpc>
                <a:spcPct val="100000"/>
              </a:lnSpc>
              <a:spcBef>
                <a:spcPts val="1000"/>
              </a:spcBef>
              <a:spcAft>
                <a:spcPts val="0"/>
              </a:spcAft>
              <a:buClr>
                <a:srgbClr val="434343"/>
              </a:buClr>
              <a:buSzPts val="1800"/>
              <a:buFont typeface="Average"/>
              <a:buChar char="○"/>
            </a:pPr>
            <a:r>
              <a:rPr b="0" i="0" lang="en" sz="2400" u="sng" cap="none" strike="noStrike">
                <a:solidFill>
                  <a:srgbClr val="434343"/>
                </a:solidFill>
                <a:latin typeface="Average"/>
                <a:ea typeface="Average"/>
                <a:cs typeface="Average"/>
                <a:sym typeface="Average"/>
                <a:hlinkClick>
                  <a:extLst>
                    <a:ext uri="{A12FA001-AC4F-418D-AE19-62706E023703}">
                      <ahyp:hlinkClr val="tx"/>
                    </a:ext>
                  </a:extLst>
                </a:hlinkClick>
              </a:rPr>
              <a:t>Topic 2: Central &amp; Peripheral Nervous System</a:t>
            </a:r>
            <a:endParaRPr/>
          </a:p>
          <a:p>
            <a:pPr indent="-342900" lvl="0" marL="457200" marR="0" rtl="0" algn="l">
              <a:lnSpc>
                <a:spcPct val="100000"/>
              </a:lnSpc>
              <a:spcBef>
                <a:spcPts val="1000"/>
              </a:spcBef>
              <a:spcAft>
                <a:spcPts val="0"/>
              </a:spcAft>
              <a:buClr>
                <a:srgbClr val="434343"/>
              </a:buClr>
              <a:buSzPts val="1800"/>
              <a:buFont typeface="Average"/>
              <a:buChar char="○"/>
            </a:pPr>
            <a:r>
              <a:rPr b="0" i="0" lang="en" sz="2400" u="sng" cap="none" strike="noStrike">
                <a:solidFill>
                  <a:srgbClr val="434343"/>
                </a:solidFill>
                <a:latin typeface="Average"/>
                <a:ea typeface="Average"/>
                <a:cs typeface="Average"/>
                <a:sym typeface="Average"/>
                <a:hlinkClick>
                  <a:extLst>
                    <a:ext uri="{A12FA001-AC4F-418D-AE19-62706E023703}">
                      <ahyp:hlinkClr val="tx"/>
                    </a:ext>
                  </a:extLst>
                </a:hlinkClick>
              </a:rPr>
              <a:t>Topic 3: Sensory Reception</a:t>
            </a:r>
            <a:endParaRPr>
              <a:solidFill>
                <a:srgbClr val="434343"/>
              </a:solidFill>
            </a:endParaRPr>
          </a:p>
          <a:p>
            <a:pPr indent="0" lvl="0" marL="0" marR="0" rtl="0" algn="l">
              <a:lnSpc>
                <a:spcPct val="100000"/>
              </a:lnSpc>
              <a:spcBef>
                <a:spcPts val="100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txBox="1"/>
          <p:nvPr>
            <p:ph idx="4294967295" type="title"/>
          </p:nvPr>
        </p:nvSpPr>
        <p:spPr>
          <a:xfrm>
            <a:off x="814900" y="542150"/>
            <a:ext cx="74574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lang="en" sz="3600" u="sng">
                <a:latin typeface="Average"/>
                <a:ea typeface="Average"/>
                <a:cs typeface="Average"/>
                <a:sym typeface="Average"/>
              </a:rPr>
              <a:t>11.1</a:t>
            </a:r>
            <a:r>
              <a:rPr b="1" i="0" lang="en" sz="3600" u="sng" cap="none" strike="noStrike">
                <a:solidFill>
                  <a:schemeClr val="accent1"/>
                </a:solidFill>
                <a:latin typeface="Average"/>
                <a:ea typeface="Average"/>
                <a:cs typeface="Average"/>
                <a:sym typeface="Average"/>
              </a:rPr>
              <a:t> Nerves &amp; Action Potential</a:t>
            </a:r>
            <a:endParaRPr u="sng"/>
          </a:p>
        </p:txBody>
      </p:sp>
      <p:sp>
        <p:nvSpPr>
          <p:cNvPr id="273" name="Google Shape;273;p16"/>
          <p:cNvSpPr txBox="1"/>
          <p:nvPr>
            <p:ph idx="4294967295" type="body"/>
          </p:nvPr>
        </p:nvSpPr>
        <p:spPr>
          <a:xfrm>
            <a:off x="634750" y="1006775"/>
            <a:ext cx="7817700" cy="246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824"/>
              <a:buFont typeface="Noto Sans Symbols"/>
              <a:buNone/>
            </a:pPr>
            <a:r>
              <a:t/>
            </a:r>
            <a:endParaRPr/>
          </a:p>
          <a:p>
            <a:pPr indent="0" lvl="0" marL="0" marR="0" rtl="0" algn="l">
              <a:lnSpc>
                <a:spcPct val="100000"/>
              </a:lnSpc>
              <a:spcBef>
                <a:spcPts val="0"/>
              </a:spcBef>
              <a:spcAft>
                <a:spcPts val="0"/>
              </a:spcAft>
              <a:buClr>
                <a:schemeClr val="accent1"/>
              </a:buClr>
              <a:buSzPts val="456"/>
              <a:buFont typeface="Noto Sans Symbols"/>
              <a:buNone/>
            </a:pPr>
            <a:r>
              <a:t/>
            </a:r>
            <a:endParaRPr b="1" i="0" sz="600" u="none" cap="none" strike="noStrike">
              <a:solidFill>
                <a:srgbClr val="000000"/>
              </a:solidFill>
              <a:latin typeface="Average"/>
              <a:ea typeface="Average"/>
              <a:cs typeface="Average"/>
              <a:sym typeface="Average"/>
            </a:endParaRPr>
          </a:p>
          <a:p>
            <a:pPr indent="-336550" lvl="0" marL="457200" marR="0" rtl="0" algn="l">
              <a:lnSpc>
                <a:spcPct val="100000"/>
              </a:lnSpc>
              <a:spcBef>
                <a:spcPts val="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Describe the general structure and function of a neuron and myelin sheath</a:t>
            </a:r>
            <a:endParaRPr sz="2300"/>
          </a:p>
          <a:p>
            <a:pPr indent="-336550" lvl="0" marL="457200" marR="0" rtl="0" algn="l">
              <a:lnSpc>
                <a:spcPct val="100000"/>
              </a:lnSpc>
              <a:spcBef>
                <a:spcPts val="100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Explain the formation and transmission of an action potential</a:t>
            </a:r>
            <a:endParaRPr sz="2300"/>
          </a:p>
          <a:p>
            <a:pPr indent="-336550" lvl="0" marL="457200" marR="0" rtl="0" algn="l">
              <a:lnSpc>
                <a:spcPct val="100000"/>
              </a:lnSpc>
              <a:spcBef>
                <a:spcPts val="100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Explain the intensity of a signal in terms of the all-or-none response</a:t>
            </a:r>
            <a:endParaRPr sz="2300"/>
          </a:p>
          <a:p>
            <a:pPr indent="-336550" lvl="0" marL="457200" marR="0" rtl="0" algn="l">
              <a:lnSpc>
                <a:spcPct val="100000"/>
              </a:lnSpc>
              <a:spcBef>
                <a:spcPts val="100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Explain the transmission of a signal across a synapse, as well as the main neurotransmitters involved</a:t>
            </a:r>
            <a:endParaRPr sz="2300"/>
          </a:p>
          <a:p>
            <a:pPr indent="-336550" lvl="0" marL="457200" marR="0" rtl="0" algn="l">
              <a:lnSpc>
                <a:spcPct val="100000"/>
              </a:lnSpc>
              <a:spcBef>
                <a:spcPts val="100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Describe the organization of neurons into nerves and the function of reflex arcs</a:t>
            </a:r>
            <a:endParaRPr sz="2300"/>
          </a:p>
          <a:p>
            <a:pPr indent="0" lvl="0" marL="0" marR="0" rtl="0" algn="l">
              <a:lnSpc>
                <a:spcPct val="100000"/>
              </a:lnSpc>
              <a:spcBef>
                <a:spcPts val="100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274" name="Google Shape;274;p16"/>
          <p:cNvSpPr txBox="1"/>
          <p:nvPr/>
        </p:nvSpPr>
        <p:spPr>
          <a:xfrm>
            <a:off x="900425" y="4156725"/>
            <a:ext cx="7277400" cy="400200"/>
          </a:xfrm>
          <a:prstGeom prst="rect">
            <a:avLst/>
          </a:prstGeom>
          <a:solidFill>
            <a:srgbClr val="F5F5F5"/>
          </a:solidFill>
          <a:ln cap="flat" cmpd="sng" w="9525">
            <a:solidFill>
              <a:srgbClr val="9E9E9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Verdana"/>
                <a:ea typeface="Verdana"/>
                <a:cs typeface="Verdana"/>
                <a:sym typeface="Verdana"/>
              </a:rPr>
              <a:t>* Textbook pages 364-384</a:t>
            </a:r>
            <a:endParaRPr b="1" i="1">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7"/>
          <p:cNvSpPr txBox="1"/>
          <p:nvPr>
            <p:ph idx="4294967295" type="title"/>
          </p:nvPr>
        </p:nvSpPr>
        <p:spPr>
          <a:xfrm>
            <a:off x="967290" y="618347"/>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Introduction</a:t>
            </a:r>
            <a:endParaRPr/>
          </a:p>
        </p:txBody>
      </p:sp>
      <p:pic>
        <p:nvPicPr>
          <p:cNvPr descr="•••SUBBABLE MESSAGE•••&#10;&#10;TO: Kerry&#10;FROM: Cale&#10;&#10;I love you with all my ha-art. Deadset.&#10;&#10;***&#10;&#10;Crash Course is on Patreon! You can support us directly by signing up at http://www.patreon.com/crashcourse&#10;&#10;***&#10;&#10;Today Hank kicks off our look around MISSION CONTROL: your nervous system.&#10;&#10;--&#10;&#10;Table of Contents:&#10;&#10;Sensory Input, Integration and Motor Output 1:36&#10;Organization of Central and Peripheral Systems 2:16&#10;Glial Cells 3:54&#10;Role, Anatomy and Function of Neuron Types 5:23&#10;Structure and Function of Neurons 6:20&#10;&#10;--&#10;&#10;Want to find Crash Course elsewhere on the internet?&#10;Facebook - http://www.facebook.com/YouTubeCrashCourse&#10;Twitter - http://www.twitter.com/TheCrashCourse&#10;Tumblr - http://thecrashcourse.tumblr.com &#10;Support CrashCourse on Patreon at http://www.patreon.com/crashcourse" id="280" name="Google Shape;280;p17" title="The Nervous System, Part 1: Crash Course A&amp;P #8">
            <a:hlinkClick r:id="rId3"/>
          </p:cNvPr>
          <p:cNvPicPr preferRelativeResize="0"/>
          <p:nvPr/>
        </p:nvPicPr>
        <p:blipFill>
          <a:blip r:embed="rId4">
            <a:alphaModFix/>
          </a:blip>
          <a:stretch>
            <a:fillRect/>
          </a:stretch>
        </p:blipFill>
        <p:spPr>
          <a:xfrm>
            <a:off x="4441013" y="1475750"/>
            <a:ext cx="3783725" cy="2837800"/>
          </a:xfrm>
          <a:prstGeom prst="rect">
            <a:avLst/>
          </a:prstGeom>
          <a:noFill/>
          <a:ln>
            <a:noFill/>
          </a:ln>
        </p:spPr>
      </p:pic>
      <p:sp>
        <p:nvSpPr>
          <p:cNvPr id="281" name="Google Shape;281;p17"/>
          <p:cNvSpPr txBox="1"/>
          <p:nvPr/>
        </p:nvSpPr>
        <p:spPr>
          <a:xfrm>
            <a:off x="853850" y="1702250"/>
            <a:ext cx="2813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erdana"/>
                <a:ea typeface="Verdana"/>
                <a:cs typeface="Verdana"/>
                <a:sym typeface="Verdana"/>
              </a:rPr>
              <a:t>Watch the following video for a general overview of what you will be learning about.</a:t>
            </a:r>
            <a:endParaRPr>
              <a:latin typeface="Verdana"/>
              <a:ea typeface="Verdana"/>
              <a:cs typeface="Verdana"/>
              <a:sym typeface="Verdana"/>
            </a:endParaRPr>
          </a:p>
          <a:p>
            <a:pPr indent="0" lvl="0" marL="0" rtl="0" algn="l">
              <a:spcBef>
                <a:spcPts val="0"/>
              </a:spcBef>
              <a:spcAft>
                <a:spcPts val="0"/>
              </a:spcAft>
              <a:buNone/>
            </a:pPr>
            <a:r>
              <a:t/>
            </a:r>
            <a:endParaRPr>
              <a:latin typeface="Verdana"/>
              <a:ea typeface="Verdana"/>
              <a:cs typeface="Verdana"/>
              <a:sym typeface="Verdana"/>
            </a:endParaRPr>
          </a:p>
          <a:p>
            <a:pPr indent="0" lvl="0" marL="0" rtl="0" algn="l">
              <a:spcBef>
                <a:spcPts val="0"/>
              </a:spcBef>
              <a:spcAft>
                <a:spcPts val="0"/>
              </a:spcAft>
              <a:buNone/>
            </a:pPr>
            <a:r>
              <a:rPr lang="en">
                <a:latin typeface="Verdana"/>
                <a:ea typeface="Verdana"/>
                <a:cs typeface="Verdana"/>
                <a:sym typeface="Verdana"/>
              </a:rPr>
              <a:t>Feel free to come back to this video later on to review as well. </a:t>
            </a:r>
            <a:endParaRPr>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type="title"/>
          </p:nvPr>
        </p:nvSpPr>
        <p:spPr>
          <a:xfrm>
            <a:off x="7386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Overview</a:t>
            </a:r>
            <a:endParaRPr/>
          </a:p>
        </p:txBody>
      </p:sp>
      <p:sp>
        <p:nvSpPr>
          <p:cNvPr id="287" name="Google Shape;287;p18"/>
          <p:cNvSpPr txBox="1"/>
          <p:nvPr>
            <p:ph idx="1" type="body"/>
          </p:nvPr>
        </p:nvSpPr>
        <p:spPr>
          <a:xfrm>
            <a:off x="843300" y="1361750"/>
            <a:ext cx="7457400" cy="327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672"/>
              <a:buFont typeface="Noto Sans Symbols"/>
              <a:buNone/>
            </a:pPr>
            <a:r>
              <a:rPr b="0" i="0" lang="en" sz="2200" u="none" cap="none" strike="noStrike">
                <a:solidFill>
                  <a:srgbClr val="000000"/>
                </a:solidFill>
                <a:latin typeface="Average"/>
                <a:ea typeface="Average"/>
                <a:cs typeface="Average"/>
                <a:sym typeface="Average"/>
              </a:rPr>
              <a:t>The nervous system works in conjunction with the endocrine system to respond to both internal and external environmental change, thereby maintaining </a:t>
            </a:r>
            <a:r>
              <a:rPr b="1" i="1" lang="en" sz="2200" u="none" cap="none" strike="noStrike">
                <a:solidFill>
                  <a:srgbClr val="000000"/>
                </a:solidFill>
                <a:latin typeface="Average"/>
                <a:ea typeface="Average"/>
                <a:cs typeface="Average"/>
                <a:sym typeface="Average"/>
              </a:rPr>
              <a:t>homeostasis</a:t>
            </a:r>
            <a:r>
              <a:rPr b="1" lang="en" sz="2200">
                <a:solidFill>
                  <a:srgbClr val="000000"/>
                </a:solidFill>
                <a:latin typeface="Average"/>
                <a:ea typeface="Average"/>
                <a:cs typeface="Average"/>
                <a:sym typeface="Average"/>
              </a:rPr>
              <a:t> </a:t>
            </a:r>
            <a:r>
              <a:rPr b="0" i="0" lang="en" sz="2200" u="none" cap="none" strike="noStrike">
                <a:solidFill>
                  <a:srgbClr val="000000"/>
                </a:solidFill>
                <a:latin typeface="Average"/>
                <a:ea typeface="Average"/>
                <a:cs typeface="Average"/>
                <a:sym typeface="Average"/>
              </a:rPr>
              <a:t>within the body. </a:t>
            </a:r>
            <a:endParaRPr/>
          </a:p>
          <a:p>
            <a:pPr indent="0" lvl="0" marL="0" marR="0" rtl="0" algn="l">
              <a:lnSpc>
                <a:spcPct val="100000"/>
              </a:lnSpc>
              <a:spcBef>
                <a:spcPts val="100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342900" lvl="0" marL="457200" marR="0" rtl="0" algn="l">
              <a:lnSpc>
                <a:spcPct val="100000"/>
              </a:lnSpc>
              <a:spcBef>
                <a:spcPts val="0"/>
              </a:spcBef>
              <a:spcAft>
                <a:spcPts val="0"/>
              </a:spcAft>
              <a:buClr>
                <a:srgbClr val="000000"/>
              </a:buClr>
              <a:buSzPts val="1800"/>
              <a:buFont typeface="Average"/>
              <a:buChar char="○"/>
            </a:pPr>
            <a:r>
              <a:rPr b="0" i="0" lang="en" sz="1800" u="none" cap="none" strike="noStrike">
                <a:solidFill>
                  <a:srgbClr val="000000"/>
                </a:solidFill>
                <a:latin typeface="Average"/>
                <a:ea typeface="Average"/>
                <a:cs typeface="Average"/>
                <a:sym typeface="Average"/>
              </a:rPr>
              <a:t>The </a:t>
            </a:r>
            <a:r>
              <a:rPr b="1" i="0" lang="en" sz="1800" u="none" cap="none" strike="noStrike">
                <a:solidFill>
                  <a:srgbClr val="000000"/>
                </a:solidFill>
                <a:latin typeface="Average"/>
                <a:ea typeface="Average"/>
                <a:cs typeface="Average"/>
                <a:sym typeface="Average"/>
              </a:rPr>
              <a:t>nervous system</a:t>
            </a:r>
            <a:r>
              <a:rPr b="0" i="0" lang="en" sz="1800" u="none" cap="none" strike="noStrike">
                <a:solidFill>
                  <a:srgbClr val="000000"/>
                </a:solidFill>
                <a:latin typeface="Average"/>
                <a:ea typeface="Average"/>
                <a:cs typeface="Average"/>
                <a:sym typeface="Average"/>
              </a:rPr>
              <a:t> responds via </a:t>
            </a:r>
            <a:r>
              <a:rPr b="1" i="0" lang="en" sz="1800" u="none" cap="none" strike="noStrike">
                <a:solidFill>
                  <a:srgbClr val="000000"/>
                </a:solidFill>
                <a:latin typeface="Average"/>
                <a:ea typeface="Average"/>
                <a:cs typeface="Average"/>
                <a:sym typeface="Average"/>
              </a:rPr>
              <a:t>electrochemical messages</a:t>
            </a:r>
            <a:r>
              <a:rPr b="0" i="0" lang="en" sz="1800" u="none" cap="none" strike="noStrike">
                <a:solidFill>
                  <a:srgbClr val="000000"/>
                </a:solidFill>
                <a:latin typeface="Average"/>
                <a:ea typeface="Average"/>
                <a:cs typeface="Average"/>
                <a:sym typeface="Average"/>
              </a:rPr>
              <a:t> relayed from the brain.</a:t>
            </a:r>
            <a:endParaRPr sz="1800"/>
          </a:p>
          <a:p>
            <a:pPr indent="-342900" lvl="0" marL="457200" marR="0" rtl="0" algn="l">
              <a:lnSpc>
                <a:spcPct val="100000"/>
              </a:lnSpc>
              <a:spcBef>
                <a:spcPts val="1000"/>
              </a:spcBef>
              <a:spcAft>
                <a:spcPts val="1000"/>
              </a:spcAft>
              <a:buClr>
                <a:srgbClr val="000000"/>
              </a:buClr>
              <a:buSzPts val="1800"/>
              <a:buFont typeface="Average"/>
              <a:buChar char="○"/>
            </a:pPr>
            <a:r>
              <a:rPr b="0" i="0" lang="en" sz="1800" u="none" cap="none" strike="noStrike">
                <a:solidFill>
                  <a:srgbClr val="000000"/>
                </a:solidFill>
                <a:latin typeface="Average"/>
                <a:ea typeface="Average"/>
                <a:cs typeface="Average"/>
                <a:sym typeface="Average"/>
              </a:rPr>
              <a:t>The </a:t>
            </a:r>
            <a:r>
              <a:rPr b="1" i="0" lang="en" sz="1800" u="none" cap="none" strike="noStrike">
                <a:solidFill>
                  <a:srgbClr val="000000"/>
                </a:solidFill>
                <a:latin typeface="Average"/>
                <a:ea typeface="Average"/>
                <a:cs typeface="Average"/>
                <a:sym typeface="Average"/>
              </a:rPr>
              <a:t>endocrine system</a:t>
            </a:r>
            <a:r>
              <a:rPr b="0" i="0" lang="en" sz="1800" u="none" cap="none" strike="noStrike">
                <a:solidFill>
                  <a:srgbClr val="000000"/>
                </a:solidFill>
                <a:latin typeface="Average"/>
                <a:ea typeface="Average"/>
                <a:cs typeface="Average"/>
                <a:sym typeface="Average"/>
              </a:rPr>
              <a:t> responds via chemical messengers relayed through the bloodstream (hormones).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9"/>
          <p:cNvSpPr txBox="1"/>
          <p:nvPr>
            <p:ph idx="4294967295" type="title"/>
          </p:nvPr>
        </p:nvSpPr>
        <p:spPr>
          <a:xfrm>
            <a:off x="8148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Nerves</a:t>
            </a:r>
            <a:endParaRPr/>
          </a:p>
        </p:txBody>
      </p:sp>
      <p:sp>
        <p:nvSpPr>
          <p:cNvPr id="293" name="Google Shape;293;p19"/>
          <p:cNvSpPr txBox="1"/>
          <p:nvPr>
            <p:ph idx="4294967295" type="body"/>
          </p:nvPr>
        </p:nvSpPr>
        <p:spPr>
          <a:xfrm>
            <a:off x="843300" y="1209350"/>
            <a:ext cx="74574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672"/>
              <a:buFont typeface="Noto Sans Symbols"/>
              <a:buNone/>
            </a:pPr>
            <a:r>
              <a:rPr b="0" i="0" lang="en" sz="2200" u="none" cap="none" strike="noStrike">
                <a:solidFill>
                  <a:srgbClr val="000000"/>
                </a:solidFill>
                <a:latin typeface="Average"/>
                <a:ea typeface="Average"/>
                <a:cs typeface="Average"/>
                <a:sym typeface="Average"/>
              </a:rPr>
              <a:t>Two main types of nerve cells found in the nervous system:</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294" name="Google Shape;294;p19"/>
          <p:cNvSpPr txBox="1"/>
          <p:nvPr/>
        </p:nvSpPr>
        <p:spPr>
          <a:xfrm>
            <a:off x="685800" y="1676400"/>
            <a:ext cx="3880200" cy="3000000"/>
          </a:xfrm>
          <a:prstGeom prst="rect">
            <a:avLst/>
          </a:prstGeom>
          <a:noFill/>
          <a:ln>
            <a:noFill/>
          </a:ln>
        </p:spPr>
        <p:txBody>
          <a:bodyPr anchorCtr="0" anchor="ctr" bIns="91425" lIns="91425" spcFirstLastPara="1" rIns="91425" wrap="square" tIns="91425">
            <a:noAutofit/>
          </a:bodyPr>
          <a:lstStyle/>
          <a:p>
            <a:pPr indent="-368300" lvl="0" marL="457200" marR="0" rtl="0" algn="l">
              <a:lnSpc>
                <a:spcPct val="100000"/>
              </a:lnSpc>
              <a:spcBef>
                <a:spcPts val="0"/>
              </a:spcBef>
              <a:spcAft>
                <a:spcPts val="0"/>
              </a:spcAft>
              <a:buClr>
                <a:schemeClr val="dk1"/>
              </a:buClr>
              <a:buSzPts val="2200"/>
              <a:buFont typeface="Average"/>
              <a:buAutoNum type="arabicPeriod"/>
            </a:pPr>
            <a:r>
              <a:rPr b="1" i="0" lang="en" sz="2200" u="none" cap="none" strike="noStrike">
                <a:solidFill>
                  <a:schemeClr val="dk1"/>
                </a:solidFill>
                <a:latin typeface="Average"/>
                <a:ea typeface="Average"/>
                <a:cs typeface="Average"/>
                <a:sym typeface="Average"/>
              </a:rPr>
              <a:t>Glial Cells</a:t>
            </a:r>
            <a:endParaRPr/>
          </a:p>
          <a:p>
            <a:pPr indent="-330200" lvl="0" marL="914400" marR="0" rtl="0" algn="l">
              <a:lnSpc>
                <a:spcPct val="100000"/>
              </a:lnSpc>
              <a:spcBef>
                <a:spcPts val="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do not conduct electrical signals</a:t>
            </a:r>
            <a:endParaRPr/>
          </a:p>
          <a:p>
            <a:pPr indent="-330200" lvl="0" marL="914400" marR="0" rtl="0" algn="l">
              <a:lnSpc>
                <a:spcPct val="100000"/>
              </a:lnSpc>
              <a:spcBef>
                <a:spcPts val="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used for structural and nutritional support</a:t>
            </a:r>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Average"/>
              <a:ea typeface="Average"/>
              <a:cs typeface="Average"/>
              <a:sym typeface="Average"/>
            </a:endParaRPr>
          </a:p>
          <a:p>
            <a:pPr indent="0" lvl="0" marL="0" marR="0" rtl="0" algn="l">
              <a:lnSpc>
                <a:spcPct val="100000"/>
              </a:lnSpc>
              <a:spcBef>
                <a:spcPts val="480"/>
              </a:spcBef>
              <a:spcAft>
                <a:spcPts val="0"/>
              </a:spcAft>
              <a:buNone/>
            </a:pPr>
            <a:r>
              <a:rPr lang="en" sz="2200">
                <a:solidFill>
                  <a:schemeClr val="dk1"/>
                </a:solidFill>
                <a:latin typeface="Average"/>
                <a:ea typeface="Average"/>
                <a:cs typeface="Average"/>
                <a:sym typeface="Average"/>
              </a:rPr>
              <a:t>2.    </a:t>
            </a:r>
            <a:r>
              <a:rPr b="1" i="0" lang="en" sz="2200" u="none" cap="none" strike="noStrike">
                <a:solidFill>
                  <a:schemeClr val="dk1"/>
                </a:solidFill>
                <a:latin typeface="Average"/>
                <a:ea typeface="Average"/>
                <a:cs typeface="Average"/>
                <a:sym typeface="Average"/>
              </a:rPr>
              <a:t>Neurons (nerve cells)</a:t>
            </a:r>
            <a:endParaRPr/>
          </a:p>
          <a:p>
            <a:pPr indent="-330200" lvl="0" marL="914400" marR="0" rtl="0" algn="l">
              <a:lnSpc>
                <a:spcPct val="100000"/>
              </a:lnSpc>
              <a:spcBef>
                <a:spcPts val="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conduct nerve impulses throughout the body</a:t>
            </a:r>
            <a:endParaRPr/>
          </a:p>
          <a:p>
            <a:pPr indent="-330200" lvl="0" marL="914400" marR="0" rtl="0" algn="l">
              <a:lnSpc>
                <a:spcPct val="100000"/>
              </a:lnSpc>
              <a:spcBef>
                <a:spcPts val="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supported by glial cells</a:t>
            </a:r>
            <a:endParaRPr/>
          </a:p>
        </p:txBody>
      </p:sp>
      <p:pic>
        <p:nvPicPr>
          <p:cNvPr id="295" name="Google Shape;295;p19"/>
          <p:cNvPicPr preferRelativeResize="0"/>
          <p:nvPr/>
        </p:nvPicPr>
        <p:blipFill rotWithShape="1">
          <a:blip r:embed="rId3">
            <a:alphaModFix/>
          </a:blip>
          <a:srcRect b="0" l="0" r="0" t="0"/>
          <a:stretch/>
        </p:blipFill>
        <p:spPr>
          <a:xfrm>
            <a:off x="4876925" y="2149350"/>
            <a:ext cx="3105450" cy="2329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idx="4294967295" type="title"/>
          </p:nvPr>
        </p:nvSpPr>
        <p:spPr>
          <a:xfrm>
            <a:off x="8148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Neurons</a:t>
            </a:r>
            <a:endParaRPr/>
          </a:p>
        </p:txBody>
      </p:sp>
      <p:sp>
        <p:nvSpPr>
          <p:cNvPr id="301" name="Google Shape;301;p20"/>
          <p:cNvSpPr txBox="1"/>
          <p:nvPr>
            <p:ph idx="4294967295" type="body"/>
          </p:nvPr>
        </p:nvSpPr>
        <p:spPr>
          <a:xfrm>
            <a:off x="843300" y="1056950"/>
            <a:ext cx="74574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672"/>
              <a:buFont typeface="Noto Sans Symbols"/>
              <a:buNone/>
            </a:pPr>
            <a:r>
              <a:rPr b="0" i="0" lang="en" sz="2200" u="none" cap="none" strike="noStrike">
                <a:solidFill>
                  <a:srgbClr val="000000"/>
                </a:solidFill>
                <a:latin typeface="Average"/>
                <a:ea typeface="Average"/>
                <a:cs typeface="Average"/>
                <a:sym typeface="Average"/>
              </a:rPr>
              <a:t>Neurons are the basic unit of the nervous system...</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302" name="Google Shape;302;p20"/>
          <p:cNvPicPr preferRelativeResize="0"/>
          <p:nvPr/>
        </p:nvPicPr>
        <p:blipFill>
          <a:blip r:embed="rId3">
            <a:alphaModFix/>
          </a:blip>
          <a:stretch>
            <a:fillRect/>
          </a:stretch>
        </p:blipFill>
        <p:spPr>
          <a:xfrm>
            <a:off x="4501600" y="1842750"/>
            <a:ext cx="3537274" cy="1989725"/>
          </a:xfrm>
          <a:prstGeom prst="rect">
            <a:avLst/>
          </a:prstGeom>
          <a:noFill/>
          <a:ln>
            <a:noFill/>
          </a:ln>
        </p:spPr>
      </p:pic>
      <p:pic>
        <p:nvPicPr>
          <p:cNvPr id="303" name="Google Shape;303;p20"/>
          <p:cNvPicPr preferRelativeResize="0"/>
          <p:nvPr/>
        </p:nvPicPr>
        <p:blipFill>
          <a:blip r:embed="rId4">
            <a:alphaModFix/>
          </a:blip>
          <a:stretch>
            <a:fillRect/>
          </a:stretch>
        </p:blipFill>
        <p:spPr>
          <a:xfrm>
            <a:off x="1061450" y="2448526"/>
            <a:ext cx="2988523" cy="1989725"/>
          </a:xfrm>
          <a:prstGeom prst="rect">
            <a:avLst/>
          </a:prstGeom>
          <a:noFill/>
          <a:ln>
            <a:noFill/>
          </a:ln>
        </p:spPr>
      </p:pic>
      <p:sp>
        <p:nvSpPr>
          <p:cNvPr id="304" name="Google Shape;304;p20"/>
          <p:cNvSpPr/>
          <p:nvPr/>
        </p:nvSpPr>
        <p:spPr>
          <a:xfrm>
            <a:off x="3030175" y="2718250"/>
            <a:ext cx="347700" cy="276300"/>
          </a:xfrm>
          <a:prstGeom prst="rect">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 name="Google Shape;305;p20"/>
          <p:cNvCxnSpPr>
            <a:stCxn id="304" idx="3"/>
          </p:cNvCxnSpPr>
          <p:nvPr/>
        </p:nvCxnSpPr>
        <p:spPr>
          <a:xfrm flipH="1" rot="10800000">
            <a:off x="3377875" y="2468800"/>
            <a:ext cx="1051500" cy="387600"/>
          </a:xfrm>
          <a:prstGeom prst="straightConnector1">
            <a:avLst/>
          </a:prstGeom>
          <a:noFill/>
          <a:ln cap="flat" cmpd="sng" w="38100">
            <a:solidFill>
              <a:schemeClr val="accent2"/>
            </a:solidFill>
            <a:prstDash val="solid"/>
            <a:round/>
            <a:headEnd len="med" w="med" type="none"/>
            <a:tailEnd len="med" w="med" type="triangle"/>
          </a:ln>
        </p:spPr>
      </p:cxnSp>
      <p:sp>
        <p:nvSpPr>
          <p:cNvPr id="306" name="Google Shape;306;p20"/>
          <p:cNvSpPr/>
          <p:nvPr/>
        </p:nvSpPr>
        <p:spPr>
          <a:xfrm>
            <a:off x="4487788" y="1817013"/>
            <a:ext cx="3564900" cy="2041200"/>
          </a:xfrm>
          <a:prstGeom prst="rect">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1"/>
          <p:cNvSpPr txBox="1"/>
          <p:nvPr>
            <p:ph idx="4294967295" type="title"/>
          </p:nvPr>
        </p:nvSpPr>
        <p:spPr>
          <a:xfrm>
            <a:off x="8148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Neuron Structure</a:t>
            </a:r>
            <a:endParaRPr/>
          </a:p>
        </p:txBody>
      </p:sp>
      <p:sp>
        <p:nvSpPr>
          <p:cNvPr id="312" name="Google Shape;312;p21"/>
          <p:cNvSpPr txBox="1"/>
          <p:nvPr/>
        </p:nvSpPr>
        <p:spPr>
          <a:xfrm>
            <a:off x="476525" y="1323350"/>
            <a:ext cx="4137600" cy="33531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Char char="➢"/>
            </a:pPr>
            <a:r>
              <a:rPr b="1" i="1" lang="en" sz="1600" cap="none" strike="noStrike">
                <a:solidFill>
                  <a:schemeClr val="dk1"/>
                </a:solidFill>
                <a:latin typeface="Average"/>
                <a:ea typeface="Average"/>
                <a:cs typeface="Average"/>
                <a:sym typeface="Average"/>
              </a:rPr>
              <a:t>Dendrites </a:t>
            </a:r>
            <a:r>
              <a:rPr b="0" i="0" lang="en" sz="1600" u="none" cap="none" strike="noStrike">
                <a:solidFill>
                  <a:schemeClr val="dk1"/>
                </a:solidFill>
                <a:latin typeface="Average"/>
                <a:ea typeface="Average"/>
                <a:cs typeface="Average"/>
                <a:sym typeface="Average"/>
              </a:rPr>
              <a:t>are short thread-like branches which act to accept nerve impulses from other neurons and carry them towards the </a:t>
            </a:r>
            <a:r>
              <a:rPr b="1" i="1" lang="en" sz="1600" u="none" cap="none" strike="noStrike">
                <a:solidFill>
                  <a:schemeClr val="dk1"/>
                </a:solidFill>
                <a:latin typeface="Average"/>
                <a:ea typeface="Average"/>
                <a:cs typeface="Average"/>
                <a:sym typeface="Average"/>
              </a:rPr>
              <a:t>cell body</a:t>
            </a:r>
            <a:r>
              <a:rPr lang="en" sz="1600">
                <a:solidFill>
                  <a:schemeClr val="dk1"/>
                </a:solidFill>
                <a:latin typeface="Average"/>
                <a:ea typeface="Average"/>
                <a:cs typeface="Average"/>
                <a:sym typeface="Average"/>
              </a:rPr>
              <a:t>, which is the main part of the cell, containing the nucleus and other organelles </a:t>
            </a:r>
            <a:endParaRPr sz="1600">
              <a:solidFill>
                <a:schemeClr val="dk1"/>
              </a:solidFill>
              <a:latin typeface="Average"/>
              <a:ea typeface="Average"/>
              <a:cs typeface="Average"/>
              <a:sym typeface="Average"/>
            </a:endParaRPr>
          </a:p>
          <a:p>
            <a:pPr indent="-330200" lvl="0" marL="457200" marR="0" rtl="0" algn="l">
              <a:lnSpc>
                <a:spcPct val="100000"/>
              </a:lnSpc>
              <a:spcBef>
                <a:spcPts val="1480"/>
              </a:spcBef>
              <a:spcAft>
                <a:spcPts val="0"/>
              </a:spcAft>
              <a:buClr>
                <a:schemeClr val="dk1"/>
              </a:buClr>
              <a:buSzPts val="1600"/>
              <a:buFont typeface="Average"/>
              <a:buChar char="➢"/>
            </a:pPr>
            <a:r>
              <a:rPr b="1" i="1" lang="en" sz="1600" cap="none" strike="noStrike">
                <a:solidFill>
                  <a:schemeClr val="dk1"/>
                </a:solidFill>
                <a:latin typeface="Average"/>
                <a:ea typeface="Average"/>
                <a:cs typeface="Average"/>
                <a:sym typeface="Average"/>
              </a:rPr>
              <a:t>Axons </a:t>
            </a:r>
            <a:r>
              <a:rPr b="0" i="0" lang="en" sz="1600" u="none" cap="none" strike="noStrike">
                <a:solidFill>
                  <a:schemeClr val="dk1"/>
                </a:solidFill>
                <a:latin typeface="Average"/>
                <a:ea typeface="Average"/>
                <a:cs typeface="Average"/>
                <a:sym typeface="Average"/>
              </a:rPr>
              <a:t>are longer branches which carry nerve impulses away from the cell body </a:t>
            </a:r>
            <a:endParaRPr/>
          </a:p>
          <a:p>
            <a:pPr indent="-330200" lvl="0" marL="457200" marR="0" rtl="0" algn="l">
              <a:lnSpc>
                <a:spcPct val="100000"/>
              </a:lnSpc>
              <a:spcBef>
                <a:spcPts val="1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A </a:t>
            </a:r>
            <a:r>
              <a:rPr b="1" i="1" lang="en" sz="1600" cap="none" strike="noStrike">
                <a:solidFill>
                  <a:schemeClr val="dk1"/>
                </a:solidFill>
                <a:latin typeface="Average"/>
                <a:ea typeface="Average"/>
                <a:cs typeface="Average"/>
                <a:sym typeface="Average"/>
              </a:rPr>
              <a:t>myelin sheath </a:t>
            </a:r>
            <a:r>
              <a:rPr b="0" i="0" lang="en" sz="1600" u="none" cap="none" strike="noStrike">
                <a:solidFill>
                  <a:schemeClr val="dk1"/>
                </a:solidFill>
                <a:latin typeface="Average"/>
                <a:ea typeface="Average"/>
                <a:cs typeface="Average"/>
                <a:sym typeface="Average"/>
              </a:rPr>
              <a:t>surrounds </a:t>
            </a:r>
            <a:r>
              <a:rPr lang="en" sz="1600">
                <a:solidFill>
                  <a:schemeClr val="dk1"/>
                </a:solidFill>
                <a:latin typeface="Average"/>
                <a:ea typeface="Average"/>
                <a:cs typeface="Average"/>
                <a:sym typeface="Average"/>
              </a:rPr>
              <a:t>many</a:t>
            </a:r>
            <a:r>
              <a:rPr b="0" i="0" lang="en" sz="1600" u="none" cap="none" strike="noStrike">
                <a:solidFill>
                  <a:schemeClr val="dk1"/>
                </a:solidFill>
                <a:latin typeface="Average"/>
                <a:ea typeface="Average"/>
                <a:cs typeface="Average"/>
                <a:sym typeface="Average"/>
              </a:rPr>
              <a:t> axons, insulating the neuron and speeding up the rate of impulse transmission. </a:t>
            </a:r>
            <a:endParaRPr/>
          </a:p>
        </p:txBody>
      </p:sp>
      <p:pic>
        <p:nvPicPr>
          <p:cNvPr id="313" name="Google Shape;313;p21"/>
          <p:cNvPicPr preferRelativeResize="0"/>
          <p:nvPr/>
        </p:nvPicPr>
        <p:blipFill rotWithShape="1">
          <a:blip r:embed="rId3">
            <a:alphaModFix/>
          </a:blip>
          <a:srcRect b="0" l="6621" r="0" t="0"/>
          <a:stretch/>
        </p:blipFill>
        <p:spPr>
          <a:xfrm>
            <a:off x="4545950" y="1517075"/>
            <a:ext cx="4188474" cy="256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2"/>
          <p:cNvSpPr txBox="1"/>
          <p:nvPr/>
        </p:nvSpPr>
        <p:spPr>
          <a:xfrm>
            <a:off x="731275" y="776550"/>
            <a:ext cx="3515400" cy="3767400"/>
          </a:xfrm>
          <a:prstGeom prst="rect">
            <a:avLst/>
          </a:prstGeom>
          <a:noFill/>
          <a:ln>
            <a:noFill/>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verage"/>
              <a:buChar char="➢"/>
            </a:pPr>
            <a:r>
              <a:rPr b="1" i="1" lang="en" cap="none" strike="noStrike">
                <a:solidFill>
                  <a:schemeClr val="dk1"/>
                </a:solidFill>
                <a:latin typeface="Average"/>
                <a:ea typeface="Average"/>
                <a:cs typeface="Average"/>
                <a:sym typeface="Average"/>
              </a:rPr>
              <a:t>Schwann Cells</a:t>
            </a:r>
            <a:r>
              <a:rPr b="0" i="0" lang="en" u="none" cap="none" strike="noStrike">
                <a:solidFill>
                  <a:schemeClr val="dk1"/>
                </a:solidFill>
                <a:latin typeface="Average"/>
                <a:ea typeface="Average"/>
                <a:cs typeface="Average"/>
                <a:sym typeface="Average"/>
              </a:rPr>
              <a:t>, a type of glial cell, are responsible for producing the myelin that surrounds each axon.</a:t>
            </a:r>
            <a:endParaRPr>
              <a:solidFill>
                <a:schemeClr val="dk1"/>
              </a:solidFill>
              <a:latin typeface="Average"/>
              <a:ea typeface="Average"/>
              <a:cs typeface="Average"/>
              <a:sym typeface="Average"/>
            </a:endParaRPr>
          </a:p>
          <a:p>
            <a:pPr indent="-317500" lvl="0" marL="457200" marR="0" rtl="0" algn="l">
              <a:lnSpc>
                <a:spcPct val="100000"/>
              </a:lnSpc>
              <a:spcBef>
                <a:spcPts val="1480"/>
              </a:spcBef>
              <a:spcAft>
                <a:spcPts val="0"/>
              </a:spcAft>
              <a:buClr>
                <a:schemeClr val="dk1"/>
              </a:buClr>
              <a:buSzPts val="1400"/>
              <a:buFont typeface="Average"/>
              <a:buChar char="➢"/>
            </a:pPr>
            <a:r>
              <a:rPr lang="en">
                <a:solidFill>
                  <a:schemeClr val="dk1"/>
                </a:solidFill>
                <a:latin typeface="Average"/>
                <a:ea typeface="Average"/>
                <a:cs typeface="Average"/>
                <a:sym typeface="Average"/>
              </a:rPr>
              <a:t>In myelinated axons, g</a:t>
            </a:r>
            <a:r>
              <a:rPr b="0" i="0" lang="en" u="none" cap="none" strike="noStrike">
                <a:solidFill>
                  <a:schemeClr val="dk1"/>
                </a:solidFill>
                <a:latin typeface="Average"/>
                <a:ea typeface="Average"/>
                <a:cs typeface="Average"/>
                <a:sym typeface="Average"/>
              </a:rPr>
              <a:t>aps between Schwann cells are referred to as the </a:t>
            </a:r>
            <a:r>
              <a:rPr b="1" i="1" lang="en" cap="none" strike="noStrike">
                <a:solidFill>
                  <a:schemeClr val="dk1"/>
                </a:solidFill>
                <a:latin typeface="Average"/>
                <a:ea typeface="Average"/>
                <a:cs typeface="Average"/>
                <a:sym typeface="Average"/>
              </a:rPr>
              <a:t>nodes of Ranvier</a:t>
            </a:r>
            <a:r>
              <a:rPr b="0" i="0" lang="en" u="none" cap="none" strike="noStrike">
                <a:solidFill>
                  <a:schemeClr val="dk1"/>
                </a:solidFill>
                <a:latin typeface="Average"/>
                <a:ea typeface="Average"/>
                <a:cs typeface="Average"/>
                <a:sym typeface="Average"/>
              </a:rPr>
              <a:t>. Electrical impulses “jump” from node to node</a:t>
            </a:r>
            <a:r>
              <a:rPr lang="en">
                <a:solidFill>
                  <a:schemeClr val="dk1"/>
                </a:solidFill>
                <a:latin typeface="Average"/>
                <a:ea typeface="Average"/>
                <a:cs typeface="Average"/>
                <a:sym typeface="Average"/>
              </a:rPr>
              <a:t>, which is referred to as </a:t>
            </a:r>
            <a:r>
              <a:rPr b="1" lang="en">
                <a:solidFill>
                  <a:schemeClr val="dk1"/>
                </a:solidFill>
                <a:latin typeface="Average"/>
                <a:ea typeface="Average"/>
                <a:cs typeface="Average"/>
                <a:sym typeface="Average"/>
              </a:rPr>
              <a:t>saltatory conduction</a:t>
            </a:r>
            <a:r>
              <a:rPr lang="en">
                <a:solidFill>
                  <a:schemeClr val="dk1"/>
                </a:solidFill>
                <a:latin typeface="Average"/>
                <a:ea typeface="Average"/>
                <a:cs typeface="Average"/>
                <a:sym typeface="Average"/>
              </a:rPr>
              <a:t>. </a:t>
            </a:r>
            <a:r>
              <a:rPr b="0" i="0" lang="en" u="none" cap="none" strike="noStrike">
                <a:solidFill>
                  <a:schemeClr val="dk1"/>
                </a:solidFill>
                <a:latin typeface="Average"/>
                <a:ea typeface="Average"/>
                <a:cs typeface="Average"/>
                <a:sym typeface="Average"/>
              </a:rPr>
              <a:t>This speeds up transmission, avoiding having to trav</a:t>
            </a:r>
            <a:r>
              <a:rPr lang="en">
                <a:solidFill>
                  <a:schemeClr val="dk1"/>
                </a:solidFill>
                <a:latin typeface="Average"/>
                <a:ea typeface="Average"/>
                <a:cs typeface="Average"/>
                <a:sym typeface="Average"/>
              </a:rPr>
              <a:t>el down the entire length of the axon.</a:t>
            </a:r>
            <a:endParaRPr/>
          </a:p>
          <a:p>
            <a:pPr indent="-317500" lvl="0" marL="457200" marR="0" rtl="0" algn="l">
              <a:lnSpc>
                <a:spcPct val="100000"/>
              </a:lnSpc>
              <a:spcBef>
                <a:spcPts val="148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Once the electrical signal reaches the </a:t>
            </a:r>
            <a:r>
              <a:rPr b="1" i="1" lang="en" cap="none" strike="noStrike">
                <a:solidFill>
                  <a:schemeClr val="dk1"/>
                </a:solidFill>
                <a:latin typeface="Average"/>
                <a:ea typeface="Average"/>
                <a:cs typeface="Average"/>
                <a:sym typeface="Average"/>
              </a:rPr>
              <a:t>axon terminal</a:t>
            </a:r>
            <a:r>
              <a:rPr b="0" i="0" lang="en" u="none" cap="none" strike="noStrike">
                <a:solidFill>
                  <a:schemeClr val="dk1"/>
                </a:solidFill>
                <a:latin typeface="Average"/>
                <a:ea typeface="Average"/>
                <a:cs typeface="Average"/>
                <a:sym typeface="Average"/>
              </a:rPr>
              <a:t>, it is then passed on to the dendrites of an adjoining neuron.</a:t>
            </a:r>
            <a:endParaRPr>
              <a:solidFill>
                <a:schemeClr val="dk1"/>
              </a:solidFill>
              <a:latin typeface="Average"/>
              <a:ea typeface="Average"/>
              <a:cs typeface="Average"/>
              <a:sym typeface="Average"/>
            </a:endParaRPr>
          </a:p>
          <a:p>
            <a:pPr indent="-317500" lvl="1" marL="914400" marR="0" rtl="0" algn="l">
              <a:lnSpc>
                <a:spcPct val="100000"/>
              </a:lnSpc>
              <a:spcBef>
                <a:spcPts val="1480"/>
              </a:spcBef>
              <a:spcAft>
                <a:spcPts val="0"/>
              </a:spcAft>
              <a:buClr>
                <a:schemeClr val="dk1"/>
              </a:buClr>
              <a:buSzPts val="1400"/>
              <a:buFont typeface="Average"/>
              <a:buChar char="○"/>
            </a:pPr>
            <a:r>
              <a:rPr b="1" i="1" lang="en">
                <a:solidFill>
                  <a:schemeClr val="dk1"/>
                </a:solidFill>
                <a:latin typeface="Average"/>
                <a:ea typeface="Average"/>
                <a:cs typeface="Average"/>
                <a:sym typeface="Average"/>
              </a:rPr>
              <a:t>Synapse: </a:t>
            </a:r>
            <a:r>
              <a:rPr lang="en">
                <a:solidFill>
                  <a:schemeClr val="dk1"/>
                </a:solidFill>
                <a:latin typeface="Average"/>
                <a:ea typeface="Average"/>
                <a:cs typeface="Average"/>
                <a:sym typeface="Average"/>
              </a:rPr>
              <a:t>the space/junction between two adjoining neurons</a:t>
            </a:r>
            <a:endParaRPr>
              <a:solidFill>
                <a:schemeClr val="dk1"/>
              </a:solidFill>
              <a:latin typeface="Average"/>
              <a:ea typeface="Average"/>
              <a:cs typeface="Average"/>
              <a:sym typeface="Average"/>
            </a:endParaRPr>
          </a:p>
        </p:txBody>
      </p:sp>
      <p:pic>
        <p:nvPicPr>
          <p:cNvPr id="319" name="Google Shape;319;p22"/>
          <p:cNvPicPr preferRelativeResize="0"/>
          <p:nvPr/>
        </p:nvPicPr>
        <p:blipFill>
          <a:blip r:embed="rId3">
            <a:alphaModFix/>
          </a:blip>
          <a:stretch>
            <a:fillRect/>
          </a:stretch>
        </p:blipFill>
        <p:spPr>
          <a:xfrm>
            <a:off x="4323450" y="1385325"/>
            <a:ext cx="4592525" cy="2624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3"/>
          <p:cNvSpPr txBox="1"/>
          <p:nvPr>
            <p:ph idx="4294967295" type="title"/>
          </p:nvPr>
        </p:nvSpPr>
        <p:spPr>
          <a:xfrm>
            <a:off x="1059590" y="650022"/>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100" u="sng">
                <a:latin typeface="Average"/>
                <a:ea typeface="Average"/>
                <a:cs typeface="Average"/>
                <a:sym typeface="Average"/>
              </a:rPr>
              <a:t>Re-cap: The Structure of a Neuron</a:t>
            </a:r>
            <a:endParaRPr sz="3100" u="sng"/>
          </a:p>
        </p:txBody>
      </p:sp>
      <p:pic>
        <p:nvPicPr>
          <p:cNvPr descr="Label &amp; annotate a myelinated neuron" id="325" name="Google Shape;325;p23" title="Structure of a Neuron">
            <a:hlinkClick r:id="rId3"/>
          </p:cNvPr>
          <p:cNvPicPr preferRelativeResize="0"/>
          <p:nvPr/>
        </p:nvPicPr>
        <p:blipFill>
          <a:blip r:embed="rId4">
            <a:alphaModFix/>
          </a:blip>
          <a:stretch>
            <a:fillRect/>
          </a:stretch>
        </p:blipFill>
        <p:spPr>
          <a:xfrm>
            <a:off x="2212950" y="1777427"/>
            <a:ext cx="4880250" cy="2745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4"/>
          <p:cNvSpPr txBox="1"/>
          <p:nvPr>
            <p:ph idx="4294967295" type="title"/>
          </p:nvPr>
        </p:nvSpPr>
        <p:spPr>
          <a:xfrm>
            <a:off x="8148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Myelination</a:t>
            </a:r>
            <a:endParaRPr/>
          </a:p>
        </p:txBody>
      </p:sp>
      <p:sp>
        <p:nvSpPr>
          <p:cNvPr id="331" name="Google Shape;331;p24"/>
          <p:cNvSpPr txBox="1"/>
          <p:nvPr>
            <p:ph idx="4294967295" type="body"/>
          </p:nvPr>
        </p:nvSpPr>
        <p:spPr>
          <a:xfrm>
            <a:off x="843300" y="1209350"/>
            <a:ext cx="74574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672"/>
              <a:buFont typeface="Noto Sans Symbols"/>
              <a:buNone/>
            </a:pPr>
            <a:r>
              <a:rPr b="0" i="0" lang="en" sz="2200" u="none" cap="none" strike="noStrike">
                <a:solidFill>
                  <a:srgbClr val="000000"/>
                </a:solidFill>
                <a:latin typeface="Average"/>
                <a:ea typeface="Average"/>
                <a:cs typeface="Average"/>
                <a:sym typeface="Average"/>
              </a:rPr>
              <a:t>The myelination of neurons is vital for proper signal transduction within the nervous systems.</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graphicFrame>
        <p:nvGraphicFramePr>
          <p:cNvPr id="332" name="Google Shape;332;p24"/>
          <p:cNvGraphicFramePr/>
          <p:nvPr/>
        </p:nvGraphicFramePr>
        <p:xfrm>
          <a:off x="920350" y="2008950"/>
          <a:ext cx="3000000" cy="3000000"/>
        </p:xfrm>
        <a:graphic>
          <a:graphicData uri="http://schemas.openxmlformats.org/drawingml/2006/table">
            <a:tbl>
              <a:tblPr>
                <a:noFill/>
                <a:tableStyleId>{408EB904-603E-4B81-8E50-529128083466}</a:tableStyleId>
              </a:tblPr>
              <a:tblGrid>
                <a:gridCol w="2132275"/>
                <a:gridCol w="2264925"/>
              </a:tblGrid>
              <a:tr h="381000">
                <a:tc>
                  <a:txBody>
                    <a:bodyPr/>
                    <a:lstStyle/>
                    <a:p>
                      <a:pPr indent="0" lvl="0" marL="0" marR="0" rtl="0" algn="ctr">
                        <a:lnSpc>
                          <a:spcPct val="100000"/>
                        </a:lnSpc>
                        <a:spcBef>
                          <a:spcPts val="0"/>
                        </a:spcBef>
                        <a:spcAft>
                          <a:spcPts val="0"/>
                        </a:spcAft>
                        <a:buClr>
                          <a:srgbClr val="000000"/>
                        </a:buClr>
                        <a:buSzPts val="1600"/>
                        <a:buFont typeface="Average"/>
                        <a:buNone/>
                      </a:pPr>
                      <a:r>
                        <a:rPr b="1" lang="en" sz="1600" u="none" cap="none" strike="noStrike">
                          <a:latin typeface="Average"/>
                          <a:ea typeface="Average"/>
                          <a:cs typeface="Average"/>
                          <a:sym typeface="Average"/>
                        </a:rPr>
                        <a:t>Myelinated Neurons</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600"/>
                        <a:buFont typeface="Average"/>
                        <a:buNone/>
                      </a:pPr>
                      <a:r>
                        <a:rPr b="1" lang="en" sz="1600" u="none" cap="none" strike="noStrike">
                          <a:latin typeface="Average"/>
                          <a:ea typeface="Average"/>
                          <a:cs typeface="Average"/>
                          <a:sym typeface="Average"/>
                        </a:rPr>
                        <a:t>Unmyelinated Neurons</a:t>
                      </a:r>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verage"/>
                        <a:buNone/>
                      </a:pPr>
                      <a:r>
                        <a:rPr lang="en" sz="1200">
                          <a:latin typeface="Average"/>
                          <a:ea typeface="Average"/>
                          <a:cs typeface="Average"/>
                          <a:sym typeface="Average"/>
                        </a:rPr>
                        <a:t>Increased rate of nerve impulse conduction (saltatory conduction)</a:t>
                      </a:r>
                      <a:endParaRPr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verage"/>
                        <a:buNone/>
                      </a:pPr>
                      <a:r>
                        <a:rPr lang="en" sz="1200">
                          <a:latin typeface="Average"/>
                          <a:ea typeface="Average"/>
                          <a:cs typeface="Average"/>
                          <a:sym typeface="Average"/>
                        </a:rPr>
                        <a:t>Slower nerve impulse conduction (impulse has to travel the entire length of the axon)</a:t>
                      </a:r>
                      <a:endParaRPr sz="12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verage"/>
                        <a:buNone/>
                      </a:pPr>
                      <a:r>
                        <a:rPr lang="en" sz="1200" u="none" cap="none" strike="noStrike">
                          <a:latin typeface="Average"/>
                          <a:ea typeface="Average"/>
                          <a:cs typeface="Average"/>
                          <a:sym typeface="Average"/>
                        </a:rPr>
                        <a:t>make up the white matter of your brain, which is responsible for conducting nerve impulses</a:t>
                      </a:r>
                      <a:r>
                        <a:rPr lang="en" sz="1200">
                          <a:latin typeface="Average"/>
                          <a:ea typeface="Average"/>
                          <a:cs typeface="Average"/>
                          <a:sym typeface="Average"/>
                        </a:rPr>
                        <a:t>.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verage"/>
                        <a:buNone/>
                      </a:pPr>
                      <a:r>
                        <a:rPr lang="en" sz="1200" u="none" cap="none" strike="noStrike">
                          <a:latin typeface="Average"/>
                          <a:ea typeface="Average"/>
                          <a:cs typeface="Average"/>
                          <a:sym typeface="Average"/>
                        </a:rPr>
                        <a:t>make up the grey matter of your brain, which is responsible for processing information and generating nerve impulses</a:t>
                      </a:r>
                      <a:r>
                        <a:rPr lang="en" sz="1200">
                          <a:latin typeface="Average"/>
                          <a:ea typeface="Average"/>
                          <a:cs typeface="Average"/>
                          <a:sym typeface="Average"/>
                        </a:rPr>
                        <a: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verage"/>
                        <a:buNone/>
                      </a:pPr>
                      <a:r>
                        <a:rPr lang="en" sz="1200" u="none" cap="none" strike="noStrike">
                          <a:latin typeface="Average"/>
                          <a:ea typeface="Average"/>
                          <a:cs typeface="Average"/>
                          <a:sym typeface="Average"/>
                        </a:rPr>
                        <a:t>capable of regenerating after injury</a:t>
                      </a:r>
                      <a:endParaRPr sz="1200" u="none" cap="none" strike="noStrike">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verage"/>
                        <a:buNone/>
                      </a:pPr>
                      <a:r>
                        <a:rPr lang="en" sz="1200" u="none" cap="none" strike="noStrike">
                          <a:latin typeface="Average"/>
                          <a:ea typeface="Average"/>
                          <a:cs typeface="Average"/>
                          <a:sym typeface="Average"/>
                        </a:rPr>
                        <a:t>not capable of regenerating after injury</a:t>
                      </a:r>
                      <a:endParaRPr sz="1200" u="none" cap="none" strike="noStrike">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333" name="Google Shape;333;p24"/>
          <p:cNvPicPr preferRelativeResize="0"/>
          <p:nvPr/>
        </p:nvPicPr>
        <p:blipFill rotWithShape="1">
          <a:blip r:embed="rId3">
            <a:alphaModFix/>
          </a:blip>
          <a:srcRect b="0" l="0" r="0" t="0"/>
          <a:stretch/>
        </p:blipFill>
        <p:spPr>
          <a:xfrm>
            <a:off x="5431375" y="2411795"/>
            <a:ext cx="2869324" cy="21649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5"/>
          <p:cNvSpPr txBox="1"/>
          <p:nvPr>
            <p:ph idx="4294967295" type="title"/>
          </p:nvPr>
        </p:nvSpPr>
        <p:spPr>
          <a:xfrm>
            <a:off x="8148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Myelination</a:t>
            </a:r>
            <a:endParaRPr/>
          </a:p>
        </p:txBody>
      </p:sp>
      <p:sp>
        <p:nvSpPr>
          <p:cNvPr id="339" name="Google Shape;339;p25"/>
          <p:cNvSpPr txBox="1"/>
          <p:nvPr/>
        </p:nvSpPr>
        <p:spPr>
          <a:xfrm>
            <a:off x="814900" y="1981750"/>
            <a:ext cx="2057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erdana"/>
                <a:ea typeface="Verdana"/>
                <a:cs typeface="Verdana"/>
                <a:sym typeface="Verdana"/>
              </a:rPr>
              <a:t>Observe how the speed of the impulse is greater in the myelinated neuron.</a:t>
            </a:r>
            <a:endParaRPr>
              <a:latin typeface="Verdana"/>
              <a:ea typeface="Verdana"/>
              <a:cs typeface="Verdana"/>
              <a:sym typeface="Verdana"/>
            </a:endParaRPr>
          </a:p>
        </p:txBody>
      </p:sp>
      <p:pic>
        <p:nvPicPr>
          <p:cNvPr id="340" name="Google Shape;340;p25"/>
          <p:cNvPicPr preferRelativeResize="0"/>
          <p:nvPr/>
        </p:nvPicPr>
        <p:blipFill>
          <a:blip r:embed="rId3">
            <a:alphaModFix/>
          </a:blip>
          <a:stretch>
            <a:fillRect/>
          </a:stretch>
        </p:blipFill>
        <p:spPr>
          <a:xfrm>
            <a:off x="3289075" y="1226147"/>
            <a:ext cx="4550618" cy="35153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idx="4294967295" type="title"/>
          </p:nvPr>
        </p:nvSpPr>
        <p:spPr>
          <a:xfrm>
            <a:off x="8148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Multiple Sclerosis</a:t>
            </a:r>
            <a:endParaRPr/>
          </a:p>
        </p:txBody>
      </p:sp>
      <p:sp>
        <p:nvSpPr>
          <p:cNvPr id="346" name="Google Shape;346;p26"/>
          <p:cNvSpPr txBox="1"/>
          <p:nvPr>
            <p:ph idx="4294967295" type="body"/>
          </p:nvPr>
        </p:nvSpPr>
        <p:spPr>
          <a:xfrm>
            <a:off x="843300" y="1209350"/>
            <a:ext cx="74574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672"/>
              <a:buFont typeface="Noto Sans Symbols"/>
              <a:buNone/>
            </a:pPr>
            <a:r>
              <a:rPr b="0" i="0" lang="en" sz="2200" u="none" cap="none" strike="noStrike">
                <a:solidFill>
                  <a:srgbClr val="000000"/>
                </a:solidFill>
                <a:latin typeface="Average"/>
                <a:ea typeface="Average"/>
                <a:cs typeface="Average"/>
                <a:sym typeface="Average"/>
              </a:rPr>
              <a:t>MS is a genetic disorder which </a:t>
            </a:r>
            <a:r>
              <a:rPr lang="en" sz="2200">
                <a:solidFill>
                  <a:srgbClr val="000000"/>
                </a:solidFill>
                <a:latin typeface="Average"/>
                <a:ea typeface="Average"/>
                <a:cs typeface="Average"/>
                <a:sym typeface="Average"/>
              </a:rPr>
              <a:t>involves damage to the myelin sheath</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347" name="Google Shape;347;p26"/>
          <p:cNvSpPr txBox="1"/>
          <p:nvPr/>
        </p:nvSpPr>
        <p:spPr>
          <a:xfrm>
            <a:off x="3935100" y="2111400"/>
            <a:ext cx="4365600" cy="22623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Symptoms include numbness and tingling of the limbs, muscle spasms, and a loss of balance and coordination.</a:t>
            </a:r>
            <a:endParaRPr/>
          </a:p>
          <a:p>
            <a:pPr indent="-330200" lvl="0" marL="457200" marR="0" rtl="0" algn="l">
              <a:lnSpc>
                <a:spcPct val="100000"/>
              </a:lnSpc>
              <a:spcBef>
                <a:spcPts val="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The more scar tissue that builds up along the nerve, the worse the symptoms become. As a result, MS gradually worsens with age. </a:t>
            </a:r>
            <a:endParaRPr/>
          </a:p>
        </p:txBody>
      </p:sp>
      <p:pic>
        <p:nvPicPr>
          <p:cNvPr id="348" name="Google Shape;348;p26"/>
          <p:cNvPicPr preferRelativeResize="0"/>
          <p:nvPr/>
        </p:nvPicPr>
        <p:blipFill rotWithShape="1">
          <a:blip r:embed="rId3">
            <a:alphaModFix/>
          </a:blip>
          <a:srcRect b="4343" l="0" r="0" t="0"/>
          <a:stretch/>
        </p:blipFill>
        <p:spPr>
          <a:xfrm>
            <a:off x="1012650" y="2224875"/>
            <a:ext cx="2590475" cy="2362574"/>
          </a:xfrm>
          <a:prstGeom prst="rect">
            <a:avLst/>
          </a:prstGeom>
          <a:noFill/>
          <a:ln cap="flat" cmpd="sng" w="19050">
            <a:solidFill>
              <a:srgbClr val="999999"/>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7"/>
          <p:cNvSpPr txBox="1"/>
          <p:nvPr>
            <p:ph idx="4294967295" type="title"/>
          </p:nvPr>
        </p:nvSpPr>
        <p:spPr>
          <a:xfrm>
            <a:off x="7386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Types of Neurons</a:t>
            </a:r>
            <a:endParaRPr/>
          </a:p>
        </p:txBody>
      </p:sp>
      <p:sp>
        <p:nvSpPr>
          <p:cNvPr id="354" name="Google Shape;354;p27"/>
          <p:cNvSpPr txBox="1"/>
          <p:nvPr>
            <p:ph idx="4294967295" type="body"/>
          </p:nvPr>
        </p:nvSpPr>
        <p:spPr>
          <a:xfrm>
            <a:off x="814900" y="1209350"/>
            <a:ext cx="74859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520"/>
              <a:buFont typeface="Noto Sans Symbols"/>
              <a:buNone/>
            </a:pPr>
            <a:r>
              <a:rPr b="1" i="0" lang="en" sz="1700" u="none" cap="none" strike="noStrike">
                <a:solidFill>
                  <a:schemeClr val="accent1"/>
                </a:solidFill>
                <a:latin typeface="Average"/>
                <a:ea typeface="Average"/>
                <a:cs typeface="Average"/>
                <a:sym typeface="Average"/>
              </a:rPr>
              <a:t>Three main types of neurons</a:t>
            </a:r>
            <a:r>
              <a:rPr b="0" i="0" lang="en" sz="1700" u="none" cap="none" strike="noStrike">
                <a:solidFill>
                  <a:srgbClr val="000000"/>
                </a:solidFill>
                <a:latin typeface="Average"/>
                <a:ea typeface="Average"/>
                <a:cs typeface="Average"/>
                <a:sym typeface="Average"/>
              </a:rPr>
              <a:t> work together to </a:t>
            </a:r>
            <a:r>
              <a:rPr lang="en" sz="1700">
                <a:solidFill>
                  <a:srgbClr val="000000"/>
                </a:solidFill>
                <a:latin typeface="Average"/>
                <a:ea typeface="Average"/>
                <a:cs typeface="Average"/>
                <a:sym typeface="Average"/>
              </a:rPr>
              <a:t>signal </a:t>
            </a:r>
            <a:r>
              <a:rPr i="1" lang="en" sz="1700">
                <a:solidFill>
                  <a:srgbClr val="000000"/>
                </a:solidFill>
                <a:latin typeface="Average"/>
                <a:ea typeface="Average"/>
                <a:cs typeface="Average"/>
                <a:sym typeface="Average"/>
              </a:rPr>
              <a:t>effectors</a:t>
            </a:r>
            <a:r>
              <a:rPr lang="en" sz="1700">
                <a:solidFill>
                  <a:srgbClr val="000000"/>
                </a:solidFill>
                <a:latin typeface="Average"/>
                <a:ea typeface="Average"/>
                <a:cs typeface="Average"/>
                <a:sym typeface="Average"/>
              </a:rPr>
              <a:t> (e.g. muscle cells) to respond appropriately to different stimuli:</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355" name="Google Shape;355;p27"/>
          <p:cNvSpPr txBox="1"/>
          <p:nvPr/>
        </p:nvSpPr>
        <p:spPr>
          <a:xfrm>
            <a:off x="930300" y="2164175"/>
            <a:ext cx="7485900" cy="22623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AutoNum type="arabicPeriod"/>
            </a:pPr>
            <a:r>
              <a:rPr b="1" i="0" lang="en" sz="1600" u="sng" cap="none" strike="noStrike">
                <a:solidFill>
                  <a:schemeClr val="dk1"/>
                </a:solidFill>
                <a:latin typeface="Average"/>
                <a:ea typeface="Average"/>
                <a:cs typeface="Average"/>
                <a:sym typeface="Average"/>
              </a:rPr>
              <a:t>Sensory Neurons </a:t>
            </a:r>
            <a:r>
              <a:rPr b="1" i="1" lang="en" sz="1600" u="sng" cap="none" strike="noStrike">
                <a:solidFill>
                  <a:schemeClr val="dk1"/>
                </a:solidFill>
                <a:latin typeface="Average"/>
                <a:ea typeface="Average"/>
                <a:cs typeface="Average"/>
                <a:sym typeface="Average"/>
              </a:rPr>
              <a:t>(afferent)</a:t>
            </a:r>
            <a:endParaRPr u="sng"/>
          </a:p>
          <a:p>
            <a:pPr indent="-317500" lvl="0" marL="914400" marR="0" rtl="0" algn="l">
              <a:lnSpc>
                <a:spcPct val="100000"/>
              </a:lnSpc>
              <a:spcBef>
                <a:spcPts val="480"/>
              </a:spcBef>
              <a:spcAft>
                <a:spcPts val="0"/>
              </a:spcAft>
              <a:buClr>
                <a:schemeClr val="dk1"/>
              </a:buClr>
              <a:buSzPts val="1400"/>
              <a:buFont typeface="Average"/>
              <a:buChar char="●"/>
            </a:pPr>
            <a:r>
              <a:rPr b="1" i="1" lang="en" u="none" cap="none" strike="noStrike">
                <a:solidFill>
                  <a:schemeClr val="dk1"/>
                </a:solidFill>
                <a:latin typeface="Average"/>
                <a:ea typeface="Average"/>
                <a:cs typeface="Average"/>
                <a:sym typeface="Average"/>
              </a:rPr>
              <a:t>Gather information from sensory receptors</a:t>
            </a:r>
            <a:r>
              <a:rPr b="0" i="0" lang="en" u="none" cap="none" strike="noStrike">
                <a:solidFill>
                  <a:schemeClr val="dk1"/>
                </a:solidFill>
                <a:latin typeface="Average"/>
                <a:ea typeface="Average"/>
                <a:cs typeface="Average"/>
                <a:sym typeface="Average"/>
              </a:rPr>
              <a:t> (i.e. touch/sight/sound/taste receptors) and transmit these impulses to the brain &amp; spinal cord</a:t>
            </a:r>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verage"/>
              <a:ea typeface="Average"/>
              <a:cs typeface="Average"/>
              <a:sym typeface="Average"/>
            </a:endParaRPr>
          </a:p>
          <a:p>
            <a:pPr indent="-330200" lvl="0" marL="457200" marR="0" rtl="0" algn="l">
              <a:lnSpc>
                <a:spcPct val="100000"/>
              </a:lnSpc>
              <a:spcBef>
                <a:spcPts val="480"/>
              </a:spcBef>
              <a:spcAft>
                <a:spcPts val="0"/>
              </a:spcAft>
              <a:buClr>
                <a:schemeClr val="dk1"/>
              </a:buClr>
              <a:buSzPts val="1600"/>
              <a:buFont typeface="Average"/>
              <a:buAutoNum type="arabicPeriod" startAt="2"/>
            </a:pPr>
            <a:r>
              <a:rPr b="1" i="0" lang="en" sz="1600" u="sng" cap="none" strike="noStrike">
                <a:solidFill>
                  <a:schemeClr val="dk1"/>
                </a:solidFill>
                <a:latin typeface="Average"/>
                <a:ea typeface="Average"/>
                <a:cs typeface="Average"/>
                <a:sym typeface="Average"/>
              </a:rPr>
              <a:t>Interneurons</a:t>
            </a:r>
            <a:endParaRPr u="sng"/>
          </a:p>
          <a:p>
            <a:pPr indent="-317500" lvl="0" marL="914400" marR="0" rtl="0" algn="l">
              <a:lnSpc>
                <a:spcPct val="100000"/>
              </a:lnSpc>
              <a:spcBef>
                <a:spcPts val="480"/>
              </a:spcBef>
              <a:spcAft>
                <a:spcPts val="0"/>
              </a:spcAft>
              <a:buClr>
                <a:schemeClr val="dk1"/>
              </a:buClr>
              <a:buSzPts val="1400"/>
              <a:buFont typeface="Average"/>
              <a:buChar char="●"/>
            </a:pPr>
            <a:r>
              <a:rPr lang="en">
                <a:solidFill>
                  <a:schemeClr val="dk1"/>
                </a:solidFill>
                <a:latin typeface="Average"/>
                <a:ea typeface="Average"/>
                <a:cs typeface="Average"/>
                <a:sym typeface="Average"/>
              </a:rPr>
              <a:t>Found in the Central Nervous System (brain and spinal cord)</a:t>
            </a:r>
            <a:endParaRPr>
              <a:solidFill>
                <a:schemeClr val="dk1"/>
              </a:solidFill>
              <a:latin typeface="Average"/>
              <a:ea typeface="Average"/>
              <a:cs typeface="Average"/>
              <a:sym typeface="Average"/>
            </a:endParaRPr>
          </a:p>
          <a:p>
            <a:pPr indent="-317500" lvl="0" marL="914400" marR="0" rtl="0" algn="l">
              <a:lnSpc>
                <a:spcPct val="100000"/>
              </a:lnSpc>
              <a:spcBef>
                <a:spcPts val="48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Process and integrate incoming sensory info from sensory neurons and relay outgoing information to motor neurons</a:t>
            </a:r>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verage"/>
              <a:ea typeface="Average"/>
              <a:cs typeface="Average"/>
              <a:sym typeface="Average"/>
            </a:endParaRPr>
          </a:p>
          <a:p>
            <a:pPr indent="-330200" lvl="0" marL="457200" marR="0" rtl="0" algn="l">
              <a:lnSpc>
                <a:spcPct val="100000"/>
              </a:lnSpc>
              <a:spcBef>
                <a:spcPts val="480"/>
              </a:spcBef>
              <a:spcAft>
                <a:spcPts val="0"/>
              </a:spcAft>
              <a:buClr>
                <a:schemeClr val="dk1"/>
              </a:buClr>
              <a:buSzPts val="1600"/>
              <a:buFont typeface="Average"/>
              <a:buAutoNum type="arabicPeriod" startAt="3"/>
            </a:pPr>
            <a:r>
              <a:rPr b="1" i="0" lang="en" sz="1600" u="sng" cap="none" strike="noStrike">
                <a:solidFill>
                  <a:schemeClr val="dk1"/>
                </a:solidFill>
                <a:latin typeface="Average"/>
                <a:ea typeface="Average"/>
                <a:cs typeface="Average"/>
                <a:sym typeface="Average"/>
              </a:rPr>
              <a:t>Motor Neurons </a:t>
            </a:r>
            <a:r>
              <a:rPr b="1" i="1" lang="en" sz="1600" u="sng" cap="none" strike="noStrike">
                <a:solidFill>
                  <a:schemeClr val="dk1"/>
                </a:solidFill>
                <a:latin typeface="Average"/>
                <a:ea typeface="Average"/>
                <a:cs typeface="Average"/>
                <a:sym typeface="Average"/>
              </a:rPr>
              <a:t>(efferent)</a:t>
            </a:r>
            <a:endParaRPr u="sng"/>
          </a:p>
          <a:p>
            <a:pPr indent="-317500" lvl="0" marL="914400" marR="0" rtl="0" algn="l">
              <a:lnSpc>
                <a:spcPct val="100000"/>
              </a:lnSpc>
              <a:spcBef>
                <a:spcPts val="480"/>
              </a:spcBef>
              <a:spcAft>
                <a:spcPts val="0"/>
              </a:spcAft>
              <a:buClr>
                <a:schemeClr val="dk1"/>
              </a:buClr>
              <a:buSzPts val="1400"/>
              <a:buFont typeface="Average"/>
              <a:buChar char="●"/>
            </a:pPr>
            <a:r>
              <a:rPr b="1" i="1" lang="en" u="none" cap="none" strike="noStrike">
                <a:solidFill>
                  <a:schemeClr val="dk1"/>
                </a:solidFill>
                <a:latin typeface="Average"/>
                <a:ea typeface="Average"/>
                <a:cs typeface="Average"/>
                <a:sym typeface="Average"/>
              </a:rPr>
              <a:t>Transmit information </a:t>
            </a:r>
            <a:r>
              <a:rPr b="1" i="1" lang="en">
                <a:solidFill>
                  <a:schemeClr val="dk1"/>
                </a:solidFill>
                <a:latin typeface="Average"/>
                <a:ea typeface="Average"/>
                <a:cs typeface="Average"/>
                <a:sym typeface="Average"/>
              </a:rPr>
              <a:t>to effectors</a:t>
            </a:r>
            <a:r>
              <a:rPr lang="en">
                <a:solidFill>
                  <a:schemeClr val="dk1"/>
                </a:solidFill>
                <a:latin typeface="Average"/>
                <a:ea typeface="Average"/>
                <a:cs typeface="Average"/>
                <a:sym typeface="Average"/>
              </a:rPr>
              <a:t>, such as muscles and glands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28"/>
          <p:cNvPicPr preferRelativeResize="0"/>
          <p:nvPr/>
        </p:nvPicPr>
        <p:blipFill>
          <a:blip r:embed="rId3">
            <a:alphaModFix/>
          </a:blip>
          <a:stretch>
            <a:fillRect/>
          </a:stretch>
        </p:blipFill>
        <p:spPr>
          <a:xfrm>
            <a:off x="851525" y="1356937"/>
            <a:ext cx="7367200" cy="3054174"/>
          </a:xfrm>
          <a:prstGeom prst="rect">
            <a:avLst/>
          </a:prstGeom>
          <a:noFill/>
          <a:ln>
            <a:noFill/>
          </a:ln>
        </p:spPr>
      </p:pic>
      <p:sp>
        <p:nvSpPr>
          <p:cNvPr id="361" name="Google Shape;361;p28"/>
          <p:cNvSpPr txBox="1"/>
          <p:nvPr/>
        </p:nvSpPr>
        <p:spPr>
          <a:xfrm>
            <a:off x="1480300" y="4411100"/>
            <a:ext cx="1136700" cy="400200"/>
          </a:xfrm>
          <a:prstGeom prst="rect">
            <a:avLst/>
          </a:prstGeom>
          <a:solidFill>
            <a:schemeClr val="accen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erdana"/>
                <a:ea typeface="Verdana"/>
                <a:cs typeface="Verdana"/>
                <a:sym typeface="Verdana"/>
              </a:rPr>
              <a:t>Multipolar</a:t>
            </a:r>
            <a:endParaRPr>
              <a:latin typeface="Verdana"/>
              <a:ea typeface="Verdana"/>
              <a:cs typeface="Verdana"/>
              <a:sym typeface="Verdana"/>
            </a:endParaRPr>
          </a:p>
        </p:txBody>
      </p:sp>
      <p:sp>
        <p:nvSpPr>
          <p:cNvPr id="362" name="Google Shape;362;p28"/>
          <p:cNvSpPr txBox="1"/>
          <p:nvPr/>
        </p:nvSpPr>
        <p:spPr>
          <a:xfrm>
            <a:off x="3941875" y="4411100"/>
            <a:ext cx="883800" cy="4002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erdana"/>
                <a:ea typeface="Verdana"/>
                <a:cs typeface="Verdana"/>
                <a:sym typeface="Verdana"/>
              </a:rPr>
              <a:t>Bipolar</a:t>
            </a:r>
            <a:endParaRPr>
              <a:latin typeface="Verdana"/>
              <a:ea typeface="Verdana"/>
              <a:cs typeface="Verdana"/>
              <a:sym typeface="Verdana"/>
            </a:endParaRPr>
          </a:p>
        </p:txBody>
      </p:sp>
      <p:sp>
        <p:nvSpPr>
          <p:cNvPr id="363" name="Google Shape;363;p28"/>
          <p:cNvSpPr txBox="1"/>
          <p:nvPr/>
        </p:nvSpPr>
        <p:spPr>
          <a:xfrm>
            <a:off x="6393725" y="4411100"/>
            <a:ext cx="943200" cy="4002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erdana"/>
                <a:ea typeface="Verdana"/>
                <a:cs typeface="Verdana"/>
                <a:sym typeface="Verdana"/>
              </a:rPr>
              <a:t>Unipolar</a:t>
            </a:r>
            <a:endParaRPr>
              <a:latin typeface="Verdana"/>
              <a:ea typeface="Verdana"/>
              <a:cs typeface="Verdana"/>
              <a:sym typeface="Verdana"/>
            </a:endParaRPr>
          </a:p>
        </p:txBody>
      </p:sp>
      <p:sp>
        <p:nvSpPr>
          <p:cNvPr id="364" name="Google Shape;364;p28"/>
          <p:cNvSpPr txBox="1"/>
          <p:nvPr/>
        </p:nvSpPr>
        <p:spPr>
          <a:xfrm>
            <a:off x="851525" y="688325"/>
            <a:ext cx="73671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Verdana"/>
              <a:buChar char="➢"/>
            </a:pPr>
            <a:r>
              <a:rPr lang="en">
                <a:latin typeface="Verdana"/>
                <a:ea typeface="Verdana"/>
                <a:cs typeface="Verdana"/>
                <a:sym typeface="Verdana"/>
              </a:rPr>
              <a:t>Motor, inter, and sensory neurons can be further classified based on the number of branches formed from the cell body. </a:t>
            </a:r>
            <a:endParaRPr>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29"/>
          <p:cNvPicPr preferRelativeResize="0"/>
          <p:nvPr/>
        </p:nvPicPr>
        <p:blipFill>
          <a:blip r:embed="rId3">
            <a:alphaModFix/>
          </a:blip>
          <a:stretch>
            <a:fillRect/>
          </a:stretch>
        </p:blipFill>
        <p:spPr>
          <a:xfrm>
            <a:off x="1975325" y="1247150"/>
            <a:ext cx="4907901" cy="3427325"/>
          </a:xfrm>
          <a:prstGeom prst="rect">
            <a:avLst/>
          </a:prstGeom>
          <a:noFill/>
          <a:ln>
            <a:noFill/>
          </a:ln>
        </p:spPr>
      </p:pic>
      <p:sp>
        <p:nvSpPr>
          <p:cNvPr id="370" name="Google Shape;370;p29"/>
          <p:cNvSpPr txBox="1"/>
          <p:nvPr>
            <p:ph idx="4294967295" type="title"/>
          </p:nvPr>
        </p:nvSpPr>
        <p:spPr>
          <a:xfrm>
            <a:off x="7386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lang="en">
                <a:latin typeface="Average"/>
                <a:ea typeface="Average"/>
                <a:cs typeface="Average"/>
                <a:sym typeface="Average"/>
              </a:rPr>
              <a:t>Typical Nerve Impulse Pathway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0"/>
          <p:cNvSpPr txBox="1"/>
          <p:nvPr>
            <p:ph idx="4294967295" type="title"/>
          </p:nvPr>
        </p:nvSpPr>
        <p:spPr>
          <a:xfrm>
            <a:off x="814900" y="565950"/>
            <a:ext cx="73440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4000"/>
              <a:buFont typeface="Verdana"/>
              <a:buNone/>
            </a:pPr>
            <a:r>
              <a:rPr b="1" i="0" lang="en" sz="4000" u="none" cap="none" strike="noStrike">
                <a:solidFill>
                  <a:schemeClr val="accent1"/>
                </a:solidFill>
                <a:latin typeface="Average"/>
                <a:ea typeface="Average"/>
                <a:cs typeface="Average"/>
                <a:sym typeface="Average"/>
              </a:rPr>
              <a:t>Neural Circuits </a:t>
            </a:r>
            <a:r>
              <a:rPr b="1" lang="en">
                <a:latin typeface="Average"/>
                <a:ea typeface="Average"/>
                <a:cs typeface="Average"/>
                <a:sym typeface="Average"/>
              </a:rPr>
              <a:t>and Reflex Arcs</a:t>
            </a:r>
            <a:endParaRPr/>
          </a:p>
        </p:txBody>
      </p:sp>
      <p:sp>
        <p:nvSpPr>
          <p:cNvPr id="376" name="Google Shape;376;p30"/>
          <p:cNvSpPr txBox="1"/>
          <p:nvPr/>
        </p:nvSpPr>
        <p:spPr>
          <a:xfrm>
            <a:off x="741275" y="1384200"/>
            <a:ext cx="7760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erdana"/>
                <a:ea typeface="Verdana"/>
                <a:cs typeface="Verdana"/>
                <a:sym typeface="Verdana"/>
              </a:rPr>
              <a:t>Reflex arcs allow us to understand simple neural circuits typically composed of the five components below:</a:t>
            </a:r>
            <a:endParaRPr>
              <a:latin typeface="Verdana"/>
              <a:ea typeface="Verdana"/>
              <a:cs typeface="Verdana"/>
              <a:sym typeface="Verdana"/>
            </a:endParaRPr>
          </a:p>
        </p:txBody>
      </p:sp>
      <p:pic>
        <p:nvPicPr>
          <p:cNvPr id="377" name="Google Shape;377;p30"/>
          <p:cNvPicPr preferRelativeResize="0"/>
          <p:nvPr/>
        </p:nvPicPr>
        <p:blipFill>
          <a:blip r:embed="rId3">
            <a:alphaModFix/>
          </a:blip>
          <a:stretch>
            <a:fillRect/>
          </a:stretch>
        </p:blipFill>
        <p:spPr>
          <a:xfrm>
            <a:off x="1181100" y="2135951"/>
            <a:ext cx="4696099" cy="2638975"/>
          </a:xfrm>
          <a:prstGeom prst="rect">
            <a:avLst/>
          </a:prstGeom>
          <a:noFill/>
          <a:ln>
            <a:noFill/>
          </a:ln>
        </p:spPr>
      </p:pic>
      <p:sp>
        <p:nvSpPr>
          <p:cNvPr id="378" name="Google Shape;378;p30"/>
          <p:cNvSpPr txBox="1"/>
          <p:nvPr/>
        </p:nvSpPr>
        <p:spPr>
          <a:xfrm>
            <a:off x="6194875" y="2511225"/>
            <a:ext cx="2307000" cy="1477500"/>
          </a:xfrm>
          <a:prstGeom prst="rect">
            <a:avLst/>
          </a:prstGeom>
          <a:solidFill>
            <a:srgbClr val="EAD1D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latin typeface="Verdana"/>
                <a:ea typeface="Verdana"/>
                <a:cs typeface="Verdana"/>
                <a:sym typeface="Verdana"/>
              </a:rPr>
              <a:t>In some reflex arcs, the interneuron is not required, but there must be a minimum of a sensory and a motor neuron.</a:t>
            </a:r>
            <a:endParaRPr i="1">
              <a:latin typeface="Verdana"/>
              <a:ea typeface="Verdana"/>
              <a:cs typeface="Verdana"/>
              <a:sym typeface="Verdana"/>
            </a:endParaRPr>
          </a:p>
        </p:txBody>
      </p:sp>
      <p:sp>
        <p:nvSpPr>
          <p:cNvPr id="379" name="Google Shape;379;p30"/>
          <p:cNvSpPr txBox="1"/>
          <p:nvPr/>
        </p:nvSpPr>
        <p:spPr>
          <a:xfrm>
            <a:off x="1492300" y="3328175"/>
            <a:ext cx="1238400" cy="169200"/>
          </a:xfrm>
          <a:prstGeom prst="rect">
            <a:avLst/>
          </a:prstGeom>
          <a:solidFill>
            <a:srgbClr val="76A5AF"/>
          </a:solidFill>
          <a:ln>
            <a:noFill/>
          </a:ln>
        </p:spPr>
        <p:txBody>
          <a:bodyPr anchorCtr="0" anchor="t" bIns="0" lIns="91425" spcFirstLastPara="1" rIns="91425" wrap="square" tIns="0">
            <a:spAutoFit/>
          </a:bodyPr>
          <a:lstStyle/>
          <a:p>
            <a:pPr indent="0" lvl="0" marL="0" rtl="0" algn="l">
              <a:spcBef>
                <a:spcPts val="0"/>
              </a:spcBef>
              <a:spcAft>
                <a:spcPts val="0"/>
              </a:spcAft>
              <a:buNone/>
            </a:pPr>
            <a:r>
              <a:rPr b="1" lang="en" sz="1100">
                <a:latin typeface="Verdana"/>
                <a:ea typeface="Verdana"/>
                <a:cs typeface="Verdana"/>
                <a:sym typeface="Verdana"/>
              </a:rPr>
              <a:t>Interneuron</a:t>
            </a:r>
            <a:endParaRPr b="1" sz="110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1"/>
          <p:cNvSpPr txBox="1"/>
          <p:nvPr>
            <p:ph idx="4294967295" type="title"/>
          </p:nvPr>
        </p:nvSpPr>
        <p:spPr>
          <a:xfrm>
            <a:off x="1059590" y="650022"/>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100" u="sng">
                <a:latin typeface="Average"/>
                <a:ea typeface="Average"/>
                <a:cs typeface="Average"/>
                <a:sym typeface="Average"/>
              </a:rPr>
              <a:t>Reflex Arcs</a:t>
            </a:r>
            <a:endParaRPr sz="3100" u="sng"/>
          </a:p>
        </p:txBody>
      </p:sp>
      <p:pic>
        <p:nvPicPr>
          <p:cNvPr descr="Join this channel to get access to perks:&#10;https://www.youtube.com/channel/UCjA2nEpHzkvVjROX-rqzdzg/join&#10;&#10;In this video we look at the pathway a impulse takes when creating a reflex reaction to a situation that requires the body to respond.&#10;I will explain the structures it passes through and why along with the significance of reflex arcs in the human body." id="385" name="Google Shape;385;p31" title="Easy to understand | REFLEX ARC">
            <a:hlinkClick r:id="rId3"/>
          </p:cNvPr>
          <p:cNvPicPr preferRelativeResize="0"/>
          <p:nvPr/>
        </p:nvPicPr>
        <p:blipFill>
          <a:blip r:embed="rId4">
            <a:alphaModFix/>
          </a:blip>
          <a:stretch>
            <a:fillRect/>
          </a:stretch>
        </p:blipFill>
        <p:spPr>
          <a:xfrm>
            <a:off x="4676200" y="2168088"/>
            <a:ext cx="3048000" cy="1714500"/>
          </a:xfrm>
          <a:prstGeom prst="rect">
            <a:avLst/>
          </a:prstGeom>
          <a:noFill/>
          <a:ln>
            <a:noFill/>
          </a:ln>
        </p:spPr>
      </p:pic>
      <p:pic>
        <p:nvPicPr>
          <p:cNvPr descr="Motor neurons vs interneurons vs sensory neurons" id="386" name="Google Shape;386;p31" title="Types of Neurons: Reflex Arcs">
            <a:hlinkClick r:id="rId5"/>
          </p:cNvPr>
          <p:cNvPicPr preferRelativeResize="0"/>
          <p:nvPr/>
        </p:nvPicPr>
        <p:blipFill>
          <a:blip r:embed="rId6">
            <a:alphaModFix/>
          </a:blip>
          <a:stretch>
            <a:fillRect/>
          </a:stretch>
        </p:blipFill>
        <p:spPr>
          <a:xfrm>
            <a:off x="1181100" y="2168097"/>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2"/>
          <p:cNvSpPr txBox="1"/>
          <p:nvPr/>
        </p:nvSpPr>
        <p:spPr>
          <a:xfrm>
            <a:off x="786650" y="711000"/>
            <a:ext cx="72615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Verdana"/>
                <a:ea typeface="Verdana"/>
                <a:cs typeface="Verdana"/>
                <a:sym typeface="Verdana"/>
              </a:rPr>
              <a:t>Reminder! </a:t>
            </a:r>
            <a:endParaRPr b="1" sz="1900">
              <a:latin typeface="Verdana"/>
              <a:ea typeface="Verdana"/>
              <a:cs typeface="Verdana"/>
              <a:sym typeface="Verdana"/>
            </a:endParaRPr>
          </a:p>
          <a:p>
            <a:pPr indent="0" lvl="0" marL="0" rtl="0" algn="l">
              <a:spcBef>
                <a:spcPts val="0"/>
              </a:spcBef>
              <a:spcAft>
                <a:spcPts val="0"/>
              </a:spcAft>
              <a:buNone/>
            </a:pPr>
            <a:r>
              <a:rPr lang="en">
                <a:latin typeface="Verdana"/>
                <a:ea typeface="Verdana"/>
                <a:cs typeface="Verdana"/>
                <a:sym typeface="Verdana"/>
              </a:rPr>
              <a:t>During a reflex arc, the information will still travel to the brain for further processing, however it first bypasses the brain and goes directly through the spinal cord to generate a quicker response</a:t>
            </a:r>
            <a:endParaRPr>
              <a:latin typeface="Verdana"/>
              <a:ea typeface="Verdana"/>
              <a:cs typeface="Verdana"/>
              <a:sym typeface="Verdana"/>
            </a:endParaRPr>
          </a:p>
        </p:txBody>
      </p:sp>
      <p:pic>
        <p:nvPicPr>
          <p:cNvPr id="392" name="Google Shape;392;p32"/>
          <p:cNvPicPr preferRelativeResize="0"/>
          <p:nvPr/>
        </p:nvPicPr>
        <p:blipFill>
          <a:blip r:embed="rId3">
            <a:alphaModFix/>
          </a:blip>
          <a:stretch>
            <a:fillRect/>
          </a:stretch>
        </p:blipFill>
        <p:spPr>
          <a:xfrm>
            <a:off x="2193776" y="1774000"/>
            <a:ext cx="4756436" cy="3088900"/>
          </a:xfrm>
          <a:prstGeom prst="rect">
            <a:avLst/>
          </a:prstGeom>
          <a:noFill/>
          <a:ln cap="flat" cmpd="sng" w="19050">
            <a:solidFill>
              <a:srgbClr val="B7B7B7"/>
            </a:solidFill>
            <a:prstDash val="solid"/>
            <a:round/>
            <a:headEnd len="sm" w="sm" type="none"/>
            <a:tailEnd len="sm" w="sm" type="none"/>
          </a:ln>
        </p:spPr>
      </p:pic>
      <p:sp>
        <p:nvSpPr>
          <p:cNvPr id="393" name="Google Shape;393;p32"/>
          <p:cNvSpPr/>
          <p:nvPr/>
        </p:nvSpPr>
        <p:spPr>
          <a:xfrm rot="8495572">
            <a:off x="6716972" y="1951421"/>
            <a:ext cx="892401" cy="189004"/>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3"/>
          <p:cNvSpPr txBox="1"/>
          <p:nvPr>
            <p:ph idx="4294967295" type="title"/>
          </p:nvPr>
        </p:nvSpPr>
        <p:spPr>
          <a:xfrm>
            <a:off x="662500" y="836874"/>
            <a:ext cx="7024800" cy="562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t/>
            </a:r>
            <a:endParaRPr/>
          </a:p>
          <a:p>
            <a:pPr indent="0" lvl="0" marL="0" marR="0" rtl="0" algn="l">
              <a:lnSpc>
                <a:spcPct val="100000"/>
              </a:lnSpc>
              <a:spcBef>
                <a:spcPts val="0"/>
              </a:spcBef>
              <a:spcAft>
                <a:spcPts val="0"/>
              </a:spcAft>
              <a:buClr>
                <a:schemeClr val="accent1"/>
              </a:buClr>
              <a:buSzPts val="3000"/>
              <a:buFont typeface="Verdana"/>
              <a:buNone/>
            </a:pPr>
            <a:r>
              <a:rPr b="1" i="0" lang="en" sz="2500" u="sng" cap="none" strike="noStrike">
                <a:solidFill>
                  <a:schemeClr val="accent1"/>
                </a:solidFill>
                <a:latin typeface="Average"/>
                <a:ea typeface="Average"/>
                <a:cs typeface="Average"/>
                <a:sym typeface="Average"/>
              </a:rPr>
              <a:t>Conduction of Nerve Impulses (Electrical Ev</a:t>
            </a:r>
            <a:r>
              <a:rPr b="1" lang="en" sz="2500" u="sng">
                <a:latin typeface="Average"/>
                <a:ea typeface="Average"/>
                <a:cs typeface="Average"/>
                <a:sym typeface="Average"/>
              </a:rPr>
              <a:t>ent)</a:t>
            </a:r>
            <a:endParaRPr sz="2500" u="sng"/>
          </a:p>
        </p:txBody>
      </p:sp>
      <p:sp>
        <p:nvSpPr>
          <p:cNvPr id="399" name="Google Shape;399;p33"/>
          <p:cNvSpPr txBox="1"/>
          <p:nvPr>
            <p:ph idx="4294967295" type="body"/>
          </p:nvPr>
        </p:nvSpPr>
        <p:spPr>
          <a:xfrm>
            <a:off x="727550" y="1437950"/>
            <a:ext cx="77055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68"/>
              <a:buFont typeface="Noto Sans Symbols"/>
              <a:buNone/>
            </a:pPr>
            <a:r>
              <a:rPr b="0" i="0" lang="en" sz="1800" u="none" cap="none" strike="noStrike">
                <a:solidFill>
                  <a:srgbClr val="000000"/>
                </a:solidFill>
                <a:latin typeface="Average"/>
                <a:ea typeface="Average"/>
                <a:cs typeface="Average"/>
                <a:sym typeface="Average"/>
              </a:rPr>
              <a:t>A nerve impulse or </a:t>
            </a:r>
            <a:r>
              <a:rPr b="1" i="1" lang="en" sz="1800" u="none" cap="none" strike="noStrike">
                <a:solidFill>
                  <a:srgbClr val="000000"/>
                </a:solidFill>
                <a:latin typeface="Average"/>
                <a:ea typeface="Average"/>
                <a:cs typeface="Average"/>
                <a:sym typeface="Average"/>
              </a:rPr>
              <a:t>action potential </a:t>
            </a:r>
            <a:r>
              <a:rPr b="0" i="0" lang="en" sz="1800" u="none" cap="none" strike="noStrike">
                <a:solidFill>
                  <a:srgbClr val="000000"/>
                </a:solidFill>
                <a:latin typeface="Average"/>
                <a:ea typeface="Average"/>
                <a:cs typeface="Average"/>
                <a:sym typeface="Average"/>
              </a:rPr>
              <a:t>has both a chemical and electrical component (hence the term electrochemical impulse)</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400" name="Google Shape;400;p33"/>
          <p:cNvSpPr txBox="1"/>
          <p:nvPr/>
        </p:nvSpPr>
        <p:spPr>
          <a:xfrm>
            <a:off x="4697150" y="2295175"/>
            <a:ext cx="3421800" cy="2262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verage"/>
              <a:buNone/>
            </a:pPr>
            <a:r>
              <a:rPr b="1" i="0" lang="en" sz="1800" u="none" cap="none" strike="noStrike">
                <a:solidFill>
                  <a:schemeClr val="dk1"/>
                </a:solidFill>
                <a:latin typeface="Average"/>
                <a:ea typeface="Average"/>
                <a:cs typeface="Average"/>
                <a:sym typeface="Average"/>
              </a:rPr>
              <a:t>Four stages of a nerve impulse:</a:t>
            </a:r>
            <a:endParaRPr/>
          </a:p>
          <a:p>
            <a:pPr indent="0" lvl="0" marL="0" marR="0" rtl="0" algn="l">
              <a:lnSpc>
                <a:spcPct val="100000"/>
              </a:lnSpc>
              <a:spcBef>
                <a:spcPts val="480"/>
              </a:spcBef>
              <a:spcAft>
                <a:spcPts val="0"/>
              </a:spcAft>
              <a:buClr>
                <a:srgbClr val="000000"/>
              </a:buClr>
              <a:buSzPts val="600"/>
              <a:buFont typeface="Arial"/>
              <a:buNone/>
            </a:pPr>
            <a:r>
              <a:t/>
            </a:r>
            <a:endParaRPr b="1" i="0" sz="600" u="none" cap="none" strike="noStrike">
              <a:solidFill>
                <a:schemeClr val="dk1"/>
              </a:solidFill>
              <a:latin typeface="Average"/>
              <a:ea typeface="Average"/>
              <a:cs typeface="Average"/>
              <a:sym typeface="Average"/>
            </a:endParaRPr>
          </a:p>
          <a:p>
            <a:pPr indent="-342900" lvl="0" marL="457200" marR="0" rtl="0" algn="l">
              <a:lnSpc>
                <a:spcPct val="100000"/>
              </a:lnSpc>
              <a:spcBef>
                <a:spcPts val="480"/>
              </a:spcBef>
              <a:spcAft>
                <a:spcPts val="0"/>
              </a:spcAft>
              <a:buClr>
                <a:schemeClr val="dk1"/>
              </a:buClr>
              <a:buSzPts val="1800"/>
              <a:buFont typeface="Average"/>
              <a:buAutoNum type="arabicParenR"/>
            </a:pPr>
            <a:r>
              <a:rPr b="1" i="0" lang="en" sz="1800" u="none" cap="none" strike="noStrike">
                <a:solidFill>
                  <a:schemeClr val="dk1"/>
                </a:solidFill>
                <a:latin typeface="Average"/>
                <a:ea typeface="Average"/>
                <a:cs typeface="Average"/>
                <a:sym typeface="Average"/>
              </a:rPr>
              <a:t>Polarized/resting state</a:t>
            </a:r>
            <a:endParaRPr/>
          </a:p>
          <a:p>
            <a:pPr indent="-342900" lvl="0" marL="457200" marR="0" rtl="0" algn="l">
              <a:lnSpc>
                <a:spcPct val="100000"/>
              </a:lnSpc>
              <a:spcBef>
                <a:spcPts val="480"/>
              </a:spcBef>
              <a:spcAft>
                <a:spcPts val="0"/>
              </a:spcAft>
              <a:buClr>
                <a:schemeClr val="dk1"/>
              </a:buClr>
              <a:buSzPts val="1800"/>
              <a:buFont typeface="Average"/>
              <a:buAutoNum type="arabicParenR"/>
            </a:pPr>
            <a:r>
              <a:rPr b="1" i="0" lang="en" sz="1800" u="none" cap="none" strike="noStrike">
                <a:solidFill>
                  <a:schemeClr val="dk1"/>
                </a:solidFill>
                <a:latin typeface="Average"/>
                <a:ea typeface="Average"/>
                <a:cs typeface="Average"/>
                <a:sym typeface="Average"/>
              </a:rPr>
              <a:t>Depolarization</a:t>
            </a:r>
            <a:endParaRPr/>
          </a:p>
          <a:p>
            <a:pPr indent="-342900" lvl="0" marL="457200" marR="0" rtl="0" algn="l">
              <a:lnSpc>
                <a:spcPct val="100000"/>
              </a:lnSpc>
              <a:spcBef>
                <a:spcPts val="480"/>
              </a:spcBef>
              <a:spcAft>
                <a:spcPts val="0"/>
              </a:spcAft>
              <a:buClr>
                <a:schemeClr val="dk1"/>
              </a:buClr>
              <a:buSzPts val="1800"/>
              <a:buFont typeface="Average"/>
              <a:buAutoNum type="arabicParenR"/>
            </a:pPr>
            <a:r>
              <a:rPr b="1" i="0" lang="en" sz="1800" u="none" cap="none" strike="noStrike">
                <a:solidFill>
                  <a:schemeClr val="dk1"/>
                </a:solidFill>
                <a:latin typeface="Average"/>
                <a:ea typeface="Average"/>
                <a:cs typeface="Average"/>
                <a:sym typeface="Average"/>
              </a:rPr>
              <a:t>Repolarization</a:t>
            </a:r>
            <a:endParaRPr/>
          </a:p>
          <a:p>
            <a:pPr indent="-342900" lvl="0" marL="457200" marR="0" rtl="0" algn="l">
              <a:lnSpc>
                <a:spcPct val="100000"/>
              </a:lnSpc>
              <a:spcBef>
                <a:spcPts val="480"/>
              </a:spcBef>
              <a:spcAft>
                <a:spcPts val="0"/>
              </a:spcAft>
              <a:buClr>
                <a:schemeClr val="dk1"/>
              </a:buClr>
              <a:buSzPts val="1800"/>
              <a:buFont typeface="Average"/>
              <a:buAutoNum type="arabicParenR"/>
            </a:pPr>
            <a:r>
              <a:rPr b="1" i="0" lang="en" sz="1800" u="none" cap="none" strike="noStrike">
                <a:solidFill>
                  <a:schemeClr val="dk1"/>
                </a:solidFill>
                <a:latin typeface="Average"/>
                <a:ea typeface="Average"/>
                <a:cs typeface="Average"/>
                <a:sym typeface="Average"/>
              </a:rPr>
              <a:t>Refractory Period</a:t>
            </a:r>
            <a:endParaRPr/>
          </a:p>
        </p:txBody>
      </p:sp>
      <p:pic>
        <p:nvPicPr>
          <p:cNvPr descr="Action Potential Explained - The Neuron. An Action potential is the neurons way of transporting electrical signals from one cell to the next. This is a picture of a neuron, where you have dendrites in one end, and the axon terminal in the other end. In the middle of the neuron you will find the axon, which is where the electrical signal will travel from the dendrites to the axon terminal to the synapse. This is a picture of a myelinated neuron, which is covered with a myelin sheath that allows the electrical signal to travel faster through the axon. So instead of activating every ion channel down the axon, only channels in the small spaces between each myelin sheath called the Node of Ranvier is activated and generates an action potential. So lets take a closer look at the axon.&#10;On the membrane of the neuron, you will find small ion channels that are closed when the cell is in its resting state.&#10;&#10;The neuron is able to create an action potential because of the concentration difference of ions between the intracellular space and the extracellular space. There is a higher concentration of sodium ions outside the neuron and a higher concentration of potassium inside the neuron.  the extracellular space is more positive than inside the neuron. This creates a voltage difference of -- 70 mV, which is created with the help of leaky ion channels that are more permeable to potassium ions than sodium ions, which will cause potassium to leave the cell and only small amount of sodium to enter. The sodium potassium pump also regulates the intracellular environment, by pumping out 3 sodium ions in exchange for 2 potassium ions. &#10;&#10;The -- 70 mV is the neurons resting potential, but when the neuron is stimulated by a presynaptic neuron, it causes sodium channels to open, letting in positive ions. This will change the electrical environment and make it more positive on the inside and less positive on the outside. This is called Depolarization, and which causes a chain reaction where the next sodium channels will open letting in positive ions, all the way down the axon.&#10;Shortly after a channels have opened, they will close again and potassium channels will then open letting out positive potassium ions, to recreate the negative environment inside the neuron and the positive environment outside. This happens at around + 40 mV, and causes a Repolarization where the intracellular space is becoming negative again. The neuron then reaches a state of Hyperpolarization where the cell has let out too many ions and has now become more negative than the cells resting potential. This is quickly corrected by the leaky channels and the sodium potassium pump, and the neuron stabilize at the resting potential at a -- 70 mV.&#10;&#10;The action potential that has traveled through the axon, reaches the axon terminal, where vesicles with neurotransmitters are released out into the synaptic cleft to transport the signal to another neuron.&#10;" id="401" name="Google Shape;401;p33" title="Action Potential Explained - The Neuron">
            <a:hlinkClick r:id="rId3"/>
          </p:cNvPr>
          <p:cNvPicPr preferRelativeResize="0"/>
          <p:nvPr/>
        </p:nvPicPr>
        <p:blipFill>
          <a:blip r:embed="rId4">
            <a:alphaModFix/>
          </a:blip>
          <a:stretch>
            <a:fillRect/>
          </a:stretch>
        </p:blipFill>
        <p:spPr>
          <a:xfrm>
            <a:off x="1342075" y="2429400"/>
            <a:ext cx="2658450" cy="1993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4"/>
          <p:cNvSpPr txBox="1"/>
          <p:nvPr>
            <p:ph idx="4294967295" type="title"/>
          </p:nvPr>
        </p:nvSpPr>
        <p:spPr>
          <a:xfrm>
            <a:off x="8148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i="0" lang="en" sz="3000" u="none" cap="none" strike="noStrike">
                <a:solidFill>
                  <a:schemeClr val="accent1"/>
                </a:solidFill>
                <a:latin typeface="Average"/>
                <a:ea typeface="Average"/>
                <a:cs typeface="Average"/>
                <a:sym typeface="Average"/>
              </a:rPr>
              <a:t>1) Resting State </a:t>
            </a:r>
            <a:endParaRPr sz="3000"/>
          </a:p>
        </p:txBody>
      </p:sp>
      <p:sp>
        <p:nvSpPr>
          <p:cNvPr id="407" name="Google Shape;407;p34"/>
          <p:cNvSpPr txBox="1"/>
          <p:nvPr>
            <p:ph idx="4294967295" type="body"/>
          </p:nvPr>
        </p:nvSpPr>
        <p:spPr>
          <a:xfrm>
            <a:off x="727550" y="1285550"/>
            <a:ext cx="77055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672"/>
              <a:buFont typeface="Noto Sans Symbols"/>
              <a:buNone/>
            </a:pPr>
            <a:r>
              <a:rPr b="0" i="0" lang="en" sz="2000" u="none" cap="none" strike="noStrike">
                <a:solidFill>
                  <a:srgbClr val="000000"/>
                </a:solidFill>
                <a:latin typeface="Average"/>
                <a:ea typeface="Average"/>
                <a:cs typeface="Average"/>
                <a:sym typeface="Average"/>
              </a:rPr>
              <a:t>The difference in charge across the membrane of a resting neuron is called </a:t>
            </a:r>
            <a:r>
              <a:rPr b="0" i="1" lang="en" sz="2000" u="none" cap="none" strike="noStrike">
                <a:solidFill>
                  <a:srgbClr val="000000"/>
                </a:solidFill>
                <a:latin typeface="Average"/>
                <a:ea typeface="Average"/>
                <a:cs typeface="Average"/>
                <a:sym typeface="Average"/>
              </a:rPr>
              <a:t>resting membrane potential. </a:t>
            </a:r>
            <a:endParaRPr sz="2000"/>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408" name="Google Shape;408;p34"/>
          <p:cNvSpPr txBox="1"/>
          <p:nvPr/>
        </p:nvSpPr>
        <p:spPr>
          <a:xfrm>
            <a:off x="857675" y="2198925"/>
            <a:ext cx="3879600" cy="22623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The inside of a neuron has a slight negative charge at rest, whereas the outside has a slight positive charge.</a:t>
            </a:r>
            <a:endParaRPr sz="1600"/>
          </a:p>
          <a:p>
            <a:pPr indent="-330200" lvl="0" marL="457200" marR="0" rtl="0" algn="l">
              <a:lnSpc>
                <a:spcPct val="100000"/>
              </a:lnSpc>
              <a:spcBef>
                <a:spcPts val="100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This results in a resting potential of -70 mV in most neurons 	</a:t>
            </a:r>
            <a:endParaRPr b="0" i="0" sz="1600" u="none" cap="none" strike="noStrike">
              <a:solidFill>
                <a:schemeClr val="dk1"/>
              </a:solidFill>
              <a:latin typeface="Average"/>
              <a:ea typeface="Average"/>
              <a:cs typeface="Average"/>
              <a:sym typeface="Average"/>
            </a:endParaRPr>
          </a:p>
          <a:p>
            <a:pPr indent="-304800" lvl="1" marL="914400" marR="0" rtl="0" algn="l">
              <a:lnSpc>
                <a:spcPct val="100000"/>
              </a:lnSpc>
              <a:spcBef>
                <a:spcPts val="1000"/>
              </a:spcBef>
              <a:spcAft>
                <a:spcPts val="1000"/>
              </a:spcAft>
              <a:buClr>
                <a:schemeClr val="dk1"/>
              </a:buClr>
              <a:buSzPts val="1200"/>
              <a:buFont typeface="Average"/>
              <a:buChar char="○"/>
            </a:pPr>
            <a:r>
              <a:rPr i="1" lang="en" sz="1200">
                <a:solidFill>
                  <a:schemeClr val="dk1"/>
                </a:solidFill>
                <a:latin typeface="Average"/>
                <a:ea typeface="Average"/>
                <a:cs typeface="Average"/>
                <a:sym typeface="Average"/>
              </a:rPr>
              <a:t>Note: we often use specific numbers for voltages in our examples, but these can change from one neuron to another</a:t>
            </a:r>
            <a:endParaRPr i="1" sz="1200">
              <a:solidFill>
                <a:schemeClr val="dk1"/>
              </a:solidFill>
              <a:latin typeface="Average"/>
              <a:ea typeface="Average"/>
              <a:cs typeface="Average"/>
              <a:sym typeface="Average"/>
            </a:endParaRPr>
          </a:p>
        </p:txBody>
      </p:sp>
      <p:pic>
        <p:nvPicPr>
          <p:cNvPr id="409" name="Google Shape;409;p34"/>
          <p:cNvPicPr preferRelativeResize="0"/>
          <p:nvPr/>
        </p:nvPicPr>
        <p:blipFill rotWithShape="1">
          <a:blip r:embed="rId3">
            <a:alphaModFix/>
          </a:blip>
          <a:srcRect b="6708" l="0" r="0" t="0"/>
          <a:stretch/>
        </p:blipFill>
        <p:spPr>
          <a:xfrm>
            <a:off x="4998868" y="2198925"/>
            <a:ext cx="3065082" cy="226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5"/>
          <p:cNvSpPr txBox="1"/>
          <p:nvPr>
            <p:ph idx="4294967295" type="title"/>
          </p:nvPr>
        </p:nvSpPr>
        <p:spPr>
          <a:xfrm>
            <a:off x="688900" y="254575"/>
            <a:ext cx="35835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500" u="none" cap="none" strike="noStrike">
                <a:solidFill>
                  <a:schemeClr val="accent1"/>
                </a:solidFill>
                <a:latin typeface="Average"/>
                <a:ea typeface="Average"/>
                <a:cs typeface="Average"/>
                <a:sym typeface="Average"/>
              </a:rPr>
              <a:t>Resting State &amp; the Sodium-Potassium Pump </a:t>
            </a:r>
            <a:endParaRPr sz="2500"/>
          </a:p>
        </p:txBody>
      </p:sp>
      <p:sp>
        <p:nvSpPr>
          <p:cNvPr id="415" name="Google Shape;415;p35"/>
          <p:cNvSpPr txBox="1"/>
          <p:nvPr/>
        </p:nvSpPr>
        <p:spPr>
          <a:xfrm>
            <a:off x="389050" y="1062200"/>
            <a:ext cx="4264500" cy="4030200"/>
          </a:xfrm>
          <a:prstGeom prst="rect">
            <a:avLst/>
          </a:prstGeom>
          <a:noFill/>
          <a:ln>
            <a:noFill/>
          </a:ln>
        </p:spPr>
        <p:txBody>
          <a:bodyPr anchorCtr="0" anchor="ctr"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Average"/>
              <a:buAutoNum type="arabicPeriod"/>
            </a:pPr>
            <a:r>
              <a:rPr b="0" i="0" lang="en" sz="1200" u="none" cap="none" strike="noStrike">
                <a:solidFill>
                  <a:schemeClr val="dk1"/>
                </a:solidFill>
                <a:latin typeface="Average"/>
                <a:ea typeface="Average"/>
                <a:cs typeface="Average"/>
                <a:sym typeface="Average"/>
              </a:rPr>
              <a:t>Inside the resting cell, there exists a higher concentration of potassium (K+) than sodium (Na+); outside the cell, the opposite is true.</a:t>
            </a:r>
            <a:endParaRPr sz="1200"/>
          </a:p>
          <a:p>
            <a:pPr indent="-304800" lvl="0" marL="457200" marR="0" rtl="0" algn="l">
              <a:lnSpc>
                <a:spcPct val="100000"/>
              </a:lnSpc>
              <a:spcBef>
                <a:spcPts val="1480"/>
              </a:spcBef>
              <a:spcAft>
                <a:spcPts val="0"/>
              </a:spcAft>
              <a:buClr>
                <a:schemeClr val="dk1"/>
              </a:buClr>
              <a:buSzPts val="1200"/>
              <a:buFont typeface="Average"/>
              <a:buAutoNum type="arabicPeriod"/>
            </a:pPr>
            <a:r>
              <a:rPr b="0" i="0" lang="en" sz="1200" u="none" cap="none" strike="noStrike">
                <a:solidFill>
                  <a:schemeClr val="dk1"/>
                </a:solidFill>
                <a:latin typeface="Average"/>
                <a:ea typeface="Average"/>
                <a:cs typeface="Average"/>
                <a:sym typeface="Average"/>
              </a:rPr>
              <a:t>Potassium ions are able to passively diffuse out of the cell more easily than sodium ions can diffuse into the (K+ = “leaky” ion channels)</a:t>
            </a:r>
            <a:endParaRPr sz="1200"/>
          </a:p>
          <a:p>
            <a:pPr indent="-304800" lvl="0" marL="457200" marR="0" rtl="0" algn="l">
              <a:lnSpc>
                <a:spcPct val="100000"/>
              </a:lnSpc>
              <a:spcBef>
                <a:spcPts val="1480"/>
              </a:spcBef>
              <a:spcAft>
                <a:spcPts val="0"/>
              </a:spcAft>
              <a:buClr>
                <a:schemeClr val="dk1"/>
              </a:buClr>
              <a:buSzPts val="1200"/>
              <a:buFont typeface="Average"/>
              <a:buAutoNum type="arabicPeriod"/>
            </a:pPr>
            <a:r>
              <a:rPr b="0" i="0" lang="en" sz="1200" u="none" cap="none" strike="noStrike">
                <a:solidFill>
                  <a:schemeClr val="dk1"/>
                </a:solidFill>
                <a:latin typeface="Average"/>
                <a:ea typeface="Average"/>
                <a:cs typeface="Average"/>
                <a:sym typeface="Average"/>
              </a:rPr>
              <a:t>In an attempt to balance this difference, the sodium-potassium pump along the membrane surface will </a:t>
            </a:r>
            <a:r>
              <a:rPr lang="en" sz="1200">
                <a:solidFill>
                  <a:schemeClr val="dk1"/>
                </a:solidFill>
                <a:latin typeface="Average"/>
                <a:ea typeface="Average"/>
                <a:cs typeface="Average"/>
                <a:sym typeface="Average"/>
              </a:rPr>
              <a:t>pump two K</a:t>
            </a:r>
            <a:r>
              <a:rPr baseline="30000" lang="en" sz="1200">
                <a:solidFill>
                  <a:schemeClr val="dk1"/>
                </a:solidFill>
                <a:latin typeface="Average"/>
                <a:ea typeface="Average"/>
                <a:cs typeface="Average"/>
                <a:sym typeface="Average"/>
              </a:rPr>
              <a:t>+ </a:t>
            </a:r>
            <a:r>
              <a:rPr lang="en" sz="1200">
                <a:solidFill>
                  <a:schemeClr val="dk1"/>
                </a:solidFill>
                <a:latin typeface="Average"/>
                <a:ea typeface="Average"/>
                <a:cs typeface="Average"/>
                <a:sym typeface="Average"/>
              </a:rPr>
              <a:t>back into the cell in exchange for three Na</a:t>
            </a:r>
            <a:r>
              <a:rPr baseline="30000" lang="en" sz="1200">
                <a:solidFill>
                  <a:schemeClr val="dk1"/>
                </a:solidFill>
                <a:latin typeface="Average"/>
                <a:ea typeface="Average"/>
                <a:cs typeface="Average"/>
                <a:sym typeface="Average"/>
              </a:rPr>
              <a:t>+</a:t>
            </a:r>
            <a:r>
              <a:rPr lang="en" sz="1200">
                <a:solidFill>
                  <a:schemeClr val="dk1"/>
                </a:solidFill>
                <a:latin typeface="Average"/>
                <a:ea typeface="Average"/>
                <a:cs typeface="Average"/>
                <a:sym typeface="Average"/>
              </a:rPr>
              <a:t> </a:t>
            </a:r>
            <a:r>
              <a:rPr b="0" i="0" lang="en" sz="1200" u="none" cap="none" strike="noStrike">
                <a:solidFill>
                  <a:schemeClr val="dk1"/>
                </a:solidFill>
                <a:latin typeface="Average"/>
                <a:ea typeface="Average"/>
                <a:cs typeface="Average"/>
                <a:sym typeface="Average"/>
              </a:rPr>
              <a:t> </a:t>
            </a:r>
            <a:endParaRPr sz="1200"/>
          </a:p>
          <a:p>
            <a:pPr indent="-304800" lvl="0" marL="457200" marR="0" rtl="0" algn="l">
              <a:lnSpc>
                <a:spcPct val="100000"/>
              </a:lnSpc>
              <a:spcBef>
                <a:spcPts val="1480"/>
              </a:spcBef>
              <a:spcAft>
                <a:spcPts val="0"/>
              </a:spcAft>
              <a:buClr>
                <a:schemeClr val="dk1"/>
              </a:buClr>
              <a:buSzPts val="1200"/>
              <a:buFont typeface="Average"/>
              <a:buAutoNum type="arabicPeriod"/>
            </a:pPr>
            <a:r>
              <a:rPr b="0" i="0" lang="en" sz="1200" u="none" cap="none" strike="noStrike">
                <a:solidFill>
                  <a:schemeClr val="dk1"/>
                </a:solidFill>
                <a:latin typeface="Average"/>
                <a:ea typeface="Average"/>
                <a:cs typeface="Average"/>
                <a:sym typeface="Average"/>
              </a:rPr>
              <a:t>As a result, as excess of positive charge accumulates outside of the cell membrane</a:t>
            </a:r>
            <a:r>
              <a:rPr lang="en" sz="1200">
                <a:solidFill>
                  <a:schemeClr val="dk1"/>
                </a:solidFill>
                <a:latin typeface="Average"/>
                <a:ea typeface="Average"/>
                <a:cs typeface="Average"/>
                <a:sym typeface="Average"/>
              </a:rPr>
              <a:t>, causing the inside of the cell to become negatively charged relative to the outside.</a:t>
            </a:r>
            <a:r>
              <a:rPr b="0" i="0" lang="en" sz="1200" u="none" cap="none" strike="noStrike">
                <a:solidFill>
                  <a:schemeClr val="dk1"/>
                </a:solidFill>
                <a:latin typeface="Average"/>
                <a:ea typeface="Average"/>
                <a:cs typeface="Average"/>
                <a:sym typeface="Average"/>
              </a:rPr>
              <a:t> A constant membrane potential of -70 mV is maintained. </a:t>
            </a:r>
            <a:endParaRPr sz="1200"/>
          </a:p>
          <a:p>
            <a:pPr indent="0" lvl="0" marL="0" marR="0" rtl="0" algn="l">
              <a:lnSpc>
                <a:spcPct val="100000"/>
              </a:lnSpc>
              <a:spcBef>
                <a:spcPts val="1480"/>
              </a:spcBef>
              <a:spcAft>
                <a:spcPts val="0"/>
              </a:spcAft>
              <a:buClr>
                <a:srgbClr val="000000"/>
              </a:buClr>
              <a:buSzPts val="1500"/>
              <a:buFont typeface="Arial"/>
              <a:buNone/>
            </a:pPr>
            <a:r>
              <a:t/>
            </a:r>
            <a:endParaRPr b="0" i="0" sz="1500" u="none" cap="none" strike="noStrike">
              <a:solidFill>
                <a:schemeClr val="dk1"/>
              </a:solidFill>
              <a:latin typeface="Average"/>
              <a:ea typeface="Average"/>
              <a:cs typeface="Average"/>
              <a:sym typeface="Average"/>
            </a:endParaRPr>
          </a:p>
        </p:txBody>
      </p:sp>
      <p:pic>
        <p:nvPicPr>
          <p:cNvPr id="416" name="Google Shape;416;p35"/>
          <p:cNvPicPr preferRelativeResize="0"/>
          <p:nvPr/>
        </p:nvPicPr>
        <p:blipFill rotWithShape="1">
          <a:blip r:embed="rId3">
            <a:alphaModFix/>
          </a:blip>
          <a:srcRect b="0" l="0" r="0" t="0"/>
          <a:stretch/>
        </p:blipFill>
        <p:spPr>
          <a:xfrm>
            <a:off x="4920475" y="184100"/>
            <a:ext cx="3493075" cy="2354400"/>
          </a:xfrm>
          <a:prstGeom prst="rect">
            <a:avLst/>
          </a:prstGeom>
          <a:noFill/>
          <a:ln>
            <a:noFill/>
          </a:ln>
        </p:spPr>
      </p:pic>
      <p:pic>
        <p:nvPicPr>
          <p:cNvPr id="417" name="Google Shape;417;p35"/>
          <p:cNvPicPr preferRelativeResize="0"/>
          <p:nvPr/>
        </p:nvPicPr>
        <p:blipFill>
          <a:blip r:embed="rId4">
            <a:alphaModFix/>
          </a:blip>
          <a:stretch>
            <a:fillRect/>
          </a:stretch>
        </p:blipFill>
        <p:spPr>
          <a:xfrm>
            <a:off x="4519025" y="2465359"/>
            <a:ext cx="4403651" cy="253454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6"/>
          <p:cNvSpPr txBox="1"/>
          <p:nvPr>
            <p:ph idx="4294967295" type="title"/>
          </p:nvPr>
        </p:nvSpPr>
        <p:spPr>
          <a:xfrm>
            <a:off x="6624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i="0" lang="en" sz="3000" u="none" cap="none" strike="noStrike">
                <a:solidFill>
                  <a:schemeClr val="accent1"/>
                </a:solidFill>
                <a:latin typeface="Average"/>
                <a:ea typeface="Average"/>
                <a:cs typeface="Average"/>
                <a:sym typeface="Average"/>
              </a:rPr>
              <a:t>2) Depolarization </a:t>
            </a:r>
            <a:endParaRPr sz="3000"/>
          </a:p>
        </p:txBody>
      </p:sp>
      <p:sp>
        <p:nvSpPr>
          <p:cNvPr id="423" name="Google Shape;423;p36"/>
          <p:cNvSpPr txBox="1"/>
          <p:nvPr>
            <p:ph idx="4294967295" type="body"/>
          </p:nvPr>
        </p:nvSpPr>
        <p:spPr>
          <a:xfrm>
            <a:off x="651350" y="1209350"/>
            <a:ext cx="80838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0" i="1" lang="en" sz="1900" u="none" cap="none" strike="noStrike">
                <a:solidFill>
                  <a:srgbClr val="000000"/>
                </a:solidFill>
                <a:latin typeface="Average"/>
                <a:ea typeface="Average"/>
                <a:cs typeface="Average"/>
                <a:sym typeface="Average"/>
              </a:rPr>
              <a:t>Action potential </a:t>
            </a:r>
            <a:r>
              <a:rPr b="0" i="0" lang="en" sz="1900" u="none" cap="none" strike="noStrike">
                <a:solidFill>
                  <a:srgbClr val="000000"/>
                </a:solidFill>
                <a:latin typeface="Average"/>
                <a:ea typeface="Average"/>
                <a:cs typeface="Average"/>
                <a:sym typeface="Average"/>
              </a:rPr>
              <a:t>occurs when a neuron is stimulated by an electrical impulse.</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424" name="Google Shape;424;p36"/>
          <p:cNvSpPr txBox="1"/>
          <p:nvPr/>
        </p:nvSpPr>
        <p:spPr>
          <a:xfrm>
            <a:off x="476675" y="1894125"/>
            <a:ext cx="4865700" cy="2518200"/>
          </a:xfrm>
          <a:prstGeom prst="rect">
            <a:avLst/>
          </a:prstGeom>
          <a:noFill/>
          <a:ln>
            <a:noFill/>
          </a:ln>
        </p:spPr>
        <p:txBody>
          <a:bodyPr anchorCtr="0" anchor="ctr"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400"/>
              <a:buFont typeface="Average"/>
              <a:buAutoNum type="arabicPeriod"/>
            </a:pPr>
            <a:r>
              <a:rPr lang="en">
                <a:solidFill>
                  <a:schemeClr val="dk1"/>
                </a:solidFill>
                <a:latin typeface="Average"/>
                <a:ea typeface="Average"/>
                <a:cs typeface="Average"/>
                <a:sym typeface="Average"/>
              </a:rPr>
              <a:t>If a strong enough impulse is received and the threshold potential is reached (approx. -55 mV), </a:t>
            </a:r>
            <a:r>
              <a:rPr b="0" i="0" lang="en" sz="1400" u="none" cap="none" strike="noStrike">
                <a:solidFill>
                  <a:schemeClr val="dk1"/>
                </a:solidFill>
                <a:latin typeface="Average"/>
                <a:ea typeface="Average"/>
                <a:cs typeface="Average"/>
                <a:sym typeface="Average"/>
              </a:rPr>
              <a:t>sodium gates </a:t>
            </a:r>
            <a:r>
              <a:rPr lang="en">
                <a:solidFill>
                  <a:schemeClr val="dk1"/>
                </a:solidFill>
                <a:latin typeface="Average"/>
                <a:ea typeface="Average"/>
                <a:cs typeface="Average"/>
                <a:sym typeface="Average"/>
              </a:rPr>
              <a:t>will </a:t>
            </a:r>
            <a:r>
              <a:rPr b="0" i="0" lang="en" sz="1400" u="none" cap="none" strike="noStrike">
                <a:solidFill>
                  <a:schemeClr val="dk1"/>
                </a:solidFill>
                <a:latin typeface="Average"/>
                <a:ea typeface="Average"/>
                <a:cs typeface="Average"/>
                <a:sym typeface="Average"/>
              </a:rPr>
              <a:t>open, thus allowing Na+ to diffuse freely across the membrane.</a:t>
            </a:r>
            <a:endParaRPr/>
          </a:p>
          <a:p>
            <a:pPr indent="-228600" lvl="0" marL="457200" marR="0" rtl="0" algn="l">
              <a:lnSpc>
                <a:spcPct val="100000"/>
              </a:lnSpc>
              <a:spcBef>
                <a:spcPts val="1480"/>
              </a:spcBef>
              <a:spcAft>
                <a:spcPts val="0"/>
              </a:spcAft>
              <a:buClr>
                <a:schemeClr val="dk1"/>
              </a:buClr>
              <a:buSzPts val="1400"/>
              <a:buFont typeface="Average"/>
              <a:buAutoNum type="arabicPeriod"/>
            </a:pPr>
            <a:r>
              <a:rPr b="0" i="0" lang="en" sz="1400" u="none" cap="none" strike="noStrike">
                <a:solidFill>
                  <a:schemeClr val="dk1"/>
                </a:solidFill>
                <a:latin typeface="Average"/>
                <a:ea typeface="Average"/>
                <a:cs typeface="Average"/>
                <a:sym typeface="Average"/>
              </a:rPr>
              <a:t>Na+ rushes into the cell (down their concentration gradient </a:t>
            </a:r>
            <a:r>
              <a:rPr lang="en">
                <a:solidFill>
                  <a:schemeClr val="dk1"/>
                </a:solidFill>
                <a:latin typeface="Average"/>
                <a:ea typeface="Average"/>
                <a:cs typeface="Average"/>
                <a:sym typeface="Average"/>
              </a:rPr>
              <a:t>→ facilitated diffusion</a:t>
            </a:r>
            <a:r>
              <a:rPr b="0" i="0" lang="en" sz="1400" u="none" cap="none" strike="noStrike">
                <a:solidFill>
                  <a:schemeClr val="dk1"/>
                </a:solidFill>
                <a:latin typeface="Average"/>
                <a:ea typeface="Average"/>
                <a:cs typeface="Average"/>
                <a:sym typeface="Average"/>
              </a:rPr>
              <a:t>), leading to a slight positive charge on the inside relative to the outside.</a:t>
            </a:r>
            <a:endParaRPr/>
          </a:p>
          <a:p>
            <a:pPr indent="-228600" lvl="0" marL="457200" marR="0" rtl="0" algn="l">
              <a:lnSpc>
                <a:spcPct val="100000"/>
              </a:lnSpc>
              <a:spcBef>
                <a:spcPts val="1480"/>
              </a:spcBef>
              <a:spcAft>
                <a:spcPts val="0"/>
              </a:spcAft>
              <a:buClr>
                <a:schemeClr val="dk1"/>
              </a:buClr>
              <a:buSzPts val="1400"/>
              <a:buFont typeface="Average"/>
              <a:buAutoNum type="arabicPeriod"/>
            </a:pPr>
            <a:r>
              <a:rPr b="0" i="0" lang="en" sz="1400" u="none" cap="none" strike="noStrike">
                <a:solidFill>
                  <a:schemeClr val="dk1"/>
                </a:solidFill>
                <a:latin typeface="Average"/>
                <a:ea typeface="Average"/>
                <a:cs typeface="Average"/>
                <a:sym typeface="Average"/>
              </a:rPr>
              <a:t>This reverses the membrane potential from -70 mV to +40 mV; the membrane is now said to be </a:t>
            </a:r>
            <a:r>
              <a:rPr b="0" i="1" lang="en" sz="1400" u="none" cap="none" strike="noStrike">
                <a:solidFill>
                  <a:schemeClr val="dk1"/>
                </a:solidFill>
                <a:latin typeface="Average"/>
                <a:ea typeface="Average"/>
                <a:cs typeface="Average"/>
                <a:sym typeface="Average"/>
              </a:rPr>
              <a:t>depolarized. </a:t>
            </a:r>
            <a:endParaRPr/>
          </a:p>
          <a:p>
            <a:pPr indent="-228600" lvl="0" marL="457200" marR="0" rtl="0" algn="l">
              <a:lnSpc>
                <a:spcPct val="100000"/>
              </a:lnSpc>
              <a:spcBef>
                <a:spcPts val="1480"/>
              </a:spcBef>
              <a:spcAft>
                <a:spcPts val="0"/>
              </a:spcAft>
              <a:buClr>
                <a:schemeClr val="dk1"/>
              </a:buClr>
              <a:buSzPts val="1400"/>
              <a:buFont typeface="Average"/>
              <a:buAutoNum type="arabicPeriod"/>
            </a:pPr>
            <a:r>
              <a:rPr b="0" i="0" lang="en" sz="1400" u="none" cap="none" strike="noStrike">
                <a:solidFill>
                  <a:schemeClr val="dk1"/>
                </a:solidFill>
                <a:latin typeface="Average"/>
                <a:ea typeface="Average"/>
                <a:cs typeface="Average"/>
                <a:sym typeface="Average"/>
              </a:rPr>
              <a:t>Once Na+ reaches equilibrium, the membrane once again becomes impermeable to them, and the gates close. </a:t>
            </a:r>
            <a:endParaRPr/>
          </a:p>
        </p:txBody>
      </p:sp>
      <p:pic>
        <p:nvPicPr>
          <p:cNvPr id="425" name="Google Shape;425;p36"/>
          <p:cNvPicPr preferRelativeResize="0"/>
          <p:nvPr/>
        </p:nvPicPr>
        <p:blipFill rotWithShape="1">
          <a:blip r:embed="rId3">
            <a:alphaModFix/>
          </a:blip>
          <a:srcRect b="0" l="0" r="6977" t="18540"/>
          <a:stretch/>
        </p:blipFill>
        <p:spPr>
          <a:xfrm>
            <a:off x="5750950" y="2300425"/>
            <a:ext cx="2596975" cy="1705599"/>
          </a:xfrm>
          <a:prstGeom prst="rect">
            <a:avLst/>
          </a:prstGeom>
          <a:noFill/>
          <a:ln cap="flat" cmpd="sng" w="19050">
            <a:solidFill>
              <a:srgbClr val="999999"/>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7"/>
          <p:cNvSpPr txBox="1"/>
          <p:nvPr>
            <p:ph idx="4294967295" type="title"/>
          </p:nvPr>
        </p:nvSpPr>
        <p:spPr>
          <a:xfrm>
            <a:off x="6624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300"/>
              <a:buFont typeface="Verdana"/>
              <a:buNone/>
            </a:pPr>
            <a:r>
              <a:rPr b="1" i="0" lang="en" sz="2700" u="none" cap="none" strike="noStrike">
                <a:solidFill>
                  <a:schemeClr val="accent1"/>
                </a:solidFill>
                <a:latin typeface="Average"/>
                <a:ea typeface="Average"/>
                <a:cs typeface="Average"/>
                <a:sym typeface="Average"/>
              </a:rPr>
              <a:t>Depolarization &amp; Threshold Potential </a:t>
            </a:r>
            <a:endParaRPr sz="2700"/>
          </a:p>
        </p:txBody>
      </p:sp>
      <p:sp>
        <p:nvSpPr>
          <p:cNvPr id="431" name="Google Shape;431;p37"/>
          <p:cNvSpPr txBox="1"/>
          <p:nvPr>
            <p:ph idx="4294967295" type="body"/>
          </p:nvPr>
        </p:nvSpPr>
        <p:spPr>
          <a:xfrm>
            <a:off x="651350" y="1209350"/>
            <a:ext cx="78687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92"/>
              <a:buFont typeface="Noto Sans Symbols"/>
              <a:buNone/>
            </a:pPr>
            <a:r>
              <a:rPr b="0" i="0" lang="en" sz="1600" u="none" cap="none" strike="noStrike">
                <a:solidFill>
                  <a:srgbClr val="000000"/>
                </a:solidFill>
                <a:latin typeface="Average"/>
                <a:ea typeface="Average"/>
                <a:cs typeface="Average"/>
                <a:sym typeface="Average"/>
              </a:rPr>
              <a:t>An action potential is considered to be an </a:t>
            </a:r>
            <a:r>
              <a:rPr b="1" i="0" lang="en" sz="1600" u="none" cap="none" strike="noStrike">
                <a:solidFill>
                  <a:schemeClr val="dk1"/>
                </a:solidFill>
                <a:latin typeface="Average"/>
                <a:ea typeface="Average"/>
                <a:cs typeface="Average"/>
                <a:sym typeface="Average"/>
              </a:rPr>
              <a:t>“all-or-none”</a:t>
            </a:r>
            <a:r>
              <a:rPr b="0" i="0" lang="en" sz="1600" u="none" cap="none" strike="noStrike">
                <a:solidFill>
                  <a:srgbClr val="000000"/>
                </a:solidFill>
                <a:latin typeface="Average"/>
                <a:ea typeface="Average"/>
                <a:cs typeface="Average"/>
                <a:sym typeface="Average"/>
              </a:rPr>
              <a:t> event because any stimulus that fails to achieve </a:t>
            </a:r>
            <a:r>
              <a:rPr lang="en" sz="1600">
                <a:solidFill>
                  <a:srgbClr val="000000"/>
                </a:solidFill>
                <a:latin typeface="Average"/>
                <a:ea typeface="Average"/>
                <a:cs typeface="Average"/>
                <a:sym typeface="Average"/>
              </a:rPr>
              <a:t>the threshold </a:t>
            </a:r>
            <a:r>
              <a:rPr b="0" i="0" lang="en" sz="1600" u="none" cap="none" strike="noStrike">
                <a:solidFill>
                  <a:srgbClr val="000000"/>
                </a:solidFill>
                <a:latin typeface="Average"/>
                <a:ea typeface="Average"/>
                <a:cs typeface="Average"/>
                <a:sym typeface="Average"/>
              </a:rPr>
              <a:t>membrane potential of at least -55 mV will have no effect</a:t>
            </a:r>
            <a:endParaRPr sz="1600"/>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432" name="Google Shape;432;p37"/>
          <p:cNvPicPr preferRelativeResize="0"/>
          <p:nvPr/>
        </p:nvPicPr>
        <p:blipFill rotWithShape="1">
          <a:blip r:embed="rId3">
            <a:alphaModFix/>
          </a:blip>
          <a:srcRect b="0" l="0" r="0" t="0"/>
          <a:stretch/>
        </p:blipFill>
        <p:spPr>
          <a:xfrm>
            <a:off x="1053925" y="2036600"/>
            <a:ext cx="2861675" cy="2508250"/>
          </a:xfrm>
          <a:prstGeom prst="rect">
            <a:avLst/>
          </a:prstGeom>
          <a:noFill/>
          <a:ln>
            <a:noFill/>
          </a:ln>
        </p:spPr>
      </p:pic>
      <p:sp>
        <p:nvSpPr>
          <p:cNvPr id="433" name="Google Shape;433;p37"/>
          <p:cNvSpPr txBox="1"/>
          <p:nvPr/>
        </p:nvSpPr>
        <p:spPr>
          <a:xfrm>
            <a:off x="4359375" y="2077950"/>
            <a:ext cx="3874800" cy="10857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verage"/>
              <a:buChar char="●"/>
            </a:pPr>
            <a:r>
              <a:rPr b="0" i="0" lang="en" u="none" cap="none" strike="noStrike">
                <a:solidFill>
                  <a:srgbClr val="000000"/>
                </a:solidFill>
                <a:latin typeface="Average"/>
                <a:ea typeface="Average"/>
                <a:cs typeface="Average"/>
                <a:sym typeface="Average"/>
              </a:rPr>
              <a:t>Note that increasing the stimulus strength does not increase the impulse strength; a neuron will either fire or not fire</a:t>
            </a:r>
            <a:endParaRPr/>
          </a:p>
          <a:p>
            <a:pPr indent="-317500" lvl="0" marL="457200" marR="0" rtl="0" algn="l">
              <a:lnSpc>
                <a:spcPct val="100000"/>
              </a:lnSpc>
              <a:spcBef>
                <a:spcPts val="1000"/>
              </a:spcBef>
              <a:spcAft>
                <a:spcPts val="1000"/>
              </a:spcAft>
              <a:buClr>
                <a:srgbClr val="000000"/>
              </a:buClr>
              <a:buSzPts val="1400"/>
              <a:buFont typeface="Average"/>
              <a:buChar char="●"/>
            </a:pPr>
            <a:r>
              <a:rPr b="0" i="0" lang="en" u="none" cap="none" strike="noStrike">
                <a:solidFill>
                  <a:srgbClr val="000000"/>
                </a:solidFill>
                <a:latin typeface="Average"/>
                <a:ea typeface="Average"/>
                <a:cs typeface="Average"/>
                <a:sym typeface="Average"/>
              </a:rPr>
              <a:t>The </a:t>
            </a:r>
            <a:r>
              <a:rPr b="1" i="0" lang="en" u="none" cap="none" strike="noStrike">
                <a:solidFill>
                  <a:srgbClr val="000000"/>
                </a:solidFill>
                <a:latin typeface="Average"/>
                <a:ea typeface="Average"/>
                <a:cs typeface="Average"/>
                <a:sym typeface="Average"/>
              </a:rPr>
              <a:t>intensity of a stimulus is instead experienced as an increased </a:t>
            </a:r>
            <a:r>
              <a:rPr b="1" i="1" lang="en" u="none" cap="none" strike="noStrike">
                <a:solidFill>
                  <a:srgbClr val="000000"/>
                </a:solidFill>
                <a:latin typeface="Average"/>
                <a:ea typeface="Average"/>
                <a:cs typeface="Average"/>
                <a:sym typeface="Average"/>
              </a:rPr>
              <a:t>frequency </a:t>
            </a:r>
            <a:r>
              <a:rPr b="1" i="0" lang="en" u="none" cap="none" strike="noStrike">
                <a:solidFill>
                  <a:srgbClr val="000000"/>
                </a:solidFill>
                <a:latin typeface="Average"/>
                <a:ea typeface="Average"/>
                <a:cs typeface="Average"/>
                <a:sym typeface="Average"/>
              </a:rPr>
              <a:t>of nerve impulses</a:t>
            </a:r>
            <a:r>
              <a:rPr b="0" i="0" lang="en" u="none" cap="none" strike="noStrike">
                <a:solidFill>
                  <a:srgbClr val="000000"/>
                </a:solidFill>
                <a:latin typeface="Average"/>
                <a:ea typeface="Average"/>
                <a:cs typeface="Average"/>
                <a:sym typeface="Average"/>
              </a:rPr>
              <a:t> (</a:t>
            </a:r>
            <a:r>
              <a:rPr lang="en">
                <a:latin typeface="Average"/>
                <a:ea typeface="Average"/>
                <a:cs typeface="Average"/>
                <a:sym typeface="Average"/>
              </a:rPr>
              <a:t>i.e. a more intense stimulus will simply cause more neurons to depolarize)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8"/>
          <p:cNvSpPr txBox="1"/>
          <p:nvPr>
            <p:ph idx="4294967295" type="title"/>
          </p:nvPr>
        </p:nvSpPr>
        <p:spPr>
          <a:xfrm>
            <a:off x="662490" y="107922"/>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i="0" lang="en" sz="3000" u="none" cap="none" strike="noStrike">
                <a:solidFill>
                  <a:schemeClr val="accent1"/>
                </a:solidFill>
                <a:latin typeface="Average"/>
                <a:ea typeface="Average"/>
                <a:cs typeface="Average"/>
                <a:sym typeface="Average"/>
              </a:rPr>
              <a:t>3) Repolarization </a:t>
            </a:r>
            <a:endParaRPr sz="3000"/>
          </a:p>
        </p:txBody>
      </p:sp>
      <p:sp>
        <p:nvSpPr>
          <p:cNvPr id="439" name="Google Shape;439;p38"/>
          <p:cNvSpPr txBox="1"/>
          <p:nvPr>
            <p:ph idx="4294967295" type="body"/>
          </p:nvPr>
        </p:nvSpPr>
        <p:spPr>
          <a:xfrm>
            <a:off x="891500" y="897500"/>
            <a:ext cx="80838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0" i="0" lang="en" sz="1800" u="none" cap="none" strike="noStrike">
                <a:solidFill>
                  <a:srgbClr val="000000"/>
                </a:solidFill>
                <a:latin typeface="Average"/>
                <a:ea typeface="Average"/>
                <a:cs typeface="Average"/>
                <a:sym typeface="Average"/>
              </a:rPr>
              <a:t>Once the action potential has peaked, Na+ gates close, and K+ gates open.</a:t>
            </a:r>
            <a:endParaRPr sz="1800"/>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440" name="Google Shape;440;p38"/>
          <p:cNvSpPr txBox="1"/>
          <p:nvPr/>
        </p:nvSpPr>
        <p:spPr>
          <a:xfrm>
            <a:off x="612700" y="1537275"/>
            <a:ext cx="4864500" cy="3240900"/>
          </a:xfrm>
          <a:prstGeom prst="rect">
            <a:avLst/>
          </a:prstGeom>
          <a:noFill/>
          <a:ln>
            <a:noFill/>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This restores the positive charge on the outside of the membrane; however, Na+ and K+ concentrations are briefly reversed compared to at the resting state (Na+ is higher inside the membrane)</a:t>
            </a:r>
            <a:endParaRPr b="0" i="0" u="none" cap="none" strike="noStrike">
              <a:solidFill>
                <a:schemeClr val="dk1"/>
              </a:solidFill>
              <a:latin typeface="Average"/>
              <a:ea typeface="Average"/>
              <a:cs typeface="Average"/>
              <a:sym typeface="Average"/>
            </a:endParaRPr>
          </a:p>
          <a:p>
            <a:pPr indent="0" lvl="0" marL="457200" marR="0" rtl="0" algn="l">
              <a:lnSpc>
                <a:spcPct val="100000"/>
              </a:lnSpc>
              <a:spcBef>
                <a:spcPts val="0"/>
              </a:spcBef>
              <a:spcAft>
                <a:spcPts val="0"/>
              </a:spcAft>
              <a:buNone/>
            </a:pPr>
            <a:r>
              <a:t/>
            </a:r>
            <a:endParaRPr>
              <a:solidFill>
                <a:schemeClr val="dk1"/>
              </a:solidFill>
              <a:latin typeface="Average"/>
              <a:ea typeface="Average"/>
              <a:cs typeface="Average"/>
              <a:sym typeface="Average"/>
            </a:endParaRPr>
          </a:p>
          <a:p>
            <a:pPr indent="-323850" lvl="0" marL="457200" marR="0" rtl="0" algn="l">
              <a:lnSpc>
                <a:spcPct val="100000"/>
              </a:lnSpc>
              <a:spcBef>
                <a:spcPts val="0"/>
              </a:spcBef>
              <a:spcAft>
                <a:spcPts val="0"/>
              </a:spcAft>
              <a:buClr>
                <a:schemeClr val="dk1"/>
              </a:buClr>
              <a:buSzPts val="1500"/>
              <a:buFont typeface="Average"/>
              <a:buChar char="➢"/>
            </a:pPr>
            <a:r>
              <a:rPr lang="en">
                <a:solidFill>
                  <a:schemeClr val="dk1"/>
                </a:solidFill>
                <a:latin typeface="Average"/>
                <a:ea typeface="Average"/>
                <a:cs typeface="Average"/>
                <a:sym typeface="Average"/>
              </a:rPr>
              <a:t>The K+ channels are slow to close, which results in the </a:t>
            </a:r>
            <a:r>
              <a:rPr b="1" lang="en">
                <a:solidFill>
                  <a:schemeClr val="dk1"/>
                </a:solidFill>
                <a:latin typeface="Average"/>
                <a:ea typeface="Average"/>
                <a:cs typeface="Average"/>
                <a:sym typeface="Average"/>
              </a:rPr>
              <a:t>hyperpolarization</a:t>
            </a:r>
            <a:r>
              <a:rPr lang="en">
                <a:solidFill>
                  <a:schemeClr val="dk1"/>
                </a:solidFill>
                <a:latin typeface="Average"/>
                <a:ea typeface="Average"/>
                <a:cs typeface="Average"/>
                <a:sym typeface="Average"/>
              </a:rPr>
              <a:t> of the neuron. This means that the inside becomes slightly more negative than the resting potential. </a:t>
            </a:r>
            <a:endParaRPr>
              <a:solidFill>
                <a:schemeClr val="dk1"/>
              </a:solidFill>
              <a:latin typeface="Average"/>
              <a:ea typeface="Average"/>
              <a:cs typeface="Average"/>
              <a:sym typeface="Average"/>
            </a:endParaRPr>
          </a:p>
          <a:p>
            <a:pPr indent="0" lvl="0" marL="457200" marR="0" rtl="0" algn="l">
              <a:lnSpc>
                <a:spcPct val="100000"/>
              </a:lnSpc>
              <a:spcBef>
                <a:spcPts val="1480"/>
              </a:spcBef>
              <a:spcAft>
                <a:spcPts val="0"/>
              </a:spcAft>
              <a:buNone/>
            </a:pPr>
            <a:r>
              <a:t/>
            </a:r>
            <a:endParaRPr/>
          </a:p>
          <a:p>
            <a:pPr indent="0" lvl="0" marL="0" marR="0" rtl="0" algn="l">
              <a:lnSpc>
                <a:spcPct val="100000"/>
              </a:lnSpc>
              <a:spcBef>
                <a:spcPts val="1480"/>
              </a:spcBef>
              <a:spcAft>
                <a:spcPts val="0"/>
              </a:spcAft>
              <a:buNone/>
            </a:pPr>
            <a:r>
              <a:t/>
            </a:r>
            <a:endParaRPr/>
          </a:p>
        </p:txBody>
      </p:sp>
      <p:pic>
        <p:nvPicPr>
          <p:cNvPr id="441" name="Google Shape;441;p38"/>
          <p:cNvPicPr preferRelativeResize="0"/>
          <p:nvPr/>
        </p:nvPicPr>
        <p:blipFill>
          <a:blip r:embed="rId3">
            <a:alphaModFix/>
          </a:blip>
          <a:stretch>
            <a:fillRect/>
          </a:stretch>
        </p:blipFill>
        <p:spPr>
          <a:xfrm>
            <a:off x="5477201" y="1753675"/>
            <a:ext cx="2903650" cy="26870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9"/>
          <p:cNvSpPr txBox="1"/>
          <p:nvPr>
            <p:ph idx="4294967295" type="title"/>
          </p:nvPr>
        </p:nvSpPr>
        <p:spPr>
          <a:xfrm>
            <a:off x="552875" y="557100"/>
            <a:ext cx="7779600" cy="1100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lang="en" sz="2800">
                <a:latin typeface="Average"/>
                <a:ea typeface="Average"/>
                <a:cs typeface="Average"/>
                <a:sym typeface="Average"/>
              </a:rPr>
              <a:t>Na+/</a:t>
            </a:r>
            <a:r>
              <a:rPr lang="en" sz="2800">
                <a:latin typeface="Average"/>
                <a:ea typeface="Average"/>
                <a:cs typeface="Average"/>
                <a:sym typeface="Average"/>
              </a:rPr>
              <a:t>K</a:t>
            </a:r>
            <a:r>
              <a:rPr b="1" lang="en" sz="2800">
                <a:latin typeface="Average"/>
                <a:ea typeface="Average"/>
                <a:cs typeface="Average"/>
                <a:sym typeface="Average"/>
              </a:rPr>
              <a:t>+ exchange pump helps reset the correct distribution of ions</a:t>
            </a:r>
            <a:endParaRPr sz="2800"/>
          </a:p>
        </p:txBody>
      </p:sp>
      <p:sp>
        <p:nvSpPr>
          <p:cNvPr id="447" name="Google Shape;447;p39"/>
          <p:cNvSpPr txBox="1"/>
          <p:nvPr/>
        </p:nvSpPr>
        <p:spPr>
          <a:xfrm>
            <a:off x="552875" y="1860175"/>
            <a:ext cx="3922200" cy="2289900"/>
          </a:xfrm>
          <a:prstGeom prst="rect">
            <a:avLst/>
          </a:prstGeom>
          <a:no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t/>
            </a:r>
            <a:endParaRPr>
              <a:solidFill>
                <a:schemeClr val="dk1"/>
              </a:solidFill>
              <a:latin typeface="Average"/>
              <a:ea typeface="Average"/>
              <a:cs typeface="Average"/>
              <a:sym typeface="Average"/>
            </a:endParaRPr>
          </a:p>
          <a:p>
            <a:pPr indent="-317500" lvl="0" marL="457200" marR="0" rtl="0" algn="l">
              <a:lnSpc>
                <a:spcPct val="100000"/>
              </a:lnSpc>
              <a:spcBef>
                <a:spcPts val="1480"/>
              </a:spcBef>
              <a:spcAft>
                <a:spcPts val="0"/>
              </a:spcAft>
              <a:buClr>
                <a:schemeClr val="dk1"/>
              </a:buClr>
              <a:buSzPts val="1400"/>
              <a:buFont typeface="Average"/>
              <a:buChar char="➢"/>
            </a:pPr>
            <a:r>
              <a:rPr lang="en">
                <a:solidFill>
                  <a:schemeClr val="dk1"/>
                </a:solidFill>
                <a:latin typeface="Average"/>
                <a:ea typeface="Average"/>
                <a:cs typeface="Average"/>
                <a:sym typeface="Average"/>
              </a:rPr>
              <a:t>Even though during repolarization the inside becomes more negative again compared to the outside, we do not have the correct distribution of Na+ and K+ across the membrane. </a:t>
            </a:r>
            <a:r>
              <a:rPr b="0" i="0" lang="en" u="none" cap="none" strike="noStrike">
                <a:solidFill>
                  <a:schemeClr val="dk1"/>
                </a:solidFill>
                <a:latin typeface="Average"/>
                <a:ea typeface="Average"/>
                <a:cs typeface="Average"/>
                <a:sym typeface="Average"/>
              </a:rPr>
              <a:t>The sodium-potassium exchange pum</a:t>
            </a:r>
            <a:r>
              <a:rPr lang="en">
                <a:solidFill>
                  <a:schemeClr val="dk1"/>
                </a:solidFill>
                <a:latin typeface="Average"/>
                <a:ea typeface="Average"/>
                <a:cs typeface="Average"/>
                <a:sym typeface="Average"/>
              </a:rPr>
              <a:t>p</a:t>
            </a:r>
            <a:r>
              <a:rPr b="0" i="0" lang="en" u="none" cap="none" strike="noStrike">
                <a:solidFill>
                  <a:schemeClr val="dk1"/>
                </a:solidFill>
                <a:latin typeface="Average"/>
                <a:ea typeface="Average"/>
                <a:cs typeface="Average"/>
                <a:sym typeface="Average"/>
              </a:rPr>
              <a:t> </a:t>
            </a:r>
            <a:r>
              <a:rPr lang="en">
                <a:solidFill>
                  <a:schemeClr val="dk1"/>
                </a:solidFill>
                <a:latin typeface="Average"/>
                <a:ea typeface="Average"/>
                <a:cs typeface="Average"/>
                <a:sym typeface="Average"/>
              </a:rPr>
              <a:t>helps reset the original distribution by pumping 3 Na+ out for every 2 K+ it pumps in. </a:t>
            </a:r>
            <a:r>
              <a:rPr b="0" i="0" lang="en" u="none" cap="none" strike="noStrike">
                <a:solidFill>
                  <a:schemeClr val="dk1"/>
                </a:solidFill>
                <a:latin typeface="Average"/>
                <a:ea typeface="Average"/>
                <a:cs typeface="Average"/>
                <a:sym typeface="Average"/>
              </a:rPr>
              <a:t> </a:t>
            </a:r>
            <a:endParaRPr>
              <a:solidFill>
                <a:schemeClr val="dk1"/>
              </a:solidFill>
              <a:latin typeface="Average"/>
              <a:ea typeface="Average"/>
              <a:cs typeface="Average"/>
              <a:sym typeface="Average"/>
            </a:endParaRPr>
          </a:p>
          <a:p>
            <a:pPr indent="0" lvl="0" marL="457200" marR="0" rtl="0" algn="l">
              <a:lnSpc>
                <a:spcPct val="100000"/>
              </a:lnSpc>
              <a:spcBef>
                <a:spcPts val="1480"/>
              </a:spcBef>
              <a:spcAft>
                <a:spcPts val="0"/>
              </a:spcAft>
              <a:buNone/>
            </a:pPr>
            <a:r>
              <a:t/>
            </a:r>
            <a:endParaRPr>
              <a:solidFill>
                <a:schemeClr val="dk1"/>
              </a:solidFill>
              <a:latin typeface="Average"/>
              <a:ea typeface="Average"/>
              <a:cs typeface="Average"/>
              <a:sym typeface="Average"/>
            </a:endParaRPr>
          </a:p>
          <a:p>
            <a:pPr indent="0" lvl="0" marL="0" marR="0" rtl="0" algn="l">
              <a:lnSpc>
                <a:spcPct val="100000"/>
              </a:lnSpc>
              <a:spcBef>
                <a:spcPts val="1480"/>
              </a:spcBef>
              <a:spcAft>
                <a:spcPts val="0"/>
              </a:spcAft>
              <a:buNone/>
            </a:pPr>
            <a:r>
              <a:t/>
            </a:r>
            <a:endParaRPr/>
          </a:p>
        </p:txBody>
      </p:sp>
      <p:pic>
        <p:nvPicPr>
          <p:cNvPr id="448" name="Google Shape;448;p39"/>
          <p:cNvPicPr preferRelativeResize="0"/>
          <p:nvPr/>
        </p:nvPicPr>
        <p:blipFill rotWithShape="1">
          <a:blip r:embed="rId3">
            <a:alphaModFix/>
          </a:blip>
          <a:srcRect b="15175" l="19413" r="0" t="0"/>
          <a:stretch/>
        </p:blipFill>
        <p:spPr>
          <a:xfrm>
            <a:off x="4954400" y="1551925"/>
            <a:ext cx="3333600" cy="2538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id="453" name="Google Shape;453;p40"/>
          <p:cNvPicPr preferRelativeResize="0"/>
          <p:nvPr/>
        </p:nvPicPr>
        <p:blipFill>
          <a:blip r:embed="rId3">
            <a:alphaModFix/>
          </a:blip>
          <a:stretch>
            <a:fillRect/>
          </a:stretch>
        </p:blipFill>
        <p:spPr>
          <a:xfrm>
            <a:off x="2856275" y="799825"/>
            <a:ext cx="5766925" cy="4021075"/>
          </a:xfrm>
          <a:prstGeom prst="rect">
            <a:avLst/>
          </a:prstGeom>
          <a:noFill/>
          <a:ln>
            <a:noFill/>
          </a:ln>
        </p:spPr>
      </p:pic>
      <p:sp>
        <p:nvSpPr>
          <p:cNvPr id="454" name="Google Shape;454;p40"/>
          <p:cNvSpPr txBox="1"/>
          <p:nvPr/>
        </p:nvSpPr>
        <p:spPr>
          <a:xfrm>
            <a:off x="555650" y="1155575"/>
            <a:ext cx="2008200" cy="15588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Verdana"/>
                <a:ea typeface="Verdana"/>
                <a:cs typeface="Verdana"/>
                <a:sym typeface="Verdana"/>
              </a:rPr>
              <a:t>Nerve transmission occurs in a wave-like pattern down the length of the axon. </a:t>
            </a:r>
            <a:endParaRPr sz="1500">
              <a:solidFill>
                <a:schemeClr val="dk1"/>
              </a:solidFill>
              <a:latin typeface="Verdana"/>
              <a:ea typeface="Verdana"/>
              <a:cs typeface="Verdana"/>
              <a:sym typeface="Verdan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1"/>
          <p:cNvSpPr txBox="1"/>
          <p:nvPr>
            <p:ph idx="4294967295" type="title"/>
          </p:nvPr>
        </p:nvSpPr>
        <p:spPr>
          <a:xfrm>
            <a:off x="662490" y="6183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i="0" lang="en" sz="3000" u="none" cap="none" strike="noStrike">
                <a:solidFill>
                  <a:schemeClr val="accent1"/>
                </a:solidFill>
                <a:latin typeface="Average"/>
                <a:ea typeface="Average"/>
                <a:cs typeface="Average"/>
                <a:sym typeface="Average"/>
              </a:rPr>
              <a:t>4) Refractory Period</a:t>
            </a:r>
            <a:endParaRPr sz="3000"/>
          </a:p>
        </p:txBody>
      </p:sp>
      <p:sp>
        <p:nvSpPr>
          <p:cNvPr id="460" name="Google Shape;460;p41"/>
          <p:cNvSpPr txBox="1"/>
          <p:nvPr>
            <p:ph idx="4294967295" type="body"/>
          </p:nvPr>
        </p:nvSpPr>
        <p:spPr>
          <a:xfrm>
            <a:off x="727550" y="1437950"/>
            <a:ext cx="76905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0" i="0" lang="en" sz="1700" u="none" cap="none" strike="noStrike">
                <a:solidFill>
                  <a:srgbClr val="000000"/>
                </a:solidFill>
                <a:latin typeface="Average"/>
                <a:ea typeface="Average"/>
                <a:cs typeface="Average"/>
                <a:sym typeface="Average"/>
              </a:rPr>
              <a:t>Until the resting potential of the neuron has been properly restored, a second action potential cannot be conducted along the axon; this is referred to as the </a:t>
            </a:r>
            <a:r>
              <a:rPr b="0" i="1" lang="en" sz="1700" u="none" cap="none" strike="noStrike">
                <a:solidFill>
                  <a:srgbClr val="000000"/>
                </a:solidFill>
                <a:latin typeface="Average"/>
                <a:ea typeface="Average"/>
                <a:cs typeface="Average"/>
                <a:sym typeface="Average"/>
              </a:rPr>
              <a:t>refractory period. </a:t>
            </a:r>
            <a:endParaRPr sz="1700"/>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461" name="Google Shape;461;p41"/>
          <p:cNvSpPr txBox="1"/>
          <p:nvPr/>
        </p:nvSpPr>
        <p:spPr>
          <a:xfrm>
            <a:off x="705275" y="2985225"/>
            <a:ext cx="3765600" cy="11706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During this time, the membrane cannot be made permeable to Na+, so a second wave of depolarization cannot occur. </a:t>
            </a:r>
            <a:endParaRPr sz="1600"/>
          </a:p>
          <a:p>
            <a:pPr indent="0" lvl="0" marL="0" marR="0" rtl="0" algn="l">
              <a:lnSpc>
                <a:spcPct val="100000"/>
              </a:lnSpc>
              <a:spcBef>
                <a:spcPts val="1480"/>
              </a:spcBef>
              <a:spcAft>
                <a:spcPts val="0"/>
              </a:spcAft>
              <a:buNone/>
            </a:pPr>
            <a:r>
              <a:t/>
            </a:r>
            <a:endParaRPr/>
          </a:p>
        </p:txBody>
      </p:sp>
      <p:pic>
        <p:nvPicPr>
          <p:cNvPr id="462" name="Google Shape;462;p41"/>
          <p:cNvPicPr preferRelativeResize="0"/>
          <p:nvPr/>
        </p:nvPicPr>
        <p:blipFill rotWithShape="1">
          <a:blip r:embed="rId3">
            <a:alphaModFix/>
          </a:blip>
          <a:srcRect b="0" l="0" r="0" t="0"/>
          <a:stretch/>
        </p:blipFill>
        <p:spPr>
          <a:xfrm>
            <a:off x="5080296" y="2626971"/>
            <a:ext cx="3017967" cy="16283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2"/>
          <p:cNvSpPr txBox="1"/>
          <p:nvPr>
            <p:ph idx="4294967295" type="title"/>
          </p:nvPr>
        </p:nvSpPr>
        <p:spPr>
          <a:xfrm>
            <a:off x="967290" y="701447"/>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400" u="sng">
                <a:latin typeface="Average"/>
                <a:ea typeface="Average"/>
                <a:cs typeface="Average"/>
                <a:sym typeface="Average"/>
              </a:rPr>
              <a:t>Re-cap: Action Potential</a:t>
            </a:r>
            <a:endParaRPr sz="3400" u="sng"/>
          </a:p>
        </p:txBody>
      </p:sp>
      <p:sp>
        <p:nvSpPr>
          <p:cNvPr id="468" name="Google Shape;468;p42"/>
          <p:cNvSpPr txBox="1"/>
          <p:nvPr/>
        </p:nvSpPr>
        <p:spPr>
          <a:xfrm>
            <a:off x="1329300" y="3902025"/>
            <a:ext cx="6485400" cy="33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500">
                <a:latin typeface="Verdana"/>
                <a:ea typeface="Verdana"/>
                <a:cs typeface="Verdana"/>
                <a:sym typeface="Verdana"/>
              </a:rPr>
              <a:t>This is a tough topic… I would watch all three videos to make sure you really understand each step.</a:t>
            </a:r>
            <a:endParaRPr i="1" sz="1500">
              <a:latin typeface="Verdana"/>
              <a:ea typeface="Verdana"/>
              <a:cs typeface="Verdana"/>
              <a:sym typeface="Verdana"/>
            </a:endParaRPr>
          </a:p>
        </p:txBody>
      </p:sp>
      <p:pic>
        <p:nvPicPr>
          <p:cNvPr descr="This animation demonstrates the behavior of a typical neuron at its resting membrane potential, and when it reaches an action potential and fires, transmitting an electrochemical signal along the axon. It shows how the various components work in concert: Dendrites, cell body, axon, sodium and potassium ions, voltage-gated ion channels, the sodium-potassium pump, and myelin sheaths. It also shows the stages of an action potential: Polarization, depolarization, and hyperpolarization.&#10;&#10;The animation was co-developed by Harvard Extension School's Office of Digital Teaching and Learning, and instructors for the courses in neurobiology and human anatomy.&#10;&#10;Learn more about Harvard Extension School:  https://www.extension.harvard.edu/?utm_source=youtube&amp;utm_medium=social&amp;utm_campaign=ext_action-potential-in-the-neuron&amp;utm_content=description" id="469" name="Google Shape;469;p42" title="Action Potential in the Neuron">
            <a:hlinkClick r:id="rId3"/>
          </p:cNvPr>
          <p:cNvPicPr preferRelativeResize="0"/>
          <p:nvPr/>
        </p:nvPicPr>
        <p:blipFill>
          <a:blip r:embed="rId4">
            <a:alphaModFix/>
          </a:blip>
          <a:stretch>
            <a:fillRect/>
          </a:stretch>
        </p:blipFill>
        <p:spPr>
          <a:xfrm>
            <a:off x="434250" y="1907725"/>
            <a:ext cx="2925175" cy="1645413"/>
          </a:xfrm>
          <a:prstGeom prst="rect">
            <a:avLst/>
          </a:prstGeom>
          <a:noFill/>
          <a:ln>
            <a:noFill/>
          </a:ln>
        </p:spPr>
      </p:pic>
      <p:pic>
        <p:nvPicPr>
          <p:cNvPr descr="Illustration of a neuron during polarization, depolarization, repolarization, and refractory period." id="470" name="Google Shape;470;p42" title="Action Potential (Part 1)">
            <a:hlinkClick r:id="rId5"/>
          </p:cNvPr>
          <p:cNvPicPr preferRelativeResize="0"/>
          <p:nvPr/>
        </p:nvPicPr>
        <p:blipFill>
          <a:blip r:embed="rId6">
            <a:alphaModFix/>
          </a:blip>
          <a:stretch>
            <a:fillRect/>
          </a:stretch>
        </p:blipFill>
        <p:spPr>
          <a:xfrm>
            <a:off x="3491375" y="2041050"/>
            <a:ext cx="2570650" cy="1446000"/>
          </a:xfrm>
          <a:prstGeom prst="rect">
            <a:avLst/>
          </a:prstGeom>
          <a:noFill/>
          <a:ln>
            <a:noFill/>
          </a:ln>
        </p:spPr>
      </p:pic>
      <p:pic>
        <p:nvPicPr>
          <p:cNvPr descr="Oscilloscope interpretation of the stages of action potential" id="471" name="Google Shape;471;p42" title="Action Potential (Part 2)">
            <a:hlinkClick r:id="rId7"/>
          </p:cNvPr>
          <p:cNvPicPr preferRelativeResize="0"/>
          <p:nvPr/>
        </p:nvPicPr>
        <p:blipFill>
          <a:blip r:embed="rId8">
            <a:alphaModFix/>
          </a:blip>
          <a:stretch>
            <a:fillRect/>
          </a:stretch>
        </p:blipFill>
        <p:spPr>
          <a:xfrm>
            <a:off x="6193975" y="2022696"/>
            <a:ext cx="2486075" cy="13984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3"/>
          <p:cNvSpPr txBox="1"/>
          <p:nvPr>
            <p:ph idx="4294967295" type="title"/>
          </p:nvPr>
        </p:nvSpPr>
        <p:spPr>
          <a:xfrm>
            <a:off x="662500" y="1123850"/>
            <a:ext cx="7715100" cy="504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400" u="sng" cap="none" strike="noStrike">
                <a:solidFill>
                  <a:schemeClr val="accent1"/>
                </a:solidFill>
                <a:latin typeface="Average"/>
                <a:ea typeface="Average"/>
                <a:cs typeface="Average"/>
                <a:sym typeface="Average"/>
              </a:rPr>
              <a:t>Signal Transduction across a Synapse (Chemical Event)</a:t>
            </a:r>
            <a:endParaRPr sz="2400" u="sng"/>
          </a:p>
        </p:txBody>
      </p:sp>
      <p:sp>
        <p:nvSpPr>
          <p:cNvPr id="477" name="Google Shape;477;p43"/>
          <p:cNvSpPr txBox="1"/>
          <p:nvPr/>
        </p:nvSpPr>
        <p:spPr>
          <a:xfrm>
            <a:off x="552875" y="2299425"/>
            <a:ext cx="4188000" cy="12636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Clr>
                <a:schemeClr val="dk1"/>
              </a:buClr>
              <a:buSzPts val="1400"/>
              <a:buFont typeface="Average"/>
              <a:buChar char="➢"/>
            </a:pPr>
            <a:r>
              <a:rPr lang="en">
                <a:solidFill>
                  <a:schemeClr val="dk1"/>
                </a:solidFill>
                <a:latin typeface="Average"/>
                <a:ea typeface="Average"/>
                <a:cs typeface="Average"/>
                <a:sym typeface="Average"/>
              </a:rPr>
              <a:t>Once the impulse has traveled down the length of the axon, it reaches the </a:t>
            </a:r>
            <a:r>
              <a:rPr i="1" lang="en">
                <a:solidFill>
                  <a:schemeClr val="dk1"/>
                </a:solidFill>
                <a:latin typeface="Average"/>
                <a:ea typeface="Average"/>
                <a:cs typeface="Average"/>
                <a:sym typeface="Average"/>
              </a:rPr>
              <a:t>axon terminal</a:t>
            </a:r>
            <a:r>
              <a:rPr lang="en">
                <a:solidFill>
                  <a:schemeClr val="dk1"/>
                </a:solidFill>
                <a:latin typeface="Average"/>
                <a:ea typeface="Average"/>
                <a:cs typeface="Average"/>
                <a:sym typeface="Average"/>
              </a:rPr>
              <a:t>.</a:t>
            </a:r>
            <a:endParaRPr>
              <a:solidFill>
                <a:schemeClr val="dk1"/>
              </a:solidFill>
              <a:latin typeface="Average"/>
              <a:ea typeface="Average"/>
              <a:cs typeface="Average"/>
              <a:sym typeface="Average"/>
            </a:endParaRPr>
          </a:p>
          <a:p>
            <a:pPr indent="-317500" lvl="0" marL="457200" marR="0" rtl="0" algn="l">
              <a:lnSpc>
                <a:spcPct val="100000"/>
              </a:lnSpc>
              <a:spcBef>
                <a:spcPts val="100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The axon terminal is in close contact with the </a:t>
            </a:r>
            <a:r>
              <a:rPr b="0" i="1" lang="en" u="none" cap="none" strike="noStrike">
                <a:solidFill>
                  <a:schemeClr val="dk1"/>
                </a:solidFill>
                <a:latin typeface="Average"/>
                <a:ea typeface="Average"/>
                <a:cs typeface="Average"/>
                <a:sym typeface="Average"/>
              </a:rPr>
              <a:t>dendrites </a:t>
            </a:r>
            <a:r>
              <a:rPr b="0" i="0" lang="en" u="none" cap="none" strike="noStrike">
                <a:solidFill>
                  <a:schemeClr val="dk1"/>
                </a:solidFill>
                <a:latin typeface="Average"/>
                <a:ea typeface="Average"/>
                <a:cs typeface="Average"/>
                <a:sym typeface="Average"/>
              </a:rPr>
              <a:t>of another neuron.</a:t>
            </a:r>
            <a:endParaRPr/>
          </a:p>
          <a:p>
            <a:pPr indent="-317500" lvl="0" marL="457200" marR="0" rtl="0" algn="l">
              <a:lnSpc>
                <a:spcPct val="100000"/>
              </a:lnSpc>
              <a:spcBef>
                <a:spcPts val="148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For the signal to move to the next neuron, it must cross the space between the axon terminal and the dendrites of the subsequent cell; this space is referred to as the </a:t>
            </a:r>
            <a:r>
              <a:rPr b="0" i="1" lang="en" u="none" cap="none" strike="noStrike">
                <a:solidFill>
                  <a:schemeClr val="dk1"/>
                </a:solidFill>
                <a:latin typeface="Average"/>
                <a:ea typeface="Average"/>
                <a:cs typeface="Average"/>
                <a:sym typeface="Average"/>
              </a:rPr>
              <a:t>synapse.</a:t>
            </a:r>
            <a:endParaRPr/>
          </a:p>
        </p:txBody>
      </p:sp>
      <p:pic>
        <p:nvPicPr>
          <p:cNvPr id="478" name="Google Shape;478;p43"/>
          <p:cNvPicPr preferRelativeResize="0"/>
          <p:nvPr/>
        </p:nvPicPr>
        <p:blipFill rotWithShape="1">
          <a:blip r:embed="rId3">
            <a:alphaModFix/>
          </a:blip>
          <a:srcRect b="0" l="0" r="0" t="0"/>
          <a:stretch/>
        </p:blipFill>
        <p:spPr>
          <a:xfrm>
            <a:off x="5085175" y="1916313"/>
            <a:ext cx="2904375" cy="20298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4"/>
          <p:cNvSpPr txBox="1"/>
          <p:nvPr>
            <p:ph idx="4294967295" type="title"/>
          </p:nvPr>
        </p:nvSpPr>
        <p:spPr>
          <a:xfrm>
            <a:off x="6624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700" u="none" cap="none" strike="noStrike">
                <a:solidFill>
                  <a:schemeClr val="accent1"/>
                </a:solidFill>
                <a:latin typeface="Average"/>
                <a:ea typeface="Average"/>
                <a:cs typeface="Average"/>
                <a:sym typeface="Average"/>
              </a:rPr>
              <a:t>Neurotransmitter Release </a:t>
            </a:r>
            <a:endParaRPr sz="2700"/>
          </a:p>
        </p:txBody>
      </p:sp>
      <p:sp>
        <p:nvSpPr>
          <p:cNvPr id="484" name="Google Shape;484;p44"/>
          <p:cNvSpPr txBox="1"/>
          <p:nvPr/>
        </p:nvSpPr>
        <p:spPr>
          <a:xfrm>
            <a:off x="629075" y="1803125"/>
            <a:ext cx="4456800" cy="2853300"/>
          </a:xfrm>
          <a:prstGeom prst="rect">
            <a:avLst/>
          </a:prstGeom>
          <a:noFill/>
          <a:ln>
            <a:noFill/>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verage"/>
              <a:buAutoNum type="arabicPeriod"/>
            </a:pPr>
            <a:r>
              <a:rPr b="0" i="0" lang="en" u="none" cap="none" strike="noStrike">
                <a:solidFill>
                  <a:schemeClr val="dk1"/>
                </a:solidFill>
                <a:latin typeface="Average"/>
                <a:ea typeface="Average"/>
                <a:cs typeface="Average"/>
                <a:sym typeface="Average"/>
              </a:rPr>
              <a:t>An action potential reaches the axon terminal</a:t>
            </a:r>
            <a:endParaRPr/>
          </a:p>
          <a:p>
            <a:pPr indent="-317500" lvl="0" marL="457200" marR="0" rtl="0" algn="l">
              <a:lnSpc>
                <a:spcPct val="100000"/>
              </a:lnSpc>
              <a:spcBef>
                <a:spcPts val="1480"/>
              </a:spcBef>
              <a:spcAft>
                <a:spcPts val="0"/>
              </a:spcAft>
              <a:buClr>
                <a:schemeClr val="dk1"/>
              </a:buClr>
              <a:buSzPts val="1400"/>
              <a:buFont typeface="Average"/>
              <a:buAutoNum type="arabicPeriod"/>
            </a:pPr>
            <a:r>
              <a:rPr b="0" i="0" lang="en" u="none" cap="none" strike="noStrike">
                <a:solidFill>
                  <a:schemeClr val="dk1"/>
                </a:solidFill>
                <a:latin typeface="Average"/>
                <a:ea typeface="Average"/>
                <a:cs typeface="Average"/>
                <a:sym typeface="Average"/>
              </a:rPr>
              <a:t>Calcium channel “gates” within the axon terminal open, causing calcium ions to flow into the cell </a:t>
            </a:r>
            <a:endParaRPr/>
          </a:p>
          <a:p>
            <a:pPr indent="-317500" lvl="0" marL="457200" marR="0" rtl="0" algn="l">
              <a:lnSpc>
                <a:spcPct val="100000"/>
              </a:lnSpc>
              <a:spcBef>
                <a:spcPts val="1480"/>
              </a:spcBef>
              <a:spcAft>
                <a:spcPts val="0"/>
              </a:spcAft>
              <a:buClr>
                <a:schemeClr val="dk1"/>
              </a:buClr>
              <a:buSzPts val="1400"/>
              <a:buFont typeface="Average"/>
              <a:buAutoNum type="arabicPeriod"/>
            </a:pPr>
            <a:r>
              <a:rPr lang="en">
                <a:solidFill>
                  <a:schemeClr val="dk1"/>
                </a:solidFill>
                <a:latin typeface="Average"/>
                <a:ea typeface="Average"/>
                <a:cs typeface="Average"/>
                <a:sym typeface="Average"/>
              </a:rPr>
              <a:t>Calcium ions trigger the movement and fusing of the vesicles with the </a:t>
            </a:r>
            <a:r>
              <a:rPr b="1" lang="en">
                <a:solidFill>
                  <a:schemeClr val="dk1"/>
                </a:solidFill>
                <a:latin typeface="Average"/>
                <a:ea typeface="Average"/>
                <a:cs typeface="Average"/>
                <a:sym typeface="Average"/>
              </a:rPr>
              <a:t>presynaptic membrane</a:t>
            </a:r>
            <a:r>
              <a:rPr lang="en">
                <a:solidFill>
                  <a:schemeClr val="dk1"/>
                </a:solidFill>
                <a:latin typeface="Average"/>
                <a:ea typeface="Average"/>
                <a:cs typeface="Average"/>
                <a:sym typeface="Average"/>
              </a:rPr>
              <a:t> (exocytosis). In turn, neurotransmitters are released into the synapse.</a:t>
            </a:r>
            <a:endParaRPr/>
          </a:p>
          <a:p>
            <a:pPr indent="-317500" lvl="0" marL="457200" marR="0" rtl="0" algn="l">
              <a:lnSpc>
                <a:spcPct val="100000"/>
              </a:lnSpc>
              <a:spcBef>
                <a:spcPts val="1480"/>
              </a:spcBef>
              <a:spcAft>
                <a:spcPts val="0"/>
              </a:spcAft>
              <a:buClr>
                <a:schemeClr val="dk1"/>
              </a:buClr>
              <a:buSzPts val="1400"/>
              <a:buFont typeface="Average"/>
              <a:buAutoNum type="arabicPeriod"/>
            </a:pPr>
            <a:r>
              <a:rPr b="0" i="0" lang="en" u="none" cap="none" strike="noStrike">
                <a:solidFill>
                  <a:schemeClr val="dk1"/>
                </a:solidFill>
                <a:latin typeface="Average"/>
                <a:ea typeface="Average"/>
                <a:cs typeface="Average"/>
                <a:sym typeface="Average"/>
              </a:rPr>
              <a:t>Neurotransmitters </a:t>
            </a:r>
            <a:r>
              <a:rPr b="1" i="0" lang="en" u="none" cap="none" strike="noStrike">
                <a:solidFill>
                  <a:schemeClr val="dk1"/>
                </a:solidFill>
                <a:latin typeface="Average"/>
                <a:ea typeface="Average"/>
                <a:cs typeface="Average"/>
                <a:sym typeface="Average"/>
              </a:rPr>
              <a:t>diffuse</a:t>
            </a:r>
            <a:r>
              <a:rPr b="0" i="0" lang="en" u="none" cap="none" strike="noStrike">
                <a:solidFill>
                  <a:schemeClr val="dk1"/>
                </a:solidFill>
                <a:latin typeface="Average"/>
                <a:ea typeface="Average"/>
                <a:cs typeface="Average"/>
                <a:sym typeface="Average"/>
              </a:rPr>
              <a:t> across the synaptic cleft to the </a:t>
            </a:r>
            <a:r>
              <a:rPr b="1" i="1" lang="en" u="none" cap="none" strike="noStrike">
                <a:solidFill>
                  <a:schemeClr val="dk1"/>
                </a:solidFill>
                <a:latin typeface="Average"/>
                <a:ea typeface="Average"/>
                <a:cs typeface="Average"/>
                <a:sym typeface="Average"/>
              </a:rPr>
              <a:t>post-synaptic membrane</a:t>
            </a:r>
            <a:endParaRPr b="1" i="1"/>
          </a:p>
        </p:txBody>
      </p:sp>
      <p:sp>
        <p:nvSpPr>
          <p:cNvPr id="485" name="Google Shape;485;p44"/>
          <p:cNvSpPr txBox="1"/>
          <p:nvPr>
            <p:ph idx="4294967295" type="body"/>
          </p:nvPr>
        </p:nvSpPr>
        <p:spPr>
          <a:xfrm>
            <a:off x="651350" y="1056950"/>
            <a:ext cx="75390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1" i="0" lang="en" sz="1700" u="none" cap="none" strike="noStrike">
                <a:solidFill>
                  <a:srgbClr val="000000"/>
                </a:solidFill>
                <a:latin typeface="Average"/>
                <a:ea typeface="Average"/>
                <a:cs typeface="Average"/>
                <a:sym typeface="Average"/>
              </a:rPr>
              <a:t>Neurotransmitters</a:t>
            </a:r>
            <a:r>
              <a:rPr b="0" i="0" lang="en" sz="1700" u="none" cap="none" strike="noStrike">
                <a:solidFill>
                  <a:srgbClr val="000000"/>
                </a:solidFill>
                <a:latin typeface="Average"/>
                <a:ea typeface="Average"/>
                <a:cs typeface="Average"/>
                <a:sym typeface="Average"/>
              </a:rPr>
              <a:t> are required to help </a:t>
            </a:r>
            <a:r>
              <a:rPr lang="en" sz="1700">
                <a:solidFill>
                  <a:srgbClr val="000000"/>
                </a:solidFill>
                <a:latin typeface="Average"/>
                <a:ea typeface="Average"/>
                <a:cs typeface="Average"/>
                <a:sym typeface="Average"/>
              </a:rPr>
              <a:t>transmit </a:t>
            </a:r>
            <a:r>
              <a:rPr b="0" i="0" lang="en" sz="1700" u="none" cap="none" strike="noStrike">
                <a:solidFill>
                  <a:srgbClr val="000000"/>
                </a:solidFill>
                <a:latin typeface="Average"/>
                <a:ea typeface="Average"/>
                <a:cs typeface="Average"/>
                <a:sym typeface="Average"/>
              </a:rPr>
              <a:t>the electrical impulse from one neuron to another. The</a:t>
            </a:r>
            <a:r>
              <a:rPr lang="en" sz="1700">
                <a:solidFill>
                  <a:srgbClr val="000000"/>
                </a:solidFill>
                <a:latin typeface="Average"/>
                <a:ea typeface="Average"/>
                <a:cs typeface="Average"/>
                <a:sym typeface="Average"/>
              </a:rPr>
              <a:t>se are stored in vesicles in the axon bulb.</a:t>
            </a:r>
            <a:endParaRPr sz="1700"/>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486" name="Google Shape;486;p44"/>
          <p:cNvPicPr preferRelativeResize="0"/>
          <p:nvPr/>
        </p:nvPicPr>
        <p:blipFill rotWithShape="1">
          <a:blip r:embed="rId3">
            <a:alphaModFix/>
          </a:blip>
          <a:srcRect b="0" l="0" r="30483" t="0"/>
          <a:stretch/>
        </p:blipFill>
        <p:spPr>
          <a:xfrm>
            <a:off x="5190775" y="1932800"/>
            <a:ext cx="3106551" cy="24516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5"/>
          <p:cNvSpPr txBox="1"/>
          <p:nvPr>
            <p:ph idx="4294967295" type="title"/>
          </p:nvPr>
        </p:nvSpPr>
        <p:spPr>
          <a:xfrm>
            <a:off x="662490" y="6183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700" u="none" cap="none" strike="noStrike">
                <a:solidFill>
                  <a:schemeClr val="accent1"/>
                </a:solidFill>
                <a:latin typeface="Average"/>
                <a:ea typeface="Average"/>
                <a:cs typeface="Average"/>
                <a:sym typeface="Average"/>
              </a:rPr>
              <a:t>Neurotransmitter Binding</a:t>
            </a:r>
            <a:endParaRPr sz="2700"/>
          </a:p>
        </p:txBody>
      </p:sp>
      <p:sp>
        <p:nvSpPr>
          <p:cNvPr id="492" name="Google Shape;492;p45"/>
          <p:cNvSpPr txBox="1"/>
          <p:nvPr/>
        </p:nvSpPr>
        <p:spPr>
          <a:xfrm>
            <a:off x="552875" y="1269725"/>
            <a:ext cx="4188600" cy="3381900"/>
          </a:xfrm>
          <a:prstGeom prst="rect">
            <a:avLst/>
          </a:prstGeom>
          <a:noFill/>
          <a:ln>
            <a:noFill/>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verage"/>
              <a:buAutoNum type="arabicPeriod" startAt="5"/>
            </a:pPr>
            <a:r>
              <a:rPr b="0" i="0" lang="en" u="none" cap="none" strike="noStrike">
                <a:solidFill>
                  <a:schemeClr val="dk1"/>
                </a:solidFill>
                <a:latin typeface="Average"/>
                <a:ea typeface="Average"/>
                <a:cs typeface="Average"/>
                <a:sym typeface="Average"/>
              </a:rPr>
              <a:t>Once neurotransmitters have reached the post-synaptic membrane, they bind with receptors embedded in the membrane </a:t>
            </a:r>
            <a:endParaRPr/>
          </a:p>
          <a:p>
            <a:pPr indent="-317500" lvl="0" marL="457200" marR="0" rtl="0" algn="l">
              <a:lnSpc>
                <a:spcPct val="100000"/>
              </a:lnSpc>
              <a:spcBef>
                <a:spcPts val="1480"/>
              </a:spcBef>
              <a:spcAft>
                <a:spcPts val="0"/>
              </a:spcAft>
              <a:buClr>
                <a:schemeClr val="dk1"/>
              </a:buClr>
              <a:buSzPts val="1400"/>
              <a:buFont typeface="Average"/>
              <a:buAutoNum type="arabicPeriod" startAt="5"/>
            </a:pPr>
            <a:r>
              <a:rPr lang="en">
                <a:solidFill>
                  <a:schemeClr val="dk1"/>
                </a:solidFill>
                <a:latin typeface="Average"/>
                <a:ea typeface="Average"/>
                <a:cs typeface="Average"/>
                <a:sym typeface="Average"/>
              </a:rPr>
              <a:t>If the neurotransmitter is excitatory, b</a:t>
            </a:r>
            <a:r>
              <a:rPr b="0" i="0" lang="en" u="none" cap="none" strike="noStrike">
                <a:solidFill>
                  <a:schemeClr val="dk1"/>
                </a:solidFill>
                <a:latin typeface="Average"/>
                <a:ea typeface="Average"/>
                <a:cs typeface="Average"/>
                <a:sym typeface="Average"/>
              </a:rPr>
              <a:t>inding induces an action potential in the </a:t>
            </a:r>
            <a:r>
              <a:rPr lang="en">
                <a:solidFill>
                  <a:schemeClr val="dk1"/>
                </a:solidFill>
                <a:latin typeface="Average"/>
                <a:ea typeface="Average"/>
                <a:cs typeface="Average"/>
                <a:sym typeface="Average"/>
              </a:rPr>
              <a:t>postsynaptic</a:t>
            </a:r>
            <a:r>
              <a:rPr b="0" i="0" lang="en" u="none" cap="none" strike="noStrike">
                <a:solidFill>
                  <a:schemeClr val="dk1"/>
                </a:solidFill>
                <a:latin typeface="Average"/>
                <a:ea typeface="Average"/>
                <a:cs typeface="Average"/>
                <a:sym typeface="Average"/>
              </a:rPr>
              <a:t> neuron</a:t>
            </a:r>
            <a:endParaRPr/>
          </a:p>
          <a:p>
            <a:pPr indent="-317500" lvl="0" marL="457200" marR="0" rtl="0" algn="l">
              <a:lnSpc>
                <a:spcPct val="100000"/>
              </a:lnSpc>
              <a:spcBef>
                <a:spcPts val="1480"/>
              </a:spcBef>
              <a:spcAft>
                <a:spcPts val="0"/>
              </a:spcAft>
              <a:buClr>
                <a:schemeClr val="dk1"/>
              </a:buClr>
              <a:buSzPts val="1400"/>
              <a:buFont typeface="Average"/>
              <a:buAutoNum type="arabicPeriod" startAt="5"/>
            </a:pPr>
            <a:r>
              <a:rPr b="0" i="0" lang="en" u="none" cap="none" strike="noStrike">
                <a:solidFill>
                  <a:schemeClr val="dk1"/>
                </a:solidFill>
                <a:latin typeface="Average"/>
                <a:ea typeface="Average"/>
                <a:cs typeface="Average"/>
                <a:sym typeface="Average"/>
              </a:rPr>
              <a:t>Neurotransmitters are then released by the receptors and either return to the presynaptic neuron or are broken down by </a:t>
            </a:r>
            <a:r>
              <a:rPr lang="en">
                <a:solidFill>
                  <a:schemeClr val="dk1"/>
                </a:solidFill>
                <a:latin typeface="Average"/>
                <a:ea typeface="Average"/>
                <a:cs typeface="Average"/>
                <a:sym typeface="Average"/>
              </a:rPr>
              <a:t>enzymes such as </a:t>
            </a:r>
            <a:r>
              <a:rPr b="0" i="0" lang="en" u="none" cap="none" strike="noStrike">
                <a:solidFill>
                  <a:schemeClr val="dk1"/>
                </a:solidFill>
                <a:latin typeface="Average"/>
                <a:ea typeface="Average"/>
                <a:cs typeface="Average"/>
                <a:sym typeface="Average"/>
              </a:rPr>
              <a:t>cholinesterase on the post-synaptic membrane</a:t>
            </a:r>
            <a:endParaRPr/>
          </a:p>
        </p:txBody>
      </p:sp>
      <p:pic>
        <p:nvPicPr>
          <p:cNvPr id="493" name="Google Shape;493;p45"/>
          <p:cNvPicPr preferRelativeResize="0"/>
          <p:nvPr/>
        </p:nvPicPr>
        <p:blipFill rotWithShape="1">
          <a:blip r:embed="rId3">
            <a:alphaModFix/>
          </a:blip>
          <a:srcRect b="0" l="0" r="30483" t="0"/>
          <a:stretch/>
        </p:blipFill>
        <p:spPr>
          <a:xfrm>
            <a:off x="4782575" y="1653675"/>
            <a:ext cx="3312250" cy="26139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6"/>
          <p:cNvSpPr txBox="1"/>
          <p:nvPr>
            <p:ph idx="4294967295" type="title"/>
          </p:nvPr>
        </p:nvSpPr>
        <p:spPr>
          <a:xfrm>
            <a:off x="662490" y="3135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sng" cap="none" strike="noStrike">
                <a:solidFill>
                  <a:schemeClr val="accent1"/>
                </a:solidFill>
                <a:latin typeface="Average"/>
                <a:ea typeface="Average"/>
                <a:cs typeface="Average"/>
                <a:sym typeface="Average"/>
              </a:rPr>
              <a:t>Neurotransmitter Types </a:t>
            </a:r>
            <a:endParaRPr u="sng"/>
          </a:p>
        </p:txBody>
      </p:sp>
      <p:sp>
        <p:nvSpPr>
          <p:cNvPr id="499" name="Google Shape;499;p46"/>
          <p:cNvSpPr txBox="1"/>
          <p:nvPr/>
        </p:nvSpPr>
        <p:spPr>
          <a:xfrm>
            <a:off x="597425" y="1591600"/>
            <a:ext cx="5514000" cy="38178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chemeClr val="dk1"/>
              </a:buClr>
              <a:buSzPts val="1800"/>
              <a:buFont typeface="Average"/>
              <a:buAutoNum type="arabicPeriod"/>
            </a:pPr>
            <a:r>
              <a:rPr b="1" i="0" lang="en" sz="1800" u="none" cap="none" strike="noStrike">
                <a:solidFill>
                  <a:schemeClr val="dk1"/>
                </a:solidFill>
                <a:latin typeface="Average"/>
                <a:ea typeface="Average"/>
                <a:cs typeface="Average"/>
                <a:sym typeface="Average"/>
              </a:rPr>
              <a:t>Excitatory </a:t>
            </a:r>
            <a:r>
              <a:rPr b="1" i="0" lang="en" sz="1600" u="none" cap="none" strike="noStrike">
                <a:solidFill>
                  <a:schemeClr val="dk1"/>
                </a:solidFill>
                <a:latin typeface="Average"/>
                <a:ea typeface="Average"/>
                <a:cs typeface="Average"/>
                <a:sym typeface="Average"/>
              </a:rPr>
              <a:t>(e.</a:t>
            </a:r>
            <a:r>
              <a:rPr b="1" lang="en" sz="1600">
                <a:solidFill>
                  <a:schemeClr val="dk1"/>
                </a:solidFill>
                <a:latin typeface="Average"/>
                <a:ea typeface="Average"/>
                <a:cs typeface="Average"/>
                <a:sym typeface="Average"/>
              </a:rPr>
              <a:t>g. </a:t>
            </a:r>
            <a:r>
              <a:rPr b="1" i="0" lang="en" sz="1600" u="none" cap="none" strike="noStrike">
                <a:solidFill>
                  <a:schemeClr val="dk1"/>
                </a:solidFill>
                <a:latin typeface="Average"/>
                <a:ea typeface="Average"/>
                <a:cs typeface="Average"/>
                <a:sym typeface="Average"/>
              </a:rPr>
              <a:t>glutamate, acetylcholine, epinephrine)</a:t>
            </a:r>
            <a:endParaRPr sz="1200"/>
          </a:p>
          <a:p>
            <a:pPr indent="-298450" lvl="0" marL="457200" marR="0" rtl="0" algn="l">
              <a:lnSpc>
                <a:spcPct val="100000"/>
              </a:lnSpc>
              <a:spcBef>
                <a:spcPts val="1000"/>
              </a:spcBef>
              <a:spcAft>
                <a:spcPts val="0"/>
              </a:spcAft>
              <a:buClr>
                <a:schemeClr val="dk1"/>
              </a:buClr>
              <a:buSzPts val="1100"/>
              <a:buFont typeface="Average"/>
              <a:buChar char="●"/>
            </a:pPr>
            <a:r>
              <a:rPr b="0" i="0" lang="en" sz="1100" u="none" cap="none" strike="noStrike">
                <a:solidFill>
                  <a:schemeClr val="dk1"/>
                </a:solidFill>
                <a:latin typeface="Average"/>
                <a:ea typeface="Average"/>
                <a:cs typeface="Average"/>
                <a:sym typeface="Average"/>
              </a:rPr>
              <a:t>cause the sodium channels of the post-synaptic membrane to open and sodium to flow in, resulting in slight depolarization of the membrane and </a:t>
            </a:r>
            <a:r>
              <a:rPr b="1" i="0" lang="en" sz="1100" u="none" cap="none" strike="noStrike">
                <a:solidFill>
                  <a:schemeClr val="dk1"/>
                </a:solidFill>
                <a:latin typeface="Average"/>
                <a:ea typeface="Average"/>
                <a:cs typeface="Average"/>
                <a:sym typeface="Average"/>
              </a:rPr>
              <a:t>lowering the threshold </a:t>
            </a:r>
            <a:r>
              <a:rPr b="1" lang="en" sz="1100">
                <a:solidFill>
                  <a:schemeClr val="dk1"/>
                </a:solidFill>
                <a:latin typeface="Average"/>
                <a:ea typeface="Average"/>
                <a:cs typeface="Average"/>
                <a:sym typeface="Average"/>
              </a:rPr>
              <a:t>potential</a:t>
            </a:r>
            <a:r>
              <a:rPr b="1" i="0" lang="en" sz="1100" u="none" cap="none" strike="noStrike">
                <a:solidFill>
                  <a:schemeClr val="dk1"/>
                </a:solidFill>
                <a:latin typeface="Average"/>
                <a:ea typeface="Average"/>
                <a:cs typeface="Average"/>
                <a:sym typeface="Average"/>
              </a:rPr>
              <a:t> </a:t>
            </a:r>
            <a:r>
              <a:rPr b="0" i="0" lang="en" sz="1100" u="none" cap="none" strike="noStrike">
                <a:solidFill>
                  <a:schemeClr val="dk1"/>
                </a:solidFill>
                <a:latin typeface="Average"/>
                <a:ea typeface="Average"/>
                <a:cs typeface="Average"/>
                <a:sym typeface="Average"/>
              </a:rPr>
              <a:t>of the post-synaptic neuron </a:t>
            </a:r>
            <a:endParaRPr sz="1100"/>
          </a:p>
          <a:p>
            <a:pPr indent="-298450" lvl="2" marL="914400" marR="0" rtl="0" algn="l">
              <a:lnSpc>
                <a:spcPct val="100000"/>
              </a:lnSpc>
              <a:spcBef>
                <a:spcPts val="1000"/>
              </a:spcBef>
              <a:spcAft>
                <a:spcPts val="0"/>
              </a:spcAft>
              <a:buClr>
                <a:schemeClr val="dk1"/>
              </a:buClr>
              <a:buSzPts val="1100"/>
              <a:buFont typeface="Average"/>
              <a:buChar char="■"/>
            </a:pPr>
            <a:r>
              <a:rPr b="0" i="0" lang="en" sz="1100" u="none" cap="none" strike="noStrike">
                <a:solidFill>
                  <a:schemeClr val="dk1"/>
                </a:solidFill>
                <a:latin typeface="Average"/>
                <a:ea typeface="Average"/>
                <a:cs typeface="Average"/>
                <a:sym typeface="Average"/>
              </a:rPr>
              <a:t>e.g. acetylcholine is a neurotransmitter found in muscle cells; it excites the muscle membrane, causing depolarization and contraction of the muscle fibre</a:t>
            </a:r>
            <a:endParaRPr sz="1100"/>
          </a:p>
          <a:p>
            <a:pPr indent="-298450" lvl="2" marL="914400" marR="0" rtl="0" algn="l">
              <a:lnSpc>
                <a:spcPct val="100000"/>
              </a:lnSpc>
              <a:spcBef>
                <a:spcPts val="1000"/>
              </a:spcBef>
              <a:spcAft>
                <a:spcPts val="0"/>
              </a:spcAft>
              <a:buClr>
                <a:schemeClr val="dk1"/>
              </a:buClr>
              <a:buSzPts val="1100"/>
              <a:buFont typeface="Average"/>
              <a:buChar char="■"/>
            </a:pPr>
            <a:r>
              <a:rPr b="1" lang="en" sz="1100">
                <a:solidFill>
                  <a:schemeClr val="dk1"/>
                </a:solidFill>
                <a:latin typeface="Average"/>
                <a:ea typeface="Average"/>
                <a:cs typeface="Average"/>
                <a:sym typeface="Average"/>
              </a:rPr>
              <a:t>C</a:t>
            </a:r>
            <a:r>
              <a:rPr b="1" i="0" lang="en" sz="1100" u="none" cap="none" strike="noStrike">
                <a:solidFill>
                  <a:schemeClr val="dk1"/>
                </a:solidFill>
                <a:latin typeface="Average"/>
                <a:ea typeface="Average"/>
                <a:cs typeface="Average"/>
                <a:sym typeface="Average"/>
              </a:rPr>
              <a:t>holinesterase </a:t>
            </a:r>
            <a:r>
              <a:rPr lang="en" sz="1100">
                <a:solidFill>
                  <a:schemeClr val="dk1"/>
                </a:solidFill>
                <a:latin typeface="Average"/>
                <a:ea typeface="Average"/>
                <a:cs typeface="Average"/>
                <a:sym typeface="Average"/>
              </a:rPr>
              <a:t>(an enzyme)</a:t>
            </a:r>
            <a:r>
              <a:rPr b="0" i="0" lang="en" sz="1100" u="none" cap="none" strike="noStrike">
                <a:solidFill>
                  <a:schemeClr val="dk1"/>
                </a:solidFill>
                <a:latin typeface="Average"/>
                <a:ea typeface="Average"/>
                <a:cs typeface="Average"/>
                <a:sym typeface="Average"/>
              </a:rPr>
              <a:t> is required to break down acetylcholine after the action potential has occurred</a:t>
            </a:r>
            <a:endParaRPr sz="1100"/>
          </a:p>
          <a:p>
            <a:pPr indent="0" lvl="0" marL="457200" marR="0" rtl="0" algn="l">
              <a:lnSpc>
                <a:spcPct val="100000"/>
              </a:lnSpc>
              <a:spcBef>
                <a:spcPts val="1000"/>
              </a:spcBef>
              <a:spcAft>
                <a:spcPts val="0"/>
              </a:spcAft>
              <a:buNone/>
            </a:pPr>
            <a:r>
              <a:t/>
            </a:r>
            <a:endParaRPr b="0" i="0" sz="1100" u="none" cap="none" strike="noStrike">
              <a:solidFill>
                <a:schemeClr val="dk1"/>
              </a:solidFill>
              <a:latin typeface="Average"/>
              <a:ea typeface="Average"/>
              <a:cs typeface="Average"/>
              <a:sym typeface="Average"/>
            </a:endParaRPr>
          </a:p>
          <a:p>
            <a:pPr indent="-298450" lvl="0" marL="457200" marR="0" rtl="0" algn="l">
              <a:lnSpc>
                <a:spcPct val="100000"/>
              </a:lnSpc>
              <a:spcBef>
                <a:spcPts val="1000"/>
              </a:spcBef>
              <a:spcAft>
                <a:spcPts val="0"/>
              </a:spcAft>
              <a:buClr>
                <a:schemeClr val="dk1"/>
              </a:buClr>
              <a:buSzPts val="1100"/>
              <a:buFont typeface="Average"/>
              <a:buChar char="●"/>
            </a:pPr>
            <a:r>
              <a:rPr lang="en" sz="1100">
                <a:solidFill>
                  <a:schemeClr val="dk1"/>
                </a:solidFill>
                <a:latin typeface="Average"/>
                <a:ea typeface="Average"/>
                <a:cs typeface="Average"/>
                <a:sym typeface="Average"/>
              </a:rPr>
              <a:t>Often when more than one neuron fires at the same time, a sufficient amount of neurotransmitter is released to cause depolarization of the postsynaptic membrane. The production of an action potential as a result is referred to as </a:t>
            </a:r>
            <a:r>
              <a:rPr b="1" i="1" lang="en" sz="1100">
                <a:solidFill>
                  <a:schemeClr val="dk1"/>
                </a:solidFill>
                <a:latin typeface="Average"/>
                <a:ea typeface="Average"/>
                <a:cs typeface="Average"/>
                <a:sym typeface="Average"/>
              </a:rPr>
              <a:t>summation</a:t>
            </a:r>
            <a:endParaRPr b="1" i="1" sz="1100">
              <a:solidFill>
                <a:schemeClr val="dk1"/>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0" i="0" sz="1500" u="none" cap="none" strike="noStrike">
              <a:solidFill>
                <a:schemeClr val="dk1"/>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1" i="0" sz="1500" u="none" cap="none" strike="noStrike">
              <a:solidFill>
                <a:schemeClr val="dk1"/>
              </a:solidFill>
              <a:latin typeface="Average"/>
              <a:ea typeface="Average"/>
              <a:cs typeface="Average"/>
              <a:sym typeface="Average"/>
            </a:endParaRPr>
          </a:p>
        </p:txBody>
      </p:sp>
      <p:sp>
        <p:nvSpPr>
          <p:cNvPr id="500" name="Google Shape;500;p46"/>
          <p:cNvSpPr txBox="1"/>
          <p:nvPr>
            <p:ph idx="4294967295" type="body"/>
          </p:nvPr>
        </p:nvSpPr>
        <p:spPr>
          <a:xfrm>
            <a:off x="651350" y="1056950"/>
            <a:ext cx="79248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0" i="0" lang="en" sz="1700" u="none" cap="none" strike="noStrike">
                <a:solidFill>
                  <a:srgbClr val="000000"/>
                </a:solidFill>
                <a:latin typeface="Average"/>
                <a:ea typeface="Average"/>
                <a:cs typeface="Average"/>
                <a:sym typeface="Average"/>
              </a:rPr>
              <a:t>There are two main types of neurotransmitters:</a:t>
            </a:r>
            <a:endParaRPr sz="1700"/>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501" name="Google Shape;501;p46"/>
          <p:cNvPicPr preferRelativeResize="0"/>
          <p:nvPr/>
        </p:nvPicPr>
        <p:blipFill rotWithShape="1">
          <a:blip r:embed="rId3">
            <a:alphaModFix/>
          </a:blip>
          <a:srcRect b="0" l="0" r="0" t="0"/>
          <a:stretch/>
        </p:blipFill>
        <p:spPr>
          <a:xfrm>
            <a:off x="6380397" y="898722"/>
            <a:ext cx="1717474" cy="1717499"/>
          </a:xfrm>
          <a:prstGeom prst="rect">
            <a:avLst/>
          </a:prstGeom>
          <a:noFill/>
          <a:ln>
            <a:noFill/>
          </a:ln>
        </p:spPr>
      </p:pic>
      <p:pic>
        <p:nvPicPr>
          <p:cNvPr id="502" name="Google Shape;502;p46"/>
          <p:cNvPicPr preferRelativeResize="0"/>
          <p:nvPr/>
        </p:nvPicPr>
        <p:blipFill rotWithShape="1">
          <a:blip r:embed="rId4">
            <a:alphaModFix/>
          </a:blip>
          <a:srcRect b="0" l="15730" r="17952" t="0"/>
          <a:stretch/>
        </p:blipFill>
        <p:spPr>
          <a:xfrm>
            <a:off x="6111425" y="2397325"/>
            <a:ext cx="978950" cy="1105650"/>
          </a:xfrm>
          <a:prstGeom prst="rect">
            <a:avLst/>
          </a:prstGeom>
          <a:noFill/>
          <a:ln>
            <a:noFill/>
          </a:ln>
        </p:spPr>
      </p:pic>
      <p:sp>
        <p:nvSpPr>
          <p:cNvPr id="503" name="Google Shape;503;p46"/>
          <p:cNvSpPr txBox="1"/>
          <p:nvPr/>
        </p:nvSpPr>
        <p:spPr>
          <a:xfrm>
            <a:off x="6915650" y="2661275"/>
            <a:ext cx="1660500" cy="1370100"/>
          </a:xfrm>
          <a:prstGeom prst="rect">
            <a:avLst/>
          </a:prstGeom>
          <a:solidFill>
            <a:srgbClr val="FEFEFE"/>
          </a:solid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en" sz="1000">
                <a:solidFill>
                  <a:schemeClr val="dk1"/>
                </a:solidFill>
                <a:latin typeface="Average"/>
                <a:ea typeface="Average"/>
                <a:cs typeface="Average"/>
                <a:sym typeface="Average"/>
              </a:rPr>
              <a:t>…insecticides and sarin nerve gas work by blocking the release of cholinesterase, causing muscles to remain in a state of constant contraction</a:t>
            </a:r>
            <a:endParaRPr sz="2300">
              <a:solidFill>
                <a:schemeClr val="dk2"/>
              </a:solidFill>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7"/>
          <p:cNvSpPr txBox="1"/>
          <p:nvPr>
            <p:ph idx="4294967295" type="title"/>
          </p:nvPr>
        </p:nvSpPr>
        <p:spPr>
          <a:xfrm>
            <a:off x="662490" y="5421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Neurotransmitter Types Cont’d </a:t>
            </a:r>
            <a:endParaRPr/>
          </a:p>
        </p:txBody>
      </p:sp>
      <p:sp>
        <p:nvSpPr>
          <p:cNvPr id="509" name="Google Shape;509;p47"/>
          <p:cNvSpPr txBox="1"/>
          <p:nvPr/>
        </p:nvSpPr>
        <p:spPr>
          <a:xfrm>
            <a:off x="629075" y="1325975"/>
            <a:ext cx="4922700" cy="41508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chemeClr val="dk1"/>
              </a:buClr>
              <a:buSzPts val="1800"/>
              <a:buFont typeface="Average"/>
              <a:buAutoNum type="arabicPeriod" startAt="2"/>
            </a:pPr>
            <a:r>
              <a:rPr b="1" i="0" lang="en" sz="1800" u="none" cap="none" strike="noStrike">
                <a:solidFill>
                  <a:schemeClr val="dk1"/>
                </a:solidFill>
                <a:latin typeface="Average"/>
                <a:ea typeface="Average"/>
                <a:cs typeface="Average"/>
                <a:sym typeface="Average"/>
              </a:rPr>
              <a:t>Inhibitory (e.</a:t>
            </a:r>
            <a:r>
              <a:rPr b="1" lang="en" sz="1800">
                <a:solidFill>
                  <a:schemeClr val="dk1"/>
                </a:solidFill>
                <a:latin typeface="Average"/>
                <a:ea typeface="Average"/>
                <a:cs typeface="Average"/>
                <a:sym typeface="Average"/>
              </a:rPr>
              <a:t>g. </a:t>
            </a:r>
            <a:r>
              <a:rPr b="1" i="0" lang="en" sz="1800" u="none" cap="none" strike="noStrike">
                <a:solidFill>
                  <a:schemeClr val="dk1"/>
                </a:solidFill>
                <a:latin typeface="Average"/>
                <a:ea typeface="Average"/>
                <a:cs typeface="Average"/>
                <a:sym typeface="Average"/>
              </a:rPr>
              <a:t>GABA</a:t>
            </a:r>
            <a:r>
              <a:rPr b="1" lang="en" sz="1800">
                <a:solidFill>
                  <a:schemeClr val="dk1"/>
                </a:solidFill>
                <a:latin typeface="Average"/>
                <a:ea typeface="Average"/>
                <a:cs typeface="Average"/>
                <a:sym typeface="Average"/>
              </a:rPr>
              <a:t>)</a:t>
            </a:r>
            <a:endParaRPr/>
          </a:p>
          <a:p>
            <a:pPr indent="-311150" lvl="0" marL="457200" marR="0" rtl="0" algn="l">
              <a:lnSpc>
                <a:spcPct val="100000"/>
              </a:lnSpc>
              <a:spcBef>
                <a:spcPts val="1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Trigger potassium channels to open, causing potassium ions to flow out and thus lowering the membrane potential.</a:t>
            </a:r>
            <a:endParaRPr/>
          </a:p>
          <a:p>
            <a:pPr indent="-311150" lvl="0" marL="457200" marR="0" rtl="0" algn="l">
              <a:lnSpc>
                <a:spcPct val="100000"/>
              </a:lnSpc>
              <a:spcBef>
                <a:spcPts val="1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This leads to </a:t>
            </a:r>
            <a:r>
              <a:rPr b="1" i="1" lang="en" sz="1300" u="none" cap="none" strike="noStrike">
                <a:solidFill>
                  <a:schemeClr val="dk1"/>
                </a:solidFill>
                <a:latin typeface="Average"/>
                <a:ea typeface="Average"/>
                <a:cs typeface="Average"/>
                <a:sym typeface="Average"/>
              </a:rPr>
              <a:t>hyperpolarization</a:t>
            </a:r>
            <a:r>
              <a:rPr b="0" i="0" lang="en" sz="1300" u="none" cap="none" strike="noStrike">
                <a:solidFill>
                  <a:schemeClr val="dk1"/>
                </a:solidFill>
                <a:latin typeface="Average"/>
                <a:ea typeface="Average"/>
                <a:cs typeface="Average"/>
                <a:sym typeface="Average"/>
              </a:rPr>
              <a:t>, making it more difficult to generate an action potential (because the threshold level has been increased)</a:t>
            </a:r>
            <a:endParaRPr/>
          </a:p>
          <a:p>
            <a:pPr indent="-311150" lvl="0" marL="457200" marR="0" rtl="0" algn="l">
              <a:lnSpc>
                <a:spcPct val="100000"/>
              </a:lnSpc>
              <a:spcBef>
                <a:spcPts val="1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Problems with GABA are often associated with epilepsy and Huntington’s disease</a:t>
            </a:r>
            <a:endParaRPr/>
          </a:p>
          <a:p>
            <a:pPr indent="0" lvl="0" marL="0" marR="0" rtl="0" algn="l">
              <a:lnSpc>
                <a:spcPct val="100000"/>
              </a:lnSpc>
              <a:spcBef>
                <a:spcPts val="1480"/>
              </a:spcBef>
              <a:spcAft>
                <a:spcPts val="0"/>
              </a:spcAft>
              <a:buClr>
                <a:srgbClr val="000000"/>
              </a:buClr>
              <a:buSzPts val="1500"/>
              <a:buFont typeface="Arial"/>
              <a:buNone/>
            </a:pPr>
            <a:r>
              <a:t/>
            </a:r>
            <a:endParaRPr b="0" i="0" sz="1500" u="none" cap="none" strike="noStrike">
              <a:solidFill>
                <a:schemeClr val="dk1"/>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1" i="0" sz="1500" u="none" cap="none" strike="noStrike">
              <a:solidFill>
                <a:schemeClr val="dk1"/>
              </a:solidFill>
              <a:latin typeface="Average"/>
              <a:ea typeface="Average"/>
              <a:cs typeface="Average"/>
              <a:sym typeface="Average"/>
            </a:endParaRPr>
          </a:p>
        </p:txBody>
      </p:sp>
      <p:pic>
        <p:nvPicPr>
          <p:cNvPr id="510" name="Google Shape;510;p47"/>
          <p:cNvPicPr preferRelativeResize="0"/>
          <p:nvPr/>
        </p:nvPicPr>
        <p:blipFill rotWithShape="1">
          <a:blip r:embed="rId3">
            <a:alphaModFix/>
          </a:blip>
          <a:srcRect b="0" l="0" r="0" t="0"/>
          <a:stretch/>
        </p:blipFill>
        <p:spPr>
          <a:xfrm>
            <a:off x="5803625" y="2030425"/>
            <a:ext cx="2466925" cy="1685724"/>
          </a:xfrm>
          <a:prstGeom prst="rect">
            <a:avLst/>
          </a:prstGeom>
          <a:noFill/>
          <a:ln cap="flat" cmpd="sng" w="19050">
            <a:solidFill>
              <a:srgbClr val="999999"/>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8"/>
          <p:cNvSpPr txBox="1"/>
          <p:nvPr/>
        </p:nvSpPr>
        <p:spPr>
          <a:xfrm>
            <a:off x="423825" y="639300"/>
            <a:ext cx="8378100" cy="572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900" u="sng">
                <a:solidFill>
                  <a:srgbClr val="434343"/>
                </a:solidFill>
                <a:latin typeface="Average"/>
                <a:ea typeface="Average"/>
                <a:cs typeface="Average"/>
                <a:sym typeface="Average"/>
              </a:rPr>
              <a:t>Excitatory vs. Inhibitory Neurotransmitters</a:t>
            </a:r>
            <a:endParaRPr b="1" sz="2900" u="sng">
              <a:solidFill>
                <a:srgbClr val="434343"/>
              </a:solidFill>
              <a:latin typeface="Average"/>
              <a:ea typeface="Average"/>
              <a:cs typeface="Average"/>
              <a:sym typeface="Average"/>
            </a:endParaRPr>
          </a:p>
        </p:txBody>
      </p:sp>
      <p:graphicFrame>
        <p:nvGraphicFramePr>
          <p:cNvPr id="516" name="Google Shape;516;p48"/>
          <p:cNvGraphicFramePr/>
          <p:nvPr/>
        </p:nvGraphicFramePr>
        <p:xfrm>
          <a:off x="952500" y="1211400"/>
          <a:ext cx="3000000" cy="3000000"/>
        </p:xfrm>
        <a:graphic>
          <a:graphicData uri="http://schemas.openxmlformats.org/drawingml/2006/table">
            <a:tbl>
              <a:tblPr>
                <a:noFill/>
                <a:tableStyleId>{7C2E5EA4-41D9-4FD6-BFBA-0A56BD602EAD}</a:tableStyleId>
              </a:tblPr>
              <a:tblGrid>
                <a:gridCol w="3619500"/>
                <a:gridCol w="3619500"/>
              </a:tblGrid>
              <a:tr h="381000">
                <a:tc>
                  <a:txBody>
                    <a:bodyPr/>
                    <a:lstStyle/>
                    <a:p>
                      <a:pPr indent="0" lvl="0" marL="0" rtl="0" algn="ctr">
                        <a:spcBef>
                          <a:spcPts val="0"/>
                        </a:spcBef>
                        <a:spcAft>
                          <a:spcPts val="0"/>
                        </a:spcAft>
                        <a:buNone/>
                      </a:pPr>
                      <a:r>
                        <a:rPr b="1" lang="en" sz="1700">
                          <a:latin typeface="Average"/>
                          <a:ea typeface="Average"/>
                          <a:cs typeface="Average"/>
                          <a:sym typeface="Average"/>
                        </a:rPr>
                        <a:t>Excitatory</a:t>
                      </a:r>
                      <a:endParaRPr b="1" sz="1700">
                        <a:latin typeface="Average"/>
                        <a:ea typeface="Average"/>
                        <a:cs typeface="Average"/>
                        <a:sym typeface="Average"/>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b="1" lang="en" sz="1700">
                          <a:latin typeface="Average"/>
                          <a:ea typeface="Average"/>
                          <a:cs typeface="Average"/>
                          <a:sym typeface="Average"/>
                        </a:rPr>
                        <a:t>Inhibitory</a:t>
                      </a:r>
                      <a:endParaRPr b="1" sz="1700">
                        <a:latin typeface="Average"/>
                        <a:ea typeface="Average"/>
                        <a:cs typeface="Average"/>
                        <a:sym typeface="Average"/>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EFEFEF"/>
                    </a:solidFill>
                  </a:tcPr>
                </a:tc>
              </a:tr>
              <a:tr h="381000">
                <a:tc>
                  <a:txBody>
                    <a:bodyPr/>
                    <a:lstStyle/>
                    <a:p>
                      <a:pPr indent="0" lvl="0" marL="0" rtl="0" algn="l">
                        <a:spcBef>
                          <a:spcPts val="0"/>
                        </a:spcBef>
                        <a:spcAft>
                          <a:spcPts val="0"/>
                        </a:spcAft>
                        <a:buNone/>
                      </a:pPr>
                      <a:r>
                        <a:rPr lang="en" sz="1700">
                          <a:latin typeface="Average"/>
                          <a:ea typeface="Average"/>
                          <a:cs typeface="Average"/>
                          <a:sym typeface="Average"/>
                        </a:rPr>
                        <a:t>depolarize membranes by increasing permeability to Na+</a:t>
                      </a:r>
                      <a:endParaRPr sz="1700">
                        <a:latin typeface="Average"/>
                        <a:ea typeface="Average"/>
                        <a:cs typeface="Average"/>
                        <a:sym typeface="Average"/>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700">
                          <a:latin typeface="Average"/>
                          <a:ea typeface="Average"/>
                          <a:cs typeface="Average"/>
                          <a:sym typeface="Average"/>
                        </a:rPr>
                        <a:t>hyperpolarize membranes by increasing permeability to K+ or Cl-</a:t>
                      </a:r>
                      <a:endParaRPr sz="1700">
                        <a:latin typeface="Average"/>
                        <a:ea typeface="Average"/>
                        <a:cs typeface="Average"/>
                        <a:sym typeface="Average"/>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sz="1700">
                          <a:latin typeface="Average"/>
                          <a:ea typeface="Average"/>
                          <a:cs typeface="Average"/>
                          <a:sym typeface="Average"/>
                        </a:rPr>
                        <a:t>move membrane potential towards threshold (causes it to become more positive)</a:t>
                      </a:r>
                      <a:endParaRPr sz="1700">
                        <a:latin typeface="Average"/>
                        <a:ea typeface="Average"/>
                        <a:cs typeface="Average"/>
                        <a:sym typeface="Average"/>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700">
                          <a:latin typeface="Average"/>
                          <a:ea typeface="Average"/>
                          <a:cs typeface="Average"/>
                          <a:sym typeface="Average"/>
                        </a:rPr>
                        <a:t>move membrane potential away from threshold (causes it to become more negative)</a:t>
                      </a:r>
                      <a:endParaRPr sz="1700">
                        <a:latin typeface="Average"/>
                        <a:ea typeface="Average"/>
                        <a:cs typeface="Average"/>
                        <a:sym typeface="Average"/>
                      </a:endParaRPr>
                    </a:p>
                  </a:txBody>
                  <a:tcPr marT="91425" marB="91425" marR="91425" marL="91425">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FFFFFF"/>
                    </a:solidFill>
                  </a:tcPr>
                </a:tc>
              </a:tr>
            </a:tbl>
          </a:graphicData>
        </a:graphic>
      </p:graphicFrame>
      <p:pic>
        <p:nvPicPr>
          <p:cNvPr descr="Summary of excitatory vs inhibitory neurotransmitter action" id="517" name="Google Shape;517;p48" title="Excitatory vs. Inhibitory Neurotransmitters">
            <a:hlinkClick r:id="rId3"/>
          </p:cNvPr>
          <p:cNvPicPr preferRelativeResize="0"/>
          <p:nvPr/>
        </p:nvPicPr>
        <p:blipFill>
          <a:blip r:embed="rId4">
            <a:alphaModFix/>
          </a:blip>
          <a:stretch>
            <a:fillRect/>
          </a:stretch>
        </p:blipFill>
        <p:spPr>
          <a:xfrm>
            <a:off x="3206938" y="3394100"/>
            <a:ext cx="2730134" cy="153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9"/>
          <p:cNvSpPr txBox="1"/>
          <p:nvPr/>
        </p:nvSpPr>
        <p:spPr>
          <a:xfrm>
            <a:off x="648725" y="360275"/>
            <a:ext cx="3019800" cy="572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900" u="sng">
                <a:solidFill>
                  <a:srgbClr val="434343"/>
                </a:solidFill>
                <a:latin typeface="Average"/>
                <a:ea typeface="Average"/>
                <a:cs typeface="Average"/>
                <a:sym typeface="Average"/>
              </a:rPr>
              <a:t>Summation</a:t>
            </a:r>
            <a:endParaRPr b="1" sz="2900" u="sng">
              <a:solidFill>
                <a:srgbClr val="434343"/>
              </a:solidFill>
              <a:latin typeface="Average"/>
              <a:ea typeface="Average"/>
              <a:cs typeface="Average"/>
              <a:sym typeface="Average"/>
            </a:endParaRPr>
          </a:p>
        </p:txBody>
      </p:sp>
      <p:sp>
        <p:nvSpPr>
          <p:cNvPr id="523" name="Google Shape;523;p49"/>
          <p:cNvSpPr txBox="1"/>
          <p:nvPr/>
        </p:nvSpPr>
        <p:spPr>
          <a:xfrm>
            <a:off x="393875" y="1143000"/>
            <a:ext cx="3459900" cy="3096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Average"/>
              <a:buChar char="●"/>
            </a:pPr>
            <a:r>
              <a:rPr lang="en">
                <a:solidFill>
                  <a:schemeClr val="dk2"/>
                </a:solidFill>
                <a:latin typeface="Average"/>
                <a:ea typeface="Average"/>
                <a:cs typeface="Average"/>
                <a:sym typeface="Average"/>
              </a:rPr>
              <a:t>Summation is the process that determines whether or not an action potential will be generated by the combined effects of excitatory and inhibitory signals (threshold potential may or may not be reached).</a:t>
            </a:r>
            <a:endParaRPr>
              <a:solidFill>
                <a:schemeClr val="dk2"/>
              </a:solidFill>
              <a:latin typeface="Average"/>
              <a:ea typeface="Average"/>
              <a:cs typeface="Average"/>
              <a:sym typeface="Average"/>
            </a:endParaRPr>
          </a:p>
          <a:p>
            <a:pPr indent="-317500" lvl="1" marL="914400" rtl="0" algn="l">
              <a:spcBef>
                <a:spcPts val="0"/>
              </a:spcBef>
              <a:spcAft>
                <a:spcPts val="0"/>
              </a:spcAft>
              <a:buClr>
                <a:schemeClr val="dk2"/>
              </a:buClr>
              <a:buSzPts val="1400"/>
              <a:buFont typeface="Average"/>
              <a:buChar char="○"/>
            </a:pPr>
            <a:r>
              <a:rPr b="1" lang="en">
                <a:solidFill>
                  <a:schemeClr val="dk2"/>
                </a:solidFill>
                <a:latin typeface="Average"/>
                <a:ea typeface="Average"/>
                <a:cs typeface="Average"/>
                <a:sym typeface="Average"/>
              </a:rPr>
              <a:t>Spatial summation:</a:t>
            </a:r>
            <a:r>
              <a:rPr lang="en">
                <a:solidFill>
                  <a:schemeClr val="dk2"/>
                </a:solidFill>
                <a:latin typeface="Average"/>
                <a:ea typeface="Average"/>
                <a:cs typeface="Average"/>
                <a:sym typeface="Average"/>
              </a:rPr>
              <a:t> from multiple simultaneous inputs</a:t>
            </a:r>
            <a:endParaRPr>
              <a:solidFill>
                <a:schemeClr val="dk2"/>
              </a:solidFill>
              <a:latin typeface="Average"/>
              <a:ea typeface="Average"/>
              <a:cs typeface="Average"/>
              <a:sym typeface="Average"/>
            </a:endParaRPr>
          </a:p>
          <a:p>
            <a:pPr indent="-317500" lvl="1" marL="914400" rtl="0" algn="l">
              <a:spcBef>
                <a:spcPts val="0"/>
              </a:spcBef>
              <a:spcAft>
                <a:spcPts val="0"/>
              </a:spcAft>
              <a:buClr>
                <a:schemeClr val="dk2"/>
              </a:buClr>
              <a:buSzPts val="1400"/>
              <a:buFont typeface="Average"/>
              <a:buChar char="○"/>
            </a:pPr>
            <a:r>
              <a:rPr b="1" lang="en">
                <a:solidFill>
                  <a:schemeClr val="dk2"/>
                </a:solidFill>
                <a:latin typeface="Average"/>
                <a:ea typeface="Average"/>
                <a:cs typeface="Average"/>
                <a:sym typeface="Average"/>
              </a:rPr>
              <a:t>Temporal summation:</a:t>
            </a:r>
            <a:r>
              <a:rPr lang="en">
                <a:solidFill>
                  <a:schemeClr val="dk2"/>
                </a:solidFill>
                <a:latin typeface="Average"/>
                <a:ea typeface="Average"/>
                <a:cs typeface="Average"/>
                <a:sym typeface="Average"/>
              </a:rPr>
              <a:t> repeated inputs</a:t>
            </a:r>
            <a:endParaRPr>
              <a:solidFill>
                <a:schemeClr val="dk2"/>
              </a:solidFill>
              <a:latin typeface="Average"/>
              <a:ea typeface="Average"/>
              <a:cs typeface="Average"/>
              <a:sym typeface="Average"/>
            </a:endParaRPr>
          </a:p>
          <a:p>
            <a:pPr indent="0" lvl="0" marL="0" rtl="0" algn="l">
              <a:spcBef>
                <a:spcPts val="0"/>
              </a:spcBef>
              <a:spcAft>
                <a:spcPts val="0"/>
              </a:spcAft>
              <a:buNone/>
            </a:pPr>
            <a:r>
              <a:rPr lang="en">
                <a:solidFill>
                  <a:schemeClr val="dk2"/>
                </a:solidFill>
                <a:latin typeface="Average"/>
                <a:ea typeface="Average"/>
                <a:cs typeface="Average"/>
                <a:sym typeface="Average"/>
              </a:rPr>
              <a:t> </a:t>
            </a:r>
            <a:endParaRPr>
              <a:solidFill>
                <a:schemeClr val="dk2"/>
              </a:solidFill>
              <a:latin typeface="Average"/>
              <a:ea typeface="Average"/>
              <a:cs typeface="Average"/>
              <a:sym typeface="Average"/>
            </a:endParaRPr>
          </a:p>
        </p:txBody>
      </p:sp>
      <p:pic>
        <p:nvPicPr>
          <p:cNvPr id="524" name="Google Shape;524;p49"/>
          <p:cNvPicPr preferRelativeResize="0"/>
          <p:nvPr/>
        </p:nvPicPr>
        <p:blipFill>
          <a:blip r:embed="rId3">
            <a:alphaModFix/>
          </a:blip>
          <a:stretch>
            <a:fillRect/>
          </a:stretch>
        </p:blipFill>
        <p:spPr>
          <a:xfrm>
            <a:off x="3853775" y="1104375"/>
            <a:ext cx="5258511" cy="3096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graphicFrame>
        <p:nvGraphicFramePr>
          <p:cNvPr id="529" name="Google Shape;529;p50"/>
          <p:cNvGraphicFramePr/>
          <p:nvPr/>
        </p:nvGraphicFramePr>
        <p:xfrm>
          <a:off x="814900" y="1428750"/>
          <a:ext cx="3000000" cy="3000000"/>
        </p:xfrm>
        <a:graphic>
          <a:graphicData uri="http://schemas.openxmlformats.org/drawingml/2006/table">
            <a:tbl>
              <a:tblPr>
                <a:noFill/>
                <a:tableStyleId>{7C2E5EA4-41D9-4FD6-BFBA-0A56BD602EAD}</a:tableStyleId>
              </a:tblPr>
              <a:tblGrid>
                <a:gridCol w="1639175"/>
                <a:gridCol w="2557825"/>
                <a:gridCol w="1557200"/>
                <a:gridCol w="1955050"/>
              </a:tblGrid>
              <a:tr h="381000">
                <a:tc>
                  <a:txBody>
                    <a:bodyPr/>
                    <a:lstStyle/>
                    <a:p>
                      <a:pPr indent="0" lvl="0" marL="0" rtl="0" algn="ctr">
                        <a:spcBef>
                          <a:spcPts val="0"/>
                        </a:spcBef>
                        <a:spcAft>
                          <a:spcPts val="0"/>
                        </a:spcAft>
                        <a:buNone/>
                      </a:pPr>
                      <a:r>
                        <a:rPr b="1" lang="en">
                          <a:latin typeface="Average"/>
                          <a:ea typeface="Average"/>
                          <a:cs typeface="Average"/>
                          <a:sym typeface="Average"/>
                        </a:rPr>
                        <a:t>Neurotransmitter</a:t>
                      </a:r>
                      <a:endParaRPr b="1">
                        <a:latin typeface="Average"/>
                        <a:ea typeface="Average"/>
                        <a:cs typeface="Average"/>
                        <a:sym typeface="Average"/>
                      </a:endParaRPr>
                    </a:p>
                  </a:txBody>
                  <a:tcPr marT="91425" marB="91425" marR="91425" marL="91425">
                    <a:solidFill>
                      <a:srgbClr val="D9D9D9"/>
                    </a:solidFill>
                  </a:tcPr>
                </a:tc>
                <a:tc>
                  <a:txBody>
                    <a:bodyPr/>
                    <a:lstStyle/>
                    <a:p>
                      <a:pPr indent="0" lvl="0" marL="0" rtl="0" algn="ctr">
                        <a:spcBef>
                          <a:spcPts val="0"/>
                        </a:spcBef>
                        <a:spcAft>
                          <a:spcPts val="0"/>
                        </a:spcAft>
                        <a:buNone/>
                      </a:pPr>
                      <a:r>
                        <a:rPr b="1" lang="en">
                          <a:latin typeface="Average"/>
                          <a:ea typeface="Average"/>
                          <a:cs typeface="Average"/>
                          <a:sym typeface="Average"/>
                        </a:rPr>
                        <a:t>Action</a:t>
                      </a:r>
                      <a:endParaRPr b="1">
                        <a:latin typeface="Average"/>
                        <a:ea typeface="Average"/>
                        <a:cs typeface="Average"/>
                        <a:sym typeface="Average"/>
                      </a:endParaRPr>
                    </a:p>
                  </a:txBody>
                  <a:tcPr marT="91425" marB="91425" marR="91425" marL="91425">
                    <a:solidFill>
                      <a:srgbClr val="D9D9D9"/>
                    </a:solidFill>
                  </a:tcPr>
                </a:tc>
                <a:tc>
                  <a:txBody>
                    <a:bodyPr/>
                    <a:lstStyle/>
                    <a:p>
                      <a:pPr indent="0" lvl="0" marL="0" rtl="0" algn="ctr">
                        <a:spcBef>
                          <a:spcPts val="0"/>
                        </a:spcBef>
                        <a:spcAft>
                          <a:spcPts val="0"/>
                        </a:spcAft>
                        <a:buNone/>
                      </a:pPr>
                      <a:r>
                        <a:rPr b="1" lang="en">
                          <a:latin typeface="Average"/>
                          <a:ea typeface="Average"/>
                          <a:cs typeface="Average"/>
                          <a:sym typeface="Average"/>
                        </a:rPr>
                        <a:t>Secretion Sites</a:t>
                      </a:r>
                      <a:endParaRPr b="1">
                        <a:latin typeface="Average"/>
                        <a:ea typeface="Average"/>
                        <a:cs typeface="Average"/>
                        <a:sym typeface="Average"/>
                      </a:endParaRPr>
                    </a:p>
                  </a:txBody>
                  <a:tcPr marT="91425" marB="91425" marR="91425" marL="91425">
                    <a:solidFill>
                      <a:srgbClr val="D9D9D9"/>
                    </a:solidFill>
                  </a:tcPr>
                </a:tc>
                <a:tc>
                  <a:txBody>
                    <a:bodyPr/>
                    <a:lstStyle/>
                    <a:p>
                      <a:pPr indent="0" lvl="0" marL="0" rtl="0" algn="ctr">
                        <a:spcBef>
                          <a:spcPts val="0"/>
                        </a:spcBef>
                        <a:spcAft>
                          <a:spcPts val="0"/>
                        </a:spcAft>
                        <a:buNone/>
                      </a:pPr>
                      <a:r>
                        <a:rPr b="1" lang="en">
                          <a:latin typeface="Average"/>
                          <a:ea typeface="Average"/>
                          <a:cs typeface="Average"/>
                          <a:sym typeface="Average"/>
                        </a:rPr>
                        <a:t>Major Effects</a:t>
                      </a:r>
                      <a:endParaRPr b="1">
                        <a:latin typeface="Average"/>
                        <a:ea typeface="Average"/>
                        <a:cs typeface="Average"/>
                        <a:sym typeface="Average"/>
                      </a:endParaRPr>
                    </a:p>
                  </a:txBody>
                  <a:tcPr marT="91425" marB="91425" marR="91425" marL="91425">
                    <a:solidFill>
                      <a:srgbClr val="D9D9D9"/>
                    </a:solidFill>
                  </a:tcPr>
                </a:tc>
              </a:tr>
              <a:tr h="381000">
                <a:tc>
                  <a:txBody>
                    <a:bodyPr/>
                    <a:lstStyle/>
                    <a:p>
                      <a:pPr indent="0" lvl="0" marL="0" rtl="0" algn="ctr">
                        <a:spcBef>
                          <a:spcPts val="0"/>
                        </a:spcBef>
                        <a:spcAft>
                          <a:spcPts val="0"/>
                        </a:spcAft>
                        <a:buNone/>
                      </a:pPr>
                      <a:r>
                        <a:t/>
                      </a:r>
                      <a:endParaRPr>
                        <a:latin typeface="Average"/>
                        <a:ea typeface="Average"/>
                        <a:cs typeface="Average"/>
                        <a:sym typeface="Average"/>
                      </a:endParaRPr>
                    </a:p>
                    <a:p>
                      <a:pPr indent="0" lvl="0" marL="0" rtl="0" algn="ctr">
                        <a:spcBef>
                          <a:spcPts val="0"/>
                        </a:spcBef>
                        <a:spcAft>
                          <a:spcPts val="0"/>
                        </a:spcAft>
                        <a:buNone/>
                      </a:pPr>
                      <a:r>
                        <a:rPr lang="en">
                          <a:latin typeface="Average"/>
                          <a:ea typeface="Average"/>
                          <a:cs typeface="Average"/>
                          <a:sym typeface="Average"/>
                        </a:rPr>
                        <a:t>acetylcholine*</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t/>
                      </a:r>
                      <a:endParaRPr>
                        <a:latin typeface="Average"/>
                        <a:ea typeface="Average"/>
                        <a:cs typeface="Average"/>
                        <a:sym typeface="Average"/>
                      </a:endParaRPr>
                    </a:p>
                    <a:p>
                      <a:pPr indent="0" lvl="0" marL="0" rtl="0" algn="ctr">
                        <a:spcBef>
                          <a:spcPts val="0"/>
                        </a:spcBef>
                        <a:spcAft>
                          <a:spcPts val="0"/>
                        </a:spcAft>
                        <a:buNone/>
                      </a:pPr>
                      <a:r>
                        <a:rPr lang="en">
                          <a:latin typeface="Average"/>
                          <a:ea typeface="Average"/>
                          <a:cs typeface="Average"/>
                          <a:sym typeface="Average"/>
                        </a:rPr>
                        <a:t>Excitatory </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Neuromuscular regions, CNS, PNS</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Skeletal muscle contraction/parasympathetic</a:t>
                      </a:r>
                      <a:endParaRPr>
                        <a:latin typeface="Average"/>
                        <a:ea typeface="Average"/>
                        <a:cs typeface="Average"/>
                        <a:sym typeface="Average"/>
                      </a:endParaRPr>
                    </a:p>
                  </a:txBody>
                  <a:tcPr marT="91425" marB="91425" marR="91425" marL="91425"/>
                </a:tc>
              </a:tr>
              <a:tr h="381000">
                <a:tc>
                  <a:txBody>
                    <a:bodyPr/>
                    <a:lstStyle/>
                    <a:p>
                      <a:pPr indent="0" lvl="0" marL="0" rtl="0" algn="ctr">
                        <a:spcBef>
                          <a:spcPts val="0"/>
                        </a:spcBef>
                        <a:spcAft>
                          <a:spcPts val="0"/>
                        </a:spcAft>
                        <a:buNone/>
                      </a:pPr>
                      <a:r>
                        <a:rPr lang="en">
                          <a:latin typeface="Average"/>
                          <a:ea typeface="Average"/>
                          <a:cs typeface="Average"/>
                          <a:sym typeface="Average"/>
                        </a:rPr>
                        <a:t>norepinephrine*</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Excitatory</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CNS, PNS</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Wakefulness/sympathetic</a:t>
                      </a:r>
                      <a:endParaRPr>
                        <a:latin typeface="Average"/>
                        <a:ea typeface="Average"/>
                        <a:cs typeface="Average"/>
                        <a:sym typeface="Average"/>
                      </a:endParaRPr>
                    </a:p>
                  </a:txBody>
                  <a:tcPr marT="91425" marB="91425" marR="91425" marL="91425"/>
                </a:tc>
              </a:tr>
              <a:tr h="381000">
                <a:tc>
                  <a:txBody>
                    <a:bodyPr/>
                    <a:lstStyle/>
                    <a:p>
                      <a:pPr indent="0" lvl="0" marL="0" rtl="0" algn="ctr">
                        <a:spcBef>
                          <a:spcPts val="0"/>
                        </a:spcBef>
                        <a:spcAft>
                          <a:spcPts val="0"/>
                        </a:spcAft>
                        <a:buNone/>
                      </a:pPr>
                      <a:r>
                        <a:rPr lang="en">
                          <a:latin typeface="Average"/>
                          <a:ea typeface="Average"/>
                          <a:cs typeface="Average"/>
                          <a:sym typeface="Average"/>
                        </a:rPr>
                        <a:t>dopamine</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Generally excitatory</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CNS, PNS</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Voluntary movement and emotion</a:t>
                      </a:r>
                      <a:endParaRPr>
                        <a:latin typeface="Average"/>
                        <a:ea typeface="Average"/>
                        <a:cs typeface="Average"/>
                        <a:sym typeface="Average"/>
                      </a:endParaRPr>
                    </a:p>
                  </a:txBody>
                  <a:tcPr marT="91425" marB="91425" marR="91425" marL="91425"/>
                </a:tc>
              </a:tr>
              <a:tr h="381000">
                <a:tc>
                  <a:txBody>
                    <a:bodyPr/>
                    <a:lstStyle/>
                    <a:p>
                      <a:pPr indent="0" lvl="0" marL="0" rtl="0" algn="ctr">
                        <a:spcBef>
                          <a:spcPts val="0"/>
                        </a:spcBef>
                        <a:spcAft>
                          <a:spcPts val="0"/>
                        </a:spcAft>
                        <a:buNone/>
                      </a:pPr>
                      <a:r>
                        <a:rPr lang="en">
                          <a:latin typeface="Average"/>
                          <a:ea typeface="Average"/>
                          <a:cs typeface="Average"/>
                          <a:sym typeface="Average"/>
                        </a:rPr>
                        <a:t>serotonin</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Generally inhibitory</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CNS</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Sleep </a:t>
                      </a:r>
                      <a:endParaRPr>
                        <a:latin typeface="Average"/>
                        <a:ea typeface="Average"/>
                        <a:cs typeface="Average"/>
                        <a:sym typeface="Average"/>
                      </a:endParaRPr>
                    </a:p>
                  </a:txBody>
                  <a:tcPr marT="91425" marB="91425" marR="91425" marL="91425"/>
                </a:tc>
              </a:tr>
              <a:tr h="381000">
                <a:tc>
                  <a:txBody>
                    <a:bodyPr/>
                    <a:lstStyle/>
                    <a:p>
                      <a:pPr indent="0" lvl="0" marL="0" rtl="0" algn="ctr">
                        <a:spcBef>
                          <a:spcPts val="0"/>
                        </a:spcBef>
                        <a:spcAft>
                          <a:spcPts val="0"/>
                        </a:spcAft>
                        <a:buNone/>
                      </a:pPr>
                      <a:r>
                        <a:rPr lang="en">
                          <a:latin typeface="Average"/>
                          <a:ea typeface="Average"/>
                          <a:cs typeface="Average"/>
                          <a:sym typeface="Average"/>
                        </a:rPr>
                        <a:t>GABA*</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Inhibitory</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CNS</a:t>
                      </a:r>
                      <a:endParaRPr>
                        <a:latin typeface="Average"/>
                        <a:ea typeface="Average"/>
                        <a:cs typeface="Average"/>
                        <a:sym typeface="Average"/>
                      </a:endParaRPr>
                    </a:p>
                  </a:txBody>
                  <a:tcPr marT="91425" marB="91425" marR="91425" marL="91425"/>
                </a:tc>
                <a:tc>
                  <a:txBody>
                    <a:bodyPr/>
                    <a:lstStyle/>
                    <a:p>
                      <a:pPr indent="0" lvl="0" marL="0" rtl="0" algn="ctr">
                        <a:spcBef>
                          <a:spcPts val="0"/>
                        </a:spcBef>
                        <a:spcAft>
                          <a:spcPts val="0"/>
                        </a:spcAft>
                        <a:buNone/>
                      </a:pPr>
                      <a:r>
                        <a:rPr lang="en">
                          <a:latin typeface="Average"/>
                          <a:ea typeface="Average"/>
                          <a:cs typeface="Average"/>
                          <a:sym typeface="Average"/>
                        </a:rPr>
                        <a:t>Motor behaviour</a:t>
                      </a:r>
                      <a:endParaRPr>
                        <a:latin typeface="Average"/>
                        <a:ea typeface="Average"/>
                        <a:cs typeface="Average"/>
                        <a:sym typeface="Average"/>
                      </a:endParaRPr>
                    </a:p>
                  </a:txBody>
                  <a:tcPr marT="91425" marB="91425" marR="91425" marL="91425"/>
                </a:tc>
              </a:tr>
            </a:tbl>
          </a:graphicData>
        </a:graphic>
      </p:graphicFrame>
      <p:sp>
        <p:nvSpPr>
          <p:cNvPr id="530" name="Google Shape;530;p50"/>
          <p:cNvSpPr txBox="1"/>
          <p:nvPr>
            <p:ph idx="4294967295" type="title"/>
          </p:nvPr>
        </p:nvSpPr>
        <p:spPr>
          <a:xfrm>
            <a:off x="814900" y="693574"/>
            <a:ext cx="7024800" cy="629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Some Common Neurotransmitters:</a:t>
            </a:r>
            <a:endParaRPr b="1" sz="3000">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3000"/>
              <a:buFont typeface="Verdana"/>
              <a:buNone/>
            </a:pPr>
            <a:r>
              <a:rPr lang="en" sz="1900">
                <a:latin typeface="Average"/>
                <a:ea typeface="Average"/>
                <a:cs typeface="Average"/>
                <a:sym typeface="Average"/>
              </a:rPr>
              <a:t>*Memorize </a:t>
            </a:r>
            <a:endParaRPr sz="1900">
              <a:latin typeface="Average"/>
              <a:ea typeface="Average"/>
              <a:cs typeface="Average"/>
              <a:sym typeface="Averag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1"/>
          <p:cNvSpPr txBox="1"/>
          <p:nvPr>
            <p:ph idx="4294967295" type="title"/>
          </p:nvPr>
        </p:nvSpPr>
        <p:spPr>
          <a:xfrm>
            <a:off x="967290" y="701447"/>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400" u="sng">
                <a:latin typeface="Average"/>
                <a:ea typeface="Average"/>
                <a:cs typeface="Average"/>
                <a:sym typeface="Average"/>
              </a:rPr>
              <a:t>Re-cap: Synaptic Transmission</a:t>
            </a:r>
            <a:endParaRPr sz="3400" u="sng"/>
          </a:p>
        </p:txBody>
      </p:sp>
      <p:pic>
        <p:nvPicPr>
          <p:cNvPr descr="https://www.O2Labz.com - Synapse, also called neuronal junction, the site of transmission of electric nerve impulses between two nerve cells (neurons) or between a neuron and a gland or muscle cell (effector). A synaptic connection between a neuron and a muscle cell is called a neuromuscular junction." id="536" name="Google Shape;536;p51" title="Nerve Synapse Animation">
            <a:hlinkClick r:id="rId3"/>
          </p:cNvPr>
          <p:cNvPicPr preferRelativeResize="0"/>
          <p:nvPr/>
        </p:nvPicPr>
        <p:blipFill>
          <a:blip r:embed="rId4">
            <a:alphaModFix/>
          </a:blip>
          <a:stretch>
            <a:fillRect/>
          </a:stretch>
        </p:blipFill>
        <p:spPr>
          <a:xfrm>
            <a:off x="4805278" y="1895197"/>
            <a:ext cx="3048000" cy="1714500"/>
          </a:xfrm>
          <a:prstGeom prst="rect">
            <a:avLst/>
          </a:prstGeom>
          <a:noFill/>
          <a:ln>
            <a:noFill/>
          </a:ln>
        </p:spPr>
      </p:pic>
      <p:pic>
        <p:nvPicPr>
          <p:cNvPr descr="Role of neurotransmitters in cell signalling" id="537" name="Google Shape;537;p51" title="Synaptic Transmission">
            <a:hlinkClick r:id="rId5"/>
          </p:cNvPr>
          <p:cNvPicPr preferRelativeResize="0"/>
          <p:nvPr/>
        </p:nvPicPr>
        <p:blipFill>
          <a:blip r:embed="rId6">
            <a:alphaModFix/>
          </a:blip>
          <a:stretch>
            <a:fillRect/>
          </a:stretch>
        </p:blipFill>
        <p:spPr>
          <a:xfrm>
            <a:off x="1317350" y="1895197"/>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2"/>
          <p:cNvSpPr txBox="1"/>
          <p:nvPr/>
        </p:nvSpPr>
        <p:spPr>
          <a:xfrm>
            <a:off x="741450" y="1081200"/>
            <a:ext cx="7599300" cy="1977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Verdana"/>
              <a:buChar char="●"/>
            </a:pPr>
            <a:r>
              <a:rPr lang="en">
                <a:solidFill>
                  <a:schemeClr val="dk2"/>
                </a:solidFill>
                <a:latin typeface="Verdana"/>
                <a:ea typeface="Verdana"/>
                <a:cs typeface="Verdana"/>
                <a:sym typeface="Verdana"/>
              </a:rPr>
              <a:t>You do not need to memorize information in these next two slides. However, make sure you understand how drugs are able to alter synaptic transmission using these mechanisms. </a:t>
            </a:r>
            <a:endParaRPr>
              <a:solidFill>
                <a:schemeClr val="dk2"/>
              </a:solidFill>
              <a:latin typeface="Verdana"/>
              <a:ea typeface="Verdana"/>
              <a:cs typeface="Verdana"/>
              <a:sym typeface="Verdana"/>
            </a:endParaRPr>
          </a:p>
          <a:p>
            <a:pPr indent="0" lvl="0" marL="0" rtl="0" algn="l">
              <a:spcBef>
                <a:spcPts val="0"/>
              </a:spcBef>
              <a:spcAft>
                <a:spcPts val="0"/>
              </a:spcAft>
              <a:buNone/>
            </a:pPr>
            <a:r>
              <a:t/>
            </a:r>
            <a:endParaRPr sz="1900">
              <a:solidFill>
                <a:schemeClr val="dk2"/>
              </a:solidFill>
              <a:latin typeface="Verdana"/>
              <a:ea typeface="Verdana"/>
              <a:cs typeface="Verdana"/>
              <a:sym typeface="Verdana"/>
            </a:endParaRPr>
          </a:p>
          <a:p>
            <a:pPr indent="-317500" lvl="0" marL="457200" rtl="0" algn="l">
              <a:spcBef>
                <a:spcPts val="0"/>
              </a:spcBef>
              <a:spcAft>
                <a:spcPts val="0"/>
              </a:spcAft>
              <a:buClr>
                <a:schemeClr val="dk2"/>
              </a:buClr>
              <a:buSzPts val="1400"/>
              <a:buFont typeface="Verdana"/>
              <a:buChar char="●"/>
            </a:pPr>
            <a:r>
              <a:rPr lang="en">
                <a:solidFill>
                  <a:schemeClr val="dk2"/>
                </a:solidFill>
                <a:latin typeface="Verdana"/>
                <a:ea typeface="Verdana"/>
                <a:cs typeface="Verdana"/>
                <a:sym typeface="Verdana"/>
              </a:rPr>
              <a:t>DO, however, play around with the following simulation. The best way to understand many biological systems is to observe what happens when they are not functioning normally. </a:t>
            </a:r>
            <a:r>
              <a:rPr lang="en" u="sng">
                <a:solidFill>
                  <a:schemeClr val="hlink"/>
                </a:solidFill>
                <a:latin typeface="Verdana"/>
                <a:ea typeface="Verdana"/>
                <a:cs typeface="Verdana"/>
                <a:sym typeface="Verdana"/>
                <a:hlinkClick r:id="rId3"/>
              </a:rPr>
              <a:t>https://learn.genetics.utah.edu/content/addiction/mouse/</a:t>
            </a:r>
            <a:endParaRPr>
              <a:solidFill>
                <a:schemeClr val="dk2"/>
              </a:solidFill>
              <a:latin typeface="Verdana"/>
              <a:ea typeface="Verdana"/>
              <a:cs typeface="Verdana"/>
              <a:sym typeface="Verdana"/>
            </a:endParaRPr>
          </a:p>
        </p:txBody>
      </p:sp>
      <p:sp>
        <p:nvSpPr>
          <p:cNvPr id="543" name="Google Shape;543;p52"/>
          <p:cNvSpPr txBox="1"/>
          <p:nvPr/>
        </p:nvSpPr>
        <p:spPr>
          <a:xfrm>
            <a:off x="2131550" y="571525"/>
            <a:ext cx="5853900" cy="5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Verdana"/>
                <a:ea typeface="Verdana"/>
                <a:cs typeface="Verdana"/>
                <a:sym typeface="Verdana"/>
              </a:rPr>
              <a:t>Drugs and the Nervous System</a:t>
            </a:r>
            <a:endParaRPr b="1" sz="2400">
              <a:solidFill>
                <a:schemeClr val="dk2"/>
              </a:solidFill>
              <a:latin typeface="Verdana"/>
              <a:ea typeface="Verdana"/>
              <a:cs typeface="Verdana"/>
              <a:sym typeface="Verdana"/>
            </a:endParaRPr>
          </a:p>
        </p:txBody>
      </p:sp>
      <p:pic>
        <p:nvPicPr>
          <p:cNvPr id="544" name="Google Shape;544;p52"/>
          <p:cNvPicPr preferRelativeResize="0"/>
          <p:nvPr/>
        </p:nvPicPr>
        <p:blipFill>
          <a:blip r:embed="rId4">
            <a:alphaModFix/>
          </a:blip>
          <a:stretch>
            <a:fillRect/>
          </a:stretch>
        </p:blipFill>
        <p:spPr>
          <a:xfrm>
            <a:off x="3285088" y="3058200"/>
            <a:ext cx="2512026" cy="19429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3"/>
          <p:cNvSpPr txBox="1"/>
          <p:nvPr>
            <p:ph idx="4294967295" type="title"/>
          </p:nvPr>
        </p:nvSpPr>
        <p:spPr>
          <a:xfrm>
            <a:off x="813550" y="819600"/>
            <a:ext cx="34935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lang="en" sz="3000" u="sng">
                <a:latin typeface="Average"/>
                <a:ea typeface="Average"/>
                <a:cs typeface="Average"/>
                <a:sym typeface="Average"/>
              </a:rPr>
              <a:t>Action of Drugs at the Synapse</a:t>
            </a:r>
            <a:endParaRPr u="sng"/>
          </a:p>
        </p:txBody>
      </p:sp>
      <p:sp>
        <p:nvSpPr>
          <p:cNvPr id="550" name="Google Shape;550;p53"/>
          <p:cNvSpPr txBox="1"/>
          <p:nvPr/>
        </p:nvSpPr>
        <p:spPr>
          <a:xfrm>
            <a:off x="906225" y="1679900"/>
            <a:ext cx="3991800" cy="3817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1800">
                <a:solidFill>
                  <a:srgbClr val="333539"/>
                </a:solidFill>
                <a:latin typeface="Average"/>
                <a:ea typeface="Average"/>
                <a:cs typeface="Average"/>
                <a:sym typeface="Average"/>
              </a:rPr>
              <a:t>Mechanisms of stimulants</a:t>
            </a:r>
            <a:endParaRPr b="1" sz="1800">
              <a:solidFill>
                <a:srgbClr val="333539"/>
              </a:solidFill>
              <a:latin typeface="Average"/>
              <a:ea typeface="Average"/>
              <a:cs typeface="Average"/>
              <a:sym typeface="Average"/>
            </a:endParaRPr>
          </a:p>
          <a:p>
            <a:pPr indent="-330200" lvl="0" marL="457200" marR="0" rtl="0" algn="l">
              <a:lnSpc>
                <a:spcPct val="100000"/>
              </a:lnSpc>
              <a:spcBef>
                <a:spcPts val="1000"/>
              </a:spcBef>
              <a:spcAft>
                <a:spcPts val="0"/>
              </a:spcAft>
              <a:buClr>
                <a:srgbClr val="333539"/>
              </a:buClr>
              <a:buSzPts val="1600"/>
              <a:buFont typeface="Average"/>
              <a:buAutoNum type="arabicParenR"/>
            </a:pPr>
            <a:r>
              <a:rPr lang="en" sz="1600">
                <a:solidFill>
                  <a:srgbClr val="333539"/>
                </a:solidFill>
                <a:latin typeface="Average"/>
                <a:ea typeface="Average"/>
                <a:cs typeface="Average"/>
                <a:sym typeface="Average"/>
              </a:rPr>
              <a:t>Drug mimics the neurotransmitter &amp; stimulates the receptor.</a:t>
            </a:r>
            <a:endParaRPr sz="1600">
              <a:solidFill>
                <a:srgbClr val="333539"/>
              </a:solidFill>
              <a:latin typeface="Average"/>
              <a:ea typeface="Average"/>
              <a:cs typeface="Average"/>
              <a:sym typeface="Average"/>
            </a:endParaRPr>
          </a:p>
          <a:p>
            <a:pPr indent="-330200" lvl="0" marL="457200" marR="0" rtl="0" algn="l">
              <a:lnSpc>
                <a:spcPct val="100000"/>
              </a:lnSpc>
              <a:spcBef>
                <a:spcPts val="1000"/>
              </a:spcBef>
              <a:spcAft>
                <a:spcPts val="0"/>
              </a:spcAft>
              <a:buClr>
                <a:srgbClr val="333539"/>
              </a:buClr>
              <a:buSzPts val="1600"/>
              <a:buFont typeface="Average"/>
              <a:buAutoNum type="arabicParenR"/>
            </a:pPr>
            <a:r>
              <a:rPr lang="en" sz="1600">
                <a:solidFill>
                  <a:srgbClr val="333539"/>
                </a:solidFill>
                <a:latin typeface="Average"/>
                <a:ea typeface="Average"/>
                <a:cs typeface="Average"/>
                <a:sym typeface="Average"/>
              </a:rPr>
              <a:t>Drug decreases the rate of neurotransmitter breakdown or re-uptake, leading to continued stimulation of the receptor.</a:t>
            </a:r>
            <a:endParaRPr sz="1600">
              <a:solidFill>
                <a:srgbClr val="333539"/>
              </a:solidFill>
              <a:latin typeface="Average"/>
              <a:ea typeface="Average"/>
              <a:cs typeface="Average"/>
              <a:sym typeface="Average"/>
            </a:endParaRPr>
          </a:p>
          <a:p>
            <a:pPr indent="-330200" lvl="0" marL="457200" marR="0" rtl="0" algn="l">
              <a:lnSpc>
                <a:spcPct val="100000"/>
              </a:lnSpc>
              <a:spcBef>
                <a:spcPts val="1000"/>
              </a:spcBef>
              <a:spcAft>
                <a:spcPts val="0"/>
              </a:spcAft>
              <a:buClr>
                <a:srgbClr val="333539"/>
              </a:buClr>
              <a:buSzPts val="1600"/>
              <a:buFont typeface="Average"/>
              <a:buAutoNum type="arabicParenR"/>
            </a:pPr>
            <a:r>
              <a:rPr lang="en" sz="1600">
                <a:solidFill>
                  <a:srgbClr val="333539"/>
                </a:solidFill>
                <a:latin typeface="Average"/>
                <a:ea typeface="Average"/>
                <a:cs typeface="Average"/>
                <a:sym typeface="Average"/>
              </a:rPr>
              <a:t>Drug increases the rate of neurotransmitter release from the presynaptic neuron. </a:t>
            </a:r>
            <a:endParaRPr sz="1600">
              <a:solidFill>
                <a:srgbClr val="333539"/>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0" i="0" sz="1500" u="none" cap="none" strike="noStrike">
              <a:solidFill>
                <a:srgbClr val="333539"/>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1" i="0" sz="1500" u="none" cap="none" strike="noStrike">
              <a:solidFill>
                <a:schemeClr val="dk1"/>
              </a:solidFill>
              <a:latin typeface="Average"/>
              <a:ea typeface="Average"/>
              <a:cs typeface="Average"/>
              <a:sym typeface="Average"/>
            </a:endParaRPr>
          </a:p>
        </p:txBody>
      </p:sp>
      <p:pic>
        <p:nvPicPr>
          <p:cNvPr id="551" name="Google Shape;551;p53"/>
          <p:cNvPicPr preferRelativeResize="0"/>
          <p:nvPr/>
        </p:nvPicPr>
        <p:blipFill rotWithShape="1">
          <a:blip r:embed="rId3">
            <a:alphaModFix/>
          </a:blip>
          <a:srcRect b="0" l="0" r="51043" t="0"/>
          <a:stretch/>
        </p:blipFill>
        <p:spPr>
          <a:xfrm>
            <a:off x="5127375" y="819600"/>
            <a:ext cx="2838000" cy="3761700"/>
          </a:xfrm>
          <a:prstGeom prst="rect">
            <a:avLst/>
          </a:prstGeom>
          <a:noFill/>
          <a:ln cap="flat" cmpd="sng" w="19050">
            <a:solidFill>
              <a:srgbClr val="434343"/>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4"/>
          <p:cNvSpPr txBox="1"/>
          <p:nvPr>
            <p:ph idx="4294967295" type="title"/>
          </p:nvPr>
        </p:nvSpPr>
        <p:spPr>
          <a:xfrm>
            <a:off x="726650" y="582900"/>
            <a:ext cx="34935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lang="en" sz="3000" u="sng">
                <a:latin typeface="Average"/>
                <a:ea typeface="Average"/>
                <a:cs typeface="Average"/>
                <a:sym typeface="Average"/>
              </a:rPr>
              <a:t>Action of Drugs at the Synapse</a:t>
            </a:r>
            <a:endParaRPr u="sng"/>
          </a:p>
        </p:txBody>
      </p:sp>
      <p:sp>
        <p:nvSpPr>
          <p:cNvPr id="557" name="Google Shape;557;p54"/>
          <p:cNvSpPr txBox="1"/>
          <p:nvPr/>
        </p:nvSpPr>
        <p:spPr>
          <a:xfrm>
            <a:off x="906225" y="1679900"/>
            <a:ext cx="3991800" cy="3817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1800">
                <a:solidFill>
                  <a:srgbClr val="333539"/>
                </a:solidFill>
                <a:latin typeface="Average"/>
                <a:ea typeface="Average"/>
                <a:cs typeface="Average"/>
                <a:sym typeface="Average"/>
              </a:rPr>
              <a:t>Mechanisms of depressants:</a:t>
            </a:r>
            <a:endParaRPr b="1" sz="1800">
              <a:solidFill>
                <a:srgbClr val="333539"/>
              </a:solidFill>
              <a:latin typeface="Average"/>
              <a:ea typeface="Average"/>
              <a:cs typeface="Average"/>
              <a:sym typeface="Average"/>
            </a:endParaRPr>
          </a:p>
          <a:p>
            <a:pPr indent="-330200" lvl="0" marL="457200" marR="0" rtl="0" algn="l">
              <a:lnSpc>
                <a:spcPct val="100000"/>
              </a:lnSpc>
              <a:spcBef>
                <a:spcPts val="1000"/>
              </a:spcBef>
              <a:spcAft>
                <a:spcPts val="0"/>
              </a:spcAft>
              <a:buClr>
                <a:srgbClr val="333539"/>
              </a:buClr>
              <a:buSzPts val="1600"/>
              <a:buFont typeface="Average"/>
              <a:buAutoNum type="arabicParenR"/>
            </a:pPr>
            <a:r>
              <a:rPr lang="en" sz="1600">
                <a:solidFill>
                  <a:srgbClr val="333539"/>
                </a:solidFill>
                <a:latin typeface="Average"/>
                <a:ea typeface="Average"/>
                <a:cs typeface="Average"/>
                <a:sym typeface="Average"/>
              </a:rPr>
              <a:t>Drug blocks the receptor site so that the neurotransmitter cannot interact with the receptor.</a:t>
            </a:r>
            <a:endParaRPr sz="1600">
              <a:solidFill>
                <a:srgbClr val="333539"/>
              </a:solidFill>
              <a:latin typeface="Average"/>
              <a:ea typeface="Average"/>
              <a:cs typeface="Average"/>
              <a:sym typeface="Average"/>
            </a:endParaRPr>
          </a:p>
          <a:p>
            <a:pPr indent="-330200" lvl="0" marL="457200" marR="0" rtl="0" algn="l">
              <a:lnSpc>
                <a:spcPct val="100000"/>
              </a:lnSpc>
              <a:spcBef>
                <a:spcPts val="1000"/>
              </a:spcBef>
              <a:spcAft>
                <a:spcPts val="0"/>
              </a:spcAft>
              <a:buClr>
                <a:srgbClr val="333539"/>
              </a:buClr>
              <a:buSzPts val="1600"/>
              <a:buFont typeface="Average"/>
              <a:buAutoNum type="arabicParenR"/>
            </a:pPr>
            <a:r>
              <a:rPr lang="en" sz="1600">
                <a:solidFill>
                  <a:srgbClr val="333539"/>
                </a:solidFill>
                <a:latin typeface="Average"/>
                <a:ea typeface="Average"/>
                <a:cs typeface="Average"/>
                <a:sym typeface="Average"/>
              </a:rPr>
              <a:t>Drug decreases synthesis &amp; storage of a neurotransmitter at the presynaptic neuron.</a:t>
            </a:r>
            <a:endParaRPr sz="1600">
              <a:solidFill>
                <a:srgbClr val="333539"/>
              </a:solidFill>
              <a:latin typeface="Average"/>
              <a:ea typeface="Average"/>
              <a:cs typeface="Average"/>
              <a:sym typeface="Average"/>
            </a:endParaRPr>
          </a:p>
          <a:p>
            <a:pPr indent="-330200" lvl="0" marL="457200" marR="0" rtl="0" algn="l">
              <a:lnSpc>
                <a:spcPct val="100000"/>
              </a:lnSpc>
              <a:spcBef>
                <a:spcPts val="1000"/>
              </a:spcBef>
              <a:spcAft>
                <a:spcPts val="0"/>
              </a:spcAft>
              <a:buClr>
                <a:srgbClr val="333539"/>
              </a:buClr>
              <a:buSzPts val="1600"/>
              <a:buFont typeface="Average"/>
              <a:buAutoNum type="arabicParenR"/>
            </a:pPr>
            <a:r>
              <a:rPr lang="en" sz="1600">
                <a:solidFill>
                  <a:srgbClr val="333539"/>
                </a:solidFill>
                <a:latin typeface="Average"/>
                <a:ea typeface="Average"/>
                <a:cs typeface="Average"/>
                <a:sym typeface="Average"/>
              </a:rPr>
              <a:t>Drug increases rate of breakdown of a neurotransmitter in the synapse. </a:t>
            </a:r>
            <a:endParaRPr sz="1600">
              <a:solidFill>
                <a:srgbClr val="333539"/>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0" i="0" sz="1500" u="none" cap="none" strike="noStrike">
              <a:solidFill>
                <a:srgbClr val="333539"/>
              </a:solidFill>
              <a:latin typeface="Average"/>
              <a:ea typeface="Average"/>
              <a:cs typeface="Average"/>
              <a:sym typeface="Average"/>
            </a:endParaRPr>
          </a:p>
          <a:p>
            <a:pPr indent="0" lvl="0" marL="0" marR="0" rtl="0" algn="l">
              <a:lnSpc>
                <a:spcPct val="100000"/>
              </a:lnSpc>
              <a:spcBef>
                <a:spcPts val="1480"/>
              </a:spcBef>
              <a:spcAft>
                <a:spcPts val="0"/>
              </a:spcAft>
              <a:buClr>
                <a:srgbClr val="000000"/>
              </a:buClr>
              <a:buSzPts val="1500"/>
              <a:buFont typeface="Arial"/>
              <a:buNone/>
            </a:pPr>
            <a:r>
              <a:t/>
            </a:r>
            <a:endParaRPr b="1" i="0" sz="1500" u="none" cap="none" strike="noStrike">
              <a:solidFill>
                <a:schemeClr val="dk1"/>
              </a:solidFill>
              <a:latin typeface="Average"/>
              <a:ea typeface="Average"/>
              <a:cs typeface="Average"/>
              <a:sym typeface="Average"/>
            </a:endParaRPr>
          </a:p>
        </p:txBody>
      </p:sp>
      <p:pic>
        <p:nvPicPr>
          <p:cNvPr id="558" name="Google Shape;558;p54"/>
          <p:cNvPicPr preferRelativeResize="0"/>
          <p:nvPr/>
        </p:nvPicPr>
        <p:blipFill rotWithShape="1">
          <a:blip r:embed="rId3">
            <a:alphaModFix/>
          </a:blip>
          <a:srcRect b="0" l="50855" r="0" t="0"/>
          <a:stretch/>
        </p:blipFill>
        <p:spPr>
          <a:xfrm>
            <a:off x="5220450" y="833725"/>
            <a:ext cx="2762024" cy="3646925"/>
          </a:xfrm>
          <a:prstGeom prst="rect">
            <a:avLst/>
          </a:prstGeom>
          <a:noFill/>
          <a:ln cap="flat" cmpd="sng" w="28575">
            <a:solidFill>
              <a:srgbClr val="434343"/>
            </a:solidFill>
            <a:prstDash val="solid"/>
            <a:round/>
            <a:headEnd len="sm" w="sm" type="none"/>
            <a:tailEnd len="sm" w="sm" type="none"/>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5"/>
          <p:cNvSpPr txBox="1"/>
          <p:nvPr>
            <p:ph idx="4294967295" type="title"/>
          </p:nvPr>
        </p:nvSpPr>
        <p:spPr>
          <a:xfrm>
            <a:off x="662500" y="770750"/>
            <a:ext cx="79614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u="sng">
                <a:latin typeface="Average"/>
                <a:ea typeface="Average"/>
                <a:cs typeface="Average"/>
                <a:sym typeface="Average"/>
              </a:rPr>
              <a:t>11.2 &amp; 11.3</a:t>
            </a:r>
            <a:r>
              <a:rPr b="1" i="0" lang="en" sz="3000" u="sng" cap="none" strike="noStrike">
                <a:solidFill>
                  <a:schemeClr val="accent1"/>
                </a:solidFill>
                <a:latin typeface="Average"/>
                <a:ea typeface="Average"/>
                <a:cs typeface="Average"/>
                <a:sym typeface="Average"/>
              </a:rPr>
              <a:t> Central &amp; Peripheral Nervous System</a:t>
            </a:r>
            <a:endParaRPr u="sng"/>
          </a:p>
        </p:txBody>
      </p:sp>
      <p:sp>
        <p:nvSpPr>
          <p:cNvPr id="564" name="Google Shape;564;p55"/>
          <p:cNvSpPr txBox="1"/>
          <p:nvPr>
            <p:ph idx="4294967295" type="body"/>
          </p:nvPr>
        </p:nvSpPr>
        <p:spPr>
          <a:xfrm>
            <a:off x="614700" y="1351100"/>
            <a:ext cx="7851900" cy="26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824"/>
              <a:buFont typeface="Noto Sans Symbols"/>
              <a:buNone/>
            </a:pPr>
            <a:r>
              <a:t/>
            </a:r>
            <a:endParaRPr/>
          </a:p>
          <a:p>
            <a:pPr indent="0" lvl="0" marL="0" marR="0" rtl="0" algn="l">
              <a:lnSpc>
                <a:spcPct val="100000"/>
              </a:lnSpc>
              <a:spcBef>
                <a:spcPts val="0"/>
              </a:spcBef>
              <a:spcAft>
                <a:spcPts val="0"/>
              </a:spcAft>
              <a:buClr>
                <a:schemeClr val="accent1"/>
              </a:buClr>
              <a:buSzPts val="456"/>
              <a:buFont typeface="Noto Sans Symbols"/>
              <a:buNone/>
            </a:pPr>
            <a:r>
              <a:t/>
            </a:r>
            <a:endParaRPr b="1" i="0" sz="600" u="sng" cap="none" strike="noStrike">
              <a:solidFill>
                <a:srgbClr val="000000"/>
              </a:solidFill>
              <a:latin typeface="Average"/>
              <a:ea typeface="Average"/>
              <a:cs typeface="Average"/>
              <a:sym typeface="Average"/>
            </a:endParaRPr>
          </a:p>
          <a:p>
            <a:pPr indent="-342900" lvl="0" marL="457200" marR="0" rtl="0" algn="l">
              <a:lnSpc>
                <a:spcPct val="100000"/>
              </a:lnSpc>
              <a:spcBef>
                <a:spcPts val="0"/>
              </a:spcBef>
              <a:spcAft>
                <a:spcPts val="0"/>
              </a:spcAft>
              <a:buClr>
                <a:srgbClr val="000000"/>
              </a:buClr>
              <a:buSzPts val="1800"/>
              <a:buFont typeface="Average"/>
              <a:buChar char="○"/>
            </a:pPr>
            <a:r>
              <a:rPr b="0" i="0" lang="en" sz="1800" u="none" cap="none" strike="noStrike">
                <a:solidFill>
                  <a:srgbClr val="000000"/>
                </a:solidFill>
                <a:latin typeface="Average"/>
                <a:ea typeface="Average"/>
                <a:cs typeface="Average"/>
                <a:sym typeface="Average"/>
              </a:rPr>
              <a:t>Identify the principal structures &amp; functions of the central and peripheral nervous systems (e.g. cerebral hemispheres and lobes, cerebellum, pons, medulla oblongata, hypothalamus, spinal cord, sympathetic and parasympathetic systems, sensory-somatic system)</a:t>
            </a:r>
            <a:endParaRPr/>
          </a:p>
          <a:p>
            <a:pPr indent="-342900" lvl="0" marL="457200" marR="0" rtl="0" algn="l">
              <a:lnSpc>
                <a:spcPct val="100000"/>
              </a:lnSpc>
              <a:spcBef>
                <a:spcPts val="1000"/>
              </a:spcBef>
              <a:spcAft>
                <a:spcPts val="0"/>
              </a:spcAft>
              <a:buClr>
                <a:srgbClr val="000000"/>
              </a:buClr>
              <a:buSzPts val="1800"/>
              <a:buFont typeface="Average"/>
              <a:buChar char="○"/>
            </a:pPr>
            <a:r>
              <a:rPr b="0" i="0" lang="en" sz="1800" u="none" cap="none" strike="noStrike">
                <a:solidFill>
                  <a:srgbClr val="000000"/>
                </a:solidFill>
                <a:latin typeface="Average"/>
                <a:ea typeface="Average"/>
                <a:cs typeface="Average"/>
                <a:sym typeface="Average"/>
              </a:rPr>
              <a:t>Explain the functions of the central and peripheral nervous systems in regulating the voluntary (somatic) and involuntary (autonomic) systems</a:t>
            </a:r>
            <a:endParaRPr/>
          </a:p>
          <a:p>
            <a:pPr indent="0" lvl="0" marL="0" marR="0" rtl="0" algn="l">
              <a:lnSpc>
                <a:spcPct val="100000"/>
              </a:lnSpc>
              <a:spcBef>
                <a:spcPts val="100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565" name="Google Shape;565;p55"/>
          <p:cNvSpPr txBox="1"/>
          <p:nvPr/>
        </p:nvSpPr>
        <p:spPr>
          <a:xfrm>
            <a:off x="900425" y="4156725"/>
            <a:ext cx="7277400" cy="400200"/>
          </a:xfrm>
          <a:prstGeom prst="rect">
            <a:avLst/>
          </a:prstGeom>
          <a:solidFill>
            <a:srgbClr val="F5F5F5"/>
          </a:solidFill>
          <a:ln cap="flat" cmpd="sng" w="9525">
            <a:solidFill>
              <a:srgbClr val="9E9E9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Verdana"/>
                <a:ea typeface="Verdana"/>
                <a:cs typeface="Verdana"/>
                <a:sym typeface="Verdana"/>
              </a:rPr>
              <a:t>* Textbook pages 385-401</a:t>
            </a:r>
            <a:endParaRPr b="1" i="1">
              <a:latin typeface="Verdana"/>
              <a:ea typeface="Verdana"/>
              <a:cs typeface="Verdana"/>
              <a:sym typeface="Verdan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6"/>
          <p:cNvSpPr txBox="1"/>
          <p:nvPr>
            <p:ph idx="4294967295" type="title"/>
          </p:nvPr>
        </p:nvSpPr>
        <p:spPr>
          <a:xfrm>
            <a:off x="1028690" y="187472"/>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Nervous System Organization</a:t>
            </a:r>
            <a:endParaRPr/>
          </a:p>
        </p:txBody>
      </p:sp>
      <p:sp>
        <p:nvSpPr>
          <p:cNvPr id="571" name="Google Shape;571;p56"/>
          <p:cNvSpPr txBox="1"/>
          <p:nvPr/>
        </p:nvSpPr>
        <p:spPr>
          <a:xfrm>
            <a:off x="1893200" y="4417600"/>
            <a:ext cx="15975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Verdana"/>
                <a:ea typeface="Verdana"/>
                <a:cs typeface="Verdana"/>
                <a:sym typeface="Verdana"/>
              </a:rPr>
              <a:t>Fight-or-flight</a:t>
            </a:r>
            <a:endParaRPr sz="1000">
              <a:solidFill>
                <a:schemeClr val="dk2"/>
              </a:solidFill>
              <a:latin typeface="Verdana"/>
              <a:ea typeface="Verdana"/>
              <a:cs typeface="Verdana"/>
              <a:sym typeface="Verdana"/>
            </a:endParaRPr>
          </a:p>
        </p:txBody>
      </p:sp>
      <p:sp>
        <p:nvSpPr>
          <p:cNvPr id="572" name="Google Shape;572;p56"/>
          <p:cNvSpPr txBox="1"/>
          <p:nvPr/>
        </p:nvSpPr>
        <p:spPr>
          <a:xfrm>
            <a:off x="3003650" y="4417600"/>
            <a:ext cx="17151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Verdana"/>
                <a:ea typeface="Verdana"/>
                <a:cs typeface="Verdana"/>
                <a:sym typeface="Verdana"/>
              </a:rPr>
              <a:t>Rest and digest</a:t>
            </a:r>
            <a:endParaRPr sz="1000">
              <a:solidFill>
                <a:schemeClr val="dk2"/>
              </a:solidFill>
              <a:latin typeface="Verdana"/>
              <a:ea typeface="Verdana"/>
              <a:cs typeface="Verdana"/>
              <a:sym typeface="Verdana"/>
            </a:endParaRPr>
          </a:p>
        </p:txBody>
      </p:sp>
      <p:pic>
        <p:nvPicPr>
          <p:cNvPr id="573" name="Google Shape;573;p56"/>
          <p:cNvPicPr preferRelativeResize="0"/>
          <p:nvPr/>
        </p:nvPicPr>
        <p:blipFill>
          <a:blip r:embed="rId3">
            <a:alphaModFix/>
          </a:blip>
          <a:stretch>
            <a:fillRect/>
          </a:stretch>
        </p:blipFill>
        <p:spPr>
          <a:xfrm>
            <a:off x="981000" y="1284051"/>
            <a:ext cx="6314375" cy="3209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7"/>
          <p:cNvSpPr txBox="1"/>
          <p:nvPr>
            <p:ph idx="4294967295" type="title"/>
          </p:nvPr>
        </p:nvSpPr>
        <p:spPr>
          <a:xfrm>
            <a:off x="1059590" y="626372"/>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Peripheral Nervous System</a:t>
            </a:r>
            <a:endParaRPr/>
          </a:p>
        </p:txBody>
      </p:sp>
      <p:pic>
        <p:nvPicPr>
          <p:cNvPr descr="It is now time to meet the system that helps your crazy brain stay in touch with the outside world. We follow up last week's tour of the central nervous system with a look at your peripheral nervous system, its afferent and efferent divisions, how it processes information, the reflex arc, and what your brain has to say about pain.&#10;&#10;Table of Contents&#10;Peripheral Nervous System 0:38&#10;Afferent and Efferent Divisions 5:42&#10;Information and Responses to Pain 3:12&#10;Five Steps of the Reflex Arc 4:35&#10;Different Kinds of Reflexes 6:44&#10;What the Brain Says About Pain 8:09&#10;&#10;&#10;***&#10;&#10;Crash Course is now on Patreon! You can support us directly (and, for the next month, have your contributions matched by Patreon!) by signing up at http://www.patreon.com/crashcourse&#10;&#10;***SUBBABLE MESSAGES***&#10;&#10;TO: Brayden and Cody&#10;FROM: Dad&#10;&#10;For my favourite sons. Remember that Science Rocks!!&#10;&#10;--&#10;&#10;TO: CraftLit Listeners &#10;FROM: Heather at CraftLit&#10;&#10;Big Hugs to CraftLit Fans Who (also) Love Crash Course!&#10;&#10;***SUPPORTER THANK YOU!***&#10;&#10;Thank you so much to all of our awesome supporters for their contributions to help make Crash Course possible and freely available for everyone forever:&#10;&#10;Dan Rajan&#10;Josh Greenberg @wordlessrage&#10;Tanmay Sheth&#10;Chriztopher North&#10;Teodora Miclaus&#10;Jessica Baker&#10;Julie Anne Mathieu&#10;Moti Lieberman&#10;Leanne Gover&#10;www.justplainsomething.com&#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579" name="Google Shape;579;p57" title="Peripheral Nervous System: Crash Course A&amp;P #12">
            <a:hlinkClick r:id="rId3"/>
          </p:cNvPr>
          <p:cNvPicPr preferRelativeResize="0"/>
          <p:nvPr/>
        </p:nvPicPr>
        <p:blipFill>
          <a:blip r:embed="rId4">
            <a:alphaModFix/>
          </a:blip>
          <a:stretch>
            <a:fillRect/>
          </a:stretch>
        </p:blipFill>
        <p:spPr>
          <a:xfrm>
            <a:off x="807072" y="1884375"/>
            <a:ext cx="2843075" cy="2132325"/>
          </a:xfrm>
          <a:prstGeom prst="rect">
            <a:avLst/>
          </a:prstGeom>
          <a:noFill/>
          <a:ln>
            <a:noFill/>
          </a:ln>
        </p:spPr>
      </p:pic>
      <p:pic>
        <p:nvPicPr>
          <p:cNvPr descr="From the ProEdify TEAS study guide, this is part of the lesson on the Nervous System.&#10;&#10;Besides the brain and spinal cord, there is a vast network of nervous tissue that spans the body. This is called the peripheral nervous system. In this video we discuss the major peripheral nervous system divisions (PNS), sensory neurons vs motor neurons, and also the reflex arc.&#10;&#10;Our guided learning app for nursing school is coming in 2021! Please sign up at ProEdify.com to receive updates. &#10;&#10;---------------Table of Contents&#10;00:00 - Intro&#10;00:27 - 43 Nerve Pairs&#10;00:45 - Sensory Neurons vs. Motor Neurons (Afferent vs Efferent)&#10;The Reflex Arc, Receptors and Effectors - 1:35&#10;Ganglia - 1:45&#10;Voluntary and Involuntary Reflexes - 2:12&#10;Somatic Nervous System - 2:28&#10;Autonomic Nervous System - 2:56&#10;Sympathetic and Parasympathetic Nervous system - 3:23&#10;&#10;&#10;---------------Sources Used in this Video&#10;1) Textbook of Basic Nursing (Lippincott's Practical Nursing) 10th Ed.&#10;Rosdahl, Caroline Bunker., and Mary T. Kowalski. &quot;Chapter 19.&quot; Textbook of Basic Nursing. Philadelphia: Wolters Kluwer Health/Lippincott Williams &amp; Wilkins, 2012. N. pag. Print. &#10;&#10;2) Study Manual for the Test of Essential Academic Skills (TEAS)&#10;Wolkowitz, Amanda. &quot;Human Body Science.&quot; Study Manual for the Test of Essential Academic Skills (TEAS): Reading, Mathematics, Science, and English and Language Usage. Stilwell, Kan.: Assessment Technologies Institute, 2010. 128. Print.&#10;&#10;---------------Media Attributions&#10;1) Derivative work based on: &#10;Anatomy and physiology of animals A reflex arc.jpg &#10;By Ruth Lawson Otago Polytechnic [CC BY 3.0 (http://creativecommons.org/licenses/by/3.0)], via Wikimedia Commons" id="580" name="Google Shape;580;p57" title="The Nervous System: Peripheral Nervous System (PNS)">
            <a:hlinkClick r:id="rId5"/>
          </p:cNvPr>
          <p:cNvPicPr preferRelativeResize="0"/>
          <p:nvPr/>
        </p:nvPicPr>
        <p:blipFill>
          <a:blip r:embed="rId6">
            <a:alphaModFix/>
          </a:blip>
          <a:stretch>
            <a:fillRect/>
          </a:stretch>
        </p:blipFill>
        <p:spPr>
          <a:xfrm>
            <a:off x="4442926" y="1932051"/>
            <a:ext cx="3706025" cy="2084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8"/>
          <p:cNvSpPr txBox="1"/>
          <p:nvPr>
            <p:ph idx="4294967295" type="title"/>
          </p:nvPr>
        </p:nvSpPr>
        <p:spPr>
          <a:xfrm>
            <a:off x="662490" y="3135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Peripheral Nervous System</a:t>
            </a:r>
            <a:endParaRPr/>
          </a:p>
        </p:txBody>
      </p:sp>
      <p:sp>
        <p:nvSpPr>
          <p:cNvPr id="586" name="Google Shape;586;p58"/>
          <p:cNvSpPr txBox="1"/>
          <p:nvPr/>
        </p:nvSpPr>
        <p:spPr>
          <a:xfrm>
            <a:off x="661175" y="2051375"/>
            <a:ext cx="3945000" cy="2516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1" i="0" lang="en" sz="1600" u="none" cap="none" strike="noStrike">
                <a:solidFill>
                  <a:schemeClr val="dk1"/>
                </a:solidFill>
                <a:latin typeface="Average"/>
                <a:ea typeface="Average"/>
                <a:cs typeface="Average"/>
                <a:sym typeface="Average"/>
              </a:rPr>
              <a:t>Two main divisions:</a:t>
            </a:r>
            <a:endParaRPr/>
          </a:p>
          <a:p>
            <a:pPr indent="-330200" lvl="0" marL="457200" marR="0" rtl="0" algn="l">
              <a:lnSpc>
                <a:spcPct val="100000"/>
              </a:lnSpc>
              <a:spcBef>
                <a:spcPts val="1480"/>
              </a:spcBef>
              <a:spcAft>
                <a:spcPts val="0"/>
              </a:spcAft>
              <a:buClr>
                <a:schemeClr val="dk1"/>
              </a:buClr>
              <a:buSzPts val="1600"/>
              <a:buFont typeface="Average"/>
              <a:buChar char="➢"/>
            </a:pPr>
            <a:r>
              <a:rPr b="0" i="0" lang="en" sz="1600" u="sng" cap="none" strike="noStrike">
                <a:solidFill>
                  <a:schemeClr val="dk1"/>
                </a:solidFill>
                <a:latin typeface="Average"/>
                <a:ea typeface="Average"/>
                <a:cs typeface="Average"/>
                <a:sym typeface="Average"/>
              </a:rPr>
              <a:t>The somatic system</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voluntary control </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carries info from sensory receptors to skeletal muscles using sensory and </a:t>
            </a:r>
            <a:r>
              <a:rPr lang="en">
                <a:solidFill>
                  <a:schemeClr val="dk1"/>
                </a:solidFill>
                <a:latin typeface="Average"/>
                <a:ea typeface="Average"/>
                <a:cs typeface="Average"/>
                <a:sym typeface="Average"/>
              </a:rPr>
              <a:t>motor neurons</a:t>
            </a:r>
            <a:endParaRPr/>
          </a:p>
          <a:p>
            <a:pPr indent="-330200" lvl="0" marL="457200" marR="0" rtl="0" algn="l">
              <a:lnSpc>
                <a:spcPct val="100000"/>
              </a:lnSpc>
              <a:spcBef>
                <a:spcPts val="480"/>
              </a:spcBef>
              <a:spcAft>
                <a:spcPts val="0"/>
              </a:spcAft>
              <a:buClr>
                <a:schemeClr val="dk1"/>
              </a:buClr>
              <a:buSzPts val="1600"/>
              <a:buFont typeface="Average"/>
              <a:buChar char="➢"/>
            </a:pPr>
            <a:r>
              <a:rPr b="0" i="0" lang="en" sz="1600" u="sng" cap="none" strike="noStrike">
                <a:solidFill>
                  <a:schemeClr val="dk1"/>
                </a:solidFill>
                <a:latin typeface="Average"/>
                <a:ea typeface="Average"/>
                <a:cs typeface="Average"/>
                <a:sym typeface="Average"/>
              </a:rPr>
              <a:t>The autonomic system</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involuntary control</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maintains homeostasis (breathing, heart rate)</a:t>
            </a:r>
            <a:endParaRPr/>
          </a:p>
          <a:p>
            <a:pPr indent="0" lvl="0" marL="0" marR="0" rtl="0" algn="l">
              <a:lnSpc>
                <a:spcPct val="100000"/>
              </a:lnSpc>
              <a:spcBef>
                <a:spcPts val="480"/>
              </a:spcBef>
              <a:spcAft>
                <a:spcPts val="0"/>
              </a:spcAft>
              <a:buClr>
                <a:srgbClr val="000000"/>
              </a:buClr>
              <a:buSzPts val="1600"/>
              <a:buFont typeface="Arial"/>
              <a:buNone/>
            </a:pPr>
            <a:r>
              <a:t/>
            </a:r>
            <a:endParaRPr b="0" i="0" sz="1600" u="none" cap="none" strike="noStrike">
              <a:solidFill>
                <a:schemeClr val="dk1"/>
              </a:solidFill>
              <a:latin typeface="Average"/>
              <a:ea typeface="Average"/>
              <a:cs typeface="Average"/>
              <a:sym typeface="Average"/>
            </a:endParaRPr>
          </a:p>
        </p:txBody>
      </p:sp>
      <p:sp>
        <p:nvSpPr>
          <p:cNvPr id="587" name="Google Shape;587;p58"/>
          <p:cNvSpPr txBox="1"/>
          <p:nvPr>
            <p:ph idx="4294967295" type="body"/>
          </p:nvPr>
        </p:nvSpPr>
        <p:spPr>
          <a:xfrm>
            <a:off x="651350" y="1056950"/>
            <a:ext cx="79248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0" i="0" lang="en" sz="1900" u="none" cap="none" strike="noStrike">
                <a:solidFill>
                  <a:srgbClr val="000000"/>
                </a:solidFill>
                <a:latin typeface="Average"/>
                <a:ea typeface="Average"/>
                <a:cs typeface="Average"/>
                <a:sym typeface="Average"/>
              </a:rPr>
              <a:t>The PNS consists of nerves which link the brain and spinal cord to the rest of the body, including sensory organs, muscles, glands, and internal organs. </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588" name="Google Shape;588;p58"/>
          <p:cNvPicPr preferRelativeResize="0"/>
          <p:nvPr/>
        </p:nvPicPr>
        <p:blipFill rotWithShape="1">
          <a:blip r:embed="rId3">
            <a:alphaModFix/>
          </a:blip>
          <a:srcRect b="13607" l="0" r="0" t="0"/>
          <a:stretch/>
        </p:blipFill>
        <p:spPr>
          <a:xfrm>
            <a:off x="4929800" y="2051375"/>
            <a:ext cx="2757500" cy="23823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9"/>
          <p:cNvSpPr txBox="1"/>
          <p:nvPr/>
        </p:nvSpPr>
        <p:spPr>
          <a:xfrm>
            <a:off x="408050" y="1542050"/>
            <a:ext cx="5512500" cy="28737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AutoNum type="arabicParenR"/>
            </a:pPr>
            <a:r>
              <a:rPr b="1" i="0" lang="en" sz="1600" u="none" cap="none" strike="noStrike">
                <a:solidFill>
                  <a:schemeClr val="dk1"/>
                </a:solidFill>
                <a:latin typeface="Average"/>
                <a:ea typeface="Average"/>
                <a:cs typeface="Average"/>
                <a:sym typeface="Average"/>
              </a:rPr>
              <a:t>Sympathetic response (stress response)</a:t>
            </a:r>
            <a:endParaRPr b="1"/>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“fight or flight” response </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activated during </a:t>
            </a:r>
            <a:r>
              <a:rPr b="1" i="0" lang="en" sz="1400" u="none" cap="none" strike="noStrike">
                <a:solidFill>
                  <a:schemeClr val="dk1"/>
                </a:solidFill>
                <a:latin typeface="Average"/>
                <a:ea typeface="Average"/>
                <a:cs typeface="Average"/>
                <a:sym typeface="Average"/>
              </a:rPr>
              <a:t>stressful situations</a:t>
            </a:r>
            <a:endParaRPr b="1"/>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the neurotransmitters acetylcholine &amp;  norepinephrine </a:t>
            </a:r>
            <a:r>
              <a:rPr lang="en">
                <a:solidFill>
                  <a:schemeClr val="dk1"/>
                </a:solidFill>
                <a:latin typeface="Average"/>
                <a:ea typeface="Average"/>
                <a:cs typeface="Average"/>
                <a:sym typeface="Average"/>
              </a:rPr>
              <a:t>are</a:t>
            </a:r>
            <a:r>
              <a:rPr b="0" i="0" lang="en" sz="1400" u="none" cap="none" strike="noStrike">
                <a:solidFill>
                  <a:schemeClr val="dk1"/>
                </a:solidFill>
                <a:latin typeface="Average"/>
                <a:ea typeface="Average"/>
                <a:cs typeface="Average"/>
                <a:sym typeface="Average"/>
              </a:rPr>
              <a:t> released to excite muscles</a:t>
            </a:r>
            <a:endParaRPr/>
          </a:p>
          <a:p>
            <a:pPr indent="-228600" lvl="0" marL="914400" marR="0" rtl="0" algn="l">
              <a:lnSpc>
                <a:spcPct val="100000"/>
              </a:lnSpc>
              <a:spcBef>
                <a:spcPts val="480"/>
              </a:spcBef>
              <a:spcAft>
                <a:spcPts val="0"/>
              </a:spcAft>
              <a:buClr>
                <a:schemeClr val="dk1"/>
              </a:buClr>
              <a:buSzPts val="1400"/>
              <a:buFont typeface="Average"/>
              <a:buChar char="●"/>
            </a:pPr>
            <a:r>
              <a:rPr lang="en">
                <a:solidFill>
                  <a:schemeClr val="dk1"/>
                </a:solidFill>
                <a:latin typeface="Average"/>
                <a:ea typeface="Average"/>
                <a:cs typeface="Average"/>
                <a:sym typeface="Average"/>
              </a:rPr>
              <a:t>Pupils dilate, </a:t>
            </a:r>
            <a:r>
              <a:rPr b="0" i="0" lang="en" sz="1400" u="none" cap="none" strike="noStrike">
                <a:solidFill>
                  <a:schemeClr val="dk1"/>
                </a:solidFill>
                <a:latin typeface="Average"/>
                <a:ea typeface="Average"/>
                <a:cs typeface="Average"/>
                <a:sym typeface="Average"/>
              </a:rPr>
              <a:t>blood pressure increases &amp; heart beats faster to prepare your body</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digestion slows and the bladder is constricted</a:t>
            </a:r>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verage"/>
              <a:ea typeface="Average"/>
              <a:cs typeface="Average"/>
              <a:sym typeface="Average"/>
            </a:endParaRPr>
          </a:p>
          <a:p>
            <a:pPr indent="-330200" lvl="0" marL="457200" marR="0" rtl="0" algn="l">
              <a:lnSpc>
                <a:spcPct val="100000"/>
              </a:lnSpc>
              <a:spcBef>
                <a:spcPts val="480"/>
              </a:spcBef>
              <a:spcAft>
                <a:spcPts val="0"/>
              </a:spcAft>
              <a:buClr>
                <a:schemeClr val="dk1"/>
              </a:buClr>
              <a:buSzPts val="1600"/>
              <a:buFont typeface="Average"/>
              <a:buAutoNum type="arabicParenR" startAt="2"/>
            </a:pPr>
            <a:r>
              <a:rPr b="1" i="0" lang="en" sz="1600" u="none" cap="none" strike="noStrike">
                <a:solidFill>
                  <a:schemeClr val="dk1"/>
                </a:solidFill>
                <a:latin typeface="Average"/>
                <a:ea typeface="Average"/>
                <a:cs typeface="Average"/>
                <a:sym typeface="Average"/>
              </a:rPr>
              <a:t>Parasympathetic response</a:t>
            </a:r>
            <a:endParaRPr b="1"/>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“rest and digest” response</a:t>
            </a:r>
            <a:endParaRPr/>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activated when the body is </a:t>
            </a:r>
            <a:r>
              <a:rPr b="1" i="0" lang="en" sz="1400" u="none" cap="none" strike="noStrike">
                <a:solidFill>
                  <a:schemeClr val="dk1"/>
                </a:solidFill>
                <a:latin typeface="Average"/>
                <a:ea typeface="Average"/>
                <a:cs typeface="Average"/>
                <a:sym typeface="Average"/>
              </a:rPr>
              <a:t>calm and at rest</a:t>
            </a:r>
            <a:endParaRPr b="1"/>
          </a:p>
          <a:p>
            <a:pPr indent="-228600" lvl="0" marL="9144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associated with the neurotransmitter acetylcholine</a:t>
            </a:r>
            <a:endParaRPr/>
          </a:p>
          <a:p>
            <a:pPr indent="-228600" lvl="0" marL="914400" marR="0" rtl="0" algn="l">
              <a:lnSpc>
                <a:spcPct val="100000"/>
              </a:lnSpc>
              <a:spcBef>
                <a:spcPts val="480"/>
              </a:spcBef>
              <a:spcAft>
                <a:spcPts val="0"/>
              </a:spcAft>
              <a:buClr>
                <a:schemeClr val="dk1"/>
              </a:buClr>
              <a:buSzPts val="1400"/>
              <a:buFont typeface="Average"/>
              <a:buChar char="●"/>
            </a:pPr>
            <a:r>
              <a:rPr lang="en">
                <a:solidFill>
                  <a:schemeClr val="dk1"/>
                </a:solidFill>
                <a:latin typeface="Average"/>
                <a:ea typeface="Average"/>
                <a:cs typeface="Average"/>
                <a:sym typeface="Average"/>
              </a:rPr>
              <a:t>Pupils constrict, </a:t>
            </a:r>
            <a:r>
              <a:rPr b="0" i="0" lang="en" sz="1400" u="none" cap="none" strike="noStrike">
                <a:solidFill>
                  <a:schemeClr val="dk1"/>
                </a:solidFill>
                <a:latin typeface="Average"/>
                <a:ea typeface="Average"/>
                <a:cs typeface="Average"/>
                <a:sym typeface="Average"/>
              </a:rPr>
              <a:t>slows heart rate, reduces blood pressure, promotes digestion</a:t>
            </a:r>
            <a:endParaRPr/>
          </a:p>
        </p:txBody>
      </p:sp>
      <p:sp>
        <p:nvSpPr>
          <p:cNvPr id="594" name="Google Shape;594;p59"/>
          <p:cNvSpPr txBox="1"/>
          <p:nvPr>
            <p:ph idx="4294967295" type="body"/>
          </p:nvPr>
        </p:nvSpPr>
        <p:spPr>
          <a:xfrm>
            <a:off x="651400" y="542050"/>
            <a:ext cx="7924800" cy="50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i="0" lang="en" u="none" cap="none" strike="noStrike">
                <a:solidFill>
                  <a:srgbClr val="000000"/>
                </a:solidFill>
                <a:latin typeface="Average"/>
                <a:ea typeface="Average"/>
                <a:cs typeface="Average"/>
                <a:sym typeface="Average"/>
              </a:rPr>
              <a:t>Subdivisions of the autonomic system:</a:t>
            </a:r>
            <a:endParaRPr b="0" i="0" sz="2200" u="none" cap="none" strike="noStrike">
              <a:solidFill>
                <a:srgbClr val="000000"/>
              </a:solidFill>
              <a:latin typeface="Average"/>
              <a:ea typeface="Average"/>
              <a:cs typeface="Average"/>
              <a:sym typeface="Average"/>
            </a:endParaRPr>
          </a:p>
        </p:txBody>
      </p:sp>
      <p:grpSp>
        <p:nvGrpSpPr>
          <p:cNvPr id="595" name="Google Shape;595;p59"/>
          <p:cNvGrpSpPr/>
          <p:nvPr/>
        </p:nvGrpSpPr>
        <p:grpSpPr>
          <a:xfrm>
            <a:off x="5832075" y="1416838"/>
            <a:ext cx="3098400" cy="3124125"/>
            <a:chOff x="5920625" y="1832700"/>
            <a:chExt cx="3098400" cy="3124125"/>
          </a:xfrm>
        </p:grpSpPr>
        <p:pic>
          <p:nvPicPr>
            <p:cNvPr id="596" name="Google Shape;596;p59"/>
            <p:cNvPicPr preferRelativeResize="0"/>
            <p:nvPr/>
          </p:nvPicPr>
          <p:blipFill rotWithShape="1">
            <a:blip r:embed="rId3">
              <a:alphaModFix amt="88000"/>
            </a:blip>
            <a:srcRect b="0" l="0" r="0" t="0"/>
            <a:stretch/>
          </p:blipFill>
          <p:spPr>
            <a:xfrm>
              <a:off x="5920625" y="3217525"/>
              <a:ext cx="2748351" cy="1739300"/>
            </a:xfrm>
            <a:prstGeom prst="rect">
              <a:avLst/>
            </a:prstGeom>
            <a:noFill/>
            <a:ln>
              <a:noFill/>
            </a:ln>
          </p:spPr>
        </p:pic>
        <p:sp>
          <p:nvSpPr>
            <p:cNvPr id="597" name="Google Shape;597;p59"/>
            <p:cNvSpPr/>
            <p:nvPr/>
          </p:nvSpPr>
          <p:spPr>
            <a:xfrm rot="1435449">
              <a:off x="6330055" y="2472793"/>
              <a:ext cx="500830" cy="1260603"/>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59"/>
            <p:cNvSpPr txBox="1"/>
            <p:nvPr/>
          </p:nvSpPr>
          <p:spPr>
            <a:xfrm>
              <a:off x="7000025" y="1832700"/>
              <a:ext cx="2019000" cy="142110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verage"/>
                <a:buNone/>
              </a:pPr>
              <a:r>
                <a:rPr b="0" i="0" lang="en" sz="1100" u="none" cap="none" strike="noStrike">
                  <a:solidFill>
                    <a:srgbClr val="000000"/>
                  </a:solidFill>
                  <a:latin typeface="Average"/>
                  <a:ea typeface="Average"/>
                  <a:cs typeface="Average"/>
                  <a:sym typeface="Average"/>
                </a:rPr>
                <a:t>many of the physiological changes in response to stress are detectable by polygraphs; heart rate, blood pressure, and breathing rate all tend to increase when someone is telling a lie</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descr="We've learned quite a bit about the peripheral nervous system, which has a sensory division and a motor division. The latter is the one that tells the body what to do, and this is divided into the somatic nervous system, which involves voluntary motion, and the autonomic nervous system, which involves all the things our bodies do that we don't consciously control, like the heartbeat, and digestion. This system is divided into a sympathetic division and a parasympathetic division, so let's learn more about what these do!&#10;&#10;Watch the whole Anatomy &amp; Physiology playlist: http://bit.ly/ProfDaveAnatPhys&#10;&#10;General Chemistry Tutorials: http://bit.ly/ProfDaveGenChem&#10;Organic Chemistry Tutorials: http://bit.ly/ProfDaveOrgChem&#10;Biochemistry Tutorials: http://bit.ly/ProfDaveBiochem&#10;Biology/Genetics Tutorials: http://bit.ly/ProfDaveBio&#10;Biopsychology Tutorials: http://bit.ly/ProfDaveBiopsych&#10;Microbiology/Infectious Diseases Tutorials: http://bit.ly/ProfDaveMicrobio&#10;Pharmacology Tutorials: http://bit.ly/ProfDavePharma&#10; History of Drugs Videos: http://bit.ly/ProfDaveHistoryDrugs&#10;Immunology Tutorials: http://bit.ly/ProfDaveImmuno&#10;&#10;EMAIL► ProfessorDaveExplains@gmail.com&#10;PATREON► http://patreon.com/ProfessorDaveExplains&#10;&#10;Check out &quot;Is This Wi-Fi Organic?&quot;, my book on disarming pseudoscience!&#10;Amazon: https://amzn.to/2HtNpVH&#10;Bookshop: https://bit.ly/39cKADM&#10; Barnes and Noble: https://bit.ly/3pUjmrn &#10;Book Depository: http://bit.ly/3aOVDlT" id="603" name="Google Shape;603;p60" title="The Autonomic Nervous System: Sympathetic and Parasympathetic Divisions">
            <a:hlinkClick r:id="rId3"/>
          </p:cNvPr>
          <p:cNvPicPr preferRelativeResize="0"/>
          <p:nvPr/>
        </p:nvPicPr>
        <p:blipFill>
          <a:blip r:embed="rId4">
            <a:alphaModFix/>
          </a:blip>
          <a:stretch>
            <a:fillRect/>
          </a:stretch>
        </p:blipFill>
        <p:spPr>
          <a:xfrm>
            <a:off x="5152925" y="1621413"/>
            <a:ext cx="3378975" cy="1900675"/>
          </a:xfrm>
          <a:prstGeom prst="rect">
            <a:avLst/>
          </a:prstGeom>
          <a:noFill/>
          <a:ln>
            <a:noFill/>
          </a:ln>
        </p:spPr>
      </p:pic>
      <p:pic>
        <p:nvPicPr>
          <p:cNvPr id="604" name="Google Shape;604;p60"/>
          <p:cNvPicPr preferRelativeResize="0"/>
          <p:nvPr/>
        </p:nvPicPr>
        <p:blipFill>
          <a:blip r:embed="rId5">
            <a:alphaModFix/>
          </a:blip>
          <a:stretch>
            <a:fillRect/>
          </a:stretch>
        </p:blipFill>
        <p:spPr>
          <a:xfrm>
            <a:off x="288650" y="152400"/>
            <a:ext cx="4105102" cy="48386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1"/>
          <p:cNvSpPr txBox="1"/>
          <p:nvPr>
            <p:ph type="title"/>
          </p:nvPr>
        </p:nvSpPr>
        <p:spPr>
          <a:xfrm>
            <a:off x="660100" y="579975"/>
            <a:ext cx="80049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Extra: The Stress Response and Anxiety</a:t>
            </a:r>
            <a:endParaRPr sz="2600"/>
          </a:p>
        </p:txBody>
      </p:sp>
      <p:sp>
        <p:nvSpPr>
          <p:cNvPr id="610" name="Google Shape;610;p61"/>
          <p:cNvSpPr txBox="1"/>
          <p:nvPr>
            <p:ph idx="1" type="body"/>
          </p:nvPr>
        </p:nvSpPr>
        <p:spPr>
          <a:xfrm>
            <a:off x="696050" y="1107675"/>
            <a:ext cx="7785000" cy="21459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None/>
            </a:pPr>
            <a:r>
              <a:rPr lang="en" sz="1100">
                <a:solidFill>
                  <a:schemeClr val="dk1"/>
                </a:solidFill>
                <a:highlight>
                  <a:srgbClr val="FFFFFF"/>
                </a:highlight>
                <a:latin typeface="Roboto"/>
                <a:ea typeface="Roboto"/>
                <a:cs typeface="Roboto"/>
                <a:sym typeface="Roboto"/>
              </a:rPr>
              <a:t>The stress response, which triggers when our bodies perceive a threat, served an important evolutionary purpose in helping our ancestors survive dangerous situations. However, in modern times, stressors often aren't physical threats but rather psychological ones like exams, social pressures, or work deadlines. While the stress response can still help us cope with these challenges, if it's triggered too frequently or intensely, it can lead to chronic stress and anxiety. This is because our bodies aren't designed to handle prolonged periods of stress, and the constant activation of the stress response can have negative effects on both our physical and mental health, contributing to conditions like anxiety disorders.</a:t>
            </a:r>
            <a:endParaRPr/>
          </a:p>
        </p:txBody>
      </p:sp>
      <p:pic>
        <p:nvPicPr>
          <p:cNvPr descr="The &quot;fight or flight response&quot; is our body's automatic and primitive, inborn response that prepares the body to &quot;fight&quot; or &quot;flee&quot; from perceived attack, harm or threat to our survival. Sometimes, though, we perceive threat or harm when in reality, things are totally fine. &#10;&#10;This video explains how FFF-responses work, what it does to our body and mind, and how to deal with it.&#10;&#10;Braive AS is a company run by mental health professionals on a mission to make sure people, worldwide, can learn about their own mental health and get access to personalized treatment programs that will help them overcome the challenges they are facing.&#10;&#10;For more information about Braive and our courses please visit our home page at https://braive.com/." id="611" name="Google Shape;611;p61" title="The Fight Flight Freeze Response">
            <a:hlinkClick r:id="rId3"/>
          </p:cNvPr>
          <p:cNvPicPr preferRelativeResize="0"/>
          <p:nvPr/>
        </p:nvPicPr>
        <p:blipFill>
          <a:blip r:embed="rId4">
            <a:alphaModFix/>
          </a:blip>
          <a:stretch>
            <a:fillRect/>
          </a:stretch>
        </p:blipFill>
        <p:spPr>
          <a:xfrm>
            <a:off x="660100" y="3131225"/>
            <a:ext cx="2419025" cy="1360700"/>
          </a:xfrm>
          <a:prstGeom prst="rect">
            <a:avLst/>
          </a:prstGeom>
          <a:noFill/>
          <a:ln>
            <a:noFill/>
          </a:ln>
        </p:spPr>
      </p:pic>
      <p:pic>
        <p:nvPicPr>
          <p:cNvPr descr="Your brilliant, wise, beautiful body has  a counterbalancing force to combat stress and anxiety. It's called the parasympathetic response (that's para as in parachute). And this is the body's natural way of slowing down and creating a sense of calm and safety. Learn how you can use your body's parasympathetic response to feel calmer and more grounded.&#10;&#10;Thanks BetterHelp for sponsoring the video. BetterHelp: Professional, affordable online counseling starting at around $65 a week: https://www.betterhelp.com/therapyinanutshell&#10;&#10;Learn more in one of my in-depth mental health courses: https://courses.therapyinanutshell.com/?utm_campaign=11192020&amp;utm_medium=Description&amp;utm_source=YouTube&#10;Support my mission on Patreon: https://www.patreon.com/therapyinanutshell&#10;Sign up for my newsletter: https://courses.therapyinanutshell.com/free-resources&#10;Check out my favorite self-help books: https://kit.co/TherapyinaNutshell/best-self-help-books&#10;Check out my podcast, Therapy in a Nutshell: https://tinpodcast.podbean.com/&#10;&#10;Therapy in a Nutshell, LLC, and the information provided by Emma McAdam are solely intended for informational and entertainment purposes and are not a substitute for advice, diagnosis, or treatment regarding medical or mental health conditions. Although Emma McAdam is a licensed marriage and family therapist, the views expressed on this site or any related content should not be taken for medical or psychiatric advice. Always consult your physician before making any decisions related to your physical or mental health.&#10;&#10;About Me:&#10;I’m Emma McAdam. I’m a licensed Marriage and Family Therapist, and I have worked in various settings of change and growth since 2004. My experience includes juvenile corrections, adventure therapy programs, wilderness therapy programs, an eating disorder treatment center, a residential treatment center, and I currently work in an outpatient therapy clinic.  &#10;&#10;In therapy I use a combination of Acceptance and Commitment Therapy, Systems Theory, positive psychology, and a bio-psycho-social approach to treating mental illness and other challenges we all face in life. The ideas from my videos are frequently adapted from multiple sources. Many of them come from Acceptance and Commitment Therapy, especially the work of Steven Hayes, Jason Luoma, and Russ Harris. The sections on stress and the mind-body connection derive from the work of Stephen Porges (the Polyvagal theory), Peter Levine (Somatic Experiencing) Francine Shapiro (EMDR), and Bessel Van Der Kolk. I also rely heavily on the work of the Arbinger institute for my overall understanding of our ability to choose our life's direction. &#10;And deeper than all of that, the Gospel of Jesus Christ orients my personal worldview and sense of security, peace, hope, and love https://www.churchofjesuschrist.org/comeuntochrist/believe&#10;&#10;If you are in crisis, please contact the National Suicide Prevention Hotline at https://suicidepreventionlifeline.org/ or 1-800-273-TALK (8255) or your local emergency services.&#10;Copyright Therapy in a Nutshell, LLC&#10;----&#10;Music licensed from www.Bensound.com or Artlist.io&#10;Images from Freepik.com (premium license), Pixabay, or Wikimedia commons" id="612" name="Google Shape;612;p61" title="Turn off Anxiety in Your Nervous System: 4 Ways to Turn on the Parasympathetic Response">
            <a:hlinkClick r:id="rId5"/>
          </p:cNvPr>
          <p:cNvPicPr preferRelativeResize="0"/>
          <p:nvPr/>
        </p:nvPicPr>
        <p:blipFill>
          <a:blip r:embed="rId6">
            <a:alphaModFix/>
          </a:blip>
          <a:stretch>
            <a:fillRect/>
          </a:stretch>
        </p:blipFill>
        <p:spPr>
          <a:xfrm>
            <a:off x="5963800" y="3131225"/>
            <a:ext cx="2632975" cy="1481050"/>
          </a:xfrm>
          <a:prstGeom prst="rect">
            <a:avLst/>
          </a:prstGeom>
          <a:noFill/>
          <a:ln>
            <a:noFill/>
          </a:ln>
        </p:spPr>
      </p:pic>
      <p:sp>
        <p:nvSpPr>
          <p:cNvPr id="613" name="Google Shape;613;p61"/>
          <p:cNvSpPr txBox="1"/>
          <p:nvPr/>
        </p:nvSpPr>
        <p:spPr>
          <a:xfrm>
            <a:off x="3838200" y="3350050"/>
            <a:ext cx="2064300" cy="1043400"/>
          </a:xfrm>
          <a:prstGeom prst="rect">
            <a:avLst/>
          </a:prstGeom>
          <a:solidFill>
            <a:srgbClr val="86D0DC">
              <a:alpha val="625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Verdana"/>
                <a:ea typeface="Verdana"/>
                <a:cs typeface="Verdana"/>
                <a:sym typeface="Verdana"/>
              </a:rPr>
              <a:t>Some strategies to help reduce anxiety based on our understanding of the autonomic nervous system. </a:t>
            </a:r>
            <a:endParaRPr sz="12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2"/>
          <p:cNvSpPr txBox="1"/>
          <p:nvPr>
            <p:ph idx="4294967295" type="title"/>
          </p:nvPr>
        </p:nvSpPr>
        <p:spPr>
          <a:xfrm>
            <a:off x="6624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Central Nervous System</a:t>
            </a:r>
            <a:endParaRPr/>
          </a:p>
        </p:txBody>
      </p:sp>
      <p:sp>
        <p:nvSpPr>
          <p:cNvPr id="619" name="Google Shape;619;p62"/>
          <p:cNvSpPr txBox="1"/>
          <p:nvPr/>
        </p:nvSpPr>
        <p:spPr>
          <a:xfrm>
            <a:off x="737375" y="1975175"/>
            <a:ext cx="3945000" cy="23661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Damage to the CNS can affect everything from temperament and motor control to the maintenance of homeostasis depending on which region is harmed. </a:t>
            </a:r>
            <a:endParaRPr/>
          </a:p>
          <a:p>
            <a:pPr indent="-330200" lvl="0" marL="457200" marR="0" rtl="0" algn="l">
              <a:lnSpc>
                <a:spcPct val="100000"/>
              </a:lnSpc>
              <a:spcBef>
                <a:spcPts val="1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The CNS consists of two types of nervous tissue: </a:t>
            </a:r>
            <a:r>
              <a:rPr b="1" i="0" lang="en" sz="1600" u="none" cap="none" strike="noStrike">
                <a:solidFill>
                  <a:schemeClr val="dk1"/>
                </a:solidFill>
                <a:latin typeface="Average"/>
                <a:ea typeface="Average"/>
                <a:cs typeface="Average"/>
                <a:sym typeface="Average"/>
              </a:rPr>
              <a:t>grey matter (unmyelinated neurons)</a:t>
            </a:r>
            <a:r>
              <a:rPr b="0" i="0" lang="en" sz="1600" u="none" cap="none" strike="noStrike">
                <a:solidFill>
                  <a:schemeClr val="dk1"/>
                </a:solidFill>
                <a:latin typeface="Average"/>
                <a:ea typeface="Average"/>
                <a:cs typeface="Average"/>
                <a:sym typeface="Average"/>
              </a:rPr>
              <a:t> &amp; </a:t>
            </a:r>
            <a:r>
              <a:rPr b="1" i="0" lang="en" sz="1600" u="none" cap="none" strike="noStrike">
                <a:solidFill>
                  <a:schemeClr val="dk1"/>
                </a:solidFill>
                <a:latin typeface="Average"/>
                <a:ea typeface="Average"/>
                <a:cs typeface="Average"/>
                <a:sym typeface="Average"/>
              </a:rPr>
              <a:t>white matter (</a:t>
            </a:r>
            <a:r>
              <a:rPr b="1" lang="en" sz="1600">
                <a:solidFill>
                  <a:schemeClr val="dk1"/>
                </a:solidFill>
                <a:latin typeface="Average"/>
                <a:ea typeface="Average"/>
                <a:cs typeface="Average"/>
                <a:sym typeface="Average"/>
              </a:rPr>
              <a:t>myelinated neurons)</a:t>
            </a:r>
            <a:endParaRPr b="1"/>
          </a:p>
        </p:txBody>
      </p:sp>
      <p:sp>
        <p:nvSpPr>
          <p:cNvPr id="620" name="Google Shape;620;p62"/>
          <p:cNvSpPr txBox="1"/>
          <p:nvPr>
            <p:ph idx="4294967295" type="body"/>
          </p:nvPr>
        </p:nvSpPr>
        <p:spPr>
          <a:xfrm>
            <a:off x="651350" y="1133150"/>
            <a:ext cx="79248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0" i="0" lang="en" sz="1900" u="none" cap="none" strike="noStrike">
                <a:solidFill>
                  <a:srgbClr val="000000"/>
                </a:solidFill>
                <a:latin typeface="Average"/>
                <a:ea typeface="Average"/>
                <a:cs typeface="Average"/>
                <a:sym typeface="Average"/>
              </a:rPr>
              <a:t>Composed of the </a:t>
            </a:r>
            <a:r>
              <a:rPr b="1" i="0" lang="en" sz="1900" u="none" cap="none" strike="noStrike">
                <a:solidFill>
                  <a:srgbClr val="000000"/>
                </a:solidFill>
                <a:latin typeface="Average"/>
                <a:ea typeface="Average"/>
                <a:cs typeface="Average"/>
                <a:sym typeface="Average"/>
              </a:rPr>
              <a:t>brain and spinal cord</a:t>
            </a:r>
            <a:r>
              <a:rPr b="0" i="0" lang="en" sz="1900" u="none" cap="none" strike="noStrike">
                <a:solidFill>
                  <a:srgbClr val="000000"/>
                </a:solidFill>
                <a:latin typeface="Average"/>
                <a:ea typeface="Average"/>
                <a:cs typeface="Average"/>
                <a:sym typeface="Average"/>
              </a:rPr>
              <a:t>, the central nervous system is the site of neural integration and processing. </a:t>
            </a:r>
            <a:endParaRPr/>
          </a:p>
          <a:p>
            <a:pPr indent="0" lvl="0" marL="0" marR="0" rtl="0" algn="l">
              <a:lnSpc>
                <a:spcPct val="100000"/>
              </a:lnSpc>
              <a:spcBef>
                <a:spcPts val="0"/>
              </a:spcBef>
              <a:spcAft>
                <a:spcPts val="0"/>
              </a:spcAft>
              <a:buClr>
                <a:schemeClr val="accent1"/>
              </a:buClr>
              <a:buSzPts val="608"/>
              <a:buFont typeface="Noto Sans Symbols"/>
              <a:buNone/>
            </a:pPr>
            <a:r>
              <a:t/>
            </a:r>
            <a:endParaRPr b="0" i="0" sz="800" u="none" cap="none" strike="noStrike">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621" name="Google Shape;621;p62"/>
          <p:cNvPicPr preferRelativeResize="0"/>
          <p:nvPr/>
        </p:nvPicPr>
        <p:blipFill rotWithShape="1">
          <a:blip r:embed="rId3">
            <a:alphaModFix/>
          </a:blip>
          <a:srcRect b="6139" l="0" r="0" t="0"/>
          <a:stretch/>
        </p:blipFill>
        <p:spPr>
          <a:xfrm>
            <a:off x="4960225" y="2145625"/>
            <a:ext cx="2857399" cy="2145624"/>
          </a:xfrm>
          <a:prstGeom prst="rect">
            <a:avLst/>
          </a:prstGeom>
          <a:noFill/>
          <a:ln cap="flat" cmpd="sng" w="19050">
            <a:solidFill>
              <a:srgbClr val="999999"/>
            </a:solidFill>
            <a:prstDash val="solid"/>
            <a:round/>
            <a:headEnd len="sm" w="sm" type="none"/>
            <a:tailEnd len="sm" w="sm" type="none"/>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63"/>
          <p:cNvSpPr txBox="1"/>
          <p:nvPr>
            <p:ph idx="4294967295" type="title"/>
          </p:nvPr>
        </p:nvSpPr>
        <p:spPr>
          <a:xfrm>
            <a:off x="662490" y="2373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The Spinal Cord</a:t>
            </a:r>
            <a:endParaRPr/>
          </a:p>
        </p:txBody>
      </p:sp>
      <p:sp>
        <p:nvSpPr>
          <p:cNvPr id="627" name="Google Shape;627;p63"/>
          <p:cNvSpPr txBox="1"/>
          <p:nvPr>
            <p:ph idx="4294967295" type="body"/>
          </p:nvPr>
        </p:nvSpPr>
        <p:spPr>
          <a:xfrm>
            <a:off x="651350" y="1104900"/>
            <a:ext cx="7548000" cy="66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912"/>
              <a:buFont typeface="Noto Sans Symbols"/>
              <a:buNone/>
            </a:pPr>
            <a:r>
              <a:rPr b="0" i="0" lang="en" sz="1800" u="none" cap="none" strike="noStrike">
                <a:solidFill>
                  <a:srgbClr val="000000"/>
                </a:solidFill>
                <a:latin typeface="Average"/>
                <a:ea typeface="Average"/>
                <a:cs typeface="Average"/>
                <a:sym typeface="Average"/>
              </a:rPr>
              <a:t>The spinal cord provides a vital link for communication between the brain and peripheral nervous system</a:t>
            </a:r>
            <a:r>
              <a:rPr lang="en" sz="1800">
                <a:solidFill>
                  <a:srgbClr val="000000"/>
                </a:solidFill>
                <a:latin typeface="Average"/>
                <a:ea typeface="Average"/>
                <a:cs typeface="Average"/>
                <a:sym typeface="Average"/>
              </a:rPr>
              <a:t>… </a:t>
            </a:r>
            <a:endParaRPr b="0" i="0" sz="1800" u="none" cap="none" strike="noStrike">
              <a:solidFill>
                <a:srgbClr val="000000"/>
              </a:solidFill>
              <a:latin typeface="Average"/>
              <a:ea typeface="Average"/>
              <a:cs typeface="Average"/>
              <a:sym typeface="Average"/>
            </a:endParaRPr>
          </a:p>
        </p:txBody>
      </p:sp>
      <p:pic>
        <p:nvPicPr>
          <p:cNvPr id="628" name="Google Shape;628;p63"/>
          <p:cNvPicPr preferRelativeResize="0"/>
          <p:nvPr/>
        </p:nvPicPr>
        <p:blipFill>
          <a:blip r:embed="rId3">
            <a:alphaModFix/>
          </a:blip>
          <a:stretch>
            <a:fillRect/>
          </a:stretch>
        </p:blipFill>
        <p:spPr>
          <a:xfrm>
            <a:off x="761975" y="1993225"/>
            <a:ext cx="3481550" cy="2785250"/>
          </a:xfrm>
          <a:prstGeom prst="rect">
            <a:avLst/>
          </a:prstGeom>
          <a:noFill/>
          <a:ln>
            <a:noFill/>
          </a:ln>
        </p:spPr>
      </p:pic>
      <p:pic>
        <p:nvPicPr>
          <p:cNvPr id="629" name="Google Shape;629;p63"/>
          <p:cNvPicPr preferRelativeResize="0"/>
          <p:nvPr/>
        </p:nvPicPr>
        <p:blipFill>
          <a:blip r:embed="rId4">
            <a:alphaModFix/>
          </a:blip>
          <a:stretch>
            <a:fillRect/>
          </a:stretch>
        </p:blipFill>
        <p:spPr>
          <a:xfrm>
            <a:off x="4965450" y="2173138"/>
            <a:ext cx="3233900" cy="24254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4"/>
          <p:cNvSpPr txBox="1"/>
          <p:nvPr/>
        </p:nvSpPr>
        <p:spPr>
          <a:xfrm>
            <a:off x="799750" y="1038025"/>
            <a:ext cx="4567800" cy="3357600"/>
          </a:xfrm>
          <a:prstGeom prst="rect">
            <a:avLst/>
          </a:prstGeom>
          <a:noFill/>
          <a:ln>
            <a:noFill/>
          </a:ln>
        </p:spPr>
        <p:txBody>
          <a:bodyPr anchorCtr="0" anchor="ctr" bIns="91425" lIns="91425" spcFirstLastPara="1" rIns="91425" wrap="square" tIns="91425">
            <a:noAutofit/>
          </a:bodyPr>
          <a:lstStyle/>
          <a:p>
            <a:pPr indent="-254000" lvl="0" marL="457200" marR="0" rtl="0" algn="l">
              <a:lnSpc>
                <a:spcPct val="100000"/>
              </a:lnSpc>
              <a:spcBef>
                <a:spcPts val="0"/>
              </a:spcBef>
              <a:spcAft>
                <a:spcPts val="0"/>
              </a:spcAft>
              <a:buClr>
                <a:schemeClr val="dk1"/>
              </a:buClr>
              <a:buSzPts val="1800"/>
              <a:buFont typeface="Average"/>
              <a:buChar char="➢"/>
            </a:pPr>
            <a:r>
              <a:rPr b="0" i="0" lang="en" sz="1800" u="none" cap="none" strike="noStrike">
                <a:solidFill>
                  <a:schemeClr val="dk1"/>
                </a:solidFill>
                <a:latin typeface="Average"/>
                <a:ea typeface="Average"/>
                <a:cs typeface="Average"/>
                <a:sym typeface="Average"/>
              </a:rPr>
              <a:t>Each segment of the spinal cord is responsible for specific functions.</a:t>
            </a:r>
            <a:endParaRPr b="0" i="0" sz="1800" u="none" cap="none" strike="noStrike">
              <a:solidFill>
                <a:schemeClr val="dk1"/>
              </a:solidFill>
              <a:latin typeface="Average"/>
              <a:ea typeface="Average"/>
              <a:cs typeface="Average"/>
              <a:sym typeface="Average"/>
            </a:endParaRPr>
          </a:p>
          <a:p>
            <a:pPr indent="0" lvl="0" marL="457200" marR="0" rtl="0" algn="l">
              <a:lnSpc>
                <a:spcPct val="100000"/>
              </a:lnSpc>
              <a:spcBef>
                <a:spcPts val="0"/>
              </a:spcBef>
              <a:spcAft>
                <a:spcPts val="0"/>
              </a:spcAft>
              <a:buNone/>
            </a:pPr>
            <a:r>
              <a:rPr i="1" lang="en" sz="1100">
                <a:solidFill>
                  <a:schemeClr val="dk1"/>
                </a:solidFill>
                <a:latin typeface="Average"/>
                <a:ea typeface="Average"/>
                <a:cs typeface="Average"/>
                <a:sym typeface="Average"/>
              </a:rPr>
              <a:t>(Note: you don’t need to memorize the specific regions or what they affect)</a:t>
            </a:r>
            <a:endParaRPr i="1" sz="1100">
              <a:solidFill>
                <a:schemeClr val="dk1"/>
              </a:solidFill>
              <a:latin typeface="Average"/>
              <a:ea typeface="Average"/>
              <a:cs typeface="Average"/>
              <a:sym typeface="Average"/>
            </a:endParaRPr>
          </a:p>
          <a:p>
            <a:pPr indent="-254000" lvl="0" marL="457200" marR="0" rtl="0" algn="l">
              <a:lnSpc>
                <a:spcPct val="100000"/>
              </a:lnSpc>
              <a:spcBef>
                <a:spcPts val="1480"/>
              </a:spcBef>
              <a:spcAft>
                <a:spcPts val="0"/>
              </a:spcAft>
              <a:buClr>
                <a:schemeClr val="dk1"/>
              </a:buClr>
              <a:buSzPts val="1800"/>
              <a:buFont typeface="Average"/>
              <a:buChar char="➢"/>
            </a:pPr>
            <a:r>
              <a:rPr b="0" i="0" lang="en" sz="1800" u="none" cap="none" strike="noStrike">
                <a:solidFill>
                  <a:schemeClr val="dk1"/>
                </a:solidFill>
                <a:latin typeface="Average"/>
                <a:ea typeface="Average"/>
                <a:cs typeface="Average"/>
                <a:sym typeface="Average"/>
              </a:rPr>
              <a:t>The delicate tissues of the spinal cord are </a:t>
            </a:r>
            <a:r>
              <a:rPr b="1" i="0" lang="en" sz="1800" u="none" cap="none" strike="noStrike">
                <a:solidFill>
                  <a:schemeClr val="dk1"/>
                </a:solidFill>
                <a:latin typeface="Average"/>
                <a:ea typeface="Average"/>
                <a:cs typeface="Average"/>
                <a:sym typeface="Average"/>
              </a:rPr>
              <a:t>protected by cerebrospinal fluid </a:t>
            </a:r>
            <a:r>
              <a:rPr b="0" i="0" lang="en" sz="1800" u="none" cap="none" strike="noStrike">
                <a:solidFill>
                  <a:schemeClr val="dk1"/>
                </a:solidFill>
                <a:latin typeface="Average"/>
                <a:ea typeface="Average"/>
                <a:cs typeface="Average"/>
                <a:sym typeface="Average"/>
              </a:rPr>
              <a:t>and a series of vertebrae.</a:t>
            </a:r>
            <a:endParaRPr sz="1800"/>
          </a:p>
          <a:p>
            <a:pPr indent="-254000" lvl="0" marL="457200" marR="0" rtl="0" algn="l">
              <a:lnSpc>
                <a:spcPct val="100000"/>
              </a:lnSpc>
              <a:spcBef>
                <a:spcPts val="1480"/>
              </a:spcBef>
              <a:spcAft>
                <a:spcPts val="0"/>
              </a:spcAft>
              <a:buClr>
                <a:schemeClr val="dk1"/>
              </a:buClr>
              <a:buSzPts val="1800"/>
              <a:buFont typeface="Average"/>
              <a:buChar char="➢"/>
            </a:pPr>
            <a:r>
              <a:rPr b="0" i="0" lang="en" sz="1800" u="none" cap="none" strike="noStrike">
                <a:solidFill>
                  <a:schemeClr val="dk1"/>
                </a:solidFill>
                <a:latin typeface="Average"/>
                <a:ea typeface="Average"/>
                <a:cs typeface="Average"/>
                <a:sym typeface="Average"/>
              </a:rPr>
              <a:t>Injury to areas of the spinal column closer to the brain results in the loss of more functions compared to injury of areas closer to the abdomen.</a:t>
            </a:r>
            <a:endParaRPr sz="1800"/>
          </a:p>
        </p:txBody>
      </p:sp>
      <p:pic>
        <p:nvPicPr>
          <p:cNvPr id="635" name="Google Shape;635;p64"/>
          <p:cNvPicPr preferRelativeResize="0"/>
          <p:nvPr/>
        </p:nvPicPr>
        <p:blipFill rotWithShape="1">
          <a:blip r:embed="rId3">
            <a:alphaModFix/>
          </a:blip>
          <a:srcRect b="0" l="0" r="0" t="0"/>
          <a:stretch/>
        </p:blipFill>
        <p:spPr>
          <a:xfrm>
            <a:off x="5495525" y="609375"/>
            <a:ext cx="2472050" cy="41653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65"/>
          <p:cNvSpPr txBox="1"/>
          <p:nvPr>
            <p:ph idx="4294967295" type="title"/>
          </p:nvPr>
        </p:nvSpPr>
        <p:spPr>
          <a:xfrm>
            <a:off x="662490" y="2373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Extra: </a:t>
            </a:r>
            <a:r>
              <a:rPr b="1" i="0" lang="en" sz="3000" u="none" cap="none" strike="noStrike">
                <a:solidFill>
                  <a:schemeClr val="accent1"/>
                </a:solidFill>
                <a:latin typeface="Average"/>
                <a:ea typeface="Average"/>
                <a:cs typeface="Average"/>
                <a:sym typeface="Average"/>
              </a:rPr>
              <a:t>Levels of Paralysis</a:t>
            </a:r>
            <a:endParaRPr/>
          </a:p>
        </p:txBody>
      </p:sp>
      <p:sp>
        <p:nvSpPr>
          <p:cNvPr id="641" name="Google Shape;641;p65"/>
          <p:cNvSpPr txBox="1"/>
          <p:nvPr/>
        </p:nvSpPr>
        <p:spPr>
          <a:xfrm>
            <a:off x="571150" y="2113550"/>
            <a:ext cx="4422000" cy="2546700"/>
          </a:xfrm>
          <a:prstGeom prst="rect">
            <a:avLst/>
          </a:prstGeom>
          <a:noFill/>
          <a:ln>
            <a:noFill/>
          </a:ln>
        </p:spPr>
        <p:txBody>
          <a:bodyPr anchorCtr="0" anchor="ctr" bIns="91425" lIns="91425" spcFirstLastPara="1" rIns="91425" wrap="square" tIns="91425">
            <a:noAutofit/>
          </a:bodyPr>
          <a:lstStyle/>
          <a:p>
            <a:pPr indent="-311150" lvl="0" marL="457200" marR="0" rtl="0" algn="l">
              <a:lnSpc>
                <a:spcPct val="100000"/>
              </a:lnSpc>
              <a:spcBef>
                <a:spcPts val="0"/>
              </a:spcBef>
              <a:spcAft>
                <a:spcPts val="0"/>
              </a:spcAft>
              <a:buClr>
                <a:schemeClr val="dk1"/>
              </a:buClr>
              <a:buSzPts val="1300"/>
              <a:buFont typeface="Average"/>
              <a:buChar char="➢"/>
            </a:pPr>
            <a:r>
              <a:rPr b="1" i="0" lang="en" sz="1300" u="none" cap="none" strike="noStrike">
                <a:solidFill>
                  <a:schemeClr val="dk1"/>
                </a:solidFill>
                <a:latin typeface="Average"/>
                <a:ea typeface="Average"/>
                <a:cs typeface="Average"/>
                <a:sym typeface="Average"/>
              </a:rPr>
              <a:t>Paraplegia: </a:t>
            </a:r>
            <a:r>
              <a:rPr b="0" i="0" lang="en" sz="1300" u="none" cap="none" strike="noStrike">
                <a:solidFill>
                  <a:schemeClr val="dk1"/>
                </a:solidFill>
                <a:latin typeface="Average"/>
                <a:ea typeface="Average"/>
                <a:cs typeface="Average"/>
                <a:sym typeface="Average"/>
              </a:rPr>
              <a:t>If the injury occurs below the first thoracic vertebrae in the upper back region, the paralysis is likely to be confined to the legs. A paraplegic patient will retain full use of their arms and hands.</a:t>
            </a:r>
            <a:endParaRPr/>
          </a:p>
          <a:p>
            <a:pPr indent="-311150" lvl="0" marL="457200" marR="0" rtl="0" algn="l">
              <a:lnSpc>
                <a:spcPct val="100000"/>
              </a:lnSpc>
              <a:spcBef>
                <a:spcPts val="1480"/>
              </a:spcBef>
              <a:spcAft>
                <a:spcPts val="0"/>
              </a:spcAft>
              <a:buClr>
                <a:schemeClr val="dk1"/>
              </a:buClr>
              <a:buSzPts val="1300"/>
              <a:buFont typeface="Average"/>
              <a:buChar char="➢"/>
            </a:pPr>
            <a:r>
              <a:rPr b="1" i="0" lang="en" sz="1300" u="none" cap="none" strike="noStrike">
                <a:solidFill>
                  <a:schemeClr val="dk1"/>
                </a:solidFill>
                <a:latin typeface="Average"/>
                <a:ea typeface="Average"/>
                <a:cs typeface="Average"/>
                <a:sym typeface="Average"/>
              </a:rPr>
              <a:t>Quadriplegia:</a:t>
            </a:r>
            <a:r>
              <a:rPr b="0" i="0" lang="en" sz="1300" u="none" cap="none" strike="noStrike">
                <a:solidFill>
                  <a:schemeClr val="dk1"/>
                </a:solidFill>
                <a:latin typeface="Average"/>
                <a:ea typeface="Average"/>
                <a:cs typeface="Average"/>
                <a:sym typeface="Average"/>
              </a:rPr>
              <a:t> If the injury occurs above the first thoracic vertebrae in the cervical vertebrae or neck region of the body, the paralysis generally results in loss of movement in all limbs. Abdominal and chest muscles may also be affected, resulting in weakened breathing and the inability to properly cough to clear the chest. </a:t>
            </a:r>
            <a:endParaRPr/>
          </a:p>
        </p:txBody>
      </p:sp>
      <p:sp>
        <p:nvSpPr>
          <p:cNvPr id="642" name="Google Shape;642;p65"/>
          <p:cNvSpPr txBox="1"/>
          <p:nvPr>
            <p:ph idx="4294967295" type="body"/>
          </p:nvPr>
        </p:nvSpPr>
        <p:spPr>
          <a:xfrm>
            <a:off x="685450" y="1018550"/>
            <a:ext cx="4498200" cy="118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16"/>
              <a:buFont typeface="Noto Sans Symbols"/>
              <a:buNone/>
            </a:pPr>
            <a:r>
              <a:rPr b="0" i="0" lang="en" sz="1600" u="none" cap="none" strike="noStrike">
                <a:solidFill>
                  <a:srgbClr val="000000"/>
                </a:solidFill>
                <a:latin typeface="Average"/>
                <a:ea typeface="Average"/>
                <a:cs typeface="Average"/>
                <a:sym typeface="Average"/>
              </a:rPr>
              <a:t>A spinal cord injury usually results in the area of the body below the injury site being partially or completely unable to communicate with the brain. </a:t>
            </a:r>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643" name="Google Shape;643;p65"/>
          <p:cNvPicPr preferRelativeResize="0"/>
          <p:nvPr/>
        </p:nvPicPr>
        <p:blipFill rotWithShape="1">
          <a:blip r:embed="rId3">
            <a:alphaModFix/>
          </a:blip>
          <a:srcRect b="0" l="0" r="0" t="0"/>
          <a:stretch/>
        </p:blipFill>
        <p:spPr>
          <a:xfrm>
            <a:off x="5530425" y="860204"/>
            <a:ext cx="2066649" cy="3647650"/>
          </a:xfrm>
          <a:prstGeom prst="rect">
            <a:avLst/>
          </a:prstGeom>
          <a:noFill/>
          <a:ln>
            <a:noFill/>
          </a:ln>
        </p:spPr>
      </p:pic>
      <p:sp>
        <p:nvSpPr>
          <p:cNvPr id="644" name="Google Shape;644;p65"/>
          <p:cNvSpPr txBox="1"/>
          <p:nvPr/>
        </p:nvSpPr>
        <p:spPr>
          <a:xfrm>
            <a:off x="6998350" y="2753275"/>
            <a:ext cx="1533900" cy="1574100"/>
          </a:xfrm>
          <a:prstGeom prst="rect">
            <a:avLst/>
          </a:prstGeom>
          <a:solidFill>
            <a:schemeClr val="lt1"/>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verage"/>
              <a:buNone/>
            </a:pPr>
            <a:r>
              <a:rPr b="0" i="0" lang="en" sz="1100" u="none" cap="none" strike="noStrike">
                <a:solidFill>
                  <a:srgbClr val="000000"/>
                </a:solidFill>
                <a:latin typeface="Average"/>
                <a:ea typeface="Average"/>
                <a:cs typeface="Average"/>
                <a:sym typeface="Average"/>
              </a:rPr>
              <a:t>Paraplegic patients are not necessarily confined to a </a:t>
            </a:r>
            <a:r>
              <a:rPr lang="en" sz="1100">
                <a:latin typeface="Average"/>
                <a:ea typeface="Average"/>
                <a:cs typeface="Average"/>
                <a:sym typeface="Average"/>
              </a:rPr>
              <a:t>wheelchair</a:t>
            </a:r>
            <a:r>
              <a:rPr b="0" i="0" lang="en" sz="1100" u="none" cap="none" strike="noStrike">
                <a:solidFill>
                  <a:srgbClr val="000000"/>
                </a:solidFill>
                <a:latin typeface="Average"/>
                <a:ea typeface="Average"/>
                <a:cs typeface="Average"/>
                <a:sym typeface="Average"/>
              </a:rPr>
              <a:t>; modern prosthetics and stem cell treatment can provide an increased level of mobility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6"/>
          <p:cNvSpPr txBox="1"/>
          <p:nvPr>
            <p:ph idx="4294967295" type="title"/>
          </p:nvPr>
        </p:nvSpPr>
        <p:spPr>
          <a:xfrm>
            <a:off x="662490" y="2373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The Brain</a:t>
            </a:r>
            <a:endParaRPr/>
          </a:p>
        </p:txBody>
      </p:sp>
      <p:sp>
        <p:nvSpPr>
          <p:cNvPr id="650" name="Google Shape;650;p66"/>
          <p:cNvSpPr txBox="1"/>
          <p:nvPr>
            <p:ph idx="4294967295" type="body"/>
          </p:nvPr>
        </p:nvSpPr>
        <p:spPr>
          <a:xfrm>
            <a:off x="651350" y="952500"/>
            <a:ext cx="7560300" cy="118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68"/>
              <a:buFont typeface="Noto Sans Symbols"/>
              <a:buNone/>
            </a:pPr>
            <a:r>
              <a:rPr b="0" i="0" lang="en" sz="1800" u="none" cap="none" strike="noStrike">
                <a:solidFill>
                  <a:srgbClr val="000000"/>
                </a:solidFill>
                <a:latin typeface="Average"/>
                <a:ea typeface="Average"/>
                <a:cs typeface="Average"/>
                <a:sym typeface="Average"/>
              </a:rPr>
              <a:t>The brain is the cent</a:t>
            </a:r>
            <a:r>
              <a:rPr lang="en" sz="1800">
                <a:solidFill>
                  <a:srgbClr val="000000"/>
                </a:solidFill>
                <a:latin typeface="Average"/>
                <a:ea typeface="Average"/>
                <a:cs typeface="Average"/>
                <a:sym typeface="Average"/>
              </a:rPr>
              <a:t>er</a:t>
            </a:r>
            <a:r>
              <a:rPr b="0" i="0" lang="en" sz="1800" u="none" cap="none" strike="noStrike">
                <a:solidFill>
                  <a:srgbClr val="000000"/>
                </a:solidFill>
                <a:latin typeface="Average"/>
                <a:ea typeface="Average"/>
                <a:cs typeface="Average"/>
                <a:sym typeface="Average"/>
              </a:rPr>
              <a:t> for intelligence, consciousness, and emotion. It also regulates bodily functions without conscious thought (e.g. breathing). </a:t>
            </a:r>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descr="Today Hank talks about your central nervous system. In this episode we'll explore how your brain develops and how important location is for each of your brain's many functions.&#10;&#10;Table of Contents&#10;Central Nervous System, Location and Brain Function 1:48&#10;Brain Development 3:21&#10;Neural Tube 3:27&#10;Three Primary Vesicles 3:37&#10;Four Adult Structures and Their Basic Functions 4:17&#10;&#10;***&#10;&#10;Crash Course is now on Patreon! You can support us directly (and, until April 30th, have your contributions matched by Patreon!) by signing up at http://www.patreon.com/crashcourse&#10;&#10;***SUBBABLE MESSAGES***&#10;&#10;TO: Clay Compton&#10;FROM: Bill Compton&#10;&#10;Happy birthday, Dad!&#10;&#10;--&#10;&#10;TO: My Psychology Students&#10;FROM: Dr. Caitlin Faas&#10;&#10;Any observant eyes catching this message? We love Crash Course!&#10;&#10;***SUPPORTER THANK YOU!***&#10;&#10;Thank you so much to all of our awesome supporters for their contributions to help make Crash Course possible and freely available for everyone forever:&#10;&#10;Creatrix Tiara&#10;Dr. Sarah Hinzman&#10;Caroline Haas&#10;Mason R Norris&#10;Alton Toth of Sechelt&#10;Rodrigo Groppa&#10;Sönke&#10;Rebecca Karger&#10;Gregle&#10;Ariana Flewelling (@EdTechAri)&#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651" name="Google Shape;651;p66" title="Central Nervous System: Crash Course A&amp;P #11">
            <a:hlinkClick r:id="rId3"/>
          </p:cNvPr>
          <p:cNvPicPr preferRelativeResize="0"/>
          <p:nvPr/>
        </p:nvPicPr>
        <p:blipFill>
          <a:blip r:embed="rId4">
            <a:alphaModFix/>
          </a:blip>
          <a:stretch>
            <a:fillRect/>
          </a:stretch>
        </p:blipFill>
        <p:spPr>
          <a:xfrm>
            <a:off x="770500" y="2519300"/>
            <a:ext cx="2909975" cy="2182475"/>
          </a:xfrm>
          <a:prstGeom prst="rect">
            <a:avLst/>
          </a:prstGeom>
          <a:noFill/>
          <a:ln>
            <a:noFill/>
          </a:ln>
        </p:spPr>
      </p:pic>
      <p:sp>
        <p:nvSpPr>
          <p:cNvPr id="652" name="Google Shape;652;p66"/>
          <p:cNvSpPr txBox="1"/>
          <p:nvPr/>
        </p:nvSpPr>
        <p:spPr>
          <a:xfrm>
            <a:off x="4210450" y="1973088"/>
            <a:ext cx="4268700" cy="250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Average"/>
              <a:buChar char="●"/>
            </a:pPr>
            <a:r>
              <a:rPr lang="en">
                <a:latin typeface="Average"/>
                <a:ea typeface="Average"/>
                <a:cs typeface="Average"/>
                <a:sym typeface="Average"/>
              </a:rPr>
              <a:t>Enclosed within the skull, the brain is surrounded by a tough three-layer membrane known as the </a:t>
            </a:r>
            <a:r>
              <a:rPr i="1" lang="en">
                <a:latin typeface="Average"/>
                <a:ea typeface="Average"/>
                <a:cs typeface="Average"/>
                <a:sym typeface="Average"/>
              </a:rPr>
              <a:t>meninges.</a:t>
            </a:r>
            <a:endParaRPr>
              <a:latin typeface="Average"/>
              <a:ea typeface="Average"/>
              <a:cs typeface="Average"/>
              <a:sym typeface="Average"/>
            </a:endParaRPr>
          </a:p>
          <a:p>
            <a:pPr indent="-317500" lvl="0" marL="457200" rtl="0" algn="l">
              <a:spcBef>
                <a:spcPts val="1000"/>
              </a:spcBef>
              <a:spcAft>
                <a:spcPts val="1000"/>
              </a:spcAft>
              <a:buSzPts val="1400"/>
              <a:buFont typeface="Average"/>
              <a:buChar char="●"/>
            </a:pPr>
            <a:r>
              <a:rPr b="1" lang="en">
                <a:latin typeface="Average"/>
                <a:ea typeface="Average"/>
                <a:cs typeface="Average"/>
                <a:sym typeface="Average"/>
              </a:rPr>
              <a:t>Cerebrospinal fluid</a:t>
            </a:r>
            <a:r>
              <a:rPr lang="en">
                <a:latin typeface="Average"/>
                <a:ea typeface="Average"/>
                <a:cs typeface="Average"/>
                <a:sym typeface="Average"/>
              </a:rPr>
              <a:t> circulates between the meninges and the spinal cord, acting as a shock absorber and a transport medium, carrying nutrients &amp; waste to and from brain cells. </a:t>
            </a:r>
            <a:endParaRPr>
              <a:latin typeface="Average"/>
              <a:ea typeface="Average"/>
              <a:cs typeface="Average"/>
              <a:sym typeface="Average"/>
            </a:endParaRPr>
          </a:p>
        </p:txBody>
      </p:sp>
      <p:sp>
        <p:nvSpPr>
          <p:cNvPr id="653" name="Google Shape;653;p66"/>
          <p:cNvSpPr txBox="1"/>
          <p:nvPr/>
        </p:nvSpPr>
        <p:spPr>
          <a:xfrm>
            <a:off x="769100" y="2218175"/>
            <a:ext cx="2602500" cy="4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Verdana"/>
                <a:ea typeface="Verdana"/>
                <a:cs typeface="Verdana"/>
                <a:sym typeface="Verdana"/>
              </a:rPr>
              <a:t>Brain intro:</a:t>
            </a:r>
            <a:endParaRPr sz="1500">
              <a:solidFill>
                <a:schemeClr val="dk2"/>
              </a:solidFill>
              <a:latin typeface="Verdana"/>
              <a:ea typeface="Verdana"/>
              <a:cs typeface="Verdana"/>
              <a:sym typeface="Verdan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67"/>
          <p:cNvPicPr preferRelativeResize="0"/>
          <p:nvPr/>
        </p:nvPicPr>
        <p:blipFill rotWithShape="1">
          <a:blip r:embed="rId3">
            <a:alphaModFix/>
          </a:blip>
          <a:srcRect b="66861" l="56987" r="0" t="0"/>
          <a:stretch/>
        </p:blipFill>
        <p:spPr>
          <a:xfrm>
            <a:off x="959263" y="1927675"/>
            <a:ext cx="2437976" cy="2356075"/>
          </a:xfrm>
          <a:prstGeom prst="rect">
            <a:avLst/>
          </a:prstGeom>
          <a:noFill/>
          <a:ln>
            <a:noFill/>
          </a:ln>
        </p:spPr>
      </p:pic>
      <p:sp>
        <p:nvSpPr>
          <p:cNvPr id="659" name="Google Shape;659;p67"/>
          <p:cNvSpPr txBox="1"/>
          <p:nvPr>
            <p:ph idx="4294967295" type="title"/>
          </p:nvPr>
        </p:nvSpPr>
        <p:spPr>
          <a:xfrm>
            <a:off x="462525" y="859775"/>
            <a:ext cx="36993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General </a:t>
            </a:r>
            <a:r>
              <a:rPr b="1" i="0" lang="en" sz="3000" u="none" cap="none" strike="noStrike">
                <a:solidFill>
                  <a:schemeClr val="accent1"/>
                </a:solidFill>
                <a:latin typeface="Average"/>
                <a:ea typeface="Average"/>
                <a:cs typeface="Average"/>
                <a:sym typeface="Average"/>
              </a:rPr>
              <a:t>Organization </a:t>
            </a:r>
            <a:endParaRPr b="1" i="0" sz="3000" u="none" cap="none" strike="noStrike">
              <a:solidFill>
                <a:schemeClr val="accent1"/>
              </a:solidFill>
              <a:latin typeface="Average"/>
              <a:ea typeface="Average"/>
              <a:cs typeface="Average"/>
              <a:sym typeface="Average"/>
            </a:endParaRPr>
          </a:p>
          <a:p>
            <a:pPr indent="0" lvl="0" marL="0" marR="0" rtl="0" algn="ctr">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of the Brain</a:t>
            </a:r>
            <a:endParaRPr/>
          </a:p>
        </p:txBody>
      </p:sp>
      <p:graphicFrame>
        <p:nvGraphicFramePr>
          <p:cNvPr id="660" name="Google Shape;660;p67"/>
          <p:cNvGraphicFramePr/>
          <p:nvPr/>
        </p:nvGraphicFramePr>
        <p:xfrm>
          <a:off x="4216000" y="859750"/>
          <a:ext cx="3000000" cy="3000000"/>
        </p:xfrm>
        <a:graphic>
          <a:graphicData uri="http://schemas.openxmlformats.org/drawingml/2006/table">
            <a:tbl>
              <a:tblPr>
                <a:noFill/>
                <a:tableStyleId>{408EB904-603E-4B81-8E50-529128083466}</a:tableStyleId>
              </a:tblPr>
              <a:tblGrid>
                <a:gridCol w="953225"/>
                <a:gridCol w="1209975"/>
                <a:gridCol w="1181850"/>
                <a:gridCol w="1101650"/>
              </a:tblGrid>
              <a:tr h="657975">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Average"/>
                        <a:ea typeface="Average"/>
                        <a:cs typeface="Average"/>
                        <a:sym typeface="Average"/>
                      </a:endParaRPr>
                    </a:p>
                  </a:txBody>
                  <a:tcPr marT="91425" marB="91425" marR="91425" marL="91425">
                    <a:solidFill>
                      <a:srgbClr val="EFEFE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1" sz="1200" u="none" cap="none" strike="noStrike">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200"/>
                        <a:buFont typeface="Average"/>
                        <a:buNone/>
                      </a:pPr>
                      <a:r>
                        <a:rPr b="1" lang="en" sz="1200" u="none" cap="none" strike="noStrike">
                          <a:latin typeface="Average"/>
                          <a:ea typeface="Average"/>
                          <a:cs typeface="Average"/>
                          <a:sym typeface="Average"/>
                        </a:rPr>
                        <a:t>FOREBRAIN</a:t>
                      </a:r>
                      <a:endParaRPr/>
                    </a:p>
                  </a:txBody>
                  <a:tcPr marT="91425" marB="91425" marR="91425" marL="91425">
                    <a:solidFill>
                      <a:srgbClr val="EFEFE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1" sz="1200" u="none" cap="none" strike="noStrike">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200"/>
                        <a:buFont typeface="Average"/>
                        <a:buNone/>
                      </a:pPr>
                      <a:r>
                        <a:rPr b="1" lang="en" sz="1200" u="none" cap="none" strike="noStrike">
                          <a:latin typeface="Average"/>
                          <a:ea typeface="Average"/>
                          <a:cs typeface="Average"/>
                          <a:sym typeface="Average"/>
                        </a:rPr>
                        <a:t>MIDBRAIN</a:t>
                      </a:r>
                      <a:endParaRPr/>
                    </a:p>
                  </a:txBody>
                  <a:tcPr marT="91425" marB="91425" marR="91425" marL="91425">
                    <a:solidFill>
                      <a:srgbClr val="EFEFE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1" sz="1200" u="none" cap="none" strike="noStrike">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200"/>
                        <a:buFont typeface="Average"/>
                        <a:buNone/>
                      </a:pPr>
                      <a:r>
                        <a:rPr b="1" lang="en" sz="1200" u="none" cap="none" strike="noStrike">
                          <a:latin typeface="Average"/>
                          <a:ea typeface="Average"/>
                          <a:cs typeface="Average"/>
                          <a:sym typeface="Average"/>
                        </a:rPr>
                        <a:t>HINDBRAIN</a:t>
                      </a:r>
                      <a:endParaRPr/>
                    </a:p>
                  </a:txBody>
                  <a:tcPr marT="91425" marB="91425" marR="91425" marL="91425">
                    <a:solidFill>
                      <a:srgbClr val="EFEFEF"/>
                    </a:solidFill>
                  </a:tcPr>
                </a:tc>
              </a:tr>
              <a:tr h="657975">
                <a:tc>
                  <a:txBody>
                    <a:bodyPr/>
                    <a:lstStyle/>
                    <a:p>
                      <a:pPr indent="0" lvl="0" marL="0" marR="0" rtl="0" algn="ctr">
                        <a:lnSpc>
                          <a:spcPct val="100000"/>
                        </a:lnSpc>
                        <a:spcBef>
                          <a:spcPts val="0"/>
                        </a:spcBef>
                        <a:spcAft>
                          <a:spcPts val="0"/>
                        </a:spcAft>
                        <a:buClr>
                          <a:srgbClr val="000000"/>
                        </a:buClr>
                        <a:buSzPts val="1200"/>
                        <a:buFont typeface="Arial"/>
                        <a:buNone/>
                      </a:pPr>
                      <a:r>
                        <a:t/>
                      </a:r>
                      <a:endParaRPr b="1" sz="1200" u="none" cap="none" strike="noStrike">
                        <a:latin typeface="Average"/>
                        <a:ea typeface="Average"/>
                        <a:cs typeface="Average"/>
                        <a:sym typeface="Average"/>
                      </a:endParaRPr>
                    </a:p>
                    <a:p>
                      <a:pPr indent="0" lvl="0" marL="0" marR="0" rtl="0" algn="ctr">
                        <a:lnSpc>
                          <a:spcPct val="100000"/>
                        </a:lnSpc>
                        <a:spcBef>
                          <a:spcPts val="0"/>
                        </a:spcBef>
                        <a:spcAft>
                          <a:spcPts val="0"/>
                        </a:spcAft>
                        <a:buClr>
                          <a:srgbClr val="000000"/>
                        </a:buClr>
                        <a:buSzPts val="1200"/>
                        <a:buFont typeface="Average"/>
                        <a:buNone/>
                      </a:pPr>
                      <a:r>
                        <a:rPr b="1" lang="en" sz="1200" u="none" cap="none" strike="noStrike">
                          <a:latin typeface="Average"/>
                          <a:ea typeface="Average"/>
                          <a:cs typeface="Average"/>
                          <a:sym typeface="Average"/>
                        </a:rPr>
                        <a:t>Main Structures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cerebr</a:t>
                      </a:r>
                      <a:r>
                        <a:rPr lang="en" sz="1100">
                          <a:latin typeface="Average"/>
                          <a:ea typeface="Average"/>
                          <a:cs typeface="Average"/>
                          <a:sym typeface="Average"/>
                        </a:rPr>
                        <a:t>um</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basal ganglia</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hippocampus</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amygdala</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thalamus</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hypothalamus</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tectum</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tegmentum</a:t>
                      </a:r>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pons</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cerebellum</a:t>
                      </a:r>
                      <a:endParaRPr/>
                    </a:p>
                    <a:p>
                      <a:pPr indent="0" lvl="0" marL="0" marR="0" rtl="0" algn="l">
                        <a:lnSpc>
                          <a:spcPct val="100000"/>
                        </a:lnSpc>
                        <a:spcBef>
                          <a:spcPts val="0"/>
                        </a:spcBef>
                        <a:spcAft>
                          <a:spcPts val="0"/>
                        </a:spcAft>
                        <a:buClr>
                          <a:srgbClr val="000000"/>
                        </a:buClr>
                        <a:buSzPts val="1100"/>
                        <a:buFont typeface="Average"/>
                        <a:buNone/>
                      </a:pPr>
                      <a:r>
                        <a:rPr lang="en" sz="1100" u="none" cap="none" strike="noStrike">
                          <a:latin typeface="Average"/>
                          <a:ea typeface="Average"/>
                          <a:cs typeface="Average"/>
                          <a:sym typeface="Average"/>
                        </a:rPr>
                        <a:t>medulla</a:t>
                      </a:r>
                      <a:endParaRPr/>
                    </a:p>
                  </a:txBody>
                  <a:tcPr marT="91425" marB="91425" marR="91425" marL="91425"/>
                </a:tc>
              </a:tr>
              <a:tr h="657975">
                <a:tc>
                  <a:txBody>
                    <a:bodyPr/>
                    <a:lstStyle/>
                    <a:p>
                      <a:pPr indent="0" lvl="0" marL="0" marR="0" rtl="0" algn="ctr">
                        <a:lnSpc>
                          <a:spcPct val="100000"/>
                        </a:lnSpc>
                        <a:spcBef>
                          <a:spcPts val="0"/>
                        </a:spcBef>
                        <a:spcAft>
                          <a:spcPts val="0"/>
                        </a:spcAft>
                        <a:buNone/>
                      </a:pPr>
                      <a:r>
                        <a:t/>
                      </a:r>
                      <a:endParaRPr b="1" sz="1200">
                        <a:latin typeface="Average"/>
                        <a:ea typeface="Average"/>
                        <a:cs typeface="Average"/>
                        <a:sym typeface="Average"/>
                      </a:endParaRPr>
                    </a:p>
                    <a:p>
                      <a:pPr indent="0" lvl="0" marL="0" marR="0" rtl="0" algn="ctr">
                        <a:lnSpc>
                          <a:spcPct val="100000"/>
                        </a:lnSpc>
                        <a:spcBef>
                          <a:spcPts val="0"/>
                        </a:spcBef>
                        <a:spcAft>
                          <a:spcPts val="0"/>
                        </a:spcAft>
                        <a:buNone/>
                      </a:pPr>
                      <a:r>
                        <a:t/>
                      </a:r>
                      <a:endParaRPr b="1" sz="1200">
                        <a:latin typeface="Average"/>
                        <a:ea typeface="Average"/>
                        <a:cs typeface="Average"/>
                        <a:sym typeface="Average"/>
                      </a:endParaRPr>
                    </a:p>
                    <a:p>
                      <a:pPr indent="0" lvl="0" marL="0" marR="0" rtl="0" algn="ctr">
                        <a:lnSpc>
                          <a:spcPct val="100000"/>
                        </a:lnSpc>
                        <a:spcBef>
                          <a:spcPts val="0"/>
                        </a:spcBef>
                        <a:spcAft>
                          <a:spcPts val="0"/>
                        </a:spcAft>
                        <a:buNone/>
                      </a:pPr>
                      <a:r>
                        <a:rPr b="1" lang="en" sz="1200">
                          <a:latin typeface="Average"/>
                          <a:ea typeface="Average"/>
                          <a:cs typeface="Average"/>
                          <a:sym typeface="Average"/>
                        </a:rPr>
                        <a:t>General Roles</a:t>
                      </a:r>
                      <a:endParaRPr b="1" sz="1200">
                        <a:latin typeface="Average"/>
                        <a:ea typeface="Average"/>
                        <a:cs typeface="Average"/>
                        <a:sym typeface="Average"/>
                      </a:endParaRPr>
                    </a:p>
                    <a:p>
                      <a:pPr indent="0" lvl="0" marL="0" marR="0" rtl="0" algn="ctr">
                        <a:lnSpc>
                          <a:spcPct val="100000"/>
                        </a:lnSpc>
                        <a:spcBef>
                          <a:spcPts val="0"/>
                        </a:spcBef>
                        <a:spcAft>
                          <a:spcPts val="0"/>
                        </a:spcAft>
                        <a:buNone/>
                      </a:pPr>
                      <a:r>
                        <a:t/>
                      </a:r>
                      <a:endParaRPr b="1" sz="1200">
                        <a:latin typeface="Average"/>
                        <a:ea typeface="Average"/>
                        <a:cs typeface="Average"/>
                        <a:sym typeface="Average"/>
                      </a:endParaRPr>
                    </a:p>
                  </a:txBody>
                  <a:tcPr marT="91425" marB="91425" marR="91425" marL="91425"/>
                </a:tc>
                <a:tc>
                  <a:txBody>
                    <a:bodyPr/>
                    <a:lstStyle/>
                    <a:p>
                      <a:pPr indent="0" lvl="0" marL="0" marR="0" rtl="0" algn="l">
                        <a:lnSpc>
                          <a:spcPct val="100000"/>
                        </a:lnSpc>
                        <a:spcBef>
                          <a:spcPts val="0"/>
                        </a:spcBef>
                        <a:spcAft>
                          <a:spcPts val="0"/>
                        </a:spcAft>
                        <a:buNone/>
                      </a:pPr>
                      <a:r>
                        <a:rPr lang="en" sz="1100">
                          <a:latin typeface="Average"/>
                          <a:ea typeface="Average"/>
                          <a:cs typeface="Average"/>
                          <a:sym typeface="Average"/>
                        </a:rPr>
                        <a:t>Learning &amp; memory, conscious thought, problem solving, coordination &amp; voluntary actions</a:t>
                      </a:r>
                      <a:endParaRPr sz="1100" u="none" cap="none" strike="noStrike">
                        <a:latin typeface="Average"/>
                        <a:ea typeface="Average"/>
                        <a:cs typeface="Average"/>
                        <a:sym typeface="Average"/>
                      </a:endParaRPr>
                    </a:p>
                  </a:txBody>
                  <a:tcPr marT="91425" marB="91425" marR="91425" marL="91425"/>
                </a:tc>
                <a:tc>
                  <a:txBody>
                    <a:bodyPr/>
                    <a:lstStyle/>
                    <a:p>
                      <a:pPr indent="0" lvl="0" marL="0" marR="0" rtl="0" algn="l">
                        <a:lnSpc>
                          <a:spcPct val="100000"/>
                        </a:lnSpc>
                        <a:spcBef>
                          <a:spcPts val="0"/>
                        </a:spcBef>
                        <a:spcAft>
                          <a:spcPts val="0"/>
                        </a:spcAft>
                        <a:buNone/>
                      </a:pPr>
                      <a:r>
                        <a:rPr lang="en" sz="1100">
                          <a:latin typeface="Average"/>
                          <a:ea typeface="Average"/>
                          <a:cs typeface="Average"/>
                          <a:sym typeface="Average"/>
                        </a:rPr>
                        <a:t>Transmits signals between the forebrain &amp; hindbrain; associated with vision, hearing, temp. Regulation &amp; alertness</a:t>
                      </a:r>
                      <a:endParaRPr sz="1100" u="none" cap="none" strike="noStrike">
                        <a:latin typeface="Average"/>
                        <a:ea typeface="Average"/>
                        <a:cs typeface="Average"/>
                        <a:sym typeface="Average"/>
                      </a:endParaRPr>
                    </a:p>
                  </a:txBody>
                  <a:tcPr marT="91425" marB="91425" marR="91425" marL="91425"/>
                </a:tc>
                <a:tc>
                  <a:txBody>
                    <a:bodyPr/>
                    <a:lstStyle/>
                    <a:p>
                      <a:pPr indent="0" lvl="0" marL="0" marR="0" rtl="0" algn="l">
                        <a:lnSpc>
                          <a:spcPct val="100000"/>
                        </a:lnSpc>
                        <a:spcBef>
                          <a:spcPts val="0"/>
                        </a:spcBef>
                        <a:spcAft>
                          <a:spcPts val="0"/>
                        </a:spcAft>
                        <a:buNone/>
                      </a:pPr>
                      <a:r>
                        <a:rPr lang="en" sz="1100">
                          <a:latin typeface="Average"/>
                          <a:ea typeface="Average"/>
                          <a:cs typeface="Average"/>
                          <a:sym typeface="Average"/>
                        </a:rPr>
                        <a:t>The “primitive” brain; controls breathing, heart rate, blood pressure, sleep/wake cycles, and balance. </a:t>
                      </a:r>
                      <a:endParaRPr sz="1100" u="none" cap="none" strike="noStrike">
                        <a:latin typeface="Average"/>
                        <a:ea typeface="Average"/>
                        <a:cs typeface="Average"/>
                        <a:sym typeface="Average"/>
                      </a:endParaRPr>
                    </a:p>
                  </a:txBody>
                  <a:tcPr marT="91425" marB="91425" marR="91425" marL="91425"/>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pic>
        <p:nvPicPr>
          <p:cNvPr id="665" name="Google Shape;665;p68"/>
          <p:cNvPicPr preferRelativeResize="0"/>
          <p:nvPr/>
        </p:nvPicPr>
        <p:blipFill rotWithShape="1">
          <a:blip r:embed="rId3">
            <a:alphaModFix/>
          </a:blip>
          <a:srcRect b="0" l="0" r="0" t="0"/>
          <a:stretch/>
        </p:blipFill>
        <p:spPr>
          <a:xfrm>
            <a:off x="1334151" y="2838387"/>
            <a:ext cx="3276024" cy="1813875"/>
          </a:xfrm>
          <a:prstGeom prst="rect">
            <a:avLst/>
          </a:prstGeom>
          <a:noFill/>
          <a:ln cap="flat" cmpd="sng" w="12700">
            <a:solidFill>
              <a:srgbClr val="434343"/>
            </a:solidFill>
            <a:prstDash val="solid"/>
            <a:miter lim="8000"/>
            <a:headEnd len="sm" w="sm" type="none"/>
            <a:tailEnd len="sm" w="sm" type="none"/>
          </a:ln>
        </p:spPr>
      </p:pic>
      <p:sp>
        <p:nvSpPr>
          <p:cNvPr id="666" name="Google Shape;666;p68"/>
          <p:cNvSpPr txBox="1"/>
          <p:nvPr>
            <p:ph idx="4294967295" type="title"/>
          </p:nvPr>
        </p:nvSpPr>
        <p:spPr>
          <a:xfrm>
            <a:off x="6624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The Forebrain: Cere</a:t>
            </a:r>
            <a:r>
              <a:rPr b="1" lang="en" sz="3000">
                <a:latin typeface="Average"/>
                <a:ea typeface="Average"/>
                <a:cs typeface="Average"/>
                <a:sym typeface="Average"/>
              </a:rPr>
              <a:t>brum</a:t>
            </a:r>
            <a:endParaRPr/>
          </a:p>
        </p:txBody>
      </p:sp>
      <p:sp>
        <p:nvSpPr>
          <p:cNvPr id="667" name="Google Shape;667;p68"/>
          <p:cNvSpPr txBox="1"/>
          <p:nvPr>
            <p:ph idx="4294967295" type="body"/>
          </p:nvPr>
        </p:nvSpPr>
        <p:spPr>
          <a:xfrm>
            <a:off x="685450" y="1170950"/>
            <a:ext cx="7646400" cy="17007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rgbClr val="000000"/>
              </a:buClr>
              <a:buSzPts val="1600"/>
              <a:buFont typeface="Average"/>
              <a:buChar char="○"/>
            </a:pPr>
            <a:r>
              <a:rPr b="0" i="0" lang="en" sz="1600" u="none" cap="none" strike="noStrike">
                <a:solidFill>
                  <a:srgbClr val="000000"/>
                </a:solidFill>
                <a:latin typeface="Average"/>
                <a:ea typeface="Average"/>
                <a:cs typeface="Average"/>
                <a:sym typeface="Average"/>
              </a:rPr>
              <a:t>The</a:t>
            </a:r>
            <a:r>
              <a:rPr lang="en" sz="1600">
                <a:solidFill>
                  <a:srgbClr val="000000"/>
                </a:solidFill>
                <a:latin typeface="Average"/>
                <a:ea typeface="Average"/>
                <a:cs typeface="Average"/>
                <a:sym typeface="Average"/>
              </a:rPr>
              <a:t> forebrain or</a:t>
            </a:r>
            <a:r>
              <a:rPr b="0" i="0" lang="en" sz="1600" u="none" cap="none" strike="noStrike">
                <a:solidFill>
                  <a:srgbClr val="000000"/>
                </a:solidFill>
                <a:latin typeface="Average"/>
                <a:ea typeface="Average"/>
                <a:cs typeface="Average"/>
                <a:sym typeface="Average"/>
              </a:rPr>
              <a:t> </a:t>
            </a:r>
            <a:r>
              <a:rPr b="0" i="1" lang="en" sz="1600" u="none" cap="none" strike="noStrike">
                <a:solidFill>
                  <a:srgbClr val="000000"/>
                </a:solidFill>
                <a:latin typeface="Average"/>
                <a:ea typeface="Average"/>
                <a:cs typeface="Average"/>
                <a:sym typeface="Average"/>
              </a:rPr>
              <a:t>cerebrum </a:t>
            </a:r>
            <a:r>
              <a:rPr b="0" i="0" lang="en" sz="1600" u="none" cap="none" strike="noStrike">
                <a:solidFill>
                  <a:srgbClr val="000000"/>
                </a:solidFill>
                <a:latin typeface="Average"/>
                <a:ea typeface="Average"/>
                <a:cs typeface="Average"/>
                <a:sym typeface="Average"/>
              </a:rPr>
              <a:t>is the largest part of the brain. It is divided into left and right hemispheres, and can be further categorized into four main lobes, each of which is responsible for a series of specific functions. </a:t>
            </a:r>
            <a:endParaRPr b="0" i="0" sz="1600" u="none" cap="none" strike="noStrike">
              <a:solidFill>
                <a:srgbClr val="000000"/>
              </a:solidFill>
              <a:latin typeface="Average"/>
              <a:ea typeface="Average"/>
              <a:cs typeface="Average"/>
              <a:sym typeface="Average"/>
            </a:endParaRPr>
          </a:p>
          <a:p>
            <a:pPr indent="-330200" lvl="0" marL="457200" marR="0" rtl="0" algn="l">
              <a:lnSpc>
                <a:spcPct val="100000"/>
              </a:lnSpc>
              <a:spcBef>
                <a:spcPts val="1000"/>
              </a:spcBef>
              <a:spcAft>
                <a:spcPts val="0"/>
              </a:spcAft>
              <a:buClr>
                <a:srgbClr val="000000"/>
              </a:buClr>
              <a:buSzPts val="1600"/>
              <a:buFont typeface="Average"/>
              <a:buChar char="○"/>
            </a:pPr>
            <a:r>
              <a:rPr lang="en" sz="1600">
                <a:solidFill>
                  <a:srgbClr val="000000"/>
                </a:solidFill>
                <a:latin typeface="Average"/>
                <a:ea typeface="Average"/>
                <a:cs typeface="Average"/>
                <a:sym typeface="Average"/>
              </a:rPr>
              <a:t>The surface of the cerebrum is referred to as the </a:t>
            </a:r>
            <a:r>
              <a:rPr i="1" lang="en" sz="1600">
                <a:solidFill>
                  <a:srgbClr val="000000"/>
                </a:solidFill>
                <a:latin typeface="Average"/>
                <a:ea typeface="Average"/>
                <a:cs typeface="Average"/>
                <a:sym typeface="Average"/>
              </a:rPr>
              <a:t>cerebral cortex. </a:t>
            </a:r>
            <a:r>
              <a:rPr lang="en" sz="1600">
                <a:solidFill>
                  <a:srgbClr val="000000"/>
                </a:solidFill>
                <a:latin typeface="Average"/>
                <a:ea typeface="Average"/>
                <a:cs typeface="Average"/>
                <a:sym typeface="Average"/>
              </a:rPr>
              <a:t>Composed of grey matter, the cortex has many folds which act to increase surface area.  </a:t>
            </a:r>
            <a:endParaRPr sz="1600">
              <a:solidFill>
                <a:srgbClr val="000000"/>
              </a:solidFill>
              <a:latin typeface="Average"/>
              <a:ea typeface="Average"/>
              <a:cs typeface="Average"/>
              <a:sym typeface="Average"/>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668" name="Google Shape;668;p68"/>
          <p:cNvPicPr preferRelativeResize="0"/>
          <p:nvPr/>
        </p:nvPicPr>
        <p:blipFill rotWithShape="1">
          <a:blip r:embed="rId4">
            <a:alphaModFix/>
          </a:blip>
          <a:srcRect b="0" l="0" r="0" t="9666"/>
          <a:stretch/>
        </p:blipFill>
        <p:spPr>
          <a:xfrm>
            <a:off x="5068276" y="2894975"/>
            <a:ext cx="2670349" cy="1700701"/>
          </a:xfrm>
          <a:prstGeom prst="rect">
            <a:avLst/>
          </a:prstGeom>
          <a:noFill/>
          <a:ln cap="flat" cmpd="sng" w="19050">
            <a:solidFill>
              <a:srgbClr val="666666"/>
            </a:solidFill>
            <a:prstDash val="solid"/>
            <a:round/>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9"/>
          <p:cNvSpPr txBox="1"/>
          <p:nvPr>
            <p:ph idx="4294967295" type="title"/>
          </p:nvPr>
        </p:nvSpPr>
        <p:spPr>
          <a:xfrm>
            <a:off x="586290" y="3135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The Forebrain: Cerebr</a:t>
            </a:r>
            <a:r>
              <a:rPr b="1" lang="en" sz="3000">
                <a:latin typeface="Average"/>
                <a:ea typeface="Average"/>
                <a:cs typeface="Average"/>
                <a:sym typeface="Average"/>
              </a:rPr>
              <a:t>um</a:t>
            </a:r>
            <a:endParaRPr/>
          </a:p>
        </p:txBody>
      </p:sp>
      <p:sp>
        <p:nvSpPr>
          <p:cNvPr id="674" name="Google Shape;674;p69"/>
          <p:cNvSpPr txBox="1"/>
          <p:nvPr>
            <p:ph idx="4294967295" type="body"/>
          </p:nvPr>
        </p:nvSpPr>
        <p:spPr>
          <a:xfrm>
            <a:off x="609250" y="1094750"/>
            <a:ext cx="76464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68"/>
              <a:buFont typeface="Noto Sans Symbols"/>
              <a:buNone/>
            </a:pPr>
            <a:r>
              <a:rPr b="1" i="0" lang="en" sz="1800" u="sng" cap="none" strike="noStrike">
                <a:solidFill>
                  <a:srgbClr val="000000"/>
                </a:solidFill>
                <a:latin typeface="Average"/>
                <a:ea typeface="Average"/>
                <a:cs typeface="Average"/>
                <a:sym typeface="Average"/>
              </a:rPr>
              <a:t>Four Lobes of the Cerebrum</a:t>
            </a:r>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675" name="Google Shape;675;p69"/>
          <p:cNvSpPr txBox="1"/>
          <p:nvPr/>
        </p:nvSpPr>
        <p:spPr>
          <a:xfrm>
            <a:off x="515350" y="1235250"/>
            <a:ext cx="4662300" cy="3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a:p>
            <a:pPr indent="-304800" lvl="0" marL="457200" marR="0" rtl="0" algn="l">
              <a:lnSpc>
                <a:spcPct val="115000"/>
              </a:lnSpc>
              <a:spcBef>
                <a:spcPts val="1000"/>
              </a:spcBef>
              <a:spcAft>
                <a:spcPts val="0"/>
              </a:spcAft>
              <a:buClr>
                <a:srgbClr val="000000"/>
              </a:buClr>
              <a:buSzPts val="1200"/>
              <a:buFont typeface="Average"/>
              <a:buAutoNum type="arabicParenR"/>
            </a:pPr>
            <a:r>
              <a:rPr b="1" i="0" lang="en" sz="1200" u="none" cap="none" strike="noStrike">
                <a:solidFill>
                  <a:srgbClr val="000000"/>
                </a:solidFill>
                <a:latin typeface="Average"/>
                <a:ea typeface="Average"/>
                <a:cs typeface="Average"/>
                <a:sym typeface="Average"/>
              </a:rPr>
              <a:t>Frontal Lobe</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conscious thought</a:t>
            </a:r>
            <a:r>
              <a:rPr lang="en" sz="1200">
                <a:latin typeface="Average"/>
                <a:ea typeface="Average"/>
                <a:cs typeface="Average"/>
                <a:sym typeface="Average"/>
              </a:rPr>
              <a:t>; decision making</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intelligence, memory &amp; personality</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controls voluntary muscle movements</a:t>
            </a:r>
            <a:endParaRPr/>
          </a:p>
          <a:p>
            <a:pPr indent="0" lvl="0" marL="0" marR="0" rtl="0" algn="l">
              <a:lnSpc>
                <a:spcPct val="115000"/>
              </a:lnSpc>
              <a:spcBef>
                <a:spcPts val="0"/>
              </a:spcBef>
              <a:spcAft>
                <a:spcPts val="0"/>
              </a:spcAft>
              <a:buClr>
                <a:srgbClr val="000000"/>
              </a:buClr>
              <a:buSzPts val="600"/>
              <a:buFont typeface="Arial"/>
              <a:buNone/>
            </a:pPr>
            <a:r>
              <a:t/>
            </a:r>
            <a:endParaRPr b="0" i="0" sz="600" u="none" cap="none" strike="noStrike">
              <a:solidFill>
                <a:srgbClr val="000000"/>
              </a:solidFill>
              <a:latin typeface="Average"/>
              <a:ea typeface="Average"/>
              <a:cs typeface="Average"/>
              <a:sym typeface="Average"/>
            </a:endParaRPr>
          </a:p>
          <a:p>
            <a:pPr indent="-304800" lvl="0" marL="457200" marR="0" rtl="0" algn="l">
              <a:lnSpc>
                <a:spcPct val="115000"/>
              </a:lnSpc>
              <a:spcBef>
                <a:spcPts val="0"/>
              </a:spcBef>
              <a:spcAft>
                <a:spcPts val="0"/>
              </a:spcAft>
              <a:buClr>
                <a:srgbClr val="000000"/>
              </a:buClr>
              <a:buSzPts val="1200"/>
              <a:buFont typeface="Average"/>
              <a:buAutoNum type="arabicParenR" startAt="2"/>
            </a:pPr>
            <a:r>
              <a:rPr b="1" i="0" lang="en" sz="1200" u="none" cap="none" strike="noStrike">
                <a:solidFill>
                  <a:srgbClr val="000000"/>
                </a:solidFill>
                <a:latin typeface="Average"/>
                <a:ea typeface="Average"/>
                <a:cs typeface="Average"/>
                <a:sym typeface="Average"/>
              </a:rPr>
              <a:t>Parietal Lobe</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somatosensory functions (touch)</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processes information about body position</a:t>
            </a:r>
            <a:endParaRPr/>
          </a:p>
          <a:p>
            <a:pPr indent="0" lvl="0" marL="0" marR="0" rtl="0" algn="l">
              <a:lnSpc>
                <a:spcPct val="115000"/>
              </a:lnSpc>
              <a:spcBef>
                <a:spcPts val="0"/>
              </a:spcBef>
              <a:spcAft>
                <a:spcPts val="0"/>
              </a:spcAft>
              <a:buClr>
                <a:srgbClr val="000000"/>
              </a:buClr>
              <a:buSzPts val="600"/>
              <a:buFont typeface="Arial"/>
              <a:buNone/>
            </a:pPr>
            <a:r>
              <a:t/>
            </a:r>
            <a:endParaRPr b="0" i="0" sz="600" u="none" cap="none" strike="noStrike">
              <a:solidFill>
                <a:srgbClr val="000000"/>
              </a:solidFill>
              <a:latin typeface="Average"/>
              <a:ea typeface="Average"/>
              <a:cs typeface="Average"/>
              <a:sym typeface="Average"/>
            </a:endParaRPr>
          </a:p>
          <a:p>
            <a:pPr indent="-304800" lvl="0" marL="457200" marR="0" rtl="0" algn="l">
              <a:lnSpc>
                <a:spcPct val="115000"/>
              </a:lnSpc>
              <a:spcBef>
                <a:spcPts val="0"/>
              </a:spcBef>
              <a:spcAft>
                <a:spcPts val="0"/>
              </a:spcAft>
              <a:buClr>
                <a:srgbClr val="000000"/>
              </a:buClr>
              <a:buSzPts val="1200"/>
              <a:buFont typeface="Average"/>
              <a:buAutoNum type="arabicParenR" startAt="3"/>
            </a:pPr>
            <a:r>
              <a:rPr b="1" i="0" lang="en" sz="1200" u="none" cap="none" strike="noStrike">
                <a:solidFill>
                  <a:srgbClr val="000000"/>
                </a:solidFill>
                <a:latin typeface="Average"/>
                <a:ea typeface="Average"/>
                <a:cs typeface="Average"/>
                <a:sym typeface="Average"/>
              </a:rPr>
              <a:t>Temporal Lobe</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auditory reception (hearing)</a:t>
            </a:r>
            <a:endParaRPr/>
          </a:p>
          <a:p>
            <a:pPr indent="0" lvl="0" marL="0" marR="0" rtl="0" algn="l">
              <a:lnSpc>
                <a:spcPct val="115000"/>
              </a:lnSpc>
              <a:spcBef>
                <a:spcPts val="0"/>
              </a:spcBef>
              <a:spcAft>
                <a:spcPts val="0"/>
              </a:spcAft>
              <a:buClr>
                <a:srgbClr val="000000"/>
              </a:buClr>
              <a:buSzPts val="600"/>
              <a:buFont typeface="Arial"/>
              <a:buNone/>
            </a:pPr>
            <a:r>
              <a:t/>
            </a:r>
            <a:endParaRPr b="0" i="0" sz="600" u="none" cap="none" strike="noStrike">
              <a:solidFill>
                <a:srgbClr val="000000"/>
              </a:solidFill>
              <a:latin typeface="Average"/>
              <a:ea typeface="Average"/>
              <a:cs typeface="Average"/>
              <a:sym typeface="Average"/>
            </a:endParaRPr>
          </a:p>
          <a:p>
            <a:pPr indent="-304800" lvl="0" marL="457200" marR="0" rtl="0" algn="l">
              <a:lnSpc>
                <a:spcPct val="115000"/>
              </a:lnSpc>
              <a:spcBef>
                <a:spcPts val="0"/>
              </a:spcBef>
              <a:spcAft>
                <a:spcPts val="0"/>
              </a:spcAft>
              <a:buClr>
                <a:srgbClr val="000000"/>
              </a:buClr>
              <a:buSzPts val="1200"/>
              <a:buFont typeface="Average"/>
              <a:buAutoNum type="arabicParenR" startAt="4"/>
            </a:pPr>
            <a:r>
              <a:rPr b="1" i="0" lang="en" sz="1200" u="none" cap="none" strike="noStrike">
                <a:solidFill>
                  <a:srgbClr val="000000"/>
                </a:solidFill>
                <a:latin typeface="Average"/>
                <a:ea typeface="Average"/>
                <a:cs typeface="Average"/>
                <a:sym typeface="Average"/>
              </a:rPr>
              <a:t>Occipital Lobe</a:t>
            </a:r>
            <a:endParaRPr/>
          </a:p>
          <a:p>
            <a:pPr indent="-304800" lvl="0" marL="914400" marR="0" rtl="0" algn="l">
              <a:lnSpc>
                <a:spcPct val="115000"/>
              </a:lnSpc>
              <a:spcBef>
                <a:spcPts val="0"/>
              </a:spcBef>
              <a:spcAft>
                <a:spcPts val="0"/>
              </a:spcAft>
              <a:buClr>
                <a:srgbClr val="000000"/>
              </a:buClr>
              <a:buSzPts val="1200"/>
              <a:buFont typeface="Average"/>
              <a:buChar char="●"/>
            </a:pPr>
            <a:r>
              <a:rPr b="0" i="0" lang="en" sz="1200" u="none" cap="none" strike="noStrike">
                <a:solidFill>
                  <a:srgbClr val="000000"/>
                </a:solidFill>
                <a:latin typeface="Average"/>
                <a:ea typeface="Average"/>
                <a:cs typeface="Average"/>
                <a:sym typeface="Average"/>
              </a:rPr>
              <a:t>processes visual information</a:t>
            </a:r>
            <a:endParaRPr/>
          </a:p>
        </p:txBody>
      </p:sp>
      <p:pic>
        <p:nvPicPr>
          <p:cNvPr id="676" name="Google Shape;676;p69"/>
          <p:cNvPicPr preferRelativeResize="0"/>
          <p:nvPr/>
        </p:nvPicPr>
        <p:blipFill rotWithShape="1">
          <a:blip r:embed="rId3">
            <a:alphaModFix/>
          </a:blip>
          <a:srcRect b="0" l="0" r="0" t="0"/>
          <a:stretch/>
        </p:blipFill>
        <p:spPr>
          <a:xfrm>
            <a:off x="4687875" y="1673663"/>
            <a:ext cx="3501599" cy="2419876"/>
          </a:xfrm>
          <a:prstGeom prst="rect">
            <a:avLst/>
          </a:prstGeom>
          <a:noFill/>
          <a:ln cap="flat" cmpd="sng" w="12700">
            <a:solidFill>
              <a:srgbClr val="434343"/>
            </a:solidFill>
            <a:prstDash val="solid"/>
            <a:miter lim="8000"/>
            <a:headEnd len="sm" w="sm" type="none"/>
            <a:tailEnd len="sm" w="sm" type="none"/>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70"/>
          <p:cNvSpPr txBox="1"/>
          <p:nvPr>
            <p:ph idx="4294967295" type="title"/>
          </p:nvPr>
        </p:nvSpPr>
        <p:spPr>
          <a:xfrm>
            <a:off x="685440" y="132122"/>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The Forebrain: Cereb</a:t>
            </a:r>
            <a:r>
              <a:rPr b="1" lang="en" sz="3000">
                <a:latin typeface="Average"/>
                <a:ea typeface="Average"/>
                <a:cs typeface="Average"/>
                <a:sym typeface="Average"/>
              </a:rPr>
              <a:t>rum</a:t>
            </a:r>
            <a:endParaRPr/>
          </a:p>
        </p:txBody>
      </p:sp>
      <p:sp>
        <p:nvSpPr>
          <p:cNvPr id="682" name="Google Shape;682;p70"/>
          <p:cNvSpPr txBox="1"/>
          <p:nvPr>
            <p:ph idx="4294967295" type="body"/>
          </p:nvPr>
        </p:nvSpPr>
        <p:spPr>
          <a:xfrm>
            <a:off x="685450" y="913325"/>
            <a:ext cx="76056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68"/>
              <a:buFont typeface="Noto Sans Symbols"/>
              <a:buNone/>
            </a:pPr>
            <a:r>
              <a:rPr b="1" i="0" lang="en" sz="1800" u="sng" cap="none" strike="noStrike">
                <a:solidFill>
                  <a:srgbClr val="000000"/>
                </a:solidFill>
                <a:latin typeface="Average"/>
                <a:ea typeface="Average"/>
                <a:cs typeface="Average"/>
                <a:sym typeface="Average"/>
              </a:rPr>
              <a:t>Left &amp; right hemispheres</a:t>
            </a:r>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pic>
        <p:nvPicPr>
          <p:cNvPr id="683" name="Google Shape;683;p70"/>
          <p:cNvPicPr preferRelativeResize="0"/>
          <p:nvPr/>
        </p:nvPicPr>
        <p:blipFill rotWithShape="1">
          <a:blip r:embed="rId3">
            <a:alphaModFix/>
          </a:blip>
          <a:srcRect b="0" l="0" r="0" t="0"/>
          <a:stretch/>
        </p:blipFill>
        <p:spPr>
          <a:xfrm>
            <a:off x="6185174" y="132125"/>
            <a:ext cx="2786150" cy="2724650"/>
          </a:xfrm>
          <a:prstGeom prst="rect">
            <a:avLst/>
          </a:prstGeom>
          <a:noFill/>
          <a:ln>
            <a:noFill/>
          </a:ln>
        </p:spPr>
      </p:pic>
      <p:sp>
        <p:nvSpPr>
          <p:cNvPr id="684" name="Google Shape;684;p70"/>
          <p:cNvSpPr txBox="1"/>
          <p:nvPr/>
        </p:nvSpPr>
        <p:spPr>
          <a:xfrm>
            <a:off x="611975" y="1333900"/>
            <a:ext cx="5573100" cy="26049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verage"/>
              <a:buChar char="➢"/>
            </a:pPr>
            <a:r>
              <a:rPr b="0" i="0" lang="en" sz="1400" u="none" cap="none" strike="noStrike">
                <a:solidFill>
                  <a:srgbClr val="000000"/>
                </a:solidFill>
                <a:latin typeface="Average"/>
                <a:ea typeface="Average"/>
                <a:cs typeface="Average"/>
                <a:sym typeface="Average"/>
              </a:rPr>
              <a:t>Structures found in the left and right hemispheres are responsible for different functions</a:t>
            </a:r>
            <a:endParaRPr/>
          </a:p>
          <a:p>
            <a:pPr indent="-228600" lvl="0" marL="457200" marR="0" rtl="0" algn="l">
              <a:lnSpc>
                <a:spcPct val="100000"/>
              </a:lnSpc>
              <a:spcBef>
                <a:spcPts val="1000"/>
              </a:spcBef>
              <a:spcAft>
                <a:spcPts val="0"/>
              </a:spcAft>
              <a:buClr>
                <a:srgbClr val="000000"/>
              </a:buClr>
              <a:buSzPts val="1400"/>
              <a:buFont typeface="Average"/>
              <a:buChar char="➢"/>
            </a:pPr>
            <a:r>
              <a:rPr b="0" i="0" lang="en" sz="1400" u="none" cap="none" strike="noStrike">
                <a:solidFill>
                  <a:srgbClr val="000000"/>
                </a:solidFill>
                <a:latin typeface="Average"/>
                <a:ea typeface="Average"/>
                <a:cs typeface="Average"/>
                <a:sym typeface="Average"/>
              </a:rPr>
              <a:t>The left-hemisphere tends to be more analytical &amp; concrete, while the right-hemisphere tends to be more creative &amp; abstract</a:t>
            </a:r>
            <a:endParaRPr b="0" i="0" sz="1400" u="none" cap="none" strike="noStrike">
              <a:solidFill>
                <a:srgbClr val="000000"/>
              </a:solidFill>
              <a:latin typeface="Average"/>
              <a:ea typeface="Average"/>
              <a:cs typeface="Average"/>
              <a:sym typeface="Average"/>
            </a:endParaRPr>
          </a:p>
          <a:p>
            <a:pPr indent="-317500" lvl="1" marL="914400" marR="0" rtl="0" algn="l">
              <a:lnSpc>
                <a:spcPct val="100000"/>
              </a:lnSpc>
              <a:spcBef>
                <a:spcPts val="1000"/>
              </a:spcBef>
              <a:spcAft>
                <a:spcPts val="0"/>
              </a:spcAft>
              <a:buSzPts val="1400"/>
              <a:buFont typeface="Average"/>
              <a:buChar char="○"/>
            </a:pPr>
            <a:r>
              <a:rPr lang="en">
                <a:latin typeface="Average"/>
                <a:ea typeface="Average"/>
                <a:cs typeface="Average"/>
                <a:sym typeface="Average"/>
              </a:rPr>
              <a:t>However, there is a great degree of overlap and interaction between the </a:t>
            </a:r>
            <a:endParaRPr>
              <a:latin typeface="Average"/>
              <a:ea typeface="Average"/>
              <a:cs typeface="Average"/>
              <a:sym typeface="Average"/>
            </a:endParaRPr>
          </a:p>
          <a:p>
            <a:pPr indent="-228600" lvl="0" marL="457200" marR="0" rtl="0" algn="l">
              <a:lnSpc>
                <a:spcPct val="100000"/>
              </a:lnSpc>
              <a:spcBef>
                <a:spcPts val="1000"/>
              </a:spcBef>
              <a:spcAft>
                <a:spcPts val="0"/>
              </a:spcAft>
              <a:buClr>
                <a:srgbClr val="000000"/>
              </a:buClr>
              <a:buSzPts val="1400"/>
              <a:buFont typeface="Average"/>
              <a:buChar char="➢"/>
            </a:pPr>
            <a:r>
              <a:rPr b="0" i="0" lang="en" sz="1400" u="none" cap="none" strike="noStrike">
                <a:solidFill>
                  <a:srgbClr val="000000"/>
                </a:solidFill>
                <a:latin typeface="Average"/>
                <a:ea typeface="Average"/>
                <a:cs typeface="Average"/>
                <a:sym typeface="Average"/>
              </a:rPr>
              <a:t>Communication between the two hemispheres occurs via the </a:t>
            </a:r>
            <a:r>
              <a:rPr b="0" i="1" lang="en" sz="1400" u="none" cap="none" strike="noStrike">
                <a:solidFill>
                  <a:srgbClr val="000000"/>
                </a:solidFill>
                <a:latin typeface="Average"/>
                <a:ea typeface="Average"/>
                <a:cs typeface="Average"/>
                <a:sym typeface="Average"/>
              </a:rPr>
              <a:t>corpus callosum </a:t>
            </a:r>
            <a:r>
              <a:rPr lang="en">
                <a:latin typeface="Average"/>
                <a:ea typeface="Average"/>
                <a:cs typeface="Average"/>
                <a:sym typeface="Average"/>
              </a:rPr>
              <a:t>and</a:t>
            </a:r>
            <a:r>
              <a:rPr i="1" lang="en">
                <a:latin typeface="Average"/>
                <a:ea typeface="Average"/>
                <a:cs typeface="Average"/>
                <a:sym typeface="Average"/>
              </a:rPr>
              <a:t> </a:t>
            </a:r>
            <a:r>
              <a:rPr b="0" i="0" lang="en" sz="1400" u="none" cap="none" strike="noStrike">
                <a:solidFill>
                  <a:srgbClr val="000000"/>
                </a:solidFill>
                <a:latin typeface="Average"/>
                <a:ea typeface="Average"/>
                <a:cs typeface="Average"/>
                <a:sym typeface="Average"/>
              </a:rPr>
              <a:t>is essential for integrating these functions</a:t>
            </a:r>
            <a:endParaRPr/>
          </a:p>
        </p:txBody>
      </p:sp>
      <p:pic>
        <p:nvPicPr>
          <p:cNvPr id="685" name="Google Shape;685;p70"/>
          <p:cNvPicPr preferRelativeResize="0"/>
          <p:nvPr/>
        </p:nvPicPr>
        <p:blipFill>
          <a:blip r:embed="rId4">
            <a:alphaModFix/>
          </a:blip>
          <a:stretch>
            <a:fillRect/>
          </a:stretch>
        </p:blipFill>
        <p:spPr>
          <a:xfrm>
            <a:off x="1937750" y="3559375"/>
            <a:ext cx="5465950" cy="14519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71"/>
          <p:cNvSpPr txBox="1"/>
          <p:nvPr>
            <p:ph idx="4294967295" type="title"/>
          </p:nvPr>
        </p:nvSpPr>
        <p:spPr>
          <a:xfrm>
            <a:off x="662490" y="3897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The Forebrain: Cerebr</a:t>
            </a:r>
            <a:r>
              <a:rPr b="1" lang="en" sz="3000">
                <a:latin typeface="Average"/>
                <a:ea typeface="Average"/>
                <a:cs typeface="Average"/>
                <a:sym typeface="Average"/>
              </a:rPr>
              <a:t>um</a:t>
            </a:r>
            <a:endParaRPr/>
          </a:p>
        </p:txBody>
      </p:sp>
      <p:sp>
        <p:nvSpPr>
          <p:cNvPr id="691" name="Google Shape;691;p71"/>
          <p:cNvSpPr txBox="1"/>
          <p:nvPr>
            <p:ph idx="4294967295" type="body"/>
          </p:nvPr>
        </p:nvSpPr>
        <p:spPr>
          <a:xfrm>
            <a:off x="685450" y="1094750"/>
            <a:ext cx="7646400" cy="47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68"/>
              <a:buFont typeface="Noto Sans Symbols"/>
              <a:buNone/>
            </a:pPr>
            <a:r>
              <a:rPr b="1" lang="en" sz="1800" u="sng">
                <a:solidFill>
                  <a:srgbClr val="000000"/>
                </a:solidFill>
                <a:latin typeface="Average"/>
                <a:ea typeface="Average"/>
                <a:cs typeface="Average"/>
                <a:sym typeface="Average"/>
              </a:rPr>
              <a:t>Extra: </a:t>
            </a:r>
            <a:r>
              <a:rPr b="1" i="0" lang="en" sz="1800" u="sng" cap="none" strike="noStrike">
                <a:solidFill>
                  <a:srgbClr val="000000"/>
                </a:solidFill>
                <a:latin typeface="Average"/>
                <a:ea typeface="Average"/>
                <a:cs typeface="Average"/>
                <a:sym typeface="Average"/>
              </a:rPr>
              <a:t>Broca’s vs. Wernicke’s Aphasia</a:t>
            </a:r>
            <a:endParaRPr/>
          </a:p>
          <a:p>
            <a:pPr indent="0" lvl="0" marL="0" marR="0" rtl="0" algn="l">
              <a:lnSpc>
                <a:spcPct val="100000"/>
              </a:lnSpc>
              <a:spcBef>
                <a:spcPts val="0"/>
              </a:spcBef>
              <a:spcAft>
                <a:spcPts val="0"/>
              </a:spcAft>
              <a:buClr>
                <a:schemeClr val="accent1"/>
              </a:buClr>
              <a:buSzPts val="1672"/>
              <a:buFont typeface="Noto Sans Symbols"/>
              <a:buNone/>
            </a:pPr>
            <a:r>
              <a:t/>
            </a:r>
            <a:endParaRPr b="0" i="0" sz="2200" u="none" cap="none" strike="noStrike">
              <a:solidFill>
                <a:srgbClr val="000000"/>
              </a:solidFill>
              <a:latin typeface="Average"/>
              <a:ea typeface="Average"/>
              <a:cs typeface="Average"/>
              <a:sym typeface="Average"/>
            </a:endParaRPr>
          </a:p>
        </p:txBody>
      </p:sp>
      <p:sp>
        <p:nvSpPr>
          <p:cNvPr id="692" name="Google Shape;692;p71"/>
          <p:cNvSpPr txBox="1"/>
          <p:nvPr/>
        </p:nvSpPr>
        <p:spPr>
          <a:xfrm>
            <a:off x="591550" y="1616250"/>
            <a:ext cx="4170900" cy="32988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0000"/>
              </a:lnSpc>
              <a:spcBef>
                <a:spcPts val="0"/>
              </a:spcBef>
              <a:spcAft>
                <a:spcPts val="0"/>
              </a:spcAft>
              <a:buClr>
                <a:srgbClr val="000000"/>
              </a:buClr>
              <a:buSzPts val="1300"/>
              <a:buFont typeface="Average"/>
              <a:buChar char="➢"/>
            </a:pPr>
            <a:r>
              <a:rPr b="0" i="0" lang="en" sz="1300" u="none" cap="none" strike="noStrike">
                <a:solidFill>
                  <a:srgbClr val="000000"/>
                </a:solidFill>
                <a:latin typeface="Average"/>
                <a:ea typeface="Average"/>
                <a:cs typeface="Average"/>
                <a:sym typeface="Average"/>
              </a:rPr>
              <a:t>Damage to the brain can lead to impairments in language, or </a:t>
            </a:r>
            <a:r>
              <a:rPr b="0" i="1" lang="en" sz="1300" u="none" cap="none" strike="noStrike">
                <a:solidFill>
                  <a:srgbClr val="000000"/>
                </a:solidFill>
                <a:latin typeface="Average"/>
                <a:ea typeface="Average"/>
                <a:cs typeface="Average"/>
                <a:sym typeface="Average"/>
              </a:rPr>
              <a:t>aphasia</a:t>
            </a:r>
            <a:r>
              <a:rPr b="0" i="0" lang="en" sz="1300" u="none" cap="none" strike="noStrike">
                <a:solidFill>
                  <a:srgbClr val="000000"/>
                </a:solidFill>
                <a:latin typeface="Average"/>
                <a:ea typeface="Average"/>
                <a:cs typeface="Average"/>
                <a:sym typeface="Average"/>
              </a:rPr>
              <a:t>.</a:t>
            </a:r>
            <a:endParaRPr/>
          </a:p>
          <a:p>
            <a:pPr indent="-311150" lvl="0" marL="457200" marR="0" rtl="0" algn="l">
              <a:lnSpc>
                <a:spcPct val="100000"/>
              </a:lnSpc>
              <a:spcBef>
                <a:spcPts val="1000"/>
              </a:spcBef>
              <a:spcAft>
                <a:spcPts val="0"/>
              </a:spcAft>
              <a:buClr>
                <a:srgbClr val="000000"/>
              </a:buClr>
              <a:buSzPts val="1300"/>
              <a:buFont typeface="Average"/>
              <a:buChar char="➢"/>
            </a:pPr>
            <a:r>
              <a:rPr b="0" i="0" lang="en" sz="1300" u="none" cap="none" strike="noStrike">
                <a:solidFill>
                  <a:srgbClr val="000000"/>
                </a:solidFill>
                <a:latin typeface="Average"/>
                <a:ea typeface="Average"/>
                <a:cs typeface="Average"/>
                <a:sym typeface="Average"/>
              </a:rPr>
              <a:t>Depending on which area is damaged, patients may experience difficulties with language production (Broca’s Aphasia) or language comprehension (Wernicke’s Aphasia).</a:t>
            </a:r>
            <a:endParaRPr/>
          </a:p>
          <a:p>
            <a:pPr indent="-311150" lvl="0" marL="457200" marR="0" rtl="0" algn="l">
              <a:lnSpc>
                <a:spcPct val="100000"/>
              </a:lnSpc>
              <a:spcBef>
                <a:spcPts val="1000"/>
              </a:spcBef>
              <a:spcAft>
                <a:spcPts val="0"/>
              </a:spcAft>
              <a:buClr>
                <a:srgbClr val="000000"/>
              </a:buClr>
              <a:buSzPts val="1300"/>
              <a:buFont typeface="Average"/>
              <a:buChar char="➢"/>
            </a:pPr>
            <a:r>
              <a:rPr b="0" i="0" lang="en" sz="1300" u="none" cap="none" strike="noStrike">
                <a:solidFill>
                  <a:srgbClr val="000000"/>
                </a:solidFill>
                <a:latin typeface="Average"/>
                <a:ea typeface="Average"/>
                <a:cs typeface="Average"/>
                <a:sym typeface="Average"/>
              </a:rPr>
              <a:t>In Broca’s Aphasia, patients are unable to produce fluent speech despite understanding what others are saying. </a:t>
            </a:r>
            <a:endParaRPr/>
          </a:p>
          <a:p>
            <a:pPr indent="-311150" lvl="0" marL="457200" marR="0" rtl="0" algn="l">
              <a:lnSpc>
                <a:spcPct val="100000"/>
              </a:lnSpc>
              <a:spcBef>
                <a:spcPts val="1000"/>
              </a:spcBef>
              <a:spcAft>
                <a:spcPts val="0"/>
              </a:spcAft>
              <a:buClr>
                <a:srgbClr val="000000"/>
              </a:buClr>
              <a:buSzPts val="1300"/>
              <a:buFont typeface="Average"/>
              <a:buChar char="➢"/>
            </a:pPr>
            <a:r>
              <a:rPr b="0" i="0" lang="en" sz="1300" u="none" cap="none" strike="noStrike">
                <a:solidFill>
                  <a:srgbClr val="000000"/>
                </a:solidFill>
                <a:latin typeface="Average"/>
                <a:ea typeface="Average"/>
                <a:cs typeface="Average"/>
                <a:sym typeface="Average"/>
              </a:rPr>
              <a:t>In Wernicke’s Aphasia, patients are able to produce fluent speech, but do not actually understand what they are saying/what is being said to them, so their words often do not make sense.</a:t>
            </a:r>
            <a:endParaRPr/>
          </a:p>
        </p:txBody>
      </p:sp>
      <p:pic>
        <p:nvPicPr>
          <p:cNvPr id="693" name="Google Shape;693;p71"/>
          <p:cNvPicPr preferRelativeResize="0"/>
          <p:nvPr/>
        </p:nvPicPr>
        <p:blipFill rotWithShape="1">
          <a:blip r:embed="rId3">
            <a:alphaModFix/>
          </a:blip>
          <a:srcRect b="0" l="0" r="0" t="0"/>
          <a:stretch/>
        </p:blipFill>
        <p:spPr>
          <a:xfrm>
            <a:off x="5140500" y="1510450"/>
            <a:ext cx="2857500" cy="2266950"/>
          </a:xfrm>
          <a:prstGeom prst="rect">
            <a:avLst/>
          </a:prstGeom>
          <a:noFill/>
          <a:ln cap="flat" cmpd="sng" w="28575">
            <a:solidFill>
              <a:srgbClr val="B7B7B7"/>
            </a:solidFill>
            <a:prstDash val="solid"/>
            <a:round/>
            <a:headEnd len="sm" w="sm" type="none"/>
            <a:tailEnd len="sm" w="sm" type="none"/>
          </a:ln>
        </p:spPr>
      </p:pic>
      <p:sp>
        <p:nvSpPr>
          <p:cNvPr id="694" name="Google Shape;694;p71"/>
          <p:cNvSpPr txBox="1"/>
          <p:nvPr/>
        </p:nvSpPr>
        <p:spPr>
          <a:xfrm>
            <a:off x="5105375" y="3853600"/>
            <a:ext cx="3048000" cy="85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verage"/>
              <a:buNone/>
            </a:pPr>
            <a:r>
              <a:rPr b="0" i="1" lang="en" sz="1200" u="none" cap="none" strike="noStrike">
                <a:solidFill>
                  <a:srgbClr val="000000"/>
                </a:solidFill>
                <a:latin typeface="Average"/>
                <a:ea typeface="Average"/>
                <a:cs typeface="Average"/>
                <a:sym typeface="Average"/>
              </a:rPr>
              <a:t>Patients with Broca’s Aphasia can learn to speak through song, as the area of the brain responsible for singing is different than the area responsible for speech.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pic>
        <p:nvPicPr>
          <p:cNvPr id="699" name="Google Shape;699;p72"/>
          <p:cNvPicPr preferRelativeResize="0"/>
          <p:nvPr/>
        </p:nvPicPr>
        <p:blipFill rotWithShape="1">
          <a:blip r:embed="rId3">
            <a:alphaModFix/>
          </a:blip>
          <a:srcRect b="0" l="0" r="0" t="0"/>
          <a:stretch/>
        </p:blipFill>
        <p:spPr>
          <a:xfrm>
            <a:off x="3085400" y="194750"/>
            <a:ext cx="5572649" cy="4540076"/>
          </a:xfrm>
          <a:prstGeom prst="rect">
            <a:avLst/>
          </a:prstGeom>
          <a:noFill/>
          <a:ln>
            <a:noFill/>
          </a:ln>
        </p:spPr>
      </p:pic>
      <p:sp>
        <p:nvSpPr>
          <p:cNvPr id="700" name="Google Shape;700;p72"/>
          <p:cNvSpPr txBox="1"/>
          <p:nvPr>
            <p:ph idx="4294967295" type="title"/>
          </p:nvPr>
        </p:nvSpPr>
        <p:spPr>
          <a:xfrm>
            <a:off x="510100" y="2904350"/>
            <a:ext cx="28125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Other key structures of  the brain           &amp; their functions:</a:t>
            </a:r>
            <a:endParaRPr/>
          </a:p>
        </p:txBody>
      </p:sp>
      <p:sp>
        <p:nvSpPr>
          <p:cNvPr id="701" name="Google Shape;701;p72"/>
          <p:cNvSpPr txBox="1"/>
          <p:nvPr/>
        </p:nvSpPr>
        <p:spPr>
          <a:xfrm>
            <a:off x="5653375" y="4053250"/>
            <a:ext cx="593100" cy="2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Average"/>
                <a:ea typeface="Average"/>
                <a:cs typeface="Average"/>
                <a:sym typeface="Average"/>
              </a:rPr>
              <a:t>Oblongata</a:t>
            </a:r>
            <a:endParaRPr b="1" sz="700">
              <a:latin typeface="Average"/>
              <a:ea typeface="Average"/>
              <a:cs typeface="Average"/>
              <a:sym typeface="Average"/>
            </a:endParaRPr>
          </a:p>
        </p:txBody>
      </p:sp>
      <p:sp>
        <p:nvSpPr>
          <p:cNvPr id="702" name="Google Shape;702;p72"/>
          <p:cNvSpPr txBox="1"/>
          <p:nvPr/>
        </p:nvSpPr>
        <p:spPr>
          <a:xfrm>
            <a:off x="1205100" y="460525"/>
            <a:ext cx="626700" cy="2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a:t>
            </a:r>
            <a:endParaRPr sz="1300">
              <a:solidFill>
                <a:schemeClr val="dk2"/>
              </a:solidFill>
              <a:latin typeface="Verdana"/>
              <a:ea typeface="Verdana"/>
              <a:cs typeface="Verdana"/>
              <a:sym typeface="Verdana"/>
            </a:endParaRPr>
          </a:p>
        </p:txBody>
      </p:sp>
      <p:sp>
        <p:nvSpPr>
          <p:cNvPr id="703" name="Google Shape;703;p72"/>
          <p:cNvSpPr txBox="1"/>
          <p:nvPr/>
        </p:nvSpPr>
        <p:spPr>
          <a:xfrm>
            <a:off x="4068900" y="957850"/>
            <a:ext cx="626700" cy="3144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a:t>
            </a:r>
            <a:endParaRPr sz="1300">
              <a:solidFill>
                <a:schemeClr val="dk2"/>
              </a:solidFill>
              <a:latin typeface="Verdana"/>
              <a:ea typeface="Verdana"/>
              <a:cs typeface="Verdana"/>
              <a:sym typeface="Verdana"/>
            </a:endParaRPr>
          </a:p>
        </p:txBody>
      </p:sp>
      <p:sp>
        <p:nvSpPr>
          <p:cNvPr id="704" name="Google Shape;704;p72"/>
          <p:cNvSpPr txBox="1"/>
          <p:nvPr/>
        </p:nvSpPr>
        <p:spPr>
          <a:xfrm>
            <a:off x="4814000" y="3794400"/>
            <a:ext cx="626700" cy="3144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a:t>
            </a:r>
            <a:endParaRPr sz="1300">
              <a:solidFill>
                <a:schemeClr val="dk2"/>
              </a:solidFill>
              <a:latin typeface="Verdana"/>
              <a:ea typeface="Verdana"/>
              <a:cs typeface="Verdana"/>
              <a:sym typeface="Verdana"/>
            </a:endParaRPr>
          </a:p>
        </p:txBody>
      </p:sp>
      <p:sp>
        <p:nvSpPr>
          <p:cNvPr id="705" name="Google Shape;705;p72"/>
          <p:cNvSpPr txBox="1"/>
          <p:nvPr/>
        </p:nvSpPr>
        <p:spPr>
          <a:xfrm>
            <a:off x="7943500" y="3122475"/>
            <a:ext cx="626700" cy="3144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a:t>
            </a:r>
            <a:endParaRPr sz="1300">
              <a:solidFill>
                <a:schemeClr val="dk2"/>
              </a:solidFill>
              <a:latin typeface="Verdana"/>
              <a:ea typeface="Verdana"/>
              <a:cs typeface="Verdana"/>
              <a:sym typeface="Verdana"/>
            </a:endParaRPr>
          </a:p>
        </p:txBody>
      </p:sp>
      <p:sp>
        <p:nvSpPr>
          <p:cNvPr id="706" name="Google Shape;706;p72"/>
          <p:cNvSpPr txBox="1"/>
          <p:nvPr/>
        </p:nvSpPr>
        <p:spPr>
          <a:xfrm>
            <a:off x="1205100" y="4501150"/>
            <a:ext cx="2694600" cy="3144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300">
                <a:solidFill>
                  <a:schemeClr val="dk2"/>
                </a:solidFill>
                <a:latin typeface="Verdana"/>
                <a:ea typeface="Verdana"/>
                <a:cs typeface="Verdana"/>
                <a:sym typeface="Verdana"/>
              </a:rPr>
              <a:t>*</a:t>
            </a:r>
            <a:r>
              <a:rPr lang="en" sz="1100">
                <a:solidFill>
                  <a:schemeClr val="dk2"/>
                </a:solidFill>
                <a:latin typeface="Verdana"/>
                <a:ea typeface="Verdana"/>
                <a:cs typeface="Verdana"/>
                <a:sym typeface="Verdana"/>
              </a:rPr>
              <a:t>will not be tested</a:t>
            </a:r>
            <a:endParaRPr sz="1100">
              <a:solidFill>
                <a:schemeClr val="dk2"/>
              </a:solidFill>
              <a:latin typeface="Verdana"/>
              <a:ea typeface="Verdana"/>
              <a:cs typeface="Verdana"/>
              <a:sym typeface="Verdan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3"/>
          <p:cNvSpPr txBox="1"/>
          <p:nvPr>
            <p:ph idx="4294967295" type="title"/>
          </p:nvPr>
        </p:nvSpPr>
        <p:spPr>
          <a:xfrm>
            <a:off x="967290" y="701447"/>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400" u="sng">
                <a:latin typeface="Average"/>
                <a:ea typeface="Average"/>
                <a:cs typeface="Average"/>
                <a:sym typeface="Average"/>
              </a:rPr>
              <a:t>Re-cap: Structures of the Brain</a:t>
            </a:r>
            <a:endParaRPr sz="3400" u="sng"/>
          </a:p>
        </p:txBody>
      </p:sp>
      <p:pic>
        <p:nvPicPr>
          <p:cNvPr descr="This video can also be viewed at: https://nida.nih.gov/videos/human-brain-major-structures-functions&#10;&#10;Comments on this video are allowed in accordance with our comment policy: http://newmedia.hhs.gov/standards/comment_policy.html" id="712" name="Google Shape;712;p73" title="The Human Brain: Major Structures and Functions">
            <a:hlinkClick r:id="rId3"/>
          </p:cNvPr>
          <p:cNvPicPr preferRelativeResize="0"/>
          <p:nvPr/>
        </p:nvPicPr>
        <p:blipFill>
          <a:blip r:embed="rId4">
            <a:alphaModFix/>
          </a:blip>
          <a:stretch>
            <a:fillRect/>
          </a:stretch>
        </p:blipFill>
        <p:spPr>
          <a:xfrm>
            <a:off x="4621750" y="2256813"/>
            <a:ext cx="3321000" cy="1868050"/>
          </a:xfrm>
          <a:prstGeom prst="rect">
            <a:avLst/>
          </a:prstGeom>
          <a:noFill/>
          <a:ln>
            <a:noFill/>
          </a:ln>
        </p:spPr>
      </p:pic>
      <p:pic>
        <p:nvPicPr>
          <p:cNvPr descr="Summary of the role of key brain structures and the four  lobes of the brain" id="713" name="Google Shape;713;p73" title="Anatomy of the Brain">
            <a:hlinkClick r:id="rId5"/>
          </p:cNvPr>
          <p:cNvPicPr preferRelativeResize="0"/>
          <p:nvPr/>
        </p:nvPicPr>
        <p:blipFill>
          <a:blip r:embed="rId6">
            <a:alphaModFix/>
          </a:blip>
          <a:stretch>
            <a:fillRect/>
          </a:stretch>
        </p:blipFill>
        <p:spPr>
          <a:xfrm>
            <a:off x="967300" y="2333597"/>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1000"/>
                                        <p:tgtEl>
                                          <p:spTgt spid="7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1000"/>
                                        <p:tgtEl>
                                          <p:spTgt spid="7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74"/>
          <p:cNvSpPr txBox="1"/>
          <p:nvPr>
            <p:ph idx="4294967295" type="title"/>
          </p:nvPr>
        </p:nvSpPr>
        <p:spPr>
          <a:xfrm>
            <a:off x="846150" y="1104850"/>
            <a:ext cx="7451700" cy="9090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lang="en" sz="2600">
                <a:latin typeface="Average"/>
                <a:ea typeface="Average"/>
                <a:cs typeface="Average"/>
                <a:sym typeface="Average"/>
              </a:rPr>
              <a:t>An in-depth understanding of the brain has helped inform a number of misunderstood issues… </a:t>
            </a:r>
            <a:endParaRPr b="1" sz="2600">
              <a:latin typeface="Average"/>
              <a:ea typeface="Average"/>
              <a:cs typeface="Average"/>
              <a:sym typeface="Average"/>
            </a:endParaRPr>
          </a:p>
          <a:p>
            <a:pPr indent="0" lvl="0" marL="0" marR="0" rtl="0" algn="ctr">
              <a:lnSpc>
                <a:spcPct val="100000"/>
              </a:lnSpc>
              <a:spcBef>
                <a:spcPts val="0"/>
              </a:spcBef>
              <a:spcAft>
                <a:spcPts val="0"/>
              </a:spcAft>
              <a:buClr>
                <a:schemeClr val="accent1"/>
              </a:buClr>
              <a:buSzPts val="3000"/>
              <a:buFont typeface="Verdana"/>
              <a:buNone/>
            </a:pPr>
            <a:r>
              <a:rPr b="1" lang="en" sz="1900">
                <a:latin typeface="Average"/>
                <a:ea typeface="Average"/>
                <a:cs typeface="Average"/>
                <a:sym typeface="Average"/>
              </a:rPr>
              <a:t>(the next three slides are EXTRAs)</a:t>
            </a:r>
            <a:endParaRPr b="1" sz="1900">
              <a:latin typeface="Average"/>
              <a:ea typeface="Average"/>
              <a:cs typeface="Average"/>
              <a:sym typeface="Average"/>
            </a:endParaRPr>
          </a:p>
        </p:txBody>
      </p:sp>
      <p:pic>
        <p:nvPicPr>
          <p:cNvPr id="719" name="Google Shape;719;p74"/>
          <p:cNvPicPr preferRelativeResize="0"/>
          <p:nvPr/>
        </p:nvPicPr>
        <p:blipFill>
          <a:blip r:embed="rId3">
            <a:alphaModFix/>
          </a:blip>
          <a:stretch>
            <a:fillRect/>
          </a:stretch>
        </p:blipFill>
        <p:spPr>
          <a:xfrm>
            <a:off x="3397588" y="2308800"/>
            <a:ext cx="2348826" cy="23488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75"/>
          <p:cNvSpPr txBox="1"/>
          <p:nvPr/>
        </p:nvSpPr>
        <p:spPr>
          <a:xfrm>
            <a:off x="1289800" y="4134025"/>
            <a:ext cx="6827400" cy="68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hlink"/>
                </a:solidFill>
                <a:hlinkClick r:id="rId3"/>
              </a:rPr>
              <a:t>https://www.blueknot.org.au/Resources/General-Information/Impact-on-brain</a:t>
            </a:r>
            <a:endParaRPr/>
          </a:p>
          <a:p>
            <a:pPr indent="0" lvl="0" marL="0" rtl="0" algn="ctr">
              <a:spcBef>
                <a:spcPts val="0"/>
              </a:spcBef>
              <a:spcAft>
                <a:spcPts val="0"/>
              </a:spcAft>
              <a:buNone/>
            </a:pPr>
            <a:r>
              <a:t/>
            </a:r>
            <a:endParaRPr/>
          </a:p>
        </p:txBody>
      </p:sp>
      <p:pic>
        <p:nvPicPr>
          <p:cNvPr descr="Dr. Harry Harlow's rhesus monkey experiments in the 1950s contributed a great deal to psychologists' understanding of attachment theory. Unfortunately, his later experiments also contributed a great deal to the need for ethics regulations.&#10;&#10;Hosted by: Brit Garner&#10;----------&#10;Support SciShow by becoming a patron on Patreon: https://www.patreon.com/scishow&#10;----------&#10;Dooblydoo thanks go to the following Patreon supporters—Kevin Bealer, Mark Terrio-Cameron, KatieMarie Magnone, Patrick Merrithew, Charles Southerland, Fatima Iqbal, Sultan Alkhulaifi, Tim Curwick, Scott Satovsky Jr, Philippe von Bergen, Bella Nash, Chris Peters, Patrick D. Ashmore, Piya Shedden, Charles George&#10;----------&#10;Looking for SciShow elsewhere on the internet?&#10;Facebook: http://www.facebook.com/scishow&#10;Twitter: http://www.twitter.com/scishow&#10;Tumblr: http://scishow.tumblr.com&#10;Instagram: http://instagram.com/thescishow&#10;----------&#10;Sources:&#10;http://www.nytimes.com/2003/02/02/books/no-more-wire-mothers-ever.html&#10;https://www.theatlantic.com/magazine/archive/1990/02/becoming-attached/308966/&#10;http://www.goodtherapy.org/famous-psychologists/harry-harlow.html&#10;http://onlinelibrary.wiley.com/doi/10.1002/ajp.1350020402/full&#10;http://psych.wisc.edu/primatelab/primatelabhistory.html&#10;http://www.psychology.sunysb.edu/attachment/online/inge_origins.pdf&#10;http://web.comhem.se/u52239948/08/harlow59.pdf&#10;https://www.ncbi.nlm.nih.gov/pmc/articles/PMC285801/pdf/pnas00159-0105.pdf&#10;http://calteches.library.caltech.edu/2803/1/monkeys.pdf&#10;http://www.madisonmonkeys.com/doc_barn/vertical-chamber.pdf&#10;http://pages.uoregon.edu/adoption/studies/HarlowMLE.htm&#10;http://www.pbs.org/wgbh/aso/databank/entries/bhharl.html&#10;http://animalstudiesrepository.org/cgi/viewcontent.cgi?article=1112&amp;context=acwp_arte&#10;http://www.mrmcmed.org/mom.html" id="725" name="Google Shape;725;p75" title="Harlow's Horrifying Monkey Experiments">
            <a:hlinkClick r:id="rId4"/>
          </p:cNvPr>
          <p:cNvPicPr preferRelativeResize="0"/>
          <p:nvPr/>
        </p:nvPicPr>
        <p:blipFill>
          <a:blip r:embed="rId5">
            <a:alphaModFix/>
          </a:blip>
          <a:stretch>
            <a:fillRect/>
          </a:stretch>
        </p:blipFill>
        <p:spPr>
          <a:xfrm>
            <a:off x="4564800" y="1083950"/>
            <a:ext cx="3477550" cy="2608175"/>
          </a:xfrm>
          <a:prstGeom prst="rect">
            <a:avLst/>
          </a:prstGeom>
          <a:noFill/>
          <a:ln>
            <a:noFill/>
          </a:ln>
        </p:spPr>
      </p:pic>
      <p:sp>
        <p:nvSpPr>
          <p:cNvPr id="726" name="Google Shape;726;p75"/>
          <p:cNvSpPr txBox="1"/>
          <p:nvPr>
            <p:ph idx="4294967295" type="title"/>
          </p:nvPr>
        </p:nvSpPr>
        <p:spPr>
          <a:xfrm>
            <a:off x="846175" y="1491050"/>
            <a:ext cx="3245400" cy="19479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lang="en" sz="2600">
                <a:latin typeface="Average"/>
                <a:ea typeface="Average"/>
                <a:cs typeface="Average"/>
                <a:sym typeface="Average"/>
              </a:rPr>
              <a:t>Example: Association between chronic depression/anxiety and early childhood trauma…  </a:t>
            </a:r>
            <a:endParaRPr sz="26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id="731" name="Google Shape;731;p76"/>
          <p:cNvPicPr preferRelativeResize="0"/>
          <p:nvPr/>
        </p:nvPicPr>
        <p:blipFill>
          <a:blip r:embed="rId3">
            <a:alphaModFix/>
          </a:blip>
          <a:stretch>
            <a:fillRect/>
          </a:stretch>
        </p:blipFill>
        <p:spPr>
          <a:xfrm>
            <a:off x="1415625" y="1573677"/>
            <a:ext cx="6049500" cy="2920900"/>
          </a:xfrm>
          <a:prstGeom prst="rect">
            <a:avLst/>
          </a:prstGeom>
          <a:noFill/>
          <a:ln>
            <a:noFill/>
          </a:ln>
        </p:spPr>
      </p:pic>
      <p:sp>
        <p:nvSpPr>
          <p:cNvPr id="732" name="Google Shape;732;p76"/>
          <p:cNvSpPr txBox="1"/>
          <p:nvPr>
            <p:ph idx="4294967295" type="title"/>
          </p:nvPr>
        </p:nvSpPr>
        <p:spPr>
          <a:xfrm>
            <a:off x="1333050" y="771225"/>
            <a:ext cx="6477900" cy="7068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lang="en" sz="2200">
                <a:latin typeface="Average"/>
                <a:ea typeface="Average"/>
                <a:cs typeface="Average"/>
                <a:sym typeface="Average"/>
              </a:rPr>
              <a:t>Early childhood trauma actually changes the way the brain develops:</a:t>
            </a:r>
            <a:endParaRPr sz="2200">
              <a:latin typeface="Average"/>
              <a:ea typeface="Average"/>
              <a:cs typeface="Average"/>
              <a:sym typeface="Average"/>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descr="Why Wait 21? Because drinking before 21 significantly increases your risk for addiction. Learn how addiction works and what you can do to prevent it.&#10;&#10;Who We Are:&#10;We all know addiction, but very few people understand it. That is why we created Wait 21, to teach people the science of addiction and why its a disease of the brain. Addiction comes in various degrees, good and bad, and the more people who understand it, the more we can do to prevent it from destroying the lives of our friends and family.&#10;&#10;Description:&#10;Over 90% of people with addiction started before the age of 21. If you drink or smoke before 21, you have a 1 in 4 chance of developing this disease. If you wait until 21, your risk drops from 1 in 4 to 1 in 25. So why wait? Because it's not worth losing your life to this terrible disease... you've got better things to do.&#10;&#10;General Information:&#10;For more information, visit our website at wait21.org or contact us today at info@wait21.org." id="737" name="Google Shape;737;p77" title="Understanding Addiction as a Disease (Wait21)">
            <a:hlinkClick r:id="rId3"/>
          </p:cNvPr>
          <p:cNvPicPr preferRelativeResize="0"/>
          <p:nvPr/>
        </p:nvPicPr>
        <p:blipFill>
          <a:blip r:embed="rId4">
            <a:alphaModFix/>
          </a:blip>
          <a:stretch>
            <a:fillRect/>
          </a:stretch>
        </p:blipFill>
        <p:spPr>
          <a:xfrm>
            <a:off x="2944100" y="2021850"/>
            <a:ext cx="3255800" cy="2441825"/>
          </a:xfrm>
          <a:prstGeom prst="rect">
            <a:avLst/>
          </a:prstGeom>
          <a:noFill/>
          <a:ln>
            <a:noFill/>
          </a:ln>
        </p:spPr>
      </p:pic>
      <p:sp>
        <p:nvSpPr>
          <p:cNvPr id="738" name="Google Shape;738;p77"/>
          <p:cNvSpPr txBox="1"/>
          <p:nvPr>
            <p:ph idx="4294967295" type="title"/>
          </p:nvPr>
        </p:nvSpPr>
        <p:spPr>
          <a:xfrm>
            <a:off x="975450" y="1380550"/>
            <a:ext cx="7193100" cy="389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Another example: Addiction as a disease? Or a form of learning…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pic>
        <p:nvPicPr>
          <p:cNvPr descr="Join the Amoeba Sisters on this introduction to the Nervous System! This video briefly describes the division of the central nervous system (including going over some general areas of the brain) and the peripheral nervous system before exploring some divisions of the peripheral nervous system (somatic and autonomic, parasympathetic and sympathetic). Then the video outlines glial cells and neurons before introducing the action potential and neurotransmitters.&#10;&#10;TABLE OF CONTENTS:&#10;00:00 Intro&#10;00:46 Starting Tour of Nervous System&#10;1:13 Central and Peripheral Nervous System&#10;1:37 Brain&#10;3:05 Divisions of Peripheral Nervous System&#10;3:44 Sympathetic and Parasympathetic &#10;4:45 Neurons and Glia&#10;6:19 Action Potential&#10;9:10 Neurotransmitters &#10;10:06 Recap of Video&#10;---------------&#10;FACTUAL REFERENCES:&#10;Betts, J. Gordon, et al. “12.1 Basic Structure and Function of the Nervous System - Anatomy and Physiology 2e | OpenStax.” Openstax.org, OpenStax, 20 Apr. 2022, openstax.org/books/anatomy-and-physiology-2e/pages/12-1-basic-structure-and-function-of-the-nervous-system.&#10;&#10;Clark, Mary Ann, et al. “35.3 the Central Nervous System - Biology 2e | OpenStax.” Openstax.org, Openstax, 28 Mar. 2018, openstax.org/books/biology-2e/pages/35-3-the-central-nervous-system.&#10;&#10;Urry, Lisa A, et al. Campbell Biology. 11th ed., New York, Ny, Pearson Education, Inc, 2017.&#10;&#10;------------------&#10;FURTHER READING SUGGESTIONS:&#10;&#10;Explore the action potential! https://openstax.org/books/anatomy-and-physiology-2e/pages/12-4-the-action-potential&#10;&#10;A little more about somatic vs autonomic reflexes? https://open.oregonstate.education/aandp/chapter/16-2-autonomic-reflexes-and-homeostasis/&#10;&#10;Glial cells and action potentials? Fascinating! https://www.ncbi.nlm.nih.gov/pmc/articles/PMC2756778/&#10;[By the way, this video is focused on the nervous system - but action potentials can happen in other cell types (like muscle cells) too!]&#10;&#10;An interesting read about common myths about the brain https://www.scientificamerican.com/article/5-common-myths-about-the-brain/&#10;&#10;-----------------------------------------------&#10;The Amoeba Sisters videos demystify science with humor and relevance. The videos center on Pinky's certification and experience in teaching biology at the high school level. Amoeba Sisters videos only cover concepts that Pinky is certified to teach, and they focus on her specialty: secondary life science. Learn more about our videos here: https://www.amoebasisters.com/our-videos&#10;&#10;⭐We have a menu of our resources that complement our videos! Visit https://docs.google.com/spreadsheets/d/1b3kmAzFEjWgoMKCrkeNCKFYunWk04IuLY93jI4OY0gY/edit?usp=sharing&#10;&#10;Support Us? https://www.amoebasisters.com/support-us&#10;&#10;Our Resources and Handouts: https://www.amoebasisters.com/handouts&#10;Biology Video Playlist: https://www.youtube.com/playlist?list=PLwL0Myd7Dk1F0iQPGrjehze3eDpco1eVz&#10;GIFs: https://www.amoebasisters.com/gifs.html&#10;Comics: https://www.amoebasisters.com/parameciumparlorcomics&#10;Unlectured Series: https://www.amoebasisters.com/unlectured&#10;&#10;Connect with us!&#10;Website: https://www.AmoebaSisters.com&#10;Twitter: https://www.twitter.com/AmoebaSisters&#10;Facebook: https://www.facebook.com/AmoebaSisters&#10;Tumblr: https://www.amoebasisters.tumblr.com&#10;Pinterest: https://www.pinterest.com/AmoebaSister­s&#10;Webtoon: https://www.webtoons.com/en/challenge/amoeba-sisters-sisterhood/list?title_no=289479&amp;page=1&#10;Instagram: https://www.instagram.com/amoebasistersofficial/&#10;TikTok: https://www.tiktok.com/@amoebasistersofficial&#10;&#10;Visit our Redbubble store at https://www.amoebasisters.com/store&#10;&#10;TIPS FOR VIEWING EDU YOUTUBE VIDEOS:&#10;Want to learn tips for viewing edu YouTube videos including changing the speed, language, viewing the transcript, etc? https://www.amoebasisters.com/pinkys-ed-tech-favorites/10-youtube-tips-from-an-edu-youtuber-duo&#10;&#10;MUSIC:&#10;Our intro music designed and performed by Jeremiah Cheshire.&#10;End music in this video is listed free to use/no attribution required from the YouTube audio library.&#10;&#10;COMMUNITY:&#10;We take pride in our AWESOME community, and we welcome feedback and discussion.  However, please remember that this is an education channel. See YouTube's community guidelines and how YouTube handles comments that are reported by the community. We also reserve the right to remove comments.&#10;&#10;TRANSLATIONS:&#10;We gladly accept subtitle translations from our community. Learn more here: https://www.amoebasisters.com/pinkys-ed-tech-favorites/community-contributed-subtitles  We want to thank our amazing community for the generosity of their time in continuing to create translated subtitles.&#10;&#10;We also have videos that are dubbed in other languages (Spanish, Hindi, and Portuguese) using an artificial voice via https://aloud.area120.google.com to increase accessibility. More about that here https://www.amoebasisters.com/pinkys-ed-tech-favorites/community-contributed-subtitles" id="743" name="Google Shape;743;p78" title="Nervous System">
            <a:hlinkClick r:id="rId3"/>
          </p:cNvPr>
          <p:cNvPicPr preferRelativeResize="0"/>
          <p:nvPr/>
        </p:nvPicPr>
        <p:blipFill>
          <a:blip r:embed="rId4">
            <a:alphaModFix/>
          </a:blip>
          <a:stretch>
            <a:fillRect/>
          </a:stretch>
        </p:blipFill>
        <p:spPr>
          <a:xfrm>
            <a:off x="2618550" y="2054675"/>
            <a:ext cx="3893025" cy="2189825"/>
          </a:xfrm>
          <a:prstGeom prst="rect">
            <a:avLst/>
          </a:prstGeom>
          <a:noFill/>
          <a:ln>
            <a:noFill/>
          </a:ln>
        </p:spPr>
      </p:pic>
      <p:sp>
        <p:nvSpPr>
          <p:cNvPr id="744" name="Google Shape;744;p78"/>
          <p:cNvSpPr txBox="1"/>
          <p:nvPr>
            <p:ph idx="4294967295" type="title"/>
          </p:nvPr>
        </p:nvSpPr>
        <p:spPr>
          <a:xfrm>
            <a:off x="585175" y="967150"/>
            <a:ext cx="8038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400" u="sng">
                <a:latin typeface="Average"/>
                <a:ea typeface="Average"/>
                <a:cs typeface="Average"/>
                <a:sym typeface="Average"/>
              </a:rPr>
              <a:t>Re-cap: Nervous System Quick Summary</a:t>
            </a:r>
            <a:endParaRPr b="1" sz="3400" u="sng">
              <a:latin typeface="Average"/>
              <a:ea typeface="Average"/>
              <a:cs typeface="Average"/>
              <a:sym typeface="Average"/>
            </a:endParaRPr>
          </a:p>
          <a:p>
            <a:pPr indent="0" lvl="0" marL="0" marR="0" rtl="0" algn="ctr">
              <a:lnSpc>
                <a:spcPct val="100000"/>
              </a:lnSpc>
              <a:spcBef>
                <a:spcPts val="0"/>
              </a:spcBef>
              <a:spcAft>
                <a:spcPts val="0"/>
              </a:spcAft>
              <a:buClr>
                <a:schemeClr val="accent1"/>
              </a:buClr>
              <a:buSzPts val="4000"/>
              <a:buFont typeface="Verdana"/>
              <a:buNone/>
            </a:pPr>
            <a:r>
              <a:rPr lang="en" sz="2400">
                <a:latin typeface="Average"/>
                <a:ea typeface="Average"/>
                <a:cs typeface="Average"/>
                <a:sym typeface="Average"/>
              </a:rPr>
              <a:t>*10 minute review of everything up to this point</a:t>
            </a:r>
            <a:endParaRPr sz="2400">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1000"/>
                                        <p:tgtEl>
                                          <p:spTgt spid="7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