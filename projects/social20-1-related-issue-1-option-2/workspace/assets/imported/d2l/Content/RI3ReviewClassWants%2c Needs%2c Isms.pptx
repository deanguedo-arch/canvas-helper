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61"/>
  </p:notesMasterIdLst>
  <p:sldIdLst>
    <p:sldId id="256" r:id="rId2"/>
    <p:sldId id="258" r:id="rId3"/>
    <p:sldId id="259" r:id="rId4"/>
    <p:sldId id="260" r:id="rId5"/>
    <p:sldId id="261" r:id="rId6"/>
    <p:sldId id="263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308" r:id="rId38"/>
    <p:sldId id="307" r:id="rId39"/>
    <p:sldId id="309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10" r:id="rId53"/>
    <p:sldId id="311" r:id="rId54"/>
    <p:sldId id="303" r:id="rId55"/>
    <p:sldId id="304" r:id="rId56"/>
    <p:sldId id="305" r:id="rId57"/>
    <p:sldId id="306" r:id="rId58"/>
    <p:sldId id="289" r:id="rId59"/>
    <p:sldId id="290" r:id="rId6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434" autoAdjust="0"/>
  </p:normalViewPr>
  <p:slideViewPr>
    <p:cSldViewPr>
      <p:cViewPr varScale="1">
        <p:scale>
          <a:sx n="44" d="100"/>
          <a:sy n="44" d="100"/>
        </p:scale>
        <p:origin x="60" y="5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69946-6738-4732-A65C-CF9CA64B5522}" type="datetimeFigureOut">
              <a:rPr lang="en-CA" smtClean="0"/>
              <a:t>11/06/2017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F852F-2023-468E-BA38-F652819D9B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9842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#cite_note-Time_Allen_20070502-3"/><Relationship Id="rId13" Type="http://schemas.openxmlformats.org/officeDocument/2006/relationships/hyperlink" Target="http://en.wikipedia.org/wiki/Dick_Cheney" TargetMode="External"/><Relationship Id="rId3" Type="http://schemas.openxmlformats.org/officeDocument/2006/relationships/hyperlink" Target="http://en.wikipedia.org/wiki/Preventive_war" TargetMode="External"/><Relationship Id="rId7" Type="http://schemas.openxmlformats.org/officeDocument/2006/relationships/hyperlink" Target="http://en.wikipedia.org/wiki/United_States#Foreign_relations_and_military" TargetMode="External"/><Relationship Id="rId12" Type="http://schemas.openxmlformats.org/officeDocument/2006/relationships/hyperlink" Target="#cite_note-NSS_September2002-6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Unilaterally" TargetMode="External"/><Relationship Id="rId11" Type="http://schemas.openxmlformats.org/officeDocument/2006/relationships/hyperlink" Target="http://en.wikipedia.org/wiki/United_States_National_Security_Council" TargetMode="External"/><Relationship Id="rId5" Type="http://schemas.openxmlformats.org/officeDocument/2006/relationships/hyperlink" Target="http://en.wikipedia.org/wiki/Middle_East" TargetMode="External"/><Relationship Id="rId15" Type="http://schemas.openxmlformats.org/officeDocument/2006/relationships/hyperlink" Target="#cite_note-Cheney_use_of_term-7"/><Relationship Id="rId10" Type="http://schemas.openxmlformats.org/officeDocument/2006/relationships/hyperlink" Target="#cite_note-USAtoday_Page_20030317-5"/><Relationship Id="rId4" Type="http://schemas.openxmlformats.org/officeDocument/2006/relationships/hyperlink" Target="http://en.wikipedia.org/wiki/Foreign_interventionism" TargetMode="External"/><Relationship Id="rId9" Type="http://schemas.openxmlformats.org/officeDocument/2006/relationships/hyperlink" Target="#cite_note-NationalReview_Levin_20060816-4"/><Relationship Id="rId14" Type="http://schemas.openxmlformats.org/officeDocument/2006/relationships/hyperlink" Target="http://en.wikipedia.org/wiki/Taliban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CA" dirty="0" smtClean="0">
                <a:effectLst/>
              </a:rPr>
              <a:t>Different pundits would attribute different meanings to "the Bush Doctrine", as it came to describe other elements, including the controversial policy of </a:t>
            </a:r>
            <a:r>
              <a:rPr lang="en-CA" dirty="0" smtClean="0">
                <a:effectLst/>
                <a:hlinkClick r:id="rId3" action="ppaction://hlinkfile" tooltip="Preventive war"/>
              </a:rPr>
              <a:t>preventive war</a:t>
            </a:r>
            <a:r>
              <a:rPr lang="en-CA" dirty="0" smtClean="0">
                <a:effectLst/>
              </a:rPr>
              <a:t>, which held that the United States should </a:t>
            </a:r>
            <a:r>
              <a:rPr lang="en-CA" dirty="0" smtClean="0">
                <a:effectLst/>
                <a:hlinkClick r:id="rId4" action="ppaction://hlinkfile" tooltip="Foreign interventionism"/>
              </a:rPr>
              <a:t>depose foreign regimes</a:t>
            </a:r>
            <a:r>
              <a:rPr lang="en-CA" dirty="0" smtClean="0">
                <a:effectLst/>
              </a:rPr>
              <a:t> that represented a potential or perceived threat to the security of the United States, even if that threat was not immediate; a policy of spreading democracy around the world, especially in the </a:t>
            </a:r>
            <a:r>
              <a:rPr lang="en-CA" dirty="0" smtClean="0">
                <a:effectLst/>
                <a:hlinkClick r:id="rId5" action="ppaction://hlinkfile" tooltip="Middle East"/>
              </a:rPr>
              <a:t>Middle East</a:t>
            </a:r>
            <a:r>
              <a:rPr lang="en-CA" dirty="0" smtClean="0">
                <a:effectLst/>
              </a:rPr>
              <a:t>, as a strategy for combating terrorism; and a willingness to </a:t>
            </a:r>
            <a:r>
              <a:rPr lang="en-CA" dirty="0" smtClean="0">
                <a:effectLst/>
                <a:hlinkClick r:id="rId6" action="ppaction://hlinkfile" tooltip="Unilaterally"/>
              </a:rPr>
              <a:t>unilaterally</a:t>
            </a:r>
            <a:r>
              <a:rPr lang="en-CA" dirty="0" smtClean="0">
                <a:effectLst/>
              </a:rPr>
              <a:t> pursue </a:t>
            </a:r>
            <a:r>
              <a:rPr lang="en-CA" dirty="0" smtClean="0">
                <a:effectLst/>
                <a:hlinkClick r:id="rId7" action="ppaction://hlinkfile" tooltip="United States"/>
              </a:rPr>
              <a:t>U.S. military interests</a:t>
            </a:r>
            <a:r>
              <a:rPr lang="en-CA" dirty="0" smtClean="0">
                <a:effectLst/>
              </a:rPr>
              <a:t>.</a:t>
            </a:r>
            <a:r>
              <a:rPr lang="en-CA" baseline="30000" dirty="0" smtClean="0">
                <a:effectLst/>
                <a:hlinkClick r:id="rId8" action="ppaction://hlinkfile"/>
              </a:rPr>
              <a:t>[3]</a:t>
            </a:r>
            <a:r>
              <a:rPr lang="en-CA" baseline="30000" dirty="0" smtClean="0">
                <a:effectLst/>
                <a:hlinkClick r:id="rId9" action="ppaction://hlinkfile"/>
              </a:rPr>
              <a:t>[4]</a:t>
            </a:r>
            <a:r>
              <a:rPr lang="en-CA" baseline="30000" dirty="0" smtClean="0">
                <a:effectLst/>
                <a:hlinkClick r:id="rId10" action="ppaction://hlinkfile"/>
              </a:rPr>
              <a:t>[5]</a:t>
            </a:r>
            <a:r>
              <a:rPr lang="en-CA" dirty="0" smtClean="0">
                <a:effectLst/>
              </a:rPr>
              <a:t> Some of these policies were codified in a </a:t>
            </a:r>
            <a:r>
              <a:rPr lang="en-CA" dirty="0" smtClean="0">
                <a:effectLst/>
                <a:hlinkClick r:id="rId11" action="ppaction://hlinkfile" tooltip="United States National Security Council"/>
              </a:rPr>
              <a:t>National Security Council</a:t>
            </a:r>
            <a:r>
              <a:rPr lang="en-CA" dirty="0" smtClean="0">
                <a:effectLst/>
              </a:rPr>
              <a:t> text entitled the </a:t>
            </a:r>
            <a:r>
              <a:rPr lang="en-CA" i="1" dirty="0" smtClean="0">
                <a:effectLst/>
              </a:rPr>
              <a:t>National Security Strategy of the United States</a:t>
            </a:r>
            <a:r>
              <a:rPr lang="en-CA" dirty="0" smtClean="0">
                <a:effectLst/>
              </a:rPr>
              <a:t> published on September 20, 2002.</a:t>
            </a:r>
            <a:r>
              <a:rPr lang="en-CA" baseline="30000" dirty="0" smtClean="0">
                <a:effectLst/>
                <a:hlinkClick r:id="rId12" action="ppaction://hlinkfile"/>
              </a:rPr>
              <a:t>[6]</a:t>
            </a:r>
            <a:endParaRPr lang="en-CA" dirty="0" smtClean="0">
              <a:effectLst/>
            </a:endParaRPr>
          </a:p>
          <a:p>
            <a:pPr rtl="0"/>
            <a:r>
              <a:rPr lang="en-CA" dirty="0" smtClean="0">
                <a:effectLst/>
              </a:rPr>
              <a:t>The phrase "Bush Doctrine" was rarely used by members of the Bush administration. The expression was used at least once, though, by Vice President </a:t>
            </a:r>
            <a:r>
              <a:rPr lang="en-CA" dirty="0" smtClean="0">
                <a:effectLst/>
                <a:hlinkClick r:id="rId13" action="ppaction://hlinkfile" tooltip="Dick Cheney"/>
              </a:rPr>
              <a:t>Dick Cheney</a:t>
            </a:r>
            <a:r>
              <a:rPr lang="en-CA" dirty="0" smtClean="0">
                <a:effectLst/>
              </a:rPr>
              <a:t>, in a June 2003 speech in which he said, "If there is anyone in the world today who doubts the seriousness of the Bush Doctrine, I would urge that person to consider the fate of the </a:t>
            </a:r>
            <a:r>
              <a:rPr lang="en-CA" dirty="0" smtClean="0">
                <a:effectLst/>
                <a:hlinkClick r:id="rId14" action="ppaction://hlinkfile" tooltip="Taliban"/>
              </a:rPr>
              <a:t>Taliban</a:t>
            </a:r>
            <a:r>
              <a:rPr lang="en-CA" dirty="0" smtClean="0">
                <a:effectLst/>
              </a:rPr>
              <a:t> in Afghanistan, and of Saddam Hussein's regime in Iraq."</a:t>
            </a:r>
            <a:r>
              <a:rPr lang="en-CA" baseline="30000" dirty="0" smtClean="0">
                <a:effectLst/>
                <a:hlinkClick r:id="rId15" action="ppaction://hlinkfile"/>
              </a:rPr>
              <a:t>[7]</a:t>
            </a:r>
            <a:endParaRPr lang="en-CA" dirty="0" smtClean="0">
              <a:effectLst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F852F-2023-468E-BA38-F652819D9BB9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5204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F1A815-C9AD-482E-8365-AA183473F682}" type="slidenum">
              <a:rPr lang="en-US"/>
              <a:pPr/>
              <a:t>54</a:t>
            </a:fld>
            <a:endParaRPr lang="en-US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http://www.un.org/millenniumgoals/</a:t>
            </a:r>
          </a:p>
        </p:txBody>
      </p:sp>
    </p:spTree>
    <p:extLst>
      <p:ext uri="{BB962C8B-B14F-4D97-AF65-F5344CB8AC3E}">
        <p14:creationId xmlns:p14="http://schemas.microsoft.com/office/powerpoint/2010/main" val="2257891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1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3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10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Straight Connector 1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3" name="Straight Connector 15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4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5" name="Straight Connector 21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22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23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25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4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C1457-1E56-4A54-8917-B3F48081B248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6B960-172D-460F-B60B-5D7B8C356D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58D82EC-E5A6-4F8D-A9EC-1C57E63301B0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6DC5D66-C028-4B16-9824-29750048C6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9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0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1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12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Straight Connector 14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Straight Connector 15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3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9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20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21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22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25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B273B-A39A-4CEE-B62D-BB81BB2E8E4E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E43D0E-57D6-4E5D-ADDB-603C02A4E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ADE5F-D206-4114-B5C0-6DD7F4CFA740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D5686-F36D-421F-9846-AEAC59058E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59DC0-BB53-4305-BBE6-8D47EDBF7EDB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C55D9-D77D-4A7F-8281-A2F3C5C5D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CDAB5ED-B3D4-4090-AD82-605A63B5A3F0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C7B7582-5F41-410D-AE3A-E9F378AC9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06AB1-0A7B-48FE-B4E1-AF6F937B2ADF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1F242-7272-4622-8E08-E085BABB1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6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7" name="Straight Connector 8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8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Oval 13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F1908A5-5068-456D-AE1A-38C4A4DFBC4B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8A7E5EA-1C39-4D62-8E81-FBBD1BA3C1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Oval 12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1" name="Straight Connector 19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B1A0382-7946-4587-B6BC-8846F63421B6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A049BF9-C071-46E1-9ADA-E5BD73C38E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74C2C-AAF1-4114-94C2-16BA0A1E91ED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C0BB6-E859-43A7-A011-742AA36E8B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6C141-B8A8-4E27-8A14-27CDCB51B3C1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79585-2FEC-4039-9A9D-F224EECD25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A921AA73-C68D-4ECA-A014-C07BD62FF21E}" type="datetimeFigureOut">
              <a:rPr lang="en-US"/>
              <a:pPr>
                <a:defRPr/>
              </a:pPr>
              <a:t>6/11/2017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7943772C-AE3F-4E1A-8BC6-7C692B57AD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09" r:id="rId4"/>
    <p:sldLayoutId id="2147483810" r:id="rId5"/>
    <p:sldLayoutId id="2147483817" r:id="rId6"/>
    <p:sldLayoutId id="2147483811" r:id="rId7"/>
    <p:sldLayoutId id="2147483818" r:id="rId8"/>
    <p:sldLayoutId id="2147483819" r:id="rId9"/>
    <p:sldLayoutId id="2147483812" r:id="rId10"/>
    <p:sldLayoutId id="214748381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uTr9iTyUSFs&amp;feature=related" TargetMode="External"/><Relationship Id="rId2" Type="http://schemas.openxmlformats.org/officeDocument/2006/relationships/hyperlink" Target="http://www.youtube.com/watch?v=ZKXNjBDJjzQ&amp;playnext=1&amp;list=PL8167B1173AF144C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USLDoIiFzz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Q42ZdB45SV0&amp;feature=relmfu" TargetMode="External"/><Relationship Id="rId2" Type="http://schemas.openxmlformats.org/officeDocument/2006/relationships/hyperlink" Target="http://www.youtube.com/user/who/feature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://www.youtube.com/watch?v=i2ZLAkHnMTQ&amp;feature=relate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ato.int/nato-welcome/index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bc.net.au/btn/story/s3784915.htm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cc-cpi.int/about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../../Social%2020-1%2020-2%20Videos/Social%2020-1%20RI%203%20Video/Fish%20War%20Pirates%20or%20Patriots.wmv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://globalnews.ca/video/3229244/canada-and-russia-make-claim-territory-in-arctic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hyperlink" Target="../../Social%2020-1%2020-2%20Videos/Social%2020-1%20RI%203%20Video/Peacekeeping%20New%20Millenium.wmv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10.4%20Foreign%20Aid.pptx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://upload.wikimedia.org/wikipedia/commons/9/9a/HDImap2006.png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bc.ca/news/world/south-sudan-famine-evans-1.4093264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SLDoIiFzzg" TargetMode="External"/><Relationship Id="rId2" Type="http://schemas.openxmlformats.org/officeDocument/2006/relationships/hyperlink" Target="http://www.bbc.com/news/av/world-africa-37779124/south-sudan-in-105-second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international.gc.ca/development-developpement/countries-pays/index.aspx?lang=eng#focus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bc.ca/radio/thecurrent/the-current-for-march-3-2017-1.4006937/famine-declared-in-south-sudan-thousands-at-risk-of-starvation-1.4007267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../../Social%2020-1%2020-2%20Videos/Social%2020-1%20RI%203%20Video/Global%20Poverty%20-%20to%20give%20aid%20or%20not%2010%20min.av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hyperlink" Target="http://en.unesco.org/sdgs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bc.ca/news/politics/canadian-international-aid-drops-trudeau-1.4066640" TargetMode="External"/><Relationship Id="rId2" Type="http://schemas.openxmlformats.org/officeDocument/2006/relationships/hyperlink" Target="../../Social%2020-1%2020-2%20Videos/Social%2020-1%20RI%203%20Video/Canada%20-%20Point%20Seven%20Percent.avi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RELATED ISSUE 3 </a:t>
            </a:r>
            <a:br>
              <a:rPr lang="en-US" dirty="0" smtClean="0"/>
            </a:br>
            <a:r>
              <a:rPr lang="en-US" i="1" dirty="0" smtClean="0"/>
              <a:t>Social 20-1</a:t>
            </a:r>
            <a:endParaRPr lang="en-US" i="1" dirty="0"/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/>
            <a:r>
              <a:rPr lang="en-US" dirty="0" smtClean="0"/>
              <a:t>Should internationalism be pursued? </a:t>
            </a:r>
          </a:p>
        </p:txBody>
      </p:sp>
      <p:pic>
        <p:nvPicPr>
          <p:cNvPr id="8196" name="Picture 2" descr="http://www.tcnj.edu/~coonan2/flag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1219200"/>
            <a:ext cx="393065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World is Shrinking…</a:t>
            </a:r>
            <a:endParaRPr lang="en-US" dirty="0"/>
          </a:p>
        </p:txBody>
      </p:sp>
      <p:pic>
        <p:nvPicPr>
          <p:cNvPr id="9219" name="Picture 2" descr="http://www.earthshope.org/Home_files/earth%20transparen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57200" y="1828800"/>
            <a:ext cx="451485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 descr="http://www.earthshope.org/Home_files/earth%20transparen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2286000"/>
            <a:ext cx="3289300" cy="270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6" descr="http://www.earthshope.org/Home_files/earth%20transparen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2667000"/>
            <a:ext cx="2298700" cy="189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6" descr="http://www.earthshope.org/Home_files/earth%20transparent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3048000"/>
            <a:ext cx="14478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 bwMode="auto">
          <a:xfrm>
            <a:off x="990600" y="1066800"/>
            <a:ext cx="7467600" cy="11430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700" cap="none" dirty="0" smtClean="0"/>
              <a:t>SHOULD INTERNATIONALISM BE PURSUED?</a:t>
            </a:r>
          </a:p>
        </p:txBody>
      </p:sp>
      <p:pic>
        <p:nvPicPr>
          <p:cNvPr id="10243" name="Picture 2" descr="http://images.google.ca/url?q=http://www.middlebury.edu/NR/rdonlyres/10A0EE66-CA9E-46F0-9E83-F808FA7467DE/0/WPSweb.jpg&amp;usg=AFQjCNHcUtvzMlo5wWGx-XaLQz0GNlZrL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438400"/>
            <a:ext cx="7248525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CA" cap="none" dirty="0" smtClean="0"/>
              <a:t>Motives of People/Maslow’s Hierarchy of Needs</a:t>
            </a:r>
          </a:p>
        </p:txBody>
      </p:sp>
      <p:sp>
        <p:nvSpPr>
          <p:cNvPr id="1331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CA" dirty="0" smtClean="0"/>
              <a:t>People and nations are motivated in life by WANTS and NEEDS</a:t>
            </a:r>
          </a:p>
          <a:p>
            <a:pPr eaLnBrk="1" hangingPunct="1"/>
            <a:r>
              <a:rPr lang="en-CA" dirty="0" smtClean="0"/>
              <a:t>NEEDS are basic to human survival</a:t>
            </a:r>
          </a:p>
          <a:p>
            <a:pPr eaLnBrk="1" hangingPunct="1"/>
            <a:r>
              <a:rPr lang="en-CA" dirty="0" smtClean="0"/>
              <a:t>WANTS are things people desire, not necessarily needed for survival</a:t>
            </a:r>
          </a:p>
          <a:p>
            <a:pPr eaLnBrk="1" hangingPunct="1"/>
            <a:r>
              <a:rPr lang="en-CA" dirty="0" smtClean="0"/>
              <a:t>Maslow says all humans are motivated to meet their survival needs</a:t>
            </a:r>
          </a:p>
          <a:p>
            <a:pPr eaLnBrk="1" hangingPunct="1"/>
            <a:r>
              <a:rPr lang="en-CA" dirty="0" smtClean="0"/>
              <a:t>Structured this as a pyramid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519112" y="381000"/>
            <a:ext cx="7467600" cy="731838"/>
          </a:xfrm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CA" cap="none" dirty="0" smtClean="0"/>
              <a:t>Maslow’s Hierarchy of Needs</a:t>
            </a:r>
          </a:p>
        </p:txBody>
      </p:sp>
      <p:sp>
        <p:nvSpPr>
          <p:cNvPr id="1433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CA" smtClean="0"/>
          </a:p>
        </p:txBody>
      </p:sp>
      <p:pic>
        <p:nvPicPr>
          <p:cNvPr id="14340" name="Picture 9" descr="Maslows%20hierarchy%20of%20need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24921"/>
            <a:ext cx="7439025" cy="5533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CA" cap="none" dirty="0" smtClean="0"/>
              <a:t>Maslow’s Hierarchy of Needs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CA" dirty="0" smtClean="0"/>
              <a:t>Maslow states that humans</a:t>
            </a:r>
          </a:p>
          <a:p>
            <a:pPr eaLnBrk="1" hangingPunct="1">
              <a:buFont typeface="Wingdings" pitchFamily="2" charset="2"/>
              <a:buNone/>
            </a:pPr>
            <a:r>
              <a:rPr lang="en-CA" dirty="0" smtClean="0"/>
              <a:t> 	will move up the pyramid as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CA" dirty="0" smtClean="0"/>
              <a:t>	their more basic needs get </a:t>
            </a:r>
          </a:p>
          <a:p>
            <a:pPr eaLnBrk="1" hangingPunct="1">
              <a:buFont typeface="Wingdings" pitchFamily="2" charset="2"/>
              <a:buNone/>
            </a:pPr>
            <a:r>
              <a:rPr lang="en-CA" dirty="0" smtClean="0"/>
              <a:t>	met</a:t>
            </a:r>
          </a:p>
          <a:p>
            <a:pPr eaLnBrk="1" hangingPunct="1">
              <a:buFont typeface="Wingdings" pitchFamily="2" charset="2"/>
              <a:buNone/>
            </a:pPr>
            <a:endParaRPr lang="en-CA" dirty="0" smtClean="0"/>
          </a:p>
          <a:p>
            <a:pPr eaLnBrk="1" hangingPunct="1">
              <a:buFont typeface="Wingdings" pitchFamily="2" charset="2"/>
              <a:buNone/>
            </a:pPr>
            <a:endParaRPr lang="en-CA" dirty="0" smtClean="0"/>
          </a:p>
          <a:p>
            <a:pPr eaLnBrk="1" hangingPunct="1">
              <a:buFont typeface="Wingdings" pitchFamily="2" charset="2"/>
              <a:buNone/>
            </a:pPr>
            <a:endParaRPr lang="en-CA" dirty="0" smtClean="0"/>
          </a:p>
        </p:txBody>
      </p:sp>
      <p:pic>
        <p:nvPicPr>
          <p:cNvPr id="15364" name="Picture 4" descr="Maslows%20hierarchy%20of%20need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22606" y="1600199"/>
            <a:ext cx="3940393" cy="2931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CA" cap="none" dirty="0" smtClean="0"/>
              <a:t>What About Nations?</a:t>
            </a:r>
          </a:p>
        </p:txBody>
      </p:sp>
      <p:sp>
        <p:nvSpPr>
          <p:cNvPr id="1741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CA" dirty="0" smtClean="0"/>
              <a:t>Nations and nation-states are made up of PEOPLE</a:t>
            </a:r>
          </a:p>
          <a:p>
            <a:pPr eaLnBrk="1" hangingPunct="1"/>
            <a:r>
              <a:rPr lang="en-CA" dirty="0" smtClean="0"/>
              <a:t>Therefore, it is natural for nations to somewhat pursue things the same way that people do, along a hierarchy of needs</a:t>
            </a:r>
          </a:p>
          <a:p>
            <a:pPr eaLnBrk="1" hangingPunct="1"/>
            <a:r>
              <a:rPr lang="en-CA" dirty="0" smtClean="0"/>
              <a:t>Successful nation-states, democratic ones especially look to satisfy the needs of their people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CA" cap="none" dirty="0" smtClean="0"/>
              <a:t>Economic Stability</a:t>
            </a:r>
          </a:p>
        </p:txBody>
      </p:sp>
      <p:sp>
        <p:nvSpPr>
          <p:cNvPr id="1843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dirty="0" smtClean="0"/>
              <a:t>Well being of nations people to support and take care of themselves</a:t>
            </a:r>
          </a:p>
          <a:p>
            <a:pPr eaLnBrk="1" hangingPunct="1">
              <a:lnSpc>
                <a:spcPct val="90000"/>
              </a:lnSpc>
            </a:pPr>
            <a:r>
              <a:rPr lang="en-CA" dirty="0" smtClean="0"/>
              <a:t>Employment</a:t>
            </a:r>
          </a:p>
          <a:p>
            <a:pPr eaLnBrk="1" hangingPunct="1">
              <a:lnSpc>
                <a:spcPct val="90000"/>
              </a:lnSpc>
            </a:pPr>
            <a:r>
              <a:rPr lang="en-CA" dirty="0" smtClean="0"/>
              <a:t>Nation-states attempt to provide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CA" dirty="0" smtClean="0"/>
              <a:t> their economies with the best,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CA" dirty="0" smtClean="0"/>
              <a:t> most qualified workforce</a:t>
            </a:r>
          </a:p>
          <a:p>
            <a:pPr eaLnBrk="1" hangingPunct="1">
              <a:lnSpc>
                <a:spcPct val="90000"/>
              </a:lnSpc>
            </a:pPr>
            <a:endParaRPr lang="en-CA" dirty="0" smtClean="0"/>
          </a:p>
          <a:p>
            <a:pPr eaLnBrk="1" hangingPunct="1">
              <a:lnSpc>
                <a:spcPct val="90000"/>
              </a:lnSpc>
            </a:pPr>
            <a:endParaRPr lang="en-CA" dirty="0" smtClean="0"/>
          </a:p>
          <a:p>
            <a:pPr eaLnBrk="1" hangingPunct="1">
              <a:lnSpc>
                <a:spcPct val="90000"/>
              </a:lnSpc>
            </a:pPr>
            <a:endParaRPr lang="en-CA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CA" dirty="0" smtClean="0"/>
          </a:p>
          <a:p>
            <a:pPr eaLnBrk="1" hangingPunct="1">
              <a:lnSpc>
                <a:spcPct val="90000"/>
              </a:lnSpc>
            </a:pPr>
            <a:r>
              <a:rPr lang="en-CA" dirty="0" smtClean="0"/>
              <a:t>Nations take long-term and short-term plans to ensure economic stability</a:t>
            </a:r>
          </a:p>
          <a:p>
            <a:pPr eaLnBrk="1" hangingPunct="1">
              <a:lnSpc>
                <a:spcPct val="90000"/>
              </a:lnSpc>
            </a:pPr>
            <a:endParaRPr lang="en-CA" dirty="0" smtClean="0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27675" y="2133600"/>
            <a:ext cx="3616325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CA" cap="none" dirty="0" smtClean="0"/>
              <a:t>Peace and Security</a:t>
            </a:r>
          </a:p>
        </p:txBody>
      </p:sp>
      <p:sp>
        <p:nvSpPr>
          <p:cNvPr id="1945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CA" dirty="0" smtClean="0"/>
              <a:t>Nation-states wish to provide their citizens with safety</a:t>
            </a:r>
          </a:p>
          <a:p>
            <a:pPr lvl="1" eaLnBrk="1" hangingPunct="1"/>
            <a:r>
              <a:rPr lang="en-CA" dirty="0" smtClean="0"/>
              <a:t>Go to work, school, have freedoms</a:t>
            </a:r>
          </a:p>
          <a:p>
            <a:pPr eaLnBrk="1" hangingPunct="1"/>
            <a:r>
              <a:rPr lang="en-CA" dirty="0" smtClean="0"/>
              <a:t>Sense of national safety and security</a:t>
            </a:r>
          </a:p>
          <a:p>
            <a:pPr lvl="1" eaLnBrk="1" hangingPunct="1"/>
            <a:r>
              <a:rPr lang="en-CA" dirty="0" smtClean="0"/>
              <a:t>If the people are insecure, they are likely to oppose the government</a:t>
            </a:r>
          </a:p>
          <a:p>
            <a:pPr lvl="1" eaLnBrk="1" hangingPunct="1"/>
            <a:r>
              <a:rPr lang="en-CA" dirty="0" smtClean="0"/>
              <a:t>Security of the person</a:t>
            </a:r>
          </a:p>
          <a:p>
            <a:pPr lvl="1" eaLnBrk="1" hangingPunct="1"/>
            <a:r>
              <a:rPr lang="en-CA" dirty="0" smtClean="0"/>
              <a:t>Insecurity hurts the economy</a:t>
            </a:r>
          </a:p>
          <a:p>
            <a:pPr eaLnBrk="1" hangingPunct="1"/>
            <a:r>
              <a:rPr lang="en-CA" dirty="0" smtClean="0"/>
              <a:t>Promotion of security</a:t>
            </a:r>
          </a:p>
          <a:p>
            <a:pPr lvl="1" eaLnBrk="1" hangingPunct="1"/>
            <a:r>
              <a:rPr lang="en-CA" dirty="0" smtClean="0"/>
              <a:t>International Organizations, </a:t>
            </a:r>
            <a:r>
              <a:rPr lang="en-CA" dirty="0" smtClean="0">
                <a:hlinkClick r:id="rId2"/>
              </a:rPr>
              <a:t>NATO</a:t>
            </a:r>
            <a:r>
              <a:rPr lang="en-CA" dirty="0" smtClean="0"/>
              <a:t>, UN etc.</a:t>
            </a:r>
          </a:p>
          <a:p>
            <a:pPr lvl="1" eaLnBrk="1" hangingPunct="1"/>
            <a:r>
              <a:rPr lang="en-CA" dirty="0" smtClean="0">
                <a:hlinkClick r:id="rId3"/>
              </a:rPr>
              <a:t>History of NATO</a:t>
            </a:r>
            <a:endParaRPr lang="en-CA" dirty="0" smtClean="0"/>
          </a:p>
          <a:p>
            <a:pPr lvl="1" eaLnBrk="1" hangingPunct="1"/>
            <a:r>
              <a:rPr lang="en-CA" dirty="0" smtClean="0">
                <a:hlinkClick r:id="rId4"/>
              </a:rPr>
              <a:t>Darfur in 10 min.</a:t>
            </a:r>
            <a:endParaRPr lang="en-CA" dirty="0" smtClean="0"/>
          </a:p>
          <a:p>
            <a:pPr lvl="1" eaLnBrk="1" hangingPunct="1"/>
            <a:endParaRPr lang="en-CA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CA" cap="none" dirty="0" smtClean="0"/>
              <a:t>Self-Determination</a:t>
            </a:r>
          </a:p>
        </p:txBody>
      </p:sp>
      <p:sp>
        <p:nvSpPr>
          <p:cNvPr id="20483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4648200" cy="4873625"/>
          </a:xfrm>
        </p:spPr>
        <p:txBody>
          <a:bodyPr/>
          <a:lstStyle/>
          <a:p>
            <a:pPr eaLnBrk="1" hangingPunct="1"/>
            <a:r>
              <a:rPr lang="en-CA" dirty="0" smtClean="0"/>
              <a:t>Like people, nations and nation-states have a desire to be in control of their fate</a:t>
            </a:r>
          </a:p>
          <a:p>
            <a:pPr eaLnBrk="1" hangingPunct="1"/>
            <a:r>
              <a:rPr lang="en-CA" dirty="0" smtClean="0"/>
              <a:t>Self-determination and Sovereignty</a:t>
            </a:r>
          </a:p>
          <a:p>
            <a:pPr lvl="1" eaLnBrk="1" hangingPunct="1"/>
            <a:r>
              <a:rPr lang="en-CA" dirty="0" smtClean="0"/>
              <a:t>Collapse of Soviet Union</a:t>
            </a:r>
          </a:p>
          <a:p>
            <a:pPr eaLnBrk="1" hangingPunct="1"/>
            <a:r>
              <a:rPr lang="en-CA" dirty="0" smtClean="0"/>
              <a:t>Indigenous Peoples</a:t>
            </a:r>
          </a:p>
          <a:p>
            <a:pPr lvl="1" eaLnBrk="1" hangingPunct="1"/>
            <a:r>
              <a:rPr lang="en-CA" dirty="0" smtClean="0"/>
              <a:t>Self-Government</a:t>
            </a:r>
          </a:p>
          <a:p>
            <a:pPr lvl="1" eaLnBrk="1" hangingPunct="1"/>
            <a:r>
              <a:rPr lang="en-CA" dirty="0" smtClean="0"/>
              <a:t>Recognition within a larger nation-state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2743200"/>
            <a:ext cx="3376031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CA" cap="none" dirty="0" smtClean="0"/>
              <a:t>Humanitarianism</a:t>
            </a:r>
          </a:p>
        </p:txBody>
      </p:sp>
      <p:sp>
        <p:nvSpPr>
          <p:cNvPr id="2253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CA" dirty="0" smtClean="0"/>
              <a:t>Actions to assist and relieve suffering and the innocent in the world</a:t>
            </a:r>
          </a:p>
          <a:p>
            <a:pPr eaLnBrk="1" hangingPunct="1"/>
            <a:r>
              <a:rPr lang="en-CA" dirty="0" smtClean="0"/>
              <a:t>Natural Disasters</a:t>
            </a:r>
          </a:p>
          <a:p>
            <a:pPr eaLnBrk="1" hangingPunct="1"/>
            <a:r>
              <a:rPr lang="en-CA" dirty="0" smtClean="0"/>
              <a:t>Disease </a:t>
            </a:r>
          </a:p>
          <a:p>
            <a:pPr lvl="1" eaLnBrk="1" hangingPunct="1"/>
            <a:r>
              <a:rPr lang="en-CA" dirty="0" smtClean="0">
                <a:hlinkClick r:id="rId2"/>
              </a:rPr>
              <a:t>WHO</a:t>
            </a:r>
            <a:endParaRPr lang="en-CA" dirty="0" smtClean="0"/>
          </a:p>
          <a:p>
            <a:pPr lvl="1" eaLnBrk="1" hangingPunct="1"/>
            <a:r>
              <a:rPr lang="en-CA" dirty="0" smtClean="0">
                <a:hlinkClick r:id="rId3"/>
              </a:rPr>
              <a:t>Right to Play</a:t>
            </a:r>
            <a:r>
              <a:rPr lang="en-CA" dirty="0" smtClean="0"/>
              <a:t> </a:t>
            </a:r>
            <a:r>
              <a:rPr lang="en-CA" dirty="0" smtClean="0">
                <a:hlinkClick r:id="rId4"/>
              </a:rPr>
              <a:t>2</a:t>
            </a:r>
            <a:endParaRPr lang="en-CA" dirty="0" smtClean="0"/>
          </a:p>
          <a:p>
            <a:pPr eaLnBrk="1" hangingPunct="1"/>
            <a:r>
              <a:rPr lang="en-CA" dirty="0" smtClean="0"/>
              <a:t>War/Conflict</a:t>
            </a:r>
          </a:p>
          <a:p>
            <a:pPr eaLnBrk="1" hangingPunct="1"/>
            <a:r>
              <a:rPr lang="en-CA" dirty="0" smtClean="0"/>
              <a:t>Aid</a:t>
            </a:r>
          </a:p>
          <a:p>
            <a:pPr lvl="1" eaLnBrk="1" hangingPunct="1"/>
            <a:r>
              <a:rPr lang="en-CA" dirty="0" smtClean="0"/>
              <a:t>Money and Supplies</a:t>
            </a:r>
          </a:p>
          <a:p>
            <a:pPr lvl="1" eaLnBrk="1" hangingPunct="1"/>
            <a:r>
              <a:rPr lang="en-CA" dirty="0" smtClean="0"/>
              <a:t>Accepting Refugees</a:t>
            </a:r>
          </a:p>
          <a:p>
            <a:pPr lvl="1" eaLnBrk="1" hangingPunct="1"/>
            <a:r>
              <a:rPr lang="en-CA" dirty="0" smtClean="0"/>
              <a:t>UN Sustainable Development Goals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86400" y="2133600"/>
            <a:ext cx="2913859" cy="365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CA" cap="none" dirty="0" smtClean="0"/>
              <a:t>How Do Nation-States Respond to the World?</a:t>
            </a:r>
          </a:p>
        </p:txBody>
      </p:sp>
      <p:sp>
        <p:nvSpPr>
          <p:cNvPr id="24579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CA" b="1" dirty="0" smtClean="0">
                <a:solidFill>
                  <a:srgbClr val="FF0000"/>
                </a:solidFill>
              </a:rPr>
              <a:t>Isolationism</a:t>
            </a:r>
          </a:p>
          <a:p>
            <a:pPr lvl="1" eaLnBrk="1" hangingPunct="1"/>
            <a:r>
              <a:rPr lang="en-CA" dirty="0" smtClean="0"/>
              <a:t>Complete opting out of participation in international affairs</a:t>
            </a:r>
          </a:p>
          <a:p>
            <a:pPr lvl="1" eaLnBrk="1" hangingPunct="1"/>
            <a:r>
              <a:rPr lang="en-CA" dirty="0" smtClean="0"/>
              <a:t>Examples:</a:t>
            </a:r>
          </a:p>
          <a:p>
            <a:pPr lvl="2" eaLnBrk="1" hangingPunct="1"/>
            <a:r>
              <a:rPr lang="en-CA" dirty="0" smtClean="0"/>
              <a:t>Feudal Japan</a:t>
            </a:r>
          </a:p>
          <a:p>
            <a:pPr lvl="2" eaLnBrk="1" hangingPunct="1"/>
            <a:r>
              <a:rPr lang="en-CA" dirty="0" smtClean="0"/>
              <a:t>United States-interwar years, not joining L of N</a:t>
            </a:r>
          </a:p>
          <a:p>
            <a:pPr lvl="2" eaLnBrk="1" hangingPunct="1"/>
            <a:r>
              <a:rPr lang="en-CA" dirty="0" smtClean="0"/>
              <a:t>Switzerland- remaining neutral</a:t>
            </a:r>
          </a:p>
          <a:p>
            <a:pPr eaLnBrk="1" hangingPunct="1"/>
            <a:r>
              <a:rPr lang="en-CA" b="1" dirty="0" smtClean="0">
                <a:solidFill>
                  <a:srgbClr val="FF0000"/>
                </a:solidFill>
              </a:rPr>
              <a:t>Unilateralism</a:t>
            </a:r>
          </a:p>
          <a:p>
            <a:pPr lvl="1" eaLnBrk="1" hangingPunct="1"/>
            <a:r>
              <a:rPr lang="en-CA" dirty="0" smtClean="0"/>
              <a:t>Responding to events on their own</a:t>
            </a:r>
          </a:p>
          <a:p>
            <a:pPr lvl="1" eaLnBrk="1" hangingPunct="1"/>
            <a:r>
              <a:rPr lang="en-CA" dirty="0" smtClean="0"/>
              <a:t>The United States – the Bush doctrine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1630907"/>
            <a:ext cx="5562600" cy="4783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 bwMode="auto">
          <a:noFill/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CA" cap="none" dirty="0" smtClean="0"/>
              <a:t>How Do Nation-States Respond to the World?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b="1" dirty="0" smtClean="0">
                <a:solidFill>
                  <a:srgbClr val="FF0000"/>
                </a:solidFill>
              </a:rPr>
              <a:t>Bilateralism</a:t>
            </a:r>
          </a:p>
          <a:p>
            <a:pPr lvl="1" eaLnBrk="1" hangingPunct="1">
              <a:lnSpc>
                <a:spcPct val="90000"/>
              </a:lnSpc>
            </a:pPr>
            <a:r>
              <a:rPr lang="en-CA" dirty="0" smtClean="0"/>
              <a:t>2 countries together, motivated by the same want or need</a:t>
            </a:r>
          </a:p>
          <a:p>
            <a:pPr lvl="1" eaLnBrk="1" hangingPunct="1">
              <a:lnSpc>
                <a:spcPct val="90000"/>
              </a:lnSpc>
            </a:pPr>
            <a:r>
              <a:rPr lang="en-CA" dirty="0" smtClean="0"/>
              <a:t>Canada-US Air Quality Agreement</a:t>
            </a:r>
          </a:p>
          <a:p>
            <a:pPr eaLnBrk="1" hangingPunct="1">
              <a:lnSpc>
                <a:spcPct val="90000"/>
              </a:lnSpc>
            </a:pPr>
            <a:r>
              <a:rPr lang="en-CA" b="1" dirty="0" smtClean="0">
                <a:solidFill>
                  <a:srgbClr val="FF0000"/>
                </a:solidFill>
              </a:rPr>
              <a:t>Multilateralism</a:t>
            </a:r>
          </a:p>
          <a:p>
            <a:pPr lvl="1" eaLnBrk="1" hangingPunct="1">
              <a:lnSpc>
                <a:spcPct val="90000"/>
              </a:lnSpc>
            </a:pPr>
            <a:r>
              <a:rPr lang="en-CA" dirty="0" smtClean="0"/>
              <a:t>Several Countries working together on an issue</a:t>
            </a:r>
          </a:p>
          <a:p>
            <a:pPr lvl="1" eaLnBrk="1" hangingPunct="1">
              <a:lnSpc>
                <a:spcPct val="90000"/>
              </a:lnSpc>
            </a:pPr>
            <a:r>
              <a:rPr lang="en-CA" dirty="0" smtClean="0"/>
              <a:t>Typically the approach of middle powers, increases their influence on issues when working in numbers</a:t>
            </a:r>
          </a:p>
          <a:p>
            <a:pPr lvl="1" eaLnBrk="1" hangingPunct="1">
              <a:lnSpc>
                <a:spcPct val="90000"/>
              </a:lnSpc>
            </a:pPr>
            <a:r>
              <a:rPr lang="en-CA" dirty="0" smtClean="0"/>
              <a:t>UN, WTO</a:t>
            </a:r>
          </a:p>
          <a:p>
            <a:pPr eaLnBrk="1" hangingPunct="1">
              <a:lnSpc>
                <a:spcPct val="90000"/>
              </a:lnSpc>
            </a:pPr>
            <a:r>
              <a:rPr lang="en-CA" b="1" dirty="0" err="1" smtClean="0">
                <a:solidFill>
                  <a:srgbClr val="FF0000"/>
                </a:solidFill>
              </a:rPr>
              <a:t>Supranationalism</a:t>
            </a:r>
            <a:endParaRPr lang="en-CA" b="1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CA" dirty="0" smtClean="0"/>
              <a:t>Agreeing to abide by the decisions of an international organization of independent officials</a:t>
            </a:r>
          </a:p>
          <a:p>
            <a:pPr lvl="1" eaLnBrk="1" hangingPunct="1">
              <a:lnSpc>
                <a:spcPct val="90000"/>
              </a:lnSpc>
            </a:pPr>
            <a:r>
              <a:rPr lang="en-CA" dirty="0" smtClean="0"/>
              <a:t>European Union – the Euro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533400"/>
            <a:ext cx="404812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1752600"/>
            <a:ext cx="3352800" cy="30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62100" y="2971800"/>
            <a:ext cx="3162300" cy="3083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3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nations respond?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Sovereignty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CA" dirty="0" smtClean="0"/>
              <a:t>political </a:t>
            </a:r>
            <a:r>
              <a:rPr lang="en-CA" dirty="0"/>
              <a:t>authority to control one’s own </a:t>
            </a:r>
            <a:r>
              <a:rPr lang="en-CA" dirty="0" smtClean="0"/>
              <a:t>affairs</a:t>
            </a:r>
          </a:p>
          <a:p>
            <a:pPr marL="0" indent="0">
              <a:buNone/>
            </a:pPr>
            <a:r>
              <a:rPr lang="en-CA" b="1" dirty="0" smtClean="0">
                <a:solidFill>
                  <a:srgbClr val="FF0000"/>
                </a:solidFill>
              </a:rPr>
              <a:t>Voluntary Balkanization</a:t>
            </a:r>
          </a:p>
          <a:p>
            <a:pPr marL="0" indent="0">
              <a:buNone/>
            </a:pPr>
            <a:r>
              <a:rPr lang="en-CA" dirty="0"/>
              <a:t> </a:t>
            </a:r>
            <a:r>
              <a:rPr lang="en-CA" dirty="0" smtClean="0"/>
              <a:t>- </a:t>
            </a:r>
            <a:r>
              <a:rPr lang="en-CA" dirty="0"/>
              <a:t>the separation of people into isolated and hostile groups </a:t>
            </a:r>
            <a:endParaRPr lang="en-CA" dirty="0" smtClean="0"/>
          </a:p>
          <a:p>
            <a:pPr marL="0" indent="0">
              <a:buNone/>
            </a:pPr>
            <a:r>
              <a:rPr lang="en-CA" b="1" dirty="0" smtClean="0">
                <a:solidFill>
                  <a:srgbClr val="FF0000"/>
                </a:solidFill>
              </a:rPr>
              <a:t>Collective Security</a:t>
            </a:r>
          </a:p>
          <a:p>
            <a:pPr marL="0" lvl="0" indent="0">
              <a:buNone/>
            </a:pPr>
            <a:r>
              <a:rPr lang="en-CA" dirty="0"/>
              <a:t> </a:t>
            </a:r>
            <a:r>
              <a:rPr lang="en-CA" dirty="0" smtClean="0"/>
              <a:t>- </a:t>
            </a:r>
            <a:r>
              <a:rPr lang="en-CA" dirty="0"/>
              <a:t>all members of the community accept responsibility and act together to face the challenges that faces one	or more of the members</a:t>
            </a:r>
            <a:endParaRPr lang="en-US" dirty="0"/>
          </a:p>
          <a:p>
            <a:pPr marL="0" indent="0">
              <a:buNone/>
            </a:pPr>
            <a:r>
              <a:rPr lang="en-CA" b="1" dirty="0" smtClean="0">
                <a:solidFill>
                  <a:srgbClr val="FF0000"/>
                </a:solidFill>
              </a:rPr>
              <a:t>Economic Sanctions</a:t>
            </a:r>
          </a:p>
          <a:p>
            <a:pPr marL="0" indent="0">
              <a:buNone/>
            </a:pPr>
            <a:r>
              <a:rPr lang="en-CA" dirty="0"/>
              <a:t> </a:t>
            </a:r>
            <a:r>
              <a:rPr lang="en-CA" dirty="0" smtClean="0"/>
              <a:t>- </a:t>
            </a:r>
            <a:r>
              <a:rPr lang="en-CA" dirty="0"/>
              <a:t>the cutting off of trade with a country in an effort to force it to follow a particular course of action</a:t>
            </a:r>
            <a:endParaRPr lang="en-CA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7584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4294967295"/>
          </p:nvPr>
        </p:nvSpPr>
        <p:spPr>
          <a:xfrm>
            <a:off x="304800" y="1676400"/>
            <a:ext cx="8316416" cy="4114800"/>
          </a:xfrm>
        </p:spPr>
        <p:txBody>
          <a:bodyPr/>
          <a:lstStyle/>
          <a:p>
            <a:pPr lvl="1"/>
            <a:r>
              <a:rPr lang="en-US" sz="2800" dirty="0"/>
              <a:t>Can you think of some ways that Canada </a:t>
            </a:r>
            <a:r>
              <a:rPr lang="en-US" sz="2800" b="1" dirty="0"/>
              <a:t>interacts</a:t>
            </a:r>
            <a:r>
              <a:rPr lang="en-US" sz="2800" dirty="0"/>
              <a:t> with the rest of the world? </a:t>
            </a:r>
            <a:r>
              <a:rPr lang="en-US" sz="2000" dirty="0"/>
              <a:t>(What resources/goods do we produce for export?  What ideas/values do we spread/promote?  What type of impact do we have</a:t>
            </a:r>
            <a:r>
              <a:rPr lang="en-US" sz="2000" dirty="0" smtClean="0"/>
              <a:t>?)</a:t>
            </a:r>
            <a:endParaRPr lang="en-CA" sz="2000" dirty="0"/>
          </a:p>
          <a:p>
            <a:pPr lvl="1"/>
            <a:r>
              <a:rPr lang="en-US" sz="2800" dirty="0"/>
              <a:t>Can you name some international organizations that Canada is involved in?</a:t>
            </a:r>
            <a:endParaRPr lang="en-CA" sz="2800" dirty="0"/>
          </a:p>
          <a:p>
            <a:pPr lvl="1"/>
            <a:r>
              <a:rPr lang="en-US" sz="2800" dirty="0"/>
              <a:t>If Canada were a person, how would you describe her?</a:t>
            </a:r>
            <a:endParaRPr lang="en-CA" sz="28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420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274638"/>
            <a:ext cx="7921129" cy="1138237"/>
          </a:xfrm>
        </p:spPr>
        <p:txBody>
          <a:bodyPr/>
          <a:lstStyle/>
          <a:p>
            <a:r>
              <a:rPr lang="en-US" sz="2800" dirty="0"/>
              <a:t>FOREIGN POLICY - Decisions about how to deal with other countries;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2057400"/>
            <a:ext cx="7313612" cy="3695700"/>
          </a:xfrm>
        </p:spPr>
        <p:txBody>
          <a:bodyPr/>
          <a:lstStyle/>
          <a:p>
            <a:r>
              <a:rPr lang="en-US" sz="2500" dirty="0"/>
              <a:t>Decisions affect:  </a:t>
            </a:r>
          </a:p>
          <a:p>
            <a:pPr lvl="1"/>
            <a:r>
              <a:rPr lang="en-US" sz="2100" dirty="0"/>
              <a:t>Where we get our food</a:t>
            </a:r>
          </a:p>
          <a:p>
            <a:pPr lvl="1"/>
            <a:r>
              <a:rPr lang="en-US" sz="2100" dirty="0"/>
              <a:t>Where we get our clothes, shoes, and other possessions that are not Canadian-made;</a:t>
            </a:r>
          </a:p>
          <a:p>
            <a:pPr lvl="1"/>
            <a:r>
              <a:rPr lang="en-US" sz="2100" dirty="0"/>
              <a:t>Television, music, we enjoy that is not Canadian-made</a:t>
            </a:r>
          </a:p>
          <a:p>
            <a:pPr lvl="1"/>
            <a:r>
              <a:rPr lang="en-US" sz="2100" dirty="0"/>
              <a:t>Employment and income from companies that are NOT Canadian-owned;</a:t>
            </a:r>
          </a:p>
          <a:p>
            <a:pPr lvl="1"/>
            <a:r>
              <a:rPr lang="en-US" sz="2100" dirty="0"/>
              <a:t>Rules of international travel and </a:t>
            </a:r>
            <a:r>
              <a:rPr lang="en-US" sz="2100" dirty="0" smtClean="0"/>
              <a:t>behavior </a:t>
            </a:r>
            <a:r>
              <a:rPr lang="en-US" sz="2100" dirty="0"/>
              <a:t>while in someone else’s nation;</a:t>
            </a:r>
          </a:p>
        </p:txBody>
      </p:sp>
    </p:spTree>
    <p:extLst>
      <p:ext uri="{BB962C8B-B14F-4D97-AF65-F5344CB8AC3E}">
        <p14:creationId xmlns:p14="http://schemas.microsoft.com/office/powerpoint/2010/main" val="346994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Influences on Foreign Policy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1" t="10862" r="16275" b="15526"/>
          <a:stretch/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127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Canada and the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NATO</a:t>
            </a:r>
          </a:p>
          <a:p>
            <a:pPr lvl="0"/>
            <a:r>
              <a:rPr lang="en-GB" dirty="0"/>
              <a:t>Political alliance – members consult and cooperate to prevent conflict</a:t>
            </a:r>
            <a:endParaRPr lang="en-US" dirty="0"/>
          </a:p>
          <a:p>
            <a:pPr lvl="0"/>
            <a:r>
              <a:rPr lang="en-GB" dirty="0"/>
              <a:t>Military alliance - Attack against one or several of its members is considered an attack against all</a:t>
            </a:r>
            <a:endParaRPr lang="en-US" dirty="0"/>
          </a:p>
          <a:p>
            <a:pPr lvl="0"/>
            <a:r>
              <a:rPr lang="en-GB" dirty="0"/>
              <a:t>Provides collective security</a:t>
            </a:r>
            <a:endParaRPr lang="en-US" dirty="0"/>
          </a:p>
          <a:p>
            <a:pPr lvl="0"/>
            <a:r>
              <a:rPr lang="en-GB" dirty="0"/>
              <a:t>Crisis management</a:t>
            </a:r>
            <a:endParaRPr lang="en-US" dirty="0"/>
          </a:p>
          <a:p>
            <a:pPr lvl="0"/>
            <a:r>
              <a:rPr lang="en-GB" dirty="0"/>
              <a:t>28 members – links N.A. and Europe</a:t>
            </a:r>
            <a:endParaRPr lang="en-US" dirty="0"/>
          </a:p>
          <a:p>
            <a:r>
              <a:rPr lang="en-US" dirty="0">
                <a:hlinkClick r:id="rId2"/>
              </a:rPr>
              <a:t>http://www.nato.int/nato-welcome/index.html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67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Canada and the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NORAD</a:t>
            </a:r>
          </a:p>
          <a:p>
            <a:pPr lvl="0"/>
            <a:r>
              <a:rPr lang="es-MX" dirty="0"/>
              <a:t>North American Aerospace </a:t>
            </a:r>
            <a:r>
              <a:rPr lang="es-MX" dirty="0" err="1"/>
              <a:t>Defense</a:t>
            </a:r>
            <a:r>
              <a:rPr lang="en-CA" dirty="0"/>
              <a:t> Command </a:t>
            </a:r>
            <a:r>
              <a:rPr lang="es-MX" dirty="0"/>
              <a:t>–</a:t>
            </a:r>
            <a:endParaRPr lang="en-US" dirty="0"/>
          </a:p>
          <a:p>
            <a:pPr lvl="0"/>
            <a:r>
              <a:rPr lang="en-CA" dirty="0"/>
              <a:t>Conducts </a:t>
            </a:r>
            <a:r>
              <a:rPr lang="es-MX" dirty="0" err="1"/>
              <a:t>aerospace</a:t>
            </a:r>
            <a:r>
              <a:rPr lang="es-MX" dirty="0"/>
              <a:t> </a:t>
            </a:r>
            <a:r>
              <a:rPr lang="es-MX" dirty="0" err="1"/>
              <a:t>warning</a:t>
            </a:r>
            <a:r>
              <a:rPr lang="es-MX" dirty="0"/>
              <a:t> and </a:t>
            </a:r>
            <a:r>
              <a:rPr lang="es-MX" dirty="0" err="1"/>
              <a:t>aerospace</a:t>
            </a:r>
            <a:r>
              <a:rPr lang="es-MX" dirty="0"/>
              <a:t> control in </a:t>
            </a:r>
            <a:r>
              <a:rPr lang="es-MX" dirty="0" err="1"/>
              <a:t>defense</a:t>
            </a:r>
            <a:r>
              <a:rPr lang="es-MX" dirty="0"/>
              <a:t> of N.A.</a:t>
            </a:r>
            <a:endParaRPr lang="en-US" dirty="0"/>
          </a:p>
          <a:p>
            <a:pPr lvl="0"/>
            <a:r>
              <a:rPr lang="es-MX" dirty="0"/>
              <a:t>Bi-lateral </a:t>
            </a:r>
            <a:r>
              <a:rPr lang="es-MX" dirty="0" err="1"/>
              <a:t>partnership</a:t>
            </a:r>
            <a:r>
              <a:rPr lang="es-MX" dirty="0"/>
              <a:t> </a:t>
            </a:r>
            <a:r>
              <a:rPr lang="es-MX" dirty="0" err="1"/>
              <a:t>between</a:t>
            </a:r>
            <a:r>
              <a:rPr lang="es-MX" dirty="0"/>
              <a:t> U.S.A. and </a:t>
            </a:r>
            <a:r>
              <a:rPr lang="es-MX" dirty="0" err="1"/>
              <a:t>Canada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73122"/>
            <a:ext cx="7467600" cy="1143000"/>
          </a:xfrm>
        </p:spPr>
        <p:txBody>
          <a:bodyPr/>
          <a:lstStyle/>
          <a:p>
            <a:r>
              <a:rPr lang="en-US" dirty="0" smtClean="0"/>
              <a:t>Canada and the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ClrTx/>
              <a:buSzTx/>
              <a:buNone/>
            </a:pPr>
            <a:endParaRPr lang="es-MX" altLang="en-US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s-MX" altLang="en-US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North </a:t>
            </a:r>
            <a:r>
              <a:rPr lang="es-MX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American Free </a:t>
            </a:r>
            <a:r>
              <a:rPr lang="es-MX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Trade</a:t>
            </a:r>
            <a:r>
              <a:rPr lang="es-MX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MX" altLang="en-US" dirty="0" err="1" smtClean="0">
                <a:latin typeface="Arial" panose="020B0604020202020204" pitchFamily="34" charset="0"/>
                <a:ea typeface="Times New Roman" panose="02020603050405020304" pitchFamily="18" charset="0"/>
              </a:rPr>
              <a:t>Agreement</a:t>
            </a:r>
            <a:endParaRPr lang="es-MX" altLang="en-US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Char char="•"/>
            </a:pPr>
            <a:r>
              <a:rPr lang="es-MX" altLang="en-US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MX" altLang="en-US" dirty="0" err="1" smtClean="0">
                <a:latin typeface="Arial" panose="020B0604020202020204" pitchFamily="34" charset="0"/>
                <a:ea typeface="Times New Roman" panose="02020603050405020304" pitchFamily="18" charset="0"/>
              </a:rPr>
              <a:t>Comprehensive</a:t>
            </a:r>
            <a:r>
              <a:rPr lang="es-MX" altLang="en-US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MX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trade</a:t>
            </a:r>
            <a:r>
              <a:rPr lang="es-MX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MX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agreement</a:t>
            </a:r>
            <a:r>
              <a:rPr lang="es-MX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Char char="•"/>
            </a:pPr>
            <a:r>
              <a:rPr lang="es-MX" altLang="en-US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MX" altLang="en-US" dirty="0" err="1" smtClean="0">
                <a:latin typeface="Arial" panose="020B0604020202020204" pitchFamily="34" charset="0"/>
                <a:ea typeface="Times New Roman" panose="02020603050405020304" pitchFamily="18" charset="0"/>
              </a:rPr>
              <a:t>Canada</a:t>
            </a:r>
            <a:r>
              <a:rPr lang="es-MX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s-MX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Mexico</a:t>
            </a:r>
            <a:r>
              <a:rPr lang="es-MX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and </a:t>
            </a:r>
            <a:r>
              <a:rPr lang="es-MX" altLang="en-US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U.S.A.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Char char="•"/>
            </a:pPr>
            <a:r>
              <a:rPr lang="es-MX" altLang="en-US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MX" altLang="en-US" dirty="0" err="1" smtClean="0">
                <a:latin typeface="Arial" panose="020B0604020202020204" pitchFamily="34" charset="0"/>
                <a:ea typeface="Times New Roman" panose="02020603050405020304" pitchFamily="18" charset="0"/>
              </a:rPr>
              <a:t>Eliminates</a:t>
            </a:r>
            <a:r>
              <a:rPr lang="es-MX" altLang="en-US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MX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most</a:t>
            </a:r>
            <a:r>
              <a:rPr lang="es-MX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MX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tariff</a:t>
            </a:r>
            <a:r>
              <a:rPr lang="es-MX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and non-</a:t>
            </a:r>
            <a:r>
              <a:rPr lang="es-MX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tariff</a:t>
            </a:r>
            <a:r>
              <a:rPr lang="es-MX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MX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barriers</a:t>
            </a:r>
            <a:r>
              <a:rPr lang="es-MX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to free </a:t>
            </a:r>
            <a:r>
              <a:rPr lang="es-MX" alt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trade</a:t>
            </a:r>
            <a:endParaRPr lang="es-MX" altLang="en-US" sz="48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90538"/>
            <a:ext cx="1390650" cy="81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57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Canada and the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u="sng" dirty="0" smtClean="0"/>
              <a:t>Commonwealth of Nations</a:t>
            </a:r>
          </a:p>
          <a:p>
            <a:pPr lvl="0"/>
            <a:r>
              <a:rPr lang="en-GB" dirty="0"/>
              <a:t>52 member states</a:t>
            </a:r>
            <a:endParaRPr lang="en-US" dirty="0"/>
          </a:p>
          <a:p>
            <a:pPr lvl="0"/>
            <a:r>
              <a:rPr lang="en-GB" dirty="0"/>
              <a:t>Former colonies of  British Empire</a:t>
            </a:r>
            <a:endParaRPr lang="en-US" dirty="0"/>
          </a:p>
          <a:p>
            <a:pPr lvl="0"/>
            <a:r>
              <a:rPr lang="en-GB" dirty="0"/>
              <a:t>Share common values, history, culture, language</a:t>
            </a:r>
            <a:endParaRPr lang="en-US" dirty="0"/>
          </a:p>
          <a:p>
            <a:r>
              <a:rPr lang="en-GB" dirty="0"/>
              <a:t>Work together to promote democracy, human rights, </a:t>
            </a:r>
            <a:r>
              <a:rPr lang="en-GB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58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Canada and the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CA" u="sng" dirty="0" smtClean="0"/>
              <a:t>La Francophonie</a:t>
            </a:r>
          </a:p>
          <a:p>
            <a:pPr lvl="0"/>
            <a:r>
              <a:rPr lang="fr-CA" dirty="0" smtClean="0"/>
              <a:t>84 </a:t>
            </a:r>
            <a:r>
              <a:rPr lang="fr-CA" dirty="0" err="1"/>
              <a:t>member</a:t>
            </a:r>
            <a:r>
              <a:rPr lang="fr-CA" dirty="0"/>
              <a:t> states</a:t>
            </a:r>
            <a:endParaRPr lang="en-US" dirty="0"/>
          </a:p>
          <a:p>
            <a:pPr lvl="0"/>
            <a:r>
              <a:rPr lang="fr-CA" dirty="0" err="1"/>
              <a:t>Organizes</a:t>
            </a:r>
            <a:r>
              <a:rPr lang="fr-CA" dirty="0"/>
              <a:t> </a:t>
            </a:r>
            <a:r>
              <a:rPr lang="fr-CA" dirty="0" err="1"/>
              <a:t>political</a:t>
            </a:r>
            <a:r>
              <a:rPr lang="fr-CA" dirty="0"/>
              <a:t> </a:t>
            </a:r>
            <a:r>
              <a:rPr lang="fr-CA" dirty="0" err="1"/>
              <a:t>activities</a:t>
            </a:r>
            <a:r>
              <a:rPr lang="fr-CA" dirty="0"/>
              <a:t> and actions </a:t>
            </a:r>
            <a:r>
              <a:rPr lang="fr-CA" dirty="0" err="1"/>
              <a:t>that</a:t>
            </a:r>
            <a:r>
              <a:rPr lang="fr-CA" dirty="0"/>
              <a:t> </a:t>
            </a:r>
            <a:r>
              <a:rPr lang="fr-CA" dirty="0" err="1"/>
              <a:t>benefit</a:t>
            </a:r>
            <a:r>
              <a:rPr lang="fr-CA" dirty="0"/>
              <a:t> French-</a:t>
            </a:r>
            <a:r>
              <a:rPr lang="fr-CA" dirty="0" err="1"/>
              <a:t>speaking</a:t>
            </a:r>
            <a:r>
              <a:rPr lang="fr-CA" dirty="0"/>
              <a:t> populations</a:t>
            </a:r>
            <a:endParaRPr lang="en-US" dirty="0"/>
          </a:p>
          <a:p>
            <a:pPr lvl="0"/>
            <a:r>
              <a:rPr lang="fr-CA" dirty="0" err="1"/>
              <a:t>Promotes</a:t>
            </a:r>
            <a:r>
              <a:rPr lang="fr-CA" dirty="0"/>
              <a:t> French </a:t>
            </a:r>
            <a:r>
              <a:rPr lang="fr-CA" dirty="0" err="1"/>
              <a:t>language</a:t>
            </a:r>
            <a:r>
              <a:rPr lang="fr-CA" dirty="0"/>
              <a:t>, </a:t>
            </a:r>
            <a:r>
              <a:rPr lang="fr-CA" dirty="0" err="1"/>
              <a:t>peace</a:t>
            </a:r>
            <a:r>
              <a:rPr lang="fr-CA" dirty="0"/>
              <a:t> and </a:t>
            </a:r>
            <a:r>
              <a:rPr lang="fr-CA" dirty="0" err="1"/>
              <a:t>sustainable</a:t>
            </a:r>
            <a:r>
              <a:rPr lang="fr-CA" dirty="0"/>
              <a:t> </a:t>
            </a:r>
            <a:r>
              <a:rPr lang="fr-CA" dirty="0" err="1"/>
              <a:t>development</a:t>
            </a:r>
            <a:endParaRPr lang="en-US" dirty="0"/>
          </a:p>
          <a:p>
            <a:pPr lvl="0"/>
            <a:r>
              <a:rPr lang="fr-CA" dirty="0" err="1"/>
              <a:t>multilateral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947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Canada and the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 </a:t>
            </a:r>
            <a:r>
              <a:rPr lang="en-GB" u="sng" dirty="0" smtClean="0"/>
              <a:t>APEC</a:t>
            </a:r>
            <a:endParaRPr lang="en-US" u="sng" dirty="0" smtClean="0"/>
          </a:p>
          <a:p>
            <a:pPr lvl="0"/>
            <a:r>
              <a:rPr lang="en-GB" dirty="0" smtClean="0"/>
              <a:t>Asia-Pacific Economic Cooperation</a:t>
            </a:r>
            <a:endParaRPr lang="en-US" dirty="0" smtClean="0"/>
          </a:p>
          <a:p>
            <a:pPr lvl="0"/>
            <a:r>
              <a:rPr lang="en-GB" dirty="0" smtClean="0"/>
              <a:t>21 members</a:t>
            </a:r>
            <a:endParaRPr lang="en-US" dirty="0" smtClean="0"/>
          </a:p>
          <a:p>
            <a:pPr lvl="0"/>
            <a:r>
              <a:rPr lang="en-GB" dirty="0" smtClean="0"/>
              <a:t>Free trade agreement</a:t>
            </a:r>
            <a:endParaRPr lang="en-US" dirty="0" smtClean="0"/>
          </a:p>
          <a:p>
            <a:pPr lvl="0"/>
            <a:r>
              <a:rPr lang="en-GB" dirty="0" smtClean="0"/>
              <a:t>multilateral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86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Canada and the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57237" y="1595437"/>
            <a:ext cx="7467600" cy="4873752"/>
          </a:xfrm>
        </p:spPr>
        <p:txBody>
          <a:bodyPr/>
          <a:lstStyle/>
          <a:p>
            <a:r>
              <a:rPr lang="en-US" u="sng" dirty="0" smtClean="0"/>
              <a:t>OAS – Organization of American States</a:t>
            </a:r>
          </a:p>
          <a:p>
            <a:pPr lvl="0"/>
            <a:r>
              <a:rPr lang="en-GB" dirty="0"/>
              <a:t>regional solidarity and cooperation among its member states</a:t>
            </a:r>
            <a:endParaRPr lang="en-US" dirty="0"/>
          </a:p>
          <a:p>
            <a:pPr lvl="0"/>
            <a:r>
              <a:rPr lang="en-GB" dirty="0"/>
              <a:t>Strengthening democracy</a:t>
            </a:r>
            <a:endParaRPr lang="en-US" dirty="0"/>
          </a:p>
          <a:p>
            <a:pPr lvl="0"/>
            <a:r>
              <a:rPr lang="en-GB" dirty="0"/>
              <a:t>Working for peace</a:t>
            </a:r>
            <a:endParaRPr lang="en-US" dirty="0"/>
          </a:p>
          <a:p>
            <a:pPr lvl="0"/>
            <a:r>
              <a:rPr lang="en-GB" dirty="0"/>
              <a:t>Defending human rights:</a:t>
            </a:r>
            <a:endParaRPr lang="en-US" dirty="0"/>
          </a:p>
          <a:p>
            <a:pPr lvl="0"/>
            <a:r>
              <a:rPr lang="en-GB" dirty="0"/>
              <a:t>Fostering free trade:</a:t>
            </a:r>
            <a:endParaRPr lang="en-US" dirty="0"/>
          </a:p>
          <a:p>
            <a:pPr lvl="0"/>
            <a:r>
              <a:rPr lang="en-GB" dirty="0"/>
              <a:t>Fighting the drugs trade</a:t>
            </a:r>
            <a:endParaRPr lang="en-US" dirty="0"/>
          </a:p>
          <a:p>
            <a:pPr lvl="0"/>
            <a:r>
              <a:rPr lang="en-GB" dirty="0"/>
              <a:t>Promoting sustainable development</a:t>
            </a:r>
            <a:endParaRPr lang="en-US" dirty="0"/>
          </a:p>
          <a:p>
            <a:endParaRPr lang="en-US" dirty="0"/>
          </a:p>
        </p:txBody>
      </p:sp>
      <p:pic>
        <p:nvPicPr>
          <p:cNvPr id="6146" name="Picture 2" descr="Location of   Organization of American States Organisation des États américains  (French)   Organização dos Estados Americanos  (Portuguese)   Organización de los Estados Americanos  (Spanish)   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9429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930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Canada and the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GB" dirty="0" smtClean="0"/>
              <a:t>G8</a:t>
            </a:r>
          </a:p>
          <a:p>
            <a:pPr lvl="0"/>
            <a:r>
              <a:rPr lang="en-GB" dirty="0">
                <a:hlinkClick r:id="rId2"/>
              </a:rPr>
              <a:t>http://www.abc.net.au/btn/story/s3784915.htm</a:t>
            </a:r>
            <a:endParaRPr lang="en-GB" dirty="0" smtClean="0"/>
          </a:p>
          <a:p>
            <a:pPr lvl="0"/>
            <a:r>
              <a:rPr lang="en-GB" dirty="0" smtClean="0"/>
              <a:t>Canada</a:t>
            </a:r>
            <a:r>
              <a:rPr lang="en-GB" dirty="0"/>
              <a:t>, France, Italy, Germany, Japan, UK, EU, </a:t>
            </a:r>
            <a:endParaRPr lang="en-US" dirty="0"/>
          </a:p>
          <a:p>
            <a:r>
              <a:rPr lang="en-GB" dirty="0"/>
              <a:t>Russia (suspended)</a:t>
            </a:r>
            <a:endParaRPr lang="en-US" dirty="0"/>
          </a:p>
          <a:p>
            <a:r>
              <a:rPr lang="en-GB" dirty="0"/>
              <a:t>goal is to talk about global topics and problems in a relaxed manner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91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 FOREIGN POLICY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500" b="1" i="1" u="sng" dirty="0">
                <a:solidFill>
                  <a:schemeClr val="accent2"/>
                </a:solidFill>
              </a:rPr>
              <a:t>Isolationism</a:t>
            </a:r>
            <a:r>
              <a:rPr lang="en-US" sz="2500" dirty="0"/>
              <a:t> – staying out of international affairs and events;</a:t>
            </a:r>
          </a:p>
          <a:p>
            <a:r>
              <a:rPr lang="en-US" sz="2500" dirty="0"/>
              <a:t>Eventually forced to react to WWI when merchant ship was sunk by German U-boat;</a:t>
            </a:r>
          </a:p>
          <a:p>
            <a:r>
              <a:rPr lang="en-US" sz="2500" dirty="0"/>
              <a:t>Eventually forced to react to WWII when Japanese bombed Pearl </a:t>
            </a:r>
            <a:r>
              <a:rPr lang="en-US" sz="2500" dirty="0" err="1"/>
              <a:t>Harbour</a:t>
            </a:r>
            <a:endParaRPr lang="en-US" sz="2500" dirty="0"/>
          </a:p>
          <a:p>
            <a:r>
              <a:rPr lang="en-US" sz="2500" dirty="0"/>
              <a:t>Ceased isolation as foreign policy after WWII</a:t>
            </a:r>
          </a:p>
        </p:txBody>
      </p:sp>
    </p:spTree>
    <p:extLst>
      <p:ext uri="{BB962C8B-B14F-4D97-AF65-F5344CB8AC3E}">
        <p14:creationId xmlns:p14="http://schemas.microsoft.com/office/powerpoint/2010/main" val="213344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FOREIGN POLICY &amp; POLITICAL SYSTEMS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7467600" cy="487375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500" dirty="0"/>
              <a:t>DICTATORSHIPS – </a:t>
            </a:r>
            <a:r>
              <a:rPr lang="en-US" sz="2500" b="1" i="1" dirty="0"/>
              <a:t>the national interest is determined by the leader and foreign policy based on that decision</a:t>
            </a:r>
            <a:r>
              <a:rPr lang="en-US" sz="2500" dirty="0"/>
              <a:t>, even if individual citizens disagree;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DEMOCRACIES – </a:t>
            </a:r>
            <a:r>
              <a:rPr lang="en-US" sz="2500" b="1" i="1" dirty="0"/>
              <a:t>elected leaders must ensure decisions reflect the beliefs, values, &amp; goals of citizens.  Individuals and collectives in a democracy influence foreign policy.  </a:t>
            </a:r>
            <a:r>
              <a:rPr lang="en-US" sz="2500" dirty="0"/>
              <a:t>If citizens disagree with foreign policy, they can vote for a change of government</a:t>
            </a:r>
            <a:r>
              <a:rPr lang="en-US" sz="2500" dirty="0" smtClean="0"/>
              <a:t>;</a:t>
            </a:r>
            <a:endParaRPr lang="en-US" sz="2500" dirty="0"/>
          </a:p>
        </p:txBody>
      </p:sp>
      <p:pic>
        <p:nvPicPr>
          <p:cNvPr id="1026" name="Picture 2" descr="Image result for kim jong 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583607"/>
            <a:ext cx="2236862" cy="223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4926717"/>
            <a:ext cx="2095500" cy="15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26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FOREIGN POLICY IN GLOBALIZING WORLD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500" dirty="0"/>
              <a:t>Before WWII, nation-state governments &amp; diplomats established foreign policy;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Since WWII, the role of nation-states has been reduced and;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Multinational corporations, international business, </a:t>
            </a:r>
            <a:r>
              <a:rPr lang="en-US" sz="2500" dirty="0" err="1"/>
              <a:t>labour</a:t>
            </a:r>
            <a:r>
              <a:rPr lang="en-US" sz="2500" dirty="0"/>
              <a:t> and humanitarian organizations have a more powerful role;</a:t>
            </a:r>
          </a:p>
          <a:p>
            <a:pPr>
              <a:lnSpc>
                <a:spcPct val="80000"/>
              </a:lnSpc>
            </a:pPr>
            <a:r>
              <a:rPr lang="en-US" sz="2500" dirty="0"/>
              <a:t>CONSEQUENCE OF GLOBALIZATION = </a:t>
            </a:r>
            <a:r>
              <a:rPr lang="en-US" sz="2500" dirty="0">
                <a:solidFill>
                  <a:srgbClr val="FF0000"/>
                </a:solidFill>
              </a:rPr>
              <a:t>the power of nation-states in decision-making regarding internationalism has been greatly reduced &amp; that of corporations greatly </a:t>
            </a:r>
            <a:r>
              <a:rPr lang="en-US" sz="2500" dirty="0" smtClean="0">
                <a:solidFill>
                  <a:srgbClr val="FF0000"/>
                </a:solidFill>
              </a:rPr>
              <a:t>increased.</a:t>
            </a:r>
            <a:endParaRPr lang="en-US" sz="25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512" y="3499740"/>
            <a:ext cx="5476875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6136" y="308604"/>
            <a:ext cx="3024336" cy="6334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4854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PROMOTING INTERNATIONALISM THROUGH FOREIGN POLICY 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INTERNATIONAL LAW &amp; AGREEMENTS;</a:t>
            </a:r>
          </a:p>
          <a:p>
            <a:r>
              <a:rPr lang="en-US" dirty="0"/>
              <a:t>PEACEKEEPING &amp; PEACEMAKING;</a:t>
            </a:r>
          </a:p>
          <a:p>
            <a:r>
              <a:rPr lang="en-US" dirty="0"/>
              <a:t>FOREIGN AID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4214818"/>
            <a:ext cx="25622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8992" y="4000504"/>
            <a:ext cx="245745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6512" y="4429132"/>
            <a:ext cx="2595564" cy="155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3596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INTERNATIONAL LAW</a:t>
            </a:r>
            <a:r>
              <a:rPr lang="en-US" dirty="0"/>
              <a:t>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100" dirty="0"/>
              <a:t>B</a:t>
            </a:r>
            <a:r>
              <a:rPr lang="en-US" sz="2100" dirty="0" smtClean="0"/>
              <a:t>ecause </a:t>
            </a:r>
            <a:r>
              <a:rPr lang="en-US" sz="2100" dirty="0"/>
              <a:t>foreign polices of some countries sometimes conflict, disputes can be resolved peacefully through a large body of international law and agreements.  </a:t>
            </a:r>
            <a:endParaRPr lang="en-US" sz="2100" dirty="0" smtClean="0"/>
          </a:p>
          <a:p>
            <a:pPr>
              <a:lnSpc>
                <a:spcPct val="80000"/>
              </a:lnSpc>
            </a:pPr>
            <a:endParaRPr lang="en-US" sz="2100" dirty="0" smtClean="0"/>
          </a:p>
          <a:p>
            <a:pPr>
              <a:lnSpc>
                <a:spcPct val="80000"/>
              </a:lnSpc>
            </a:pPr>
            <a:r>
              <a:rPr lang="en-US" sz="2100" dirty="0" smtClean="0"/>
              <a:t>Some </a:t>
            </a:r>
            <a:r>
              <a:rPr lang="en-US" sz="2100" dirty="0"/>
              <a:t>international laws </a:t>
            </a:r>
            <a:r>
              <a:rPr lang="en-US" sz="2100" dirty="0">
                <a:solidFill>
                  <a:srgbClr val="FF0000"/>
                </a:solidFill>
              </a:rPr>
              <a:t>have evolved from international </a:t>
            </a:r>
            <a:r>
              <a:rPr lang="en-US" sz="2100" dirty="0" smtClean="0">
                <a:solidFill>
                  <a:srgbClr val="FF0000"/>
                </a:solidFill>
              </a:rPr>
              <a:t>trade </a:t>
            </a:r>
            <a:r>
              <a:rPr lang="en-US" sz="2100" dirty="0">
                <a:solidFill>
                  <a:srgbClr val="FF0000"/>
                </a:solidFill>
              </a:rPr>
              <a:t>agreements </a:t>
            </a:r>
            <a:r>
              <a:rPr lang="en-US" sz="2100" dirty="0"/>
              <a:t>and treaties.  Others are based on UN conventions (policies) or agreements.  </a:t>
            </a:r>
            <a:endParaRPr lang="en-US" sz="2100" dirty="0" smtClean="0"/>
          </a:p>
          <a:p>
            <a:pPr>
              <a:lnSpc>
                <a:spcPct val="80000"/>
              </a:lnSpc>
            </a:pPr>
            <a:endParaRPr lang="en-US" sz="2100" dirty="0" smtClean="0"/>
          </a:p>
          <a:p>
            <a:pPr>
              <a:lnSpc>
                <a:spcPct val="80000"/>
              </a:lnSpc>
            </a:pPr>
            <a:r>
              <a:rPr lang="en-US" sz="2100" dirty="0" smtClean="0"/>
              <a:t>e.g</a:t>
            </a:r>
            <a:r>
              <a:rPr lang="en-US" sz="2100" dirty="0"/>
              <a:t>. International Criminal Court (ICC) was created to try and punish people and organizations that commit crimes against humanity.  Most nations of the world have joined the ICC because </a:t>
            </a:r>
            <a:r>
              <a:rPr lang="en-US" sz="2100" dirty="0">
                <a:solidFill>
                  <a:srgbClr val="FF0000"/>
                </a:solidFill>
              </a:rPr>
              <a:t>they believe it is in the interests of the international community to stop crimes against humanity</a:t>
            </a:r>
            <a:r>
              <a:rPr lang="en-US" sz="2100" dirty="0"/>
              <a:t> and punish those who commit them</a:t>
            </a:r>
            <a:r>
              <a:rPr lang="en-US" sz="2100" dirty="0" smtClean="0"/>
              <a:t>.</a:t>
            </a:r>
          </a:p>
          <a:p>
            <a:pPr>
              <a:lnSpc>
                <a:spcPct val="80000"/>
              </a:lnSpc>
            </a:pPr>
            <a:r>
              <a:rPr lang="en-US" sz="2100" dirty="0">
                <a:hlinkClick r:id="rId2"/>
              </a:rPr>
              <a:t>https://www.icc-cpi.int/about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62674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INTERNATIONAL LAW &amp; AGREEMENTS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 b="1" i="1" u="sng" dirty="0"/>
              <a:t>LAWS OF THE SEA</a:t>
            </a:r>
            <a:r>
              <a:rPr lang="en-US" sz="2000" dirty="0"/>
              <a:t> = a form of international law created by the United Nations Convention on the Law of the Sea.  </a:t>
            </a:r>
            <a:endParaRPr lang="en-US" sz="2000" dirty="0" smtClean="0"/>
          </a:p>
          <a:p>
            <a:pPr>
              <a:lnSpc>
                <a:spcPct val="80000"/>
              </a:lnSpc>
            </a:pPr>
            <a:r>
              <a:rPr lang="en-US" sz="2000" dirty="0" smtClean="0"/>
              <a:t>It </a:t>
            </a:r>
            <a:r>
              <a:rPr lang="en-US" sz="2000" dirty="0"/>
              <a:t>is a </a:t>
            </a:r>
            <a:r>
              <a:rPr lang="en-US" sz="2000" b="1" i="1" dirty="0"/>
              <a:t>set of rules for the high seas </a:t>
            </a:r>
            <a:r>
              <a:rPr lang="en-US" sz="1700" dirty="0"/>
              <a:t>  </a:t>
            </a:r>
            <a:endParaRPr lang="en-US" sz="1700" dirty="0" smtClean="0"/>
          </a:p>
          <a:p>
            <a:pPr lvl="1">
              <a:lnSpc>
                <a:spcPct val="80000"/>
              </a:lnSpc>
            </a:pPr>
            <a:r>
              <a:rPr lang="en-US" sz="1800" u="sng" dirty="0" smtClean="0">
                <a:solidFill>
                  <a:srgbClr val="FF0000"/>
                </a:solidFill>
              </a:rPr>
              <a:t>All </a:t>
            </a:r>
            <a:r>
              <a:rPr lang="en-US" sz="1800" u="sng" dirty="0">
                <a:solidFill>
                  <a:srgbClr val="FF0000"/>
                </a:solidFill>
              </a:rPr>
              <a:t>waters within 22 km of a nation's coastline are part of the nation's territory.  Countries have the sole right to control fishing, mining, and the environment in an area up to 370 km from their coast.</a:t>
            </a:r>
            <a:r>
              <a:rPr lang="en-US" sz="1800" dirty="0">
                <a:solidFill>
                  <a:srgbClr val="FF0000"/>
                </a:solidFill>
              </a:rPr>
              <a:t> </a:t>
            </a:r>
            <a:r>
              <a:rPr lang="en-US" sz="1800" dirty="0"/>
              <a:t> e.g.  Law of the Seas applies to fishing on the Grand Banks off Canada' East Coast.  </a:t>
            </a:r>
            <a:endParaRPr lang="en-US" sz="1800" dirty="0" smtClean="0"/>
          </a:p>
          <a:p>
            <a:pPr lvl="1">
              <a:lnSpc>
                <a:spcPct val="80000"/>
              </a:lnSpc>
            </a:pPr>
            <a:r>
              <a:rPr lang="en-US" sz="1800" dirty="0" smtClean="0">
                <a:solidFill>
                  <a:srgbClr val="FF0000"/>
                </a:solidFill>
              </a:rPr>
              <a:t>At </a:t>
            </a:r>
            <a:r>
              <a:rPr lang="en-US" sz="1800" dirty="0">
                <a:solidFill>
                  <a:srgbClr val="FF0000"/>
                </a:solidFill>
              </a:rPr>
              <a:t>one time the Grand Banks was the world's richest fishing grounds</a:t>
            </a:r>
            <a:r>
              <a:rPr lang="en-US" sz="1800" dirty="0"/>
              <a:t>, but </a:t>
            </a:r>
            <a:r>
              <a:rPr lang="en-US" sz="1800" dirty="0" smtClean="0"/>
              <a:t>overfishing </a:t>
            </a:r>
            <a:r>
              <a:rPr lang="en-US" sz="1800" dirty="0"/>
              <a:t>has threatened the very survival of fish stocks in this region.  This has caused widespread unemployment in Canada, especially Newfoundland. </a:t>
            </a:r>
            <a:endParaRPr lang="en-US" sz="1800" dirty="0" smtClean="0"/>
          </a:p>
          <a:p>
            <a:pPr>
              <a:lnSpc>
                <a:spcPct val="80000"/>
              </a:lnSpc>
            </a:pPr>
            <a:r>
              <a:rPr lang="en-US" sz="2000" dirty="0" smtClean="0"/>
              <a:t>NATIONAL INTEREST: </a:t>
            </a:r>
            <a:r>
              <a:rPr lang="en-US" sz="2000" u="sng" dirty="0" smtClean="0"/>
              <a:t>Canada </a:t>
            </a:r>
            <a:r>
              <a:rPr lang="en-US" sz="2000" u="sng" dirty="0"/>
              <a:t>believes it is in her national interest to regulate fishing on the entire Grand Banks</a:t>
            </a:r>
            <a:r>
              <a:rPr lang="en-US" sz="2000" dirty="0"/>
              <a:t>.  </a:t>
            </a:r>
            <a:endParaRPr lang="en-US" sz="2000" dirty="0" smtClean="0"/>
          </a:p>
          <a:p>
            <a:pPr>
              <a:lnSpc>
                <a:spcPct val="80000"/>
              </a:lnSpc>
            </a:pPr>
            <a:r>
              <a:rPr lang="en-US" sz="2000" dirty="0" smtClean="0"/>
              <a:t>Pursuing </a:t>
            </a:r>
            <a:r>
              <a:rPr lang="en-US" sz="2000" dirty="0"/>
              <a:t>this "national interest" has led to conflict </a:t>
            </a:r>
            <a:r>
              <a:rPr lang="en-US" sz="2000" dirty="0" smtClean="0"/>
              <a:t>internationally.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2538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Turbot War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20" t="38889" r="12234" b="20061"/>
          <a:stretch/>
        </p:blipFill>
        <p:spPr bwMode="auto">
          <a:xfrm>
            <a:off x="838200" y="1417638"/>
            <a:ext cx="7344816" cy="50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8367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International Agreements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827212"/>
            <a:ext cx="7560840" cy="4554115"/>
          </a:xfrm>
        </p:spPr>
        <p:txBody>
          <a:bodyPr/>
          <a:lstStyle/>
          <a:p>
            <a:r>
              <a:rPr lang="en-US" u="sng" dirty="0" smtClean="0"/>
              <a:t>Arctic</a:t>
            </a:r>
          </a:p>
          <a:p>
            <a:r>
              <a:rPr lang="en-CA" sz="2200" dirty="0"/>
              <a:t>But according to the Law of the Sea, the area around the North </a:t>
            </a:r>
            <a:r>
              <a:rPr lang="en-CA" sz="2200" dirty="0" smtClean="0"/>
              <a:t>Pole is </a:t>
            </a:r>
            <a:r>
              <a:rPr lang="en-CA" sz="2200" dirty="0"/>
              <a:t>in international waters because it is located beyond the </a:t>
            </a:r>
            <a:r>
              <a:rPr lang="en-CA" sz="2200" dirty="0" smtClean="0"/>
              <a:t>370-kilometre limit </a:t>
            </a:r>
          </a:p>
          <a:p>
            <a:r>
              <a:rPr lang="en-CA" sz="2200" dirty="0" smtClean="0"/>
              <a:t>Five </a:t>
            </a:r>
            <a:r>
              <a:rPr lang="en-CA" sz="2200" dirty="0"/>
              <a:t>countries with Arctic claims</a:t>
            </a:r>
            <a:r>
              <a:rPr lang="en-CA" sz="2200" dirty="0" smtClean="0"/>
              <a:t>.</a:t>
            </a:r>
            <a:r>
              <a:rPr lang="en-CA" sz="2200" dirty="0"/>
              <a:t> </a:t>
            </a:r>
            <a:r>
              <a:rPr lang="en-CA" sz="2200" dirty="0" smtClean="0"/>
              <a:t>Canada, Denmark, Norway, Russia and the USA</a:t>
            </a:r>
            <a:endParaRPr lang="en-CA" sz="2200" dirty="0"/>
          </a:p>
        </p:txBody>
      </p:sp>
      <p:pic>
        <p:nvPicPr>
          <p:cNvPr id="3074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17638"/>
            <a:ext cx="7908453" cy="438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371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PEACEKEEPING &amp; PEACEMAKING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3358" y="1444934"/>
            <a:ext cx="7920880" cy="5108266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b="1" u="sng" dirty="0"/>
              <a:t>PEACEKEEPING</a:t>
            </a:r>
            <a:r>
              <a:rPr lang="en-US" sz="2000" dirty="0"/>
              <a:t> = </a:t>
            </a:r>
            <a:r>
              <a:rPr lang="en-US" sz="2000" dirty="0" smtClean="0"/>
              <a:t>Peacekeepers are </a:t>
            </a:r>
            <a:r>
              <a:rPr lang="en-US" sz="2000" dirty="0"/>
              <a:t>brought in to keep combatants (enemies) away from each other, long enough for peaceful negotiations and diplomacy to work to resolve the conflict.  </a:t>
            </a:r>
            <a:endParaRPr lang="en-US" sz="2000" dirty="0" smtClean="0"/>
          </a:p>
          <a:p>
            <a:pPr>
              <a:lnSpc>
                <a:spcPct val="80000"/>
              </a:lnSpc>
            </a:pPr>
            <a:r>
              <a:rPr lang="en-US" sz="2000" dirty="0" smtClean="0"/>
              <a:t>UN </a:t>
            </a:r>
            <a:r>
              <a:rPr lang="en-US" sz="2000" dirty="0"/>
              <a:t>Peacekeepers must be invited by a nation or peoples in </a:t>
            </a:r>
            <a:r>
              <a:rPr lang="en-US" sz="2000" dirty="0" smtClean="0"/>
              <a:t>conflict. </a:t>
            </a:r>
            <a:r>
              <a:rPr lang="en-US" sz="2000" dirty="0" smtClean="0">
                <a:solidFill>
                  <a:srgbClr val="FF0000"/>
                </a:solidFill>
              </a:rPr>
              <a:t>Peacekeepers ARE NOT permitted to USE FORCE </a:t>
            </a:r>
            <a:r>
              <a:rPr lang="en-US" sz="2000" u="sng" dirty="0">
                <a:solidFill>
                  <a:srgbClr val="FF0000"/>
                </a:solidFill>
              </a:rPr>
              <a:t>except in self defense of peacekeeping troops.</a:t>
            </a:r>
            <a:r>
              <a:rPr lang="en-US" sz="2000" dirty="0"/>
              <a:t>  </a:t>
            </a:r>
            <a:endParaRPr lang="en-US" sz="2000" dirty="0" smtClean="0"/>
          </a:p>
          <a:p>
            <a:pPr>
              <a:lnSpc>
                <a:spcPct val="80000"/>
              </a:lnSpc>
            </a:pPr>
            <a:r>
              <a:rPr lang="en-US" sz="2000" dirty="0" smtClean="0"/>
              <a:t>Peacekeeping </a:t>
            </a:r>
            <a:r>
              <a:rPr lang="en-US" sz="2000" dirty="0"/>
              <a:t>is a form of international activity based on international agreements.</a:t>
            </a:r>
            <a:endParaRPr lang="en-US" sz="2000" b="1" i="1" u="sng" dirty="0"/>
          </a:p>
          <a:p>
            <a:pPr>
              <a:lnSpc>
                <a:spcPct val="80000"/>
              </a:lnSpc>
            </a:pPr>
            <a:r>
              <a:rPr lang="en-US" sz="2000" b="1" i="1" u="sng" dirty="0"/>
              <a:t>PEACEMAKING </a:t>
            </a:r>
            <a:r>
              <a:rPr lang="en-US" sz="2000" dirty="0"/>
              <a:t>= </a:t>
            </a:r>
            <a:r>
              <a:rPr lang="en-US" sz="2000" dirty="0" smtClean="0"/>
              <a:t>Peacemakers are </a:t>
            </a:r>
            <a:r>
              <a:rPr lang="en-US" sz="2000" dirty="0"/>
              <a:t>brought in to keep combatants (enemies) away from each other, long enough for peaceful negotiations and diplomacy to work to resolve the conflict.  </a:t>
            </a:r>
            <a:endParaRPr lang="en-US" sz="2000" dirty="0" smtClean="0"/>
          </a:p>
          <a:p>
            <a:pPr>
              <a:lnSpc>
                <a:spcPct val="80000"/>
              </a:lnSpc>
            </a:pPr>
            <a:r>
              <a:rPr lang="en-US" sz="2000" dirty="0" smtClean="0"/>
              <a:t>Peacemakers</a:t>
            </a:r>
            <a:r>
              <a:rPr lang="en-US" sz="2000" dirty="0"/>
              <a:t>' role includes </a:t>
            </a:r>
            <a:r>
              <a:rPr lang="en-US" sz="2000" u="sng" dirty="0"/>
              <a:t>peacekeeping</a:t>
            </a:r>
            <a:r>
              <a:rPr lang="en-US" sz="2000" dirty="0"/>
              <a:t>, but also </a:t>
            </a:r>
            <a:r>
              <a:rPr lang="en-US" sz="2000" dirty="0">
                <a:solidFill>
                  <a:srgbClr val="FF0000"/>
                </a:solidFill>
              </a:rPr>
              <a:t>includes the USE OF FORCE </a:t>
            </a:r>
            <a:r>
              <a:rPr lang="en-US" sz="2000" u="sng" dirty="0">
                <a:solidFill>
                  <a:srgbClr val="FF0000"/>
                </a:solidFill>
              </a:rPr>
              <a:t>to maintain the peace. </a:t>
            </a:r>
            <a:r>
              <a:rPr lang="en-US" sz="2000" u="sng" dirty="0"/>
              <a:t> </a:t>
            </a:r>
            <a:endParaRPr lang="en-US" sz="2000" u="sng" dirty="0" smtClean="0"/>
          </a:p>
          <a:p>
            <a:pPr>
              <a:lnSpc>
                <a:spcPct val="80000"/>
              </a:lnSpc>
            </a:pPr>
            <a:r>
              <a:rPr lang="en-US" sz="2000" dirty="0" smtClean="0"/>
              <a:t>Peacemakers </a:t>
            </a:r>
            <a:r>
              <a:rPr lang="en-US" sz="2000" dirty="0"/>
              <a:t>can intervene, for example, if someone is committing crimes against humanity, shooting or injuring civilians, as well as in self-defense. </a:t>
            </a:r>
          </a:p>
        </p:txBody>
      </p:sp>
    </p:spTree>
    <p:extLst>
      <p:ext uri="{BB962C8B-B14F-4D97-AF65-F5344CB8AC3E}">
        <p14:creationId xmlns:p14="http://schemas.microsoft.com/office/powerpoint/2010/main" val="196548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Peacekeeping – An International Activity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098" name="Picture 2" descr="http://graphics8.nytimes.com/images/2009/02/04/timestopics/peacekeepers_395.jpg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122" y="1798436"/>
            <a:ext cx="7722815" cy="447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04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Peacekeeping is getting complicated…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24" y="2071678"/>
            <a:ext cx="7572428" cy="4114800"/>
          </a:xfrm>
        </p:spPr>
        <p:txBody>
          <a:bodyPr/>
          <a:lstStyle/>
          <a:p>
            <a:r>
              <a:rPr lang="en-US" dirty="0" smtClean="0"/>
              <a:t>More conflicts worldwide to monitor</a:t>
            </a:r>
          </a:p>
          <a:p>
            <a:r>
              <a:rPr lang="en-US" dirty="0" smtClean="0"/>
              <a:t>Sometimes difficult to acquire consent from countries</a:t>
            </a:r>
          </a:p>
          <a:p>
            <a:r>
              <a:rPr lang="en-US" dirty="0" smtClean="0"/>
              <a:t>Impartiality is difficult</a:t>
            </a:r>
          </a:p>
          <a:p>
            <a:r>
              <a:rPr lang="en-US" dirty="0" smtClean="0"/>
              <a:t>Many of the conflicts exist </a:t>
            </a:r>
            <a:r>
              <a:rPr lang="en-US" i="1" dirty="0" smtClean="0"/>
              <a:t>within</a:t>
            </a:r>
            <a:r>
              <a:rPr lang="en-US" dirty="0" smtClean="0"/>
              <a:t> nations, not </a:t>
            </a:r>
            <a:r>
              <a:rPr lang="en-US" i="1" dirty="0" smtClean="0"/>
              <a:t>between</a:t>
            </a:r>
            <a:r>
              <a:rPr lang="en-US" dirty="0" smtClean="0"/>
              <a:t> nations</a:t>
            </a:r>
          </a:p>
          <a:p>
            <a:r>
              <a:rPr lang="en-US" dirty="0" smtClean="0"/>
              <a:t>Can you think of an example of failed peacekeeping?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72396" y="2643182"/>
            <a:ext cx="1374937" cy="16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197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FOREIGN AID &amp; INTERNATIONALISM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005" y="1390052"/>
            <a:ext cx="4747989" cy="482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965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674687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hlinkClick r:id="rId2" action="ppaction://hlinkpres?slideindex=1&amp;slidetitle="/>
              </a:rPr>
              <a:t>FOREIGN AID &amp; </a:t>
            </a:r>
            <a:r>
              <a:rPr lang="en-US" sz="2800" dirty="0" smtClean="0">
                <a:hlinkClick r:id="rId2" action="ppaction://hlinkpres?slideindex=1&amp;slidetitle="/>
              </a:rPr>
              <a:t>INTERNATIONALISM</a:t>
            </a:r>
            <a:r>
              <a:rPr lang="en-US" sz="2800" dirty="0" smtClean="0"/>
              <a:t> </a:t>
            </a:r>
            <a:r>
              <a:rPr lang="en-US" dirty="0" smtClean="0"/>
              <a:t>What </a:t>
            </a:r>
            <a:r>
              <a:rPr lang="en-US" dirty="0"/>
              <a:t>people want…</a:t>
            </a:r>
          </a:p>
        </p:txBody>
      </p:sp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4267200"/>
            <a:ext cx="3352800" cy="25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4354513"/>
            <a:ext cx="3276600" cy="2503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86400" y="1219200"/>
            <a:ext cx="3429000" cy="256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" y="1143000"/>
            <a:ext cx="5029200" cy="301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6567" name="WordArt 7"/>
          <p:cNvSpPr>
            <a:spLocks noChangeArrowheads="1" noChangeShapeType="1" noTextEdit="1"/>
          </p:cNvSpPr>
          <p:nvPr/>
        </p:nvSpPr>
        <p:spPr bwMode="auto">
          <a:xfrm rot="-2417529">
            <a:off x="-457200" y="3124200"/>
            <a:ext cx="10239375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CA" sz="3600" kern="1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/>
              </a:rPr>
              <a:t>What do you think  these people would value the most?</a:t>
            </a:r>
          </a:p>
        </p:txBody>
      </p:sp>
    </p:spTree>
    <p:extLst>
      <p:ext uri="{BB962C8B-B14F-4D97-AF65-F5344CB8AC3E}">
        <p14:creationId xmlns:p14="http://schemas.microsoft.com/office/powerpoint/2010/main" val="416320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6656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Understanding the World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 and Wants: These are relative terms that we must try to classify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Write down all the things you would call needs that you have in your life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What in your life dictates what you need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dirty="0"/>
              <a:t>What things on your list would the average person in a third world country not have?</a:t>
            </a:r>
          </a:p>
        </p:txBody>
      </p:sp>
    </p:spTree>
    <p:extLst>
      <p:ext uri="{BB962C8B-B14F-4D97-AF65-F5344CB8AC3E}">
        <p14:creationId xmlns:p14="http://schemas.microsoft.com/office/powerpoint/2010/main" val="188720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Living Standards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The </a:t>
            </a:r>
            <a:r>
              <a:rPr lang="en-US" b="1" dirty="0"/>
              <a:t>physical quality of life index</a:t>
            </a:r>
            <a:r>
              <a:rPr lang="en-US" dirty="0"/>
              <a:t> was introduced by M.D. Morris and introduced in the 1970’s. It breaks quality of life down into: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Life expectancy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Infant mortality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Level of literacy </a:t>
            </a:r>
          </a:p>
          <a:p>
            <a:pPr>
              <a:lnSpc>
                <a:spcPct val="90000"/>
              </a:lnSpc>
            </a:pPr>
            <a:r>
              <a:rPr lang="en-US" dirty="0"/>
              <a:t>The categories show the population’s health and well being both socially and economically.</a:t>
            </a:r>
          </a:p>
        </p:txBody>
      </p:sp>
    </p:spTree>
    <p:extLst>
      <p:ext uri="{BB962C8B-B14F-4D97-AF65-F5344CB8AC3E}">
        <p14:creationId xmlns:p14="http://schemas.microsoft.com/office/powerpoint/2010/main" val="298176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PQLF – Physical quality of life index</a:t>
            </a:r>
            <a:endParaRPr lang="en-US" dirty="0"/>
          </a:p>
        </p:txBody>
      </p:sp>
      <p:pic>
        <p:nvPicPr>
          <p:cNvPr id="71687" name="Picture 7" descr="Image:HDImap2006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1341438"/>
            <a:ext cx="8713787" cy="4030662"/>
          </a:xfrm>
          <a:prstGeom prst="rect">
            <a:avLst/>
          </a:prstGeom>
          <a:noFill/>
        </p:spPr>
      </p:pic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468313" y="5392738"/>
            <a:ext cx="8280400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u="sng"/>
              <a:t>HDI ranking</a:t>
            </a:r>
            <a:r>
              <a:rPr lang="en-US"/>
              <a:t> </a:t>
            </a:r>
          </a:p>
          <a:p>
            <a:r>
              <a:rPr lang="en-US"/>
              <a:t>Green = High human development</a:t>
            </a:r>
          </a:p>
          <a:p>
            <a:r>
              <a:rPr lang="en-US"/>
              <a:t>Yellow = Medium human development</a:t>
            </a:r>
          </a:p>
          <a:p>
            <a:r>
              <a:rPr lang="en-US"/>
              <a:t>Red = Low human development</a:t>
            </a:r>
          </a:p>
          <a:p>
            <a:r>
              <a:rPr lang="en-US"/>
              <a:t>Grey = Unavailable</a:t>
            </a:r>
          </a:p>
        </p:txBody>
      </p:sp>
    </p:spTree>
    <p:extLst>
      <p:ext uri="{BB962C8B-B14F-4D97-AF65-F5344CB8AC3E}">
        <p14:creationId xmlns:p14="http://schemas.microsoft.com/office/powerpoint/2010/main" val="25145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9" name="Picture 5" descr="Infant mortality in the beginning of the 1990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1341438"/>
            <a:ext cx="8640763" cy="5289550"/>
          </a:xfrm>
          <a:prstGeom prst="rect">
            <a:avLst/>
          </a:prstGeom>
          <a:noFill/>
        </p:spPr>
      </p:pic>
      <p:sp>
        <p:nvSpPr>
          <p:cNvPr id="7783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Infant Mortality – 1990</a:t>
            </a:r>
          </a:p>
        </p:txBody>
      </p:sp>
    </p:spTree>
    <p:extLst>
      <p:ext uri="{BB962C8B-B14F-4D97-AF65-F5344CB8AC3E}">
        <p14:creationId xmlns:p14="http://schemas.microsoft.com/office/powerpoint/2010/main" val="216723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Infant Mortality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Infant mortality is seen as a marker of the level of health in a country.</a:t>
            </a:r>
          </a:p>
          <a:p>
            <a:pPr>
              <a:lnSpc>
                <a:spcPct val="90000"/>
              </a:lnSpc>
            </a:pPr>
            <a:r>
              <a:rPr lang="en-US" dirty="0"/>
              <a:t>In developing countries, one child in 12 dies before its fifth birthday, compared with 1 in 152 in high-income countries. </a:t>
            </a:r>
          </a:p>
          <a:p>
            <a:pPr>
              <a:lnSpc>
                <a:spcPct val="90000"/>
              </a:lnSpc>
            </a:pPr>
            <a:r>
              <a:rPr lang="en-US" dirty="0"/>
              <a:t>When there is a high birthrate there is a high infant mortality.</a:t>
            </a:r>
          </a:p>
          <a:p>
            <a:pPr>
              <a:lnSpc>
                <a:spcPct val="90000"/>
              </a:lnSpc>
            </a:pPr>
            <a:r>
              <a:rPr lang="en-US" dirty="0"/>
              <a:t>When nutrition in a country is poor, more infants will die.</a:t>
            </a:r>
          </a:p>
        </p:txBody>
      </p:sp>
    </p:spTree>
    <p:extLst>
      <p:ext uri="{BB962C8B-B14F-4D97-AF65-F5344CB8AC3E}">
        <p14:creationId xmlns:p14="http://schemas.microsoft.com/office/powerpoint/2010/main" val="402099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24200" y="90488"/>
            <a:ext cx="6019800" cy="1190625"/>
          </a:xfrm>
        </p:spPr>
        <p:txBody>
          <a:bodyPr/>
          <a:lstStyle/>
          <a:p>
            <a:r>
              <a:rPr lang="en-US" dirty="0"/>
              <a:t>Literacy</a:t>
            </a:r>
          </a:p>
        </p:txBody>
      </p:sp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1412875"/>
            <a:ext cx="8785225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7825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r>
              <a:rPr lang="en-US" dirty="0"/>
              <a:t>Literacy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1319" y="1083860"/>
            <a:ext cx="7467600" cy="487375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Percent of adult population that can read and write to a basic level.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Higher literacy leads to a higher quality of life.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Countries that have low levels of literacy struggle to grow technology, grow in hygiene, be informed of health risks, or job advancement.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People who cannot read often are taken advantage of by people who can read = exploitation.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UNESCO estimates that the # of illiterate people is growing because of the high birth rate of poor countries.</a:t>
            </a:r>
          </a:p>
        </p:txBody>
      </p:sp>
    </p:spTree>
    <p:extLst>
      <p:ext uri="{BB962C8B-B14F-4D97-AF65-F5344CB8AC3E}">
        <p14:creationId xmlns:p14="http://schemas.microsoft.com/office/powerpoint/2010/main" val="96492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en-US" dirty="0"/>
              <a:t>Nutrition</a:t>
            </a:r>
          </a:p>
        </p:txBody>
      </p:sp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341438"/>
            <a:ext cx="5472112" cy="519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6084888" y="1341438"/>
            <a:ext cx="2879725" cy="490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Malnutrition is an underlying factor in more than half the deaths of children under five.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Malnutrition in children often begins at birth, when poorly nourished mothers give birth to underweight babies.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Malnourished children develop more slowly, enter school later, and perform less well.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http://www.connect-world.net/Global_Themes/Children/Overview.html</a:t>
            </a:r>
          </a:p>
        </p:txBody>
      </p:sp>
    </p:spTree>
    <p:extLst>
      <p:ext uri="{BB962C8B-B14F-4D97-AF65-F5344CB8AC3E}">
        <p14:creationId xmlns:p14="http://schemas.microsoft.com/office/powerpoint/2010/main" val="329938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Nutrition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Lack of an adequate diet leads to malnutrition.</a:t>
            </a:r>
          </a:p>
          <a:p>
            <a:r>
              <a:rPr lang="en-US" dirty="0"/>
              <a:t>Malnutrition = ill health</a:t>
            </a:r>
          </a:p>
          <a:p>
            <a:r>
              <a:rPr lang="en-US" dirty="0"/>
              <a:t>Kwashiorkor is a disease caused by a lack of protein in the diet. </a:t>
            </a:r>
          </a:p>
          <a:p>
            <a:r>
              <a:rPr lang="en-US" dirty="0"/>
              <a:t>Malnutrition stunts the mental and physical development of children, thereby crippling future generations</a:t>
            </a:r>
          </a:p>
        </p:txBody>
      </p:sp>
    </p:spTree>
    <p:extLst>
      <p:ext uri="{BB962C8B-B14F-4D97-AF65-F5344CB8AC3E}">
        <p14:creationId xmlns:p14="http://schemas.microsoft.com/office/powerpoint/2010/main" val="215261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1196975"/>
            <a:ext cx="7345362" cy="548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1047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r>
              <a:rPr lang="en-US" dirty="0"/>
              <a:t>Famine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153400" cy="55435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The world produces enough food to support the population of the world.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The problem is the allocation of food.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USA has the greatest surplus of food in the world.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Even in Africa, the countries produce enough food to feed their populations – yet there is still hunger…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Why? – people most in need of food cannot buy it.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Property owners use their land to produce cash crops to sell to the West.</a:t>
            </a:r>
          </a:p>
        </p:txBody>
      </p:sp>
    </p:spTree>
    <p:extLst>
      <p:ext uri="{BB962C8B-B14F-4D97-AF65-F5344CB8AC3E}">
        <p14:creationId xmlns:p14="http://schemas.microsoft.com/office/powerpoint/2010/main" val="2788449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24200" y="90488"/>
            <a:ext cx="6019800" cy="1190625"/>
          </a:xfrm>
        </p:spPr>
        <p:txBody>
          <a:bodyPr/>
          <a:lstStyle/>
          <a:p>
            <a:r>
              <a:rPr lang="en-US" dirty="0"/>
              <a:t>The Hunger Cycle</a:t>
            </a:r>
          </a:p>
        </p:txBody>
      </p:sp>
      <p:sp>
        <p:nvSpPr>
          <p:cNvPr id="110596" name="Oval 4"/>
          <p:cNvSpPr>
            <a:spLocks noChangeArrowheads="1"/>
          </p:cNvSpPr>
          <p:nvPr/>
        </p:nvSpPr>
        <p:spPr bwMode="auto">
          <a:xfrm>
            <a:off x="1979613" y="1628775"/>
            <a:ext cx="4968875" cy="48244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1692275" y="1268413"/>
            <a:ext cx="2735263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 in 6 babies is born underweight – vulnerable to disease and death</a:t>
            </a:r>
          </a:p>
        </p:txBody>
      </p:sp>
      <p:sp>
        <p:nvSpPr>
          <p:cNvPr id="110598" name="Text Box 6"/>
          <p:cNvSpPr txBox="1">
            <a:spLocks noChangeArrowheads="1"/>
          </p:cNvSpPr>
          <p:nvPr/>
        </p:nvSpPr>
        <p:spPr bwMode="auto">
          <a:xfrm>
            <a:off x="5292725" y="1341438"/>
            <a:ext cx="2735263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0-6 months, babies nourished by breast milk – but mothers are unhealthy.</a:t>
            </a:r>
          </a:p>
        </p:txBody>
      </p:sp>
      <p:sp>
        <p:nvSpPr>
          <p:cNvPr id="110599" name="Text Box 7"/>
          <p:cNvSpPr txBox="1">
            <a:spLocks noChangeArrowheads="1"/>
          </p:cNvSpPr>
          <p:nvPr/>
        </p:nvSpPr>
        <p:spPr bwMode="auto">
          <a:xfrm>
            <a:off x="6227763" y="3357563"/>
            <a:ext cx="2735262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6mos – 2 years, poverty and lack of parental education = inadequate solid food and early deaths.</a:t>
            </a:r>
          </a:p>
        </p:txBody>
      </p:sp>
      <p:sp>
        <p:nvSpPr>
          <p:cNvPr id="110600" name="Text Box 8"/>
          <p:cNvSpPr txBox="1">
            <a:spLocks noChangeArrowheads="1"/>
          </p:cNvSpPr>
          <p:nvPr/>
        </p:nvSpPr>
        <p:spPr bwMode="auto">
          <a:xfrm>
            <a:off x="5435600" y="5445125"/>
            <a:ext cx="2735263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 years, malnutrition = mental development is stunted. No stimulation to develop.</a:t>
            </a:r>
          </a:p>
        </p:txBody>
      </p:sp>
      <p:sp>
        <p:nvSpPr>
          <p:cNvPr id="110601" name="Text Box 9"/>
          <p:cNvSpPr txBox="1">
            <a:spLocks noChangeArrowheads="1"/>
          </p:cNvSpPr>
          <p:nvPr/>
        </p:nvSpPr>
        <p:spPr bwMode="auto">
          <a:xfrm>
            <a:off x="1547813" y="5876925"/>
            <a:ext cx="27352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Lack of energy and poor performance at school.</a:t>
            </a:r>
          </a:p>
        </p:txBody>
      </p:sp>
      <p:sp>
        <p:nvSpPr>
          <p:cNvPr id="110602" name="Text Box 10"/>
          <p:cNvSpPr txBox="1">
            <a:spLocks noChangeArrowheads="1"/>
          </p:cNvSpPr>
          <p:nvPr/>
        </p:nvSpPr>
        <p:spPr bwMode="auto">
          <a:xfrm>
            <a:off x="179388" y="4076700"/>
            <a:ext cx="2735262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Low paid job = unable to afford the right food in the right quantity.</a:t>
            </a:r>
          </a:p>
        </p:txBody>
      </p:sp>
      <p:sp>
        <p:nvSpPr>
          <p:cNvPr id="110603" name="Text Box 11"/>
          <p:cNvSpPr txBox="1">
            <a:spLocks noChangeArrowheads="1"/>
          </p:cNvSpPr>
          <p:nvPr/>
        </p:nvSpPr>
        <p:spPr bwMode="auto">
          <a:xfrm>
            <a:off x="468313" y="2708275"/>
            <a:ext cx="2735262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Poor diet and heavy workload for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245661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Struggling to Keep Up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Developed world has achieved increases in food production per capita.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 developing world has been less fortunate. Population growth in these countries uses up any increase in food production. BUT in most developing countries, except Africa, food production is increasing.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Famine </a:t>
            </a:r>
            <a:r>
              <a:rPr lang="en-US" sz="2400" dirty="0"/>
              <a:t>in Africa is a significant problem</a:t>
            </a:r>
            <a:r>
              <a:rPr lang="en-US" sz="2400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South Sudan Air Drop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dirty="0">
                <a:hlinkClick r:id="rId2"/>
              </a:rPr>
              <a:t>http://www.cbc.ca/news/world/south-sudan-famine-evans-1.4093264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628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r>
              <a:rPr lang="en-US" dirty="0" smtClean="0"/>
              <a:t>Sudan (south, north, Darfur)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855260"/>
            <a:ext cx="7848600" cy="5621740"/>
          </a:xfrm>
        </p:spPr>
        <p:txBody>
          <a:bodyPr/>
          <a:lstStyle/>
          <a:p>
            <a:r>
              <a:rPr lang="en-US" dirty="0" smtClean="0"/>
              <a:t>South Sudan BBC</a:t>
            </a:r>
          </a:p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www.bbc.com/news/av/world-africa-37779124/south-sudan-in-105-seconds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/>
              <a:t>Darfur in 10 </a:t>
            </a:r>
            <a:r>
              <a:rPr lang="en-US" dirty="0" smtClean="0"/>
              <a:t>minutes</a:t>
            </a:r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www.youtube.com/watch?v=USLDoIiFzzg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Should Canada help more? (CIDA worksheet)</a:t>
            </a:r>
          </a:p>
          <a:p>
            <a:r>
              <a:rPr lang="en-GB" b="1" i="1" u="sng" dirty="0">
                <a:hlinkClick r:id="rId4"/>
              </a:rPr>
              <a:t>http://</a:t>
            </a:r>
            <a:r>
              <a:rPr lang="en-GB" b="1" i="1" u="sng" dirty="0" smtClean="0">
                <a:hlinkClick r:id="rId4"/>
              </a:rPr>
              <a:t>www.international.gc.ca/development-developpement/countries-pays/index.aspx?lang=eng#focus</a:t>
            </a:r>
            <a:endParaRPr lang="en-GB" b="1" i="1" u="sng" dirty="0" smtClean="0"/>
          </a:p>
          <a:p>
            <a:r>
              <a:rPr lang="en-US" dirty="0"/>
              <a:t>http://www.cbc.ca/radio/thecurrent/the-current-for-march-3-2017-1.4006937/famine-declared-in-south-sudan-thousands-at-risk-of-starvation-1.4007267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34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South </a:t>
            </a:r>
            <a:r>
              <a:rPr lang="en-US" dirty="0" err="1" smtClean="0"/>
              <a:t>sudan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www.cbc.ca/radio/thecurrent/the-current-for-march-3-2017-1.4006937/famine-declared-in-south-sudan-thousands-at-risk-of-starvation-1.4007267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23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 action="ppaction://hlinkfile"/>
              </a:rPr>
              <a:t>The World’s Response</a:t>
            </a:r>
            <a:endParaRPr lang="en-US" dirty="0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5233" y="5142384"/>
            <a:ext cx="82296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b="1" dirty="0" smtClean="0"/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1032" name="Picture 8" descr="Image result for sustainable development goals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784"/>
            <a:ext cx="69342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1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>
                <a:hlinkClick r:id="rId2" action="ppaction://hlinkfile"/>
              </a:rPr>
              <a:t>0.7 Solution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Lester P. Pearson (former Canadian Prime Minister) suggested that developed countries pay 0.7 percent of their gross national income.</a:t>
            </a:r>
          </a:p>
          <a:p>
            <a:r>
              <a:rPr lang="en-CA" dirty="0" smtClean="0"/>
              <a:t>By 2006 Canada gave only 0.33 percent.</a:t>
            </a:r>
          </a:p>
          <a:p>
            <a:r>
              <a:rPr lang="en-CA" dirty="0">
                <a:hlinkClick r:id="rId3"/>
              </a:rPr>
              <a:t>http://www.cbc.ca/news/politics/canadian-international-aid-drops-trudeau-1.4066640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914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Types of Aid and Obstacles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4853136"/>
          </a:xfrm>
        </p:spPr>
        <p:txBody>
          <a:bodyPr>
            <a:normAutofit/>
          </a:bodyPr>
          <a:lstStyle/>
          <a:p>
            <a:r>
              <a:rPr lang="en-CA" b="1" dirty="0" smtClean="0">
                <a:solidFill>
                  <a:srgbClr val="FF0000"/>
                </a:solidFill>
              </a:rPr>
              <a:t>Tied Aid: </a:t>
            </a:r>
            <a:r>
              <a:rPr lang="en-CA" dirty="0" smtClean="0"/>
              <a:t>When aid is tied to conditions. Such as funding for water development, but the receiving country will have to “hire” a Canadian business to receive the aid. (Canada removed all “strings” in 2008)</a:t>
            </a:r>
          </a:p>
          <a:p>
            <a:r>
              <a:rPr lang="en-CA" b="1" dirty="0" smtClean="0"/>
              <a:t>Lack of consultation: </a:t>
            </a:r>
            <a:r>
              <a:rPr lang="en-CA" dirty="0" smtClean="0"/>
              <a:t>Aid is given that is not necessary</a:t>
            </a:r>
          </a:p>
          <a:p>
            <a:r>
              <a:rPr lang="en-CA" b="1" dirty="0" smtClean="0"/>
              <a:t>Bureaucracy:</a:t>
            </a:r>
            <a:r>
              <a:rPr lang="en-CA" dirty="0" smtClean="0"/>
              <a:t> Aid must go through government departments before it gets to the people who need it.</a:t>
            </a:r>
          </a:p>
          <a:p>
            <a:r>
              <a:rPr lang="en-CA" b="1" dirty="0" smtClean="0"/>
              <a:t>Corruption:</a:t>
            </a:r>
            <a:r>
              <a:rPr lang="en-CA" dirty="0" smtClean="0"/>
              <a:t> Corrupt governments sometimes use aid money for other purposes that helping people in need.</a:t>
            </a:r>
          </a:p>
          <a:p>
            <a:r>
              <a:rPr lang="en-CA" b="1" dirty="0" smtClean="0"/>
              <a:t>Brain drain</a:t>
            </a:r>
            <a:r>
              <a:rPr lang="en-CA" b="1" dirty="0" smtClean="0">
                <a:solidFill>
                  <a:srgbClr val="FF0000"/>
                </a:solidFill>
              </a:rPr>
              <a:t>: </a:t>
            </a:r>
            <a:r>
              <a:rPr lang="en-CA" dirty="0" smtClean="0"/>
              <a:t>Bright people in a country might begin working for aid agencies rather than for their own countries.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3741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Absolute Poverty</a:t>
            </a:r>
          </a:p>
          <a:p>
            <a:pPr lvl="1"/>
            <a:r>
              <a:rPr lang="en-CA" dirty="0"/>
              <a:t>severe deprivation of basic human needs</a:t>
            </a:r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Odious Debt</a:t>
            </a:r>
          </a:p>
          <a:p>
            <a:pPr lvl="1"/>
            <a:r>
              <a:rPr lang="en-CA" dirty="0"/>
              <a:t>debt incurred by a despotic power, not to meet the </a:t>
            </a:r>
            <a:r>
              <a:rPr lang="en-CA" dirty="0" smtClean="0"/>
              <a:t>needs of </a:t>
            </a:r>
            <a:r>
              <a:rPr lang="en-CA" dirty="0"/>
              <a:t>the people of the country but to strengthen the </a:t>
            </a:r>
            <a:r>
              <a:rPr lang="en-CA" dirty="0" smtClean="0"/>
              <a:t>despotic</a:t>
            </a:r>
            <a:r>
              <a:rPr lang="en-US" sz="2000" dirty="0"/>
              <a:t> </a:t>
            </a:r>
            <a:r>
              <a:rPr lang="en-CA" dirty="0" smtClean="0"/>
              <a:t>regime</a:t>
            </a:r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Gross National Income</a:t>
            </a:r>
          </a:p>
          <a:p>
            <a:pPr lvl="1"/>
            <a:r>
              <a:rPr lang="en-CA" dirty="0"/>
              <a:t>total value of the goods and services produced by a country in a year, whether inside or outside the </a:t>
            </a:r>
            <a:r>
              <a:rPr lang="en-CA" dirty="0" smtClean="0"/>
              <a:t> </a:t>
            </a:r>
            <a:r>
              <a:rPr lang="en-CA" dirty="0"/>
              <a:t>country’s borders</a:t>
            </a:r>
            <a:endParaRPr lang="en-US" sz="2400" dirty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43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Perspectives on Foreign Aid - </a:t>
            </a:r>
            <a:r>
              <a:rPr lang="en-CA" dirty="0" err="1" smtClean="0"/>
              <a:t>darfur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Which arguments are the most convincing about the decision to give foreign aid?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0457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foreign policy should Canada pursue the most?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Peacekeeping and peacemaking, International Law Agreements, or foreign aid?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812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1949</TotalTime>
  <Words>2396</Words>
  <Application>Microsoft Office PowerPoint</Application>
  <PresentationFormat>On-screen Show (4:3)</PresentationFormat>
  <Paragraphs>313</Paragraphs>
  <Slides>59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Arial</vt:lpstr>
      <vt:lpstr>Calibri</vt:lpstr>
      <vt:lpstr>Century Schoolbook</vt:lpstr>
      <vt:lpstr>Impact</vt:lpstr>
      <vt:lpstr>Times New Roman</vt:lpstr>
      <vt:lpstr>Wingdings</vt:lpstr>
      <vt:lpstr>Wingdings 2</vt:lpstr>
      <vt:lpstr>Oriel</vt:lpstr>
      <vt:lpstr>RELATED ISSUE 3  Social 20-1</vt:lpstr>
      <vt:lpstr>The World is Shrinking…</vt:lpstr>
      <vt:lpstr>SHOULD INTERNATIONALISM BE PURSUED?</vt:lpstr>
      <vt:lpstr>Motives of People/Maslow’s Hierarchy of Needs</vt:lpstr>
      <vt:lpstr>Maslow’s Hierarchy of Needs</vt:lpstr>
      <vt:lpstr>Maslow’s Hierarchy of Needs</vt:lpstr>
      <vt:lpstr>What About Nations?</vt:lpstr>
      <vt:lpstr>Economic Stability</vt:lpstr>
      <vt:lpstr>Peace and Security</vt:lpstr>
      <vt:lpstr>Self-Determination</vt:lpstr>
      <vt:lpstr>Humanitarianism</vt:lpstr>
      <vt:lpstr>How Do Nation-States Respond to the World?</vt:lpstr>
      <vt:lpstr>How Do Nation-States Respond to the World?</vt:lpstr>
      <vt:lpstr>How do nations respond?</vt:lpstr>
      <vt:lpstr>PowerPoint Presentation</vt:lpstr>
      <vt:lpstr>FOREIGN POLICY - Decisions about how to deal with other countries;</vt:lpstr>
      <vt:lpstr>Influences on Foreign Policy</vt:lpstr>
      <vt:lpstr>Canada and the world</vt:lpstr>
      <vt:lpstr>Canada and the world</vt:lpstr>
      <vt:lpstr>Canada and the world</vt:lpstr>
      <vt:lpstr>Canada and the world</vt:lpstr>
      <vt:lpstr>Canada and the world</vt:lpstr>
      <vt:lpstr>Canada and the world</vt:lpstr>
      <vt:lpstr>Canada and the world</vt:lpstr>
      <vt:lpstr>Canada and the world</vt:lpstr>
      <vt:lpstr>USA FOREIGN POLICY</vt:lpstr>
      <vt:lpstr>FOREIGN POLICY &amp; POLITICAL SYSTEMS</vt:lpstr>
      <vt:lpstr>FOREIGN POLICY IN GLOBALIZING WORLD</vt:lpstr>
      <vt:lpstr>PROMOTING INTERNATIONALISM THROUGH FOREIGN POLICY </vt:lpstr>
      <vt:lpstr>INTERNATIONAL LAW </vt:lpstr>
      <vt:lpstr>INTERNATIONAL LAW &amp; AGREEMENTS</vt:lpstr>
      <vt:lpstr>Turbot War</vt:lpstr>
      <vt:lpstr>International Agreements </vt:lpstr>
      <vt:lpstr>PEACEKEEPING &amp; PEACEMAKING</vt:lpstr>
      <vt:lpstr>Peacekeeping – An International Activity</vt:lpstr>
      <vt:lpstr>Peacekeeping is getting complicated…</vt:lpstr>
      <vt:lpstr>FOREIGN AID &amp; INTERNATIONALISM</vt:lpstr>
      <vt:lpstr>FOREIGN AID &amp; INTERNATIONALISM What people want…</vt:lpstr>
      <vt:lpstr>Understanding the World</vt:lpstr>
      <vt:lpstr>Comparing Living Standards</vt:lpstr>
      <vt:lpstr>PQLF – Physical quality of life index</vt:lpstr>
      <vt:lpstr>Infant Mortality – 1990</vt:lpstr>
      <vt:lpstr>Infant Mortality</vt:lpstr>
      <vt:lpstr>Literacy</vt:lpstr>
      <vt:lpstr>Literacy</vt:lpstr>
      <vt:lpstr>Nutrition</vt:lpstr>
      <vt:lpstr>Nutrition</vt:lpstr>
      <vt:lpstr>PowerPoint Presentation</vt:lpstr>
      <vt:lpstr>Famine</vt:lpstr>
      <vt:lpstr>The Hunger Cycle</vt:lpstr>
      <vt:lpstr>Struggling to Keep Up</vt:lpstr>
      <vt:lpstr>Sudan (south, north, Darfur)</vt:lpstr>
      <vt:lpstr>South sudan</vt:lpstr>
      <vt:lpstr>The World’s Response</vt:lpstr>
      <vt:lpstr>0.7 Solution</vt:lpstr>
      <vt:lpstr>Types of Aid and Obstacles</vt:lpstr>
      <vt:lpstr>Terms</vt:lpstr>
      <vt:lpstr>Perspectives on Foreign Aid - darfur</vt:lpstr>
      <vt:lpstr>Which foreign policy should Canada pursue the most?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RELATED ISSUE 3</dc:title>
  <dc:creator>Strikwerda</dc:creator>
  <cp:lastModifiedBy>Susan Chalmers NXT</cp:lastModifiedBy>
  <cp:revision>49</cp:revision>
  <dcterms:created xsi:type="dcterms:W3CDTF">2008-10-30T05:52:28Z</dcterms:created>
  <dcterms:modified xsi:type="dcterms:W3CDTF">2017-06-11T16:03:21Z</dcterms:modified>
</cp:coreProperties>
</file>