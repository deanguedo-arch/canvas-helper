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3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0160000" cy="7620000"/>
  <p:notesSz cx="7620000" cy="10160000"/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90651C3A-4460-11DB-9652-00E08161165F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6" d="100"/>
          <a:sy n="106" d="100"/>
        </p:scale>
        <p:origin x="0" y="966"/>
      </p:cViewPr>
      <p:guideLst>
        <p:guide orient="horz" pos="2400"/>
        <p:guide pos="32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" name="Shape 3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09464456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" name="Shape 25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" name="Shape 34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Shape 41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Shape 49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Shape 57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Shape 65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Shape 73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Shape 81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Shape 89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96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Shape 97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Shape 105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7"/>
          <p:cNvSpPr txBox="1">
            <a:spLocks noGrp="1"/>
          </p:cNvSpPr>
          <p:nvPr>
            <p:ph type="ctrTitle"/>
          </p:nvPr>
        </p:nvSpPr>
        <p:spPr>
          <a:xfrm>
            <a:off x="914400" y="3048000"/>
            <a:ext cx="8331200" cy="12191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algn="ctr">
              <a:buSzPct val="100000"/>
              <a:defRPr sz="4800"/>
            </a:lvl1pPr>
            <a:lvl2pPr algn="ctr">
              <a:buSzPct val="100000"/>
              <a:defRPr sz="4800"/>
            </a:lvl2pPr>
            <a:lvl3pPr algn="ctr">
              <a:buSzPct val="100000"/>
              <a:defRPr sz="4800"/>
            </a:lvl3pPr>
            <a:lvl4pPr algn="ctr">
              <a:buSzPct val="100000"/>
              <a:defRPr sz="4800"/>
            </a:lvl4pPr>
            <a:lvl5pPr algn="ctr">
              <a:buSzPct val="100000"/>
              <a:defRPr sz="4800"/>
            </a:lvl5pPr>
            <a:lvl6pPr algn="ctr">
              <a:buSzPct val="100000"/>
              <a:defRPr sz="4800"/>
            </a:lvl6pPr>
            <a:lvl7pPr algn="ctr">
              <a:buSzPct val="100000"/>
              <a:defRPr sz="4800"/>
            </a:lvl7pPr>
            <a:lvl8pPr algn="ctr">
              <a:buSzPct val="100000"/>
              <a:defRPr sz="4800"/>
            </a:lvl8pPr>
            <a:lvl9pPr algn="ctr">
              <a:buSzPct val="100000"/>
              <a:defRPr sz="4800"/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ubTitle" idx="1"/>
          </p:nvPr>
        </p:nvSpPr>
        <p:spPr>
          <a:xfrm>
            <a:off x="1828800" y="4572000"/>
            <a:ext cx="6502399" cy="914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algn="ctr">
              <a:buSzPct val="100000"/>
              <a:defRPr sz="3200"/>
            </a:lvl1pPr>
            <a:lvl2pPr algn="ctr">
              <a:buSzPct val="100000"/>
              <a:defRPr sz="3200"/>
            </a:lvl2pPr>
            <a:lvl3pPr algn="ctr">
              <a:buSzPct val="100000"/>
              <a:defRPr sz="3200"/>
            </a:lvl3pPr>
            <a:lvl4pPr algn="ctr">
              <a:buSzPct val="100000"/>
              <a:defRPr sz="3200"/>
            </a:lvl4pPr>
            <a:lvl5pPr algn="ctr">
              <a:buSzPct val="100000"/>
              <a:defRPr sz="3200"/>
            </a:lvl5pPr>
            <a:lvl6pPr algn="ctr">
              <a:buSzPct val="100000"/>
              <a:defRPr sz="3200"/>
            </a:lvl6pPr>
            <a:lvl7pPr algn="ctr">
              <a:buSzPct val="100000"/>
              <a:defRPr sz="3200"/>
            </a:lvl7pPr>
            <a:lvl8pPr algn="ctr">
              <a:buSzPct val="100000"/>
              <a:defRPr sz="3200"/>
            </a:lvl8pPr>
            <a:lvl9pPr algn="ctr">
              <a:buSzPct val="100000"/>
              <a:defRPr sz="3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x" type="tx">
  <p:cSld name="tx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9550400" cy="914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buSzPct val="99224"/>
              <a:defRPr sz="4266"/>
            </a:lvl1pPr>
            <a:lvl2pPr>
              <a:buSzPct val="99224"/>
              <a:defRPr sz="4266"/>
            </a:lvl2pPr>
            <a:lvl3pPr>
              <a:buSzPct val="99224"/>
              <a:defRPr sz="4266"/>
            </a:lvl3pPr>
            <a:lvl4pPr>
              <a:buSzPct val="99224"/>
              <a:defRPr sz="4266"/>
            </a:lvl4pPr>
            <a:lvl5pPr>
              <a:buSzPct val="99224"/>
              <a:defRPr sz="4266"/>
            </a:lvl5pPr>
            <a:lvl6pPr>
              <a:buSzPct val="99224"/>
              <a:defRPr sz="4266"/>
            </a:lvl6pPr>
            <a:lvl7pPr>
              <a:buSzPct val="99224"/>
              <a:defRPr sz="4266"/>
            </a:lvl7pPr>
            <a:lvl8pPr>
              <a:buSzPct val="99224"/>
              <a:defRPr sz="4266"/>
            </a:lvl8pPr>
            <a:lvl9pPr>
              <a:buSzPct val="99224"/>
              <a:defRPr sz="4266"/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body" idx="1"/>
          </p:nvPr>
        </p:nvSpPr>
        <p:spPr>
          <a:xfrm>
            <a:off x="304800" y="1828800"/>
            <a:ext cx="9550400" cy="5486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buSzPct val="98765"/>
              <a:defRPr sz="2666"/>
            </a:lvl1pPr>
            <a:lvl2pPr>
              <a:buSzPct val="98765"/>
              <a:defRPr sz="2666"/>
            </a:lvl2pPr>
            <a:lvl3pPr>
              <a:buSzPct val="98765"/>
              <a:defRPr sz="2666"/>
            </a:lvl3pPr>
            <a:lvl4pPr>
              <a:buSzPct val="98765"/>
              <a:defRPr sz="2666"/>
            </a:lvl4pPr>
            <a:lvl5pPr>
              <a:buSzPct val="98765"/>
              <a:defRPr sz="2666"/>
            </a:lvl5pPr>
            <a:lvl6pPr>
              <a:buSzPct val="98765"/>
              <a:defRPr sz="2666"/>
            </a:lvl6pPr>
            <a:lvl7pPr>
              <a:buSzPct val="98765"/>
              <a:defRPr sz="2666"/>
            </a:lvl7pPr>
            <a:lvl8pPr>
              <a:buSzPct val="98765"/>
              <a:defRPr sz="2666"/>
            </a:lvl8pPr>
            <a:lvl9pPr>
              <a:buSzPct val="98765"/>
              <a:defRPr sz="2666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ColTx" type="twoColTx">
  <p:cSld name="twoColTx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9550400" cy="914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buSzPct val="99224"/>
              <a:defRPr sz="4266"/>
            </a:lvl1pPr>
            <a:lvl2pPr>
              <a:buSzPct val="99224"/>
              <a:defRPr sz="4266"/>
            </a:lvl2pPr>
            <a:lvl3pPr>
              <a:buSzPct val="99224"/>
              <a:defRPr sz="4266"/>
            </a:lvl3pPr>
            <a:lvl4pPr>
              <a:buSzPct val="99224"/>
              <a:defRPr sz="4266"/>
            </a:lvl4pPr>
            <a:lvl5pPr>
              <a:buSzPct val="99224"/>
              <a:defRPr sz="4266"/>
            </a:lvl5pPr>
            <a:lvl6pPr>
              <a:buSzPct val="99224"/>
              <a:defRPr sz="4266"/>
            </a:lvl6pPr>
            <a:lvl7pPr>
              <a:buSzPct val="99224"/>
              <a:defRPr sz="4266"/>
            </a:lvl7pPr>
            <a:lvl8pPr>
              <a:buSzPct val="99224"/>
              <a:defRPr sz="4266"/>
            </a:lvl8pPr>
            <a:lvl9pPr>
              <a:buSzPct val="99224"/>
              <a:defRPr sz="4266"/>
            </a:lvl9pPr>
          </a:lstStyle>
          <a:p>
            <a:endParaRPr/>
          </a:p>
        </p:txBody>
      </p:sp>
      <p:sp>
        <p:nvSpPr>
          <p:cNvPr id="14" name="Shape 14"/>
          <p:cNvSpPr txBox="1">
            <a:spLocks noGrp="1"/>
          </p:cNvSpPr>
          <p:nvPr>
            <p:ph type="body" idx="1"/>
          </p:nvPr>
        </p:nvSpPr>
        <p:spPr>
          <a:xfrm>
            <a:off x="304800" y="1828800"/>
            <a:ext cx="4470399" cy="5486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buSzPct val="98765"/>
              <a:defRPr sz="2666"/>
            </a:lvl1pPr>
            <a:lvl2pPr>
              <a:buSzPct val="98765"/>
              <a:defRPr sz="2666"/>
            </a:lvl2pPr>
            <a:lvl3pPr>
              <a:buSzPct val="98765"/>
              <a:defRPr sz="2666"/>
            </a:lvl3pPr>
            <a:lvl4pPr>
              <a:buSzPct val="98765"/>
              <a:defRPr sz="2666"/>
            </a:lvl4pPr>
            <a:lvl5pPr>
              <a:buSzPct val="98765"/>
              <a:defRPr sz="2666"/>
            </a:lvl5pPr>
            <a:lvl6pPr>
              <a:buSzPct val="98765"/>
              <a:defRPr sz="2666"/>
            </a:lvl6pPr>
            <a:lvl7pPr>
              <a:buSzPct val="98765"/>
              <a:defRPr sz="2666"/>
            </a:lvl7pPr>
            <a:lvl8pPr>
              <a:buSzPct val="98765"/>
              <a:defRPr sz="2666"/>
            </a:lvl8pPr>
            <a:lvl9pPr>
              <a:buSzPct val="98765"/>
              <a:defRPr sz="2666"/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body" idx="2"/>
          </p:nvPr>
        </p:nvSpPr>
        <p:spPr>
          <a:xfrm>
            <a:off x="5384800" y="1828800"/>
            <a:ext cx="4470399" cy="5486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buSzPct val="98765"/>
              <a:defRPr sz="2666"/>
            </a:lvl1pPr>
            <a:lvl2pPr>
              <a:buSzPct val="98765"/>
              <a:defRPr sz="2666"/>
            </a:lvl2pPr>
            <a:lvl3pPr>
              <a:buSzPct val="98765"/>
              <a:defRPr sz="2666"/>
            </a:lvl3pPr>
            <a:lvl4pPr>
              <a:buSzPct val="98765"/>
              <a:defRPr sz="2666"/>
            </a:lvl4pPr>
            <a:lvl5pPr>
              <a:buSzPct val="98765"/>
              <a:defRPr sz="2666"/>
            </a:lvl5pPr>
            <a:lvl6pPr>
              <a:buSzPct val="98765"/>
              <a:defRPr sz="2666"/>
            </a:lvl6pPr>
            <a:lvl7pPr>
              <a:buSzPct val="98765"/>
              <a:defRPr sz="2666"/>
            </a:lvl7pPr>
            <a:lvl8pPr>
              <a:buSzPct val="98765"/>
              <a:defRPr sz="2666"/>
            </a:lvl8pPr>
            <a:lvl9pPr>
              <a:buSzPct val="98765"/>
              <a:defRPr sz="2666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_ONLY">
  <p:cSld name="CAPTION_ONL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304800" y="6705600"/>
            <a:ext cx="9550400" cy="6095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algn="ctr">
              <a:buSzPct val="100000"/>
              <a:defRPr sz="3200"/>
            </a:lvl1pPr>
            <a:lvl2pPr algn="ctr">
              <a:buSzPct val="100000"/>
              <a:defRPr sz="3200"/>
            </a:lvl2pPr>
            <a:lvl3pPr algn="ctr">
              <a:buSzPct val="100000"/>
              <a:defRPr sz="3200"/>
            </a:lvl3pPr>
            <a:lvl4pPr algn="ctr">
              <a:buSzPct val="100000"/>
              <a:defRPr sz="3200"/>
            </a:lvl4pPr>
            <a:lvl5pPr algn="ctr">
              <a:buSzPct val="100000"/>
              <a:defRPr sz="3200"/>
            </a:lvl5pPr>
            <a:lvl6pPr algn="ctr">
              <a:buSzPct val="100000"/>
              <a:defRPr sz="3200"/>
            </a:lvl6pPr>
            <a:lvl7pPr algn="ctr">
              <a:buSzPct val="100000"/>
              <a:defRPr sz="3200"/>
            </a:lvl7pPr>
            <a:lvl8pPr algn="ctr">
              <a:buSzPct val="100000"/>
              <a:defRPr sz="3200"/>
            </a:lvl8pPr>
            <a:lvl9pPr algn="ctr">
              <a:buSzPct val="100000"/>
              <a:defRPr sz="3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info@time4writing.com" TargetMode="Externa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 txBox="1">
            <a:spLocks noGrp="1"/>
          </p:cNvSpPr>
          <p:nvPr>
            <p:ph type="ctrTitle"/>
          </p:nvPr>
        </p:nvSpPr>
        <p:spPr>
          <a:xfrm>
            <a:off x="711200" y="2031975"/>
            <a:ext cx="8609925" cy="2281974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4800" b="1" i="0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Writing a Thesis Statement</a:t>
            </a:r>
          </a:p>
          <a:p>
            <a:endParaRPr lang="en-US" sz="4800" b="1" i="0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 rtl="0">
              <a:lnSpc>
                <a:spcPct val="100000"/>
              </a:lnSpc>
              <a:buNone/>
            </a:pPr>
            <a:r>
              <a:rPr lang="en-US" sz="3733" b="1" i="0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Starting an Essay with Clear Direction</a:t>
            </a:r>
          </a:p>
        </p:txBody>
      </p:sp>
      <p:sp>
        <p:nvSpPr>
          <p:cNvPr id="20" name="Shape 20"/>
          <p:cNvSpPr/>
          <p:nvPr/>
        </p:nvSpPr>
        <p:spPr>
          <a:xfrm>
            <a:off x="1900" y="1900"/>
            <a:ext cx="10170975" cy="1535525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21" name="Shape 21"/>
          <p:cNvSpPr txBox="1"/>
          <p:nvPr/>
        </p:nvSpPr>
        <p:spPr>
          <a:xfrm>
            <a:off x="506300" y="4976700"/>
            <a:ext cx="9320199" cy="1999625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1333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Time4Writing provides these teachers materials to teachers and parents at no cost. </a:t>
            </a:r>
          </a:p>
          <a:p>
            <a:pPr algn="ctr" rtl="0">
              <a:lnSpc>
                <a:spcPct val="100000"/>
              </a:lnSpc>
              <a:buNone/>
            </a:pPr>
            <a:r>
              <a:rPr lang="en-US" sz="1333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presentations, handouts, interactive online exercises, and video lessons are freely available at Time4Writing.com. </a:t>
            </a:r>
          </a:p>
          <a:p>
            <a:pPr algn="ctr" rtl="0">
              <a:lnSpc>
                <a:spcPct val="100000"/>
              </a:lnSpc>
              <a:buNone/>
            </a:pPr>
            <a:r>
              <a:rPr lang="en-US" sz="1333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 linking to these resources from your school, teacher, or homeschool educational site. </a:t>
            </a:r>
          </a:p>
          <a:p>
            <a:endParaRPr lang="en-US" sz="1333">
              <a:solidFill>
                <a:srgbClr val="0737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 rtl="0">
              <a:lnSpc>
                <a:spcPct val="100000"/>
              </a:lnSpc>
              <a:buNone/>
            </a:pPr>
            <a:r>
              <a:rPr lang="en-US" sz="1333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rules: These materials must maintain the visibility of the Time4Writing trademark and copyright information. </a:t>
            </a:r>
          </a:p>
          <a:p>
            <a:pPr algn="ctr" rtl="0">
              <a:lnSpc>
                <a:spcPct val="100000"/>
              </a:lnSpc>
              <a:buNone/>
            </a:pPr>
            <a:r>
              <a:rPr lang="en-US" sz="1333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can be copied and used for educational purposes. They are not for resale.</a:t>
            </a:r>
          </a:p>
          <a:p>
            <a:pPr algn="ctr" rtl="0">
              <a:lnSpc>
                <a:spcPct val="100000"/>
              </a:lnSpc>
              <a:buNone/>
            </a:pPr>
            <a:r>
              <a:rPr lang="en-US" sz="1333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Want to give us feedback? We'd like to hear your views:</a:t>
            </a:r>
            <a:r>
              <a:rPr lang="en-US" sz="1333">
                <a:solidFill>
                  <a:srgbClr val="B45F0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3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</a:p>
          <a:p>
            <a:pPr algn="ctr" rtl="0">
              <a:lnSpc>
                <a:spcPct val="100000"/>
              </a:lnSpc>
              <a:buNone/>
            </a:pPr>
            <a:r>
              <a:rPr lang="en-US" sz="13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lang="en-US" sz="1333" u="sng">
                <a:solidFill>
                  <a:srgbClr val="B45F06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info@time4writing.com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431800" y="7086600"/>
            <a:ext cx="9380538" cy="277813"/>
          </a:xfrm>
          <a:prstGeom prst="rect">
            <a:avLst/>
          </a:prstGeom>
          <a:solidFill>
            <a:srgbClr val="0F0F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508000" y="7086600"/>
            <a:ext cx="9228138" cy="233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95000"/>
              </a:lnSpc>
            </a:pPr>
            <a:r>
              <a:rPr lang="en-US" sz="1600" dirty="0">
                <a:solidFill>
                  <a:srgbClr val="FFFFFF"/>
                </a:solidFill>
                <a:latin typeface="Arial" charset="0"/>
              </a:rPr>
              <a:t> Copyright 2012                    www.time4writing.com/free-writing-resources                    Copyright 2012  </a:t>
            </a:r>
          </a:p>
        </p:txBody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 txBox="1">
            <a:spLocks noGrp="1"/>
          </p:cNvSpPr>
          <p:nvPr>
            <p:ph type="ctrTitle"/>
          </p:nvPr>
        </p:nvSpPr>
        <p:spPr>
          <a:xfrm>
            <a:off x="711200" y="1524000"/>
            <a:ext cx="8635824" cy="1716250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4266" b="1" i="0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What a Thesis Statement Does</a:t>
            </a:r>
          </a:p>
        </p:txBody>
      </p:sp>
      <p:sp>
        <p:nvSpPr>
          <p:cNvPr id="28" name="Shape 28"/>
          <p:cNvSpPr/>
          <p:nvPr/>
        </p:nvSpPr>
        <p:spPr>
          <a:xfrm>
            <a:off x="1900" y="1900"/>
            <a:ext cx="10170975" cy="1535525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29" name="Shape 29"/>
          <p:cNvSpPr txBox="1"/>
          <p:nvPr/>
        </p:nvSpPr>
        <p:spPr>
          <a:xfrm>
            <a:off x="812800" y="5791200"/>
            <a:ext cx="8538399" cy="1091399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3200" b="0" i="1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So the formula for a thesis statement is: </a:t>
            </a:r>
          </a:p>
          <a:p>
            <a:pPr algn="ctr" rtl="0">
              <a:lnSpc>
                <a:spcPct val="100000"/>
              </a:lnSpc>
              <a:buNone/>
            </a:pPr>
            <a:r>
              <a:rPr lang="en-US" sz="3200" b="1" i="1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Subject</a:t>
            </a:r>
            <a:r>
              <a:rPr lang="en-US" sz="3200" b="1" i="1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lang="en-US" sz="3200" b="1" i="1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Claim</a:t>
            </a:r>
            <a:r>
              <a:rPr lang="en-US" sz="3200" b="1" i="1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lang="en-US" sz="3200" b="1" i="1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Three Points of Support</a:t>
            </a:r>
          </a:p>
        </p:txBody>
      </p:sp>
      <p:sp>
        <p:nvSpPr>
          <p:cNvPr id="31" name="Shape 31"/>
          <p:cNvSpPr txBox="1"/>
          <p:nvPr/>
        </p:nvSpPr>
        <p:spPr>
          <a:xfrm>
            <a:off x="1828800" y="2725025"/>
            <a:ext cx="6576725" cy="3863124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rtl="0">
              <a:lnSpc>
                <a:spcPct val="100000"/>
              </a:lnSpc>
              <a:buNone/>
            </a:pPr>
            <a:r>
              <a:rPr lang="en-US" sz="2933" b="1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1)</a:t>
            </a:r>
            <a:r>
              <a:rPr lang="en-US" sz="2933" b="0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 It describes your </a:t>
            </a:r>
            <a:r>
              <a:rPr lang="en-US" sz="2933" b="1" u="sng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topic</a:t>
            </a:r>
            <a:r>
              <a:rPr lang="en-US" sz="2933" b="0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, what your essay will be about.</a:t>
            </a:r>
          </a:p>
          <a:p>
            <a:pPr rtl="0">
              <a:lnSpc>
                <a:spcPct val="100000"/>
              </a:lnSpc>
              <a:buNone/>
            </a:pPr>
            <a:r>
              <a:rPr lang="en-US" sz="2933" b="1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2)</a:t>
            </a:r>
            <a:r>
              <a:rPr lang="en-US" sz="2933" b="0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 It introduces a specific </a:t>
            </a:r>
            <a:r>
              <a:rPr lang="en-US" sz="2933" b="1" u="sng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claim</a:t>
            </a:r>
            <a:r>
              <a:rPr lang="en-US" sz="2933" b="0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 you are making about  your topic.</a:t>
            </a:r>
          </a:p>
          <a:p>
            <a:pPr rtl="0">
              <a:lnSpc>
                <a:spcPct val="100000"/>
              </a:lnSpc>
              <a:buNone/>
            </a:pPr>
            <a:r>
              <a:rPr lang="en-US" sz="2933" b="1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3)</a:t>
            </a:r>
            <a:r>
              <a:rPr lang="en-US" sz="2933" b="0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 It describes three ways in which you will </a:t>
            </a:r>
            <a:r>
              <a:rPr lang="en-US" sz="2933" b="1" u="sng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support</a:t>
            </a:r>
            <a:r>
              <a:rPr lang="en-US" sz="2933" b="0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 and develop your claim.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1800" y="7086600"/>
            <a:ext cx="9380538" cy="277813"/>
          </a:xfrm>
          <a:prstGeom prst="rect">
            <a:avLst/>
          </a:prstGeom>
          <a:solidFill>
            <a:srgbClr val="0F0F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508000" y="7086600"/>
            <a:ext cx="9228138" cy="233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95000"/>
              </a:lnSpc>
            </a:pPr>
            <a:r>
              <a:rPr lang="en-US" sz="1600" dirty="0">
                <a:solidFill>
                  <a:srgbClr val="FFFFFF"/>
                </a:solidFill>
                <a:latin typeface="Arial" charset="0"/>
              </a:rPr>
              <a:t> Copyright 2012                    www.time4writing.com/free-writing-resources                    Copyright 2012  </a:t>
            </a:r>
          </a:p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900" y="1900"/>
            <a:ext cx="10170975" cy="1535525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37" name="Shape 37"/>
          <p:cNvSpPr txBox="1"/>
          <p:nvPr/>
        </p:nvSpPr>
        <p:spPr>
          <a:xfrm>
            <a:off x="812800" y="2235200"/>
            <a:ext cx="8726200" cy="3734800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4800" b="1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Subject </a:t>
            </a:r>
          </a:p>
          <a:p>
            <a:pPr algn="ctr" rtl="0">
              <a:lnSpc>
                <a:spcPct val="100000"/>
              </a:lnSpc>
              <a:buNone/>
            </a:pPr>
            <a:r>
              <a:rPr lang="en-US" sz="4800" b="1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</a:p>
          <a:p>
            <a:pPr algn="ctr" rtl="0">
              <a:lnSpc>
                <a:spcPct val="100000"/>
              </a:lnSpc>
              <a:buNone/>
            </a:pPr>
            <a:r>
              <a:rPr lang="en-US" sz="4800" b="1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Claim</a:t>
            </a:r>
          </a:p>
          <a:p>
            <a:pPr algn="ctr" rtl="0">
              <a:lnSpc>
                <a:spcPct val="100000"/>
              </a:lnSpc>
              <a:buNone/>
            </a:pPr>
            <a:r>
              <a:rPr lang="en-US" sz="4800" b="1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4800" b="1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</a:p>
          <a:p>
            <a:pPr algn="ctr" rtl="0">
              <a:lnSpc>
                <a:spcPct val="100000"/>
              </a:lnSpc>
              <a:buNone/>
            </a:pPr>
            <a:r>
              <a:rPr lang="en-US" sz="4800" b="1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Three Points of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31800" y="7086600"/>
            <a:ext cx="9380538" cy="277813"/>
          </a:xfrm>
          <a:prstGeom prst="rect">
            <a:avLst/>
          </a:prstGeom>
          <a:solidFill>
            <a:srgbClr val="0F0F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508000" y="7086600"/>
            <a:ext cx="9228138" cy="233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95000"/>
              </a:lnSpc>
            </a:pPr>
            <a:r>
              <a:rPr lang="en-US" sz="1600" dirty="0">
                <a:solidFill>
                  <a:srgbClr val="FFFFFF"/>
                </a:solidFill>
                <a:latin typeface="Arial" charset="0"/>
              </a:rPr>
              <a:t> Copyright 2012                    www.time4writing.com/free-writing-resources                    Copyright 2012  </a:t>
            </a:r>
          </a:p>
        </p:txBody>
      </p:sp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 txBox="1">
            <a:spLocks noGrp="1"/>
          </p:cNvSpPr>
          <p:nvPr>
            <p:ph type="ctrTitle"/>
          </p:nvPr>
        </p:nvSpPr>
        <p:spPr>
          <a:xfrm>
            <a:off x="609600" y="1690525"/>
            <a:ext cx="8753575" cy="3185225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3466" b="1" i="0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Let's look at this example:</a:t>
            </a:r>
          </a:p>
          <a:p>
            <a:endParaRPr lang="en-US" sz="3466" b="1" i="0">
              <a:solidFill>
                <a:srgbClr val="B45F06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sz="3466" b="1" i="0">
              <a:solidFill>
                <a:srgbClr val="B45F06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 rtl="0">
              <a:lnSpc>
                <a:spcPct val="100000"/>
              </a:lnSpc>
              <a:buNone/>
            </a:pPr>
            <a:r>
              <a:rPr lang="en-US" sz="2666" b="0" i="0">
                <a:solidFill>
                  <a:srgbClr val="073763"/>
                </a:solidFill>
                <a:latin typeface="courier new"/>
                <a:ea typeface="courier new"/>
                <a:cs typeface="courier new"/>
                <a:sym typeface="courier new"/>
              </a:rPr>
              <a:t>"Going back to college was a complex process that involved researching a school, applying for admission, and enrolling in classes."</a:t>
            </a:r>
          </a:p>
          <a:p>
            <a:endParaRPr lang="en-US" sz="2666" b="0" i="0">
              <a:solidFill>
                <a:srgbClr val="07376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4" name="Shape 44"/>
          <p:cNvSpPr/>
          <p:nvPr/>
        </p:nvSpPr>
        <p:spPr>
          <a:xfrm>
            <a:off x="1900" y="1900"/>
            <a:ext cx="10170975" cy="1535525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45" name="Shape 45"/>
          <p:cNvSpPr txBox="1"/>
          <p:nvPr/>
        </p:nvSpPr>
        <p:spPr>
          <a:xfrm>
            <a:off x="914400" y="5283200"/>
            <a:ext cx="8612649" cy="1799249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3200" i="1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Can you find the</a:t>
            </a:r>
            <a:r>
              <a:rPr lang="en-US" sz="3200" i="1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1" i="1" u="sng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three different components</a:t>
            </a:r>
            <a:r>
              <a:rPr lang="en-US" sz="3200" i="1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i="1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in this thesis statement? </a:t>
            </a:r>
          </a:p>
        </p:txBody>
      </p:sp>
      <p:sp>
        <p:nvSpPr>
          <p:cNvPr id="6" name="Rectangle 5"/>
          <p:cNvSpPr/>
          <p:nvPr/>
        </p:nvSpPr>
        <p:spPr>
          <a:xfrm>
            <a:off x="431800" y="7086600"/>
            <a:ext cx="9380538" cy="277813"/>
          </a:xfrm>
          <a:prstGeom prst="rect">
            <a:avLst/>
          </a:prstGeom>
          <a:solidFill>
            <a:srgbClr val="0F0F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508000" y="7086600"/>
            <a:ext cx="9228138" cy="233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95000"/>
              </a:lnSpc>
            </a:pPr>
            <a:r>
              <a:rPr lang="en-US" sz="1600" dirty="0">
                <a:solidFill>
                  <a:srgbClr val="FFFFFF"/>
                </a:solidFill>
                <a:latin typeface="Arial" charset="0"/>
              </a:rPr>
              <a:t> Copyright 2012                    www.time4writing.com/free-writing-resources                    Copyright 2012  </a:t>
            </a:r>
          </a:p>
        </p:txBody>
      </p:sp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ctrTitle"/>
          </p:nvPr>
        </p:nvSpPr>
        <p:spPr>
          <a:xfrm>
            <a:off x="609600" y="1690525"/>
            <a:ext cx="8753575" cy="3185225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3466" b="1" i="0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Let's look at them this way:</a:t>
            </a:r>
          </a:p>
          <a:p>
            <a:endParaRPr lang="en-US" sz="3466" b="1" i="0">
              <a:solidFill>
                <a:srgbClr val="B45F06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 rtl="0">
              <a:lnSpc>
                <a:spcPct val="100000"/>
              </a:lnSpc>
              <a:buNone/>
            </a:pPr>
            <a:r>
              <a:rPr lang="en-US" sz="2933" b="0" i="0">
                <a:solidFill>
                  <a:srgbClr val="073763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2933" b="0" i="0" u="sng">
                <a:solidFill>
                  <a:srgbClr val="783F04"/>
                </a:solidFill>
                <a:latin typeface="courier new"/>
                <a:ea typeface="courier new"/>
                <a:cs typeface="courier new"/>
                <a:sym typeface="courier new"/>
              </a:rPr>
              <a:t>Going back to college</a:t>
            </a:r>
            <a:r>
              <a:rPr lang="en-US" sz="2933" b="0" i="0">
                <a:solidFill>
                  <a:srgbClr val="07376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933" b="0" i="0" u="sng">
                <a:solidFill>
                  <a:srgbClr val="274E13"/>
                </a:solidFill>
                <a:latin typeface="courier new"/>
                <a:ea typeface="courier new"/>
                <a:cs typeface="courier new"/>
                <a:sym typeface="courier new"/>
              </a:rPr>
              <a:t>was a complex process</a:t>
            </a:r>
            <a:r>
              <a:rPr lang="en-US" sz="2933" b="0" i="0">
                <a:solidFill>
                  <a:srgbClr val="073763"/>
                </a:solidFill>
                <a:latin typeface="courier new"/>
                <a:ea typeface="courier new"/>
                <a:cs typeface="courier new"/>
                <a:sym typeface="courier new"/>
              </a:rPr>
              <a:t> that involved </a:t>
            </a:r>
            <a:r>
              <a:rPr lang="en-US" sz="2933" b="0" i="0" u="sng">
                <a:solidFill>
                  <a:srgbClr val="741B47"/>
                </a:solidFill>
                <a:latin typeface="courier new"/>
                <a:ea typeface="courier new"/>
                <a:cs typeface="courier new"/>
                <a:sym typeface="courier new"/>
              </a:rPr>
              <a:t>researching a school, applying for admission, and enrolling in classes</a:t>
            </a:r>
            <a:r>
              <a:rPr lang="en-US" sz="2933" b="0" i="0">
                <a:solidFill>
                  <a:srgbClr val="073763"/>
                </a:solidFill>
                <a:latin typeface="courier new"/>
                <a:ea typeface="courier new"/>
                <a:cs typeface="courier new"/>
                <a:sym typeface="courier new"/>
              </a:rPr>
              <a:t>."</a:t>
            </a:r>
          </a:p>
        </p:txBody>
      </p:sp>
      <p:sp>
        <p:nvSpPr>
          <p:cNvPr id="52" name="Shape 52"/>
          <p:cNvSpPr/>
          <p:nvPr/>
        </p:nvSpPr>
        <p:spPr>
          <a:xfrm>
            <a:off x="1900" y="1900"/>
            <a:ext cx="10170975" cy="1535525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53" name="Shape 53"/>
          <p:cNvSpPr txBox="1"/>
          <p:nvPr/>
        </p:nvSpPr>
        <p:spPr>
          <a:xfrm>
            <a:off x="2743275" y="5279900"/>
            <a:ext cx="5025450" cy="1647149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marL="381000" marR="0" lvl="0" indent="-25265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3F04"/>
              </a:buClr>
              <a:buSzPct val="99337"/>
              <a:buFont typeface="Arial"/>
              <a:buAutoNum type="arabicPeriod"/>
            </a:pPr>
            <a:r>
              <a:rPr lang="en-US" sz="3178" i="1">
                <a:solidFill>
                  <a:srgbClr val="783F04"/>
                </a:solidFill>
                <a:latin typeface="Arial"/>
                <a:ea typeface="Arial"/>
                <a:cs typeface="Arial"/>
                <a:sym typeface="Arial"/>
              </a:rPr>
              <a:t>subject or topic</a:t>
            </a:r>
          </a:p>
          <a:p>
            <a:pPr marL="381000" marR="0" lvl="0" indent="-25265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ct val="99337"/>
              <a:buFont typeface="Arial"/>
              <a:buAutoNum type="arabicPeriod"/>
            </a:pPr>
            <a:r>
              <a:rPr lang="en-US" sz="3178" i="1">
                <a:solidFill>
                  <a:srgbClr val="274E13"/>
                </a:solidFill>
                <a:latin typeface="Arial"/>
                <a:ea typeface="Arial"/>
                <a:cs typeface="Arial"/>
                <a:sym typeface="Arial"/>
              </a:rPr>
              <a:t>claim</a:t>
            </a:r>
          </a:p>
          <a:p>
            <a:pPr marL="381000" marR="0" lvl="0" indent="-25265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ct val="99337"/>
              <a:buFont typeface="Arial"/>
              <a:buAutoNum type="arabicPeriod"/>
            </a:pPr>
            <a:r>
              <a:rPr lang="en-US" sz="3178" i="1">
                <a:solidFill>
                  <a:srgbClr val="741B47"/>
                </a:solidFill>
                <a:latin typeface="Arial"/>
                <a:ea typeface="Arial"/>
                <a:cs typeface="Arial"/>
                <a:sym typeface="Arial"/>
              </a:rPr>
              <a:t>three points of 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31800" y="7086600"/>
            <a:ext cx="9380538" cy="277813"/>
          </a:xfrm>
          <a:prstGeom prst="rect">
            <a:avLst/>
          </a:prstGeom>
          <a:solidFill>
            <a:srgbClr val="0F0F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508000" y="7086600"/>
            <a:ext cx="9228138" cy="233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95000"/>
              </a:lnSpc>
            </a:pPr>
            <a:r>
              <a:rPr lang="en-US" sz="1600" dirty="0">
                <a:solidFill>
                  <a:srgbClr val="FFFFFF"/>
                </a:solidFill>
                <a:latin typeface="Arial" charset="0"/>
              </a:rPr>
              <a:t> Copyright 2012                    www.time4writing.com/free-writing-resources                    Copyright 2012  </a:t>
            </a:r>
          </a:p>
        </p:txBody>
      </p:sp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 txBox="1">
            <a:spLocks noGrp="1"/>
          </p:cNvSpPr>
          <p:nvPr>
            <p:ph type="ctrTitle"/>
          </p:nvPr>
        </p:nvSpPr>
        <p:spPr>
          <a:xfrm>
            <a:off x="711275" y="1724200"/>
            <a:ext cx="8739400" cy="1887275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3466" b="1" i="0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1) The Subject or Topic of the Essay:</a:t>
            </a:r>
          </a:p>
          <a:p>
            <a:endParaRPr lang="en-US" sz="3466" b="1" i="0">
              <a:solidFill>
                <a:srgbClr val="B45F06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 rtl="0">
              <a:lnSpc>
                <a:spcPct val="100000"/>
              </a:lnSpc>
              <a:buNone/>
            </a:pPr>
            <a:r>
              <a:rPr lang="en-US" sz="2666" b="0" i="0">
                <a:solidFill>
                  <a:srgbClr val="073763"/>
                </a:solidFill>
                <a:latin typeface="courier new"/>
                <a:ea typeface="courier new"/>
                <a:cs typeface="courier new"/>
                <a:sym typeface="courier new"/>
              </a:rPr>
              <a:t>"Going back to college..."</a:t>
            </a:r>
          </a:p>
        </p:txBody>
      </p:sp>
      <p:sp>
        <p:nvSpPr>
          <p:cNvPr id="60" name="Shape 60"/>
          <p:cNvSpPr/>
          <p:nvPr/>
        </p:nvSpPr>
        <p:spPr>
          <a:xfrm>
            <a:off x="1900" y="1900"/>
            <a:ext cx="10170975" cy="1535525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61" name="Shape 61"/>
          <p:cNvSpPr txBox="1"/>
          <p:nvPr/>
        </p:nvSpPr>
        <p:spPr>
          <a:xfrm>
            <a:off x="711425" y="3957975"/>
            <a:ext cx="8735874" cy="2708275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2933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The essay is about </a:t>
            </a:r>
            <a:r>
              <a:rPr lang="en-US" sz="2933" b="1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going back to college</a:t>
            </a:r>
            <a:r>
              <a:rPr lang="en-US" sz="2933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. </a:t>
            </a:r>
          </a:p>
          <a:p>
            <a:endParaRPr lang="en-US" sz="2933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 rtl="0">
              <a:lnSpc>
                <a:spcPct val="100000"/>
              </a:lnSpc>
              <a:buNone/>
            </a:pPr>
            <a:r>
              <a:rPr lang="en-US" sz="2933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But there is a lot to say on this subject, so now you have to </a:t>
            </a:r>
            <a:r>
              <a:rPr lang="en-US" sz="2933" b="1" u="sng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narrow it down to one specific claim</a:t>
            </a:r>
            <a:r>
              <a:rPr lang="en-US" sz="2933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endParaRPr lang="en-US" sz="2933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sz="2933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1800" y="7086600"/>
            <a:ext cx="9380538" cy="277813"/>
          </a:xfrm>
          <a:prstGeom prst="rect">
            <a:avLst/>
          </a:prstGeom>
          <a:solidFill>
            <a:srgbClr val="0F0F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508000" y="7086600"/>
            <a:ext cx="9228138" cy="233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95000"/>
              </a:lnSpc>
            </a:pPr>
            <a:r>
              <a:rPr lang="en-US" sz="1600" dirty="0">
                <a:solidFill>
                  <a:srgbClr val="FFFFFF"/>
                </a:solidFill>
                <a:latin typeface="Arial" charset="0"/>
              </a:rPr>
              <a:t> Copyright 2012                    www.time4writing.com/free-writing-resources                    Copyright 2012  </a:t>
            </a:r>
          </a:p>
        </p:txBody>
      </p:sp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 txBox="1">
            <a:spLocks noGrp="1"/>
          </p:cNvSpPr>
          <p:nvPr>
            <p:ph type="ctrTitle"/>
          </p:nvPr>
        </p:nvSpPr>
        <p:spPr>
          <a:xfrm>
            <a:off x="508575" y="1704750"/>
            <a:ext cx="9140625" cy="2375849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3466" b="1" i="0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2) The Claim Made About the Subject or Topic of the Essay:</a:t>
            </a:r>
          </a:p>
          <a:p>
            <a:endParaRPr lang="en-US" sz="3466" b="1" i="0">
              <a:solidFill>
                <a:srgbClr val="B45F06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 rtl="0">
              <a:lnSpc>
                <a:spcPct val="100000"/>
              </a:lnSpc>
              <a:buNone/>
            </a:pPr>
            <a:r>
              <a:rPr lang="en-US" sz="2666" b="0" i="0">
                <a:solidFill>
                  <a:srgbClr val="073763"/>
                </a:solidFill>
                <a:latin typeface="courier new"/>
                <a:ea typeface="courier new"/>
                <a:cs typeface="courier new"/>
                <a:sym typeface="courier new"/>
              </a:rPr>
              <a:t>"Going back to college was a complex process..." </a:t>
            </a:r>
          </a:p>
        </p:txBody>
      </p:sp>
      <p:sp>
        <p:nvSpPr>
          <p:cNvPr id="68" name="Shape 68"/>
          <p:cNvSpPr/>
          <p:nvPr/>
        </p:nvSpPr>
        <p:spPr>
          <a:xfrm>
            <a:off x="1900" y="1900"/>
            <a:ext cx="10170975" cy="1535525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69" name="Shape 69"/>
          <p:cNvSpPr txBox="1"/>
          <p:nvPr/>
        </p:nvSpPr>
        <p:spPr>
          <a:xfrm>
            <a:off x="609625" y="4466800"/>
            <a:ext cx="8660199" cy="2224625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2666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The topic is narrowed down to </a:t>
            </a:r>
            <a:r>
              <a:rPr lang="en-US" sz="2666" b="1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the complexity</a:t>
            </a:r>
            <a:r>
              <a:rPr lang="en-US" sz="2666" b="1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66" b="0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of</a:t>
            </a:r>
            <a:r>
              <a:rPr lang="en-US" sz="2666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 going back to college. Now the topic is easier to talk about. </a:t>
            </a:r>
          </a:p>
          <a:p>
            <a:endParaRPr lang="en-US" sz="2666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 rtl="0">
              <a:lnSpc>
                <a:spcPct val="100000"/>
              </a:lnSpc>
              <a:buNone/>
            </a:pPr>
            <a:r>
              <a:rPr lang="en-US" sz="2666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You just need to list</a:t>
            </a:r>
          </a:p>
          <a:p>
            <a:pPr algn="ctr" rtl="0">
              <a:lnSpc>
                <a:spcPct val="100000"/>
              </a:lnSpc>
              <a:buNone/>
            </a:pPr>
            <a:r>
              <a:rPr lang="en-US" sz="2666" b="1" u="sng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three points to support this claim</a:t>
            </a:r>
            <a:r>
              <a:rPr lang="en-US" sz="2666" b="1" i="1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1800" y="7086600"/>
            <a:ext cx="9380538" cy="277813"/>
          </a:xfrm>
          <a:prstGeom prst="rect">
            <a:avLst/>
          </a:prstGeom>
          <a:solidFill>
            <a:srgbClr val="0F0F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508000" y="7086600"/>
            <a:ext cx="9228138" cy="233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95000"/>
              </a:lnSpc>
            </a:pPr>
            <a:r>
              <a:rPr lang="en-US" sz="1600" dirty="0">
                <a:solidFill>
                  <a:srgbClr val="FFFFFF"/>
                </a:solidFill>
                <a:latin typeface="Arial" charset="0"/>
              </a:rPr>
              <a:t> Copyright 2012                    www.time4writing.com/free-writing-resources                    Copyright 2012  </a:t>
            </a:r>
          </a:p>
        </p:txBody>
      </p:sp>
    </p:spTree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>
            <a:spLocks noGrp="1"/>
          </p:cNvSpPr>
          <p:nvPr>
            <p:ph type="ctrTitle"/>
          </p:nvPr>
        </p:nvSpPr>
        <p:spPr>
          <a:xfrm>
            <a:off x="508000" y="1625600"/>
            <a:ext cx="9140625" cy="2375849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3466" b="1" i="0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3) Three Points of Support for the Claim:</a:t>
            </a:r>
          </a:p>
          <a:p>
            <a:endParaRPr lang="en-US" sz="3466" b="1" i="0">
              <a:solidFill>
                <a:srgbClr val="B45F06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 rtl="0">
              <a:lnSpc>
                <a:spcPct val="100000"/>
              </a:lnSpc>
              <a:buNone/>
            </a:pPr>
            <a:r>
              <a:rPr lang="en-US" sz="2666" b="0" i="0">
                <a:solidFill>
                  <a:srgbClr val="073763"/>
                </a:solidFill>
                <a:latin typeface="courier new"/>
                <a:ea typeface="courier new"/>
                <a:cs typeface="courier new"/>
                <a:sym typeface="courier new"/>
              </a:rPr>
              <a:t>"...a complex process that involved researching a school, applying for admission and enrolling in classes." </a:t>
            </a:r>
          </a:p>
        </p:txBody>
      </p:sp>
      <p:sp>
        <p:nvSpPr>
          <p:cNvPr id="76" name="Shape 76"/>
          <p:cNvSpPr/>
          <p:nvPr/>
        </p:nvSpPr>
        <p:spPr>
          <a:xfrm>
            <a:off x="1900" y="1900"/>
            <a:ext cx="10170975" cy="1535525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77" name="Shape 77"/>
          <p:cNvSpPr txBox="1"/>
          <p:nvPr/>
        </p:nvSpPr>
        <p:spPr>
          <a:xfrm>
            <a:off x="711200" y="4368775"/>
            <a:ext cx="8643174" cy="2523874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rtl="0">
              <a:lnSpc>
                <a:spcPct val="100000"/>
              </a:lnSpc>
              <a:buNone/>
            </a:pPr>
            <a:r>
              <a:rPr lang="en-US" sz="2666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   </a:t>
            </a:r>
            <a:r>
              <a:rPr lang="en-US" sz="2666" b="1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Three reasons</a:t>
            </a:r>
            <a:r>
              <a:rPr lang="en-US" sz="2666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 going back to college is complex:</a:t>
            </a:r>
          </a:p>
          <a:p>
            <a:endParaRPr lang="en-US" sz="2666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905000" marR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 b="1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1) </a:t>
            </a:r>
            <a:r>
              <a:rPr lang="en-US" sz="2666" b="0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you need to research a school</a:t>
            </a:r>
          </a:p>
          <a:p>
            <a:pPr marL="1905000" marR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 b="1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2) </a:t>
            </a:r>
            <a:r>
              <a:rPr lang="en-US" sz="2666" b="0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you need to apply for admission</a:t>
            </a:r>
          </a:p>
          <a:p>
            <a:pPr marL="1905000" marR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 b="1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3) </a:t>
            </a:r>
            <a:r>
              <a:rPr lang="en-US" sz="2666" b="0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you need to enroll in classes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1800" y="7086600"/>
            <a:ext cx="9380538" cy="277813"/>
          </a:xfrm>
          <a:prstGeom prst="rect">
            <a:avLst/>
          </a:prstGeom>
          <a:solidFill>
            <a:srgbClr val="0F0F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508000" y="7086600"/>
            <a:ext cx="9228138" cy="233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95000"/>
              </a:lnSpc>
            </a:pPr>
            <a:r>
              <a:rPr lang="en-US" sz="1600" dirty="0">
                <a:solidFill>
                  <a:srgbClr val="FFFFFF"/>
                </a:solidFill>
                <a:latin typeface="Arial" charset="0"/>
              </a:rPr>
              <a:t> Copyright 2012                    www.time4writing.com/free-writing-resources                    Copyright 2012  </a:t>
            </a:r>
          </a:p>
        </p:txBody>
      </p:sp>
    </p:spTree>
  </p:cSld>
  <p:clrMapOvr>
    <a:masterClrMapping/>
  </p:clrMapOvr>
  <p:transition spd="slow"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 txBox="1">
            <a:spLocks noGrp="1"/>
          </p:cNvSpPr>
          <p:nvPr>
            <p:ph type="ctrTitle"/>
          </p:nvPr>
        </p:nvSpPr>
        <p:spPr>
          <a:xfrm>
            <a:off x="508050" y="1614725"/>
            <a:ext cx="9163850" cy="1206775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3466" b="1" i="0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Supporting your Claim:</a:t>
            </a:r>
          </a:p>
        </p:txBody>
      </p:sp>
      <p:sp>
        <p:nvSpPr>
          <p:cNvPr id="84" name="Shape 84"/>
          <p:cNvSpPr/>
          <p:nvPr/>
        </p:nvSpPr>
        <p:spPr>
          <a:xfrm>
            <a:off x="1900" y="1900"/>
            <a:ext cx="10170975" cy="1535525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85" name="Shape 85"/>
          <p:cNvSpPr txBox="1"/>
          <p:nvPr/>
        </p:nvSpPr>
        <p:spPr>
          <a:xfrm>
            <a:off x="609600" y="2438400"/>
            <a:ext cx="8952275" cy="4770924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2666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Your thesis statement comes in your introductory paragraph; then you need devote at least one paragraph for each supporting point.</a:t>
            </a:r>
          </a:p>
          <a:p>
            <a:endParaRPr lang="en-US" sz="2666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 rtl="0">
              <a:lnSpc>
                <a:spcPct val="100000"/>
              </a:lnSpc>
              <a:buNone/>
            </a:pPr>
            <a:r>
              <a:rPr lang="en-US" sz="2666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One paragraph will be about researching a school.</a:t>
            </a:r>
          </a:p>
          <a:p>
            <a:pPr algn="ctr" rtl="0">
              <a:lnSpc>
                <a:spcPct val="100000"/>
              </a:lnSpc>
              <a:buNone/>
            </a:pPr>
            <a:r>
              <a:rPr lang="en-US" sz="2666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The next paragraph will discuss applying for admission.</a:t>
            </a:r>
          </a:p>
          <a:p>
            <a:pPr algn="ctr" rtl="0">
              <a:lnSpc>
                <a:spcPct val="100000"/>
              </a:lnSpc>
              <a:buNone/>
            </a:pPr>
            <a:r>
              <a:rPr lang="en-US" sz="2666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And the third paragraph will be about enrolling in classes.</a:t>
            </a:r>
          </a:p>
          <a:p>
            <a:endParaRPr lang="en-US" sz="2666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 rtl="0">
              <a:lnSpc>
                <a:spcPct val="100000"/>
              </a:lnSpc>
              <a:buNone/>
            </a:pPr>
            <a:r>
              <a:rPr lang="en-US" sz="2666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These will be followed by the concluding paragraph, summarizing how these points prove your claim.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1800" y="7086600"/>
            <a:ext cx="9380538" cy="277813"/>
          </a:xfrm>
          <a:prstGeom prst="rect">
            <a:avLst/>
          </a:prstGeom>
          <a:solidFill>
            <a:srgbClr val="0F0F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508000" y="7086600"/>
            <a:ext cx="9228138" cy="233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95000"/>
              </a:lnSpc>
            </a:pPr>
            <a:r>
              <a:rPr lang="en-US" sz="1600" dirty="0">
                <a:solidFill>
                  <a:srgbClr val="FFFFFF"/>
                </a:solidFill>
                <a:latin typeface="Arial" charset="0"/>
              </a:rPr>
              <a:t> Copyright 2012                    www.time4writing.com/free-writing-resources                    Copyright 2012  </a:t>
            </a:r>
          </a:p>
        </p:txBody>
      </p:sp>
    </p:spTree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ctrTitle"/>
          </p:nvPr>
        </p:nvSpPr>
        <p:spPr>
          <a:xfrm>
            <a:off x="508000" y="1727175"/>
            <a:ext cx="9163850" cy="1279350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4000" b="1" i="1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Remember the easy formula for a thesis statement!</a:t>
            </a:r>
          </a:p>
        </p:txBody>
      </p:sp>
      <p:sp>
        <p:nvSpPr>
          <p:cNvPr id="92" name="Shape 92"/>
          <p:cNvSpPr/>
          <p:nvPr/>
        </p:nvSpPr>
        <p:spPr>
          <a:xfrm>
            <a:off x="1900" y="1900"/>
            <a:ext cx="10170975" cy="1535525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93" name="Shape 93"/>
          <p:cNvSpPr txBox="1"/>
          <p:nvPr/>
        </p:nvSpPr>
        <p:spPr>
          <a:xfrm>
            <a:off x="914400" y="3454375"/>
            <a:ext cx="8726200" cy="3173625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2933" b="1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Subject</a:t>
            </a:r>
            <a:r>
              <a:rPr lang="en-US" sz="4768" b="1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</a:p>
          <a:p>
            <a:pPr algn="ctr" rtl="0">
              <a:lnSpc>
                <a:spcPct val="100000"/>
              </a:lnSpc>
              <a:buNone/>
            </a:pPr>
            <a:r>
              <a:rPr lang="en-US" sz="4768" b="1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</a:p>
          <a:p>
            <a:pPr algn="ctr" rtl="0">
              <a:lnSpc>
                <a:spcPct val="100000"/>
              </a:lnSpc>
              <a:buNone/>
            </a:pPr>
            <a:r>
              <a:rPr lang="en-US" sz="2933" b="1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Claim</a:t>
            </a:r>
          </a:p>
          <a:p>
            <a:pPr algn="ctr" rtl="0">
              <a:lnSpc>
                <a:spcPct val="100000"/>
              </a:lnSpc>
              <a:buNone/>
            </a:pPr>
            <a:r>
              <a:rPr lang="en-US" sz="4768" b="1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 +</a:t>
            </a:r>
            <a:r>
              <a:rPr lang="en-US" sz="4768" b="1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</a:p>
          <a:p>
            <a:pPr algn="ctr" rtl="0">
              <a:lnSpc>
                <a:spcPct val="100000"/>
              </a:lnSpc>
              <a:buNone/>
            </a:pPr>
            <a:r>
              <a:rPr lang="en-US" sz="2933" b="1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Three Points of 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31800" y="7086600"/>
            <a:ext cx="9380538" cy="277813"/>
          </a:xfrm>
          <a:prstGeom prst="rect">
            <a:avLst/>
          </a:prstGeom>
          <a:solidFill>
            <a:srgbClr val="0F0F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508000" y="7086600"/>
            <a:ext cx="9228138" cy="233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95000"/>
              </a:lnSpc>
            </a:pPr>
            <a:r>
              <a:rPr lang="en-US" sz="1600" dirty="0">
                <a:solidFill>
                  <a:srgbClr val="FFFFFF"/>
                </a:solidFill>
                <a:latin typeface="Arial" charset="0"/>
              </a:rPr>
              <a:t> Copyright 2012                    www.time4writing.com/free-writing-resources                    Copyright 2012  </a:t>
            </a:r>
          </a:p>
        </p:txBody>
      </p:sp>
    </p:spTree>
  </p:cSld>
  <p:clrMapOvr>
    <a:masterClrMapping/>
  </p:clrMapOvr>
  <p:transition spd="slow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 txBox="1">
            <a:spLocks noGrp="1"/>
          </p:cNvSpPr>
          <p:nvPr>
            <p:ph type="ctrTitle"/>
          </p:nvPr>
        </p:nvSpPr>
        <p:spPr>
          <a:xfrm>
            <a:off x="306700" y="1830700"/>
            <a:ext cx="9258599" cy="883499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en-US" sz="3733" b="1">
                <a:solidFill>
                  <a:srgbClr val="B45F06"/>
                </a:solidFill>
                <a:latin typeface="courier new"/>
                <a:ea typeface="courier new"/>
                <a:cs typeface="courier new"/>
                <a:sym typeface="courier new"/>
              </a:rPr>
              <a:t>The end.</a:t>
            </a:r>
          </a:p>
        </p:txBody>
      </p:sp>
      <p:sp>
        <p:nvSpPr>
          <p:cNvPr id="100" name="Shape 100"/>
          <p:cNvSpPr/>
          <p:nvPr/>
        </p:nvSpPr>
        <p:spPr>
          <a:xfrm>
            <a:off x="1900" y="1900"/>
            <a:ext cx="10170975" cy="1535525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101" name="Shape 101"/>
          <p:cNvSpPr txBox="1"/>
          <p:nvPr/>
        </p:nvSpPr>
        <p:spPr>
          <a:xfrm>
            <a:off x="1932300" y="2745100"/>
            <a:ext cx="6475175" cy="4145674"/>
          </a:xfrm>
          <a:prstGeom prst="rect">
            <a:avLst/>
          </a:prstGeom>
        </p:spPr>
        <p:txBody>
          <a:bodyPr lIns="38100" tIns="38100" rIns="38100" bIns="38100" anchor="t" anchorCtr="0">
            <a:spAutoFit/>
          </a:bodyPr>
          <a:lstStyle/>
          <a:p>
            <a:pPr rtl="0">
              <a:lnSpc>
                <a:spcPct val="100000"/>
              </a:lnSpc>
              <a:buNone/>
            </a:pPr>
            <a:r>
              <a:rPr lang="en-US" sz="2400">
                <a:solidFill>
                  <a:srgbClr val="073763"/>
                </a:solidFill>
                <a:latin typeface="georgia"/>
                <a:ea typeface="georgia"/>
                <a:cs typeface="georgia"/>
                <a:sym typeface="georgia"/>
              </a:rPr>
              <a:t>More free ESSAY WRITING resources: </a:t>
            </a:r>
          </a:p>
          <a:p>
            <a:pPr marL="381000" marR="0" lvl="0" indent="-20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ct val="166666"/>
              <a:buFont typeface="Arial"/>
              <a:buChar char="•"/>
            </a:pPr>
            <a:r>
              <a:rPr lang="en-US" sz="2400">
                <a:solidFill>
                  <a:srgbClr val="073763"/>
                </a:solidFill>
                <a:latin typeface="georgia"/>
                <a:ea typeface="georgia"/>
                <a:cs typeface="georgia"/>
                <a:sym typeface="georgia"/>
              </a:rPr>
              <a:t>the introduction</a:t>
            </a:r>
          </a:p>
          <a:p>
            <a:pPr marL="381000" marR="0" lvl="0" indent="-20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ct val="166666"/>
              <a:buFont typeface="Arial"/>
              <a:buChar char="•"/>
            </a:pPr>
            <a:r>
              <a:rPr lang="en-US" sz="2400">
                <a:solidFill>
                  <a:srgbClr val="073763"/>
                </a:solidFill>
                <a:latin typeface="georgia"/>
                <a:ea typeface="georgia"/>
                <a:cs typeface="georgia"/>
                <a:sym typeface="georgia"/>
              </a:rPr>
              <a:t>the conclusion</a:t>
            </a:r>
          </a:p>
          <a:p>
            <a:pPr marL="381000" marR="0" lvl="0" indent="-20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ct val="166666"/>
              <a:buFont typeface="Arial"/>
              <a:buChar char="•"/>
            </a:pPr>
            <a:r>
              <a:rPr lang="en-US" sz="2400">
                <a:solidFill>
                  <a:srgbClr val="073763"/>
                </a:solidFill>
                <a:latin typeface="georgia"/>
                <a:ea typeface="georgia"/>
                <a:cs typeface="georgia"/>
                <a:sym typeface="georgia"/>
              </a:rPr>
              <a:t>comparing &amp; contrasting</a:t>
            </a:r>
          </a:p>
          <a:p>
            <a:pPr marL="381000" marR="0" lvl="0" indent="-20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ct val="166666"/>
              <a:buFont typeface="Arial"/>
              <a:buChar char="•"/>
            </a:pPr>
            <a:r>
              <a:rPr lang="en-US" sz="2400">
                <a:solidFill>
                  <a:srgbClr val="073763"/>
                </a:solidFill>
                <a:latin typeface="georgia"/>
                <a:ea typeface="georgia"/>
                <a:cs typeface="georgia"/>
                <a:sym typeface="georgia"/>
              </a:rPr>
              <a:t>types of essays</a:t>
            </a:r>
          </a:p>
          <a:p>
            <a:endParaRPr lang="en-US" sz="2400">
              <a:solidFill>
                <a:srgbClr val="073763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rtl="0">
              <a:lnSpc>
                <a:spcPct val="100000"/>
              </a:lnSpc>
              <a:buNone/>
            </a:pPr>
            <a:r>
              <a:rPr lang="en-US" sz="2400">
                <a:solidFill>
                  <a:srgbClr val="073763"/>
                </a:solidFill>
                <a:latin typeface="georgia"/>
                <a:ea typeface="georgia"/>
                <a:cs typeface="georgia"/>
                <a:sym typeface="georgia"/>
              </a:rPr>
              <a:t>Eight-week ESSAY WRITING courses:</a:t>
            </a:r>
          </a:p>
          <a:p>
            <a:pPr marL="381000" marR="0" lvl="0" indent="-20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ct val="166666"/>
              <a:buFont typeface="Arial"/>
              <a:buChar char="•"/>
            </a:pPr>
            <a:r>
              <a:rPr lang="en-US" sz="2400">
                <a:solidFill>
                  <a:srgbClr val="073763"/>
                </a:solidFill>
                <a:latin typeface="georgia"/>
                <a:ea typeface="georgia"/>
                <a:cs typeface="georgia"/>
                <a:sym typeface="georgia"/>
              </a:rPr>
              <a:t>elementary school</a:t>
            </a:r>
          </a:p>
          <a:p>
            <a:pPr marL="381000" marR="0" lvl="0" indent="-20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ct val="166666"/>
              <a:buFont typeface="Arial"/>
              <a:buChar char="•"/>
            </a:pPr>
            <a:r>
              <a:rPr lang="en-US" sz="2400">
                <a:solidFill>
                  <a:srgbClr val="073763"/>
                </a:solidFill>
                <a:latin typeface="georgia"/>
                <a:ea typeface="georgia"/>
                <a:cs typeface="georgia"/>
                <a:sym typeface="georgia"/>
              </a:rPr>
              <a:t>middle school</a:t>
            </a:r>
          </a:p>
          <a:p>
            <a:pPr marL="381000" marR="0" lvl="0" indent="-20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ct val="166666"/>
              <a:buFont typeface="Arial"/>
              <a:buChar char="•"/>
            </a:pPr>
            <a:r>
              <a:rPr lang="en-US" sz="2400">
                <a:solidFill>
                  <a:srgbClr val="073763"/>
                </a:solidFill>
                <a:latin typeface="georgia"/>
                <a:ea typeface="georgia"/>
                <a:cs typeface="georgia"/>
                <a:sym typeface="georgia"/>
              </a:rPr>
              <a:t>high school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431800" y="7086600"/>
            <a:ext cx="9380538" cy="277813"/>
          </a:xfrm>
          <a:prstGeom prst="rect">
            <a:avLst/>
          </a:prstGeom>
          <a:solidFill>
            <a:srgbClr val="0F0F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508000" y="7086600"/>
            <a:ext cx="9228138" cy="233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95000"/>
              </a:lnSpc>
            </a:pPr>
            <a:r>
              <a:rPr lang="en-US" sz="1600" dirty="0">
                <a:solidFill>
                  <a:srgbClr val="FFFFFF"/>
                </a:solidFill>
                <a:latin typeface="Arial" charset="0"/>
              </a:rPr>
              <a:t> Copyright 2012                    www.time4writing.com/free-writing-resources                    Copyright 2012  </a:t>
            </a:r>
          </a:p>
        </p:txBody>
      </p: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>
  <a:themeElements>
    <a:clrScheme name="blank">
      <a:dk1>
        <a:srgbClr val="000000"/>
      </a:dk1>
      <a:lt1>
        <a:srgbClr val="FFFFFF"/>
      </a:lt1>
      <a:dk2>
        <a:srgbClr val="073763"/>
      </a:dk2>
      <a:lt2>
        <a:srgbClr val="CFE2F3"/>
      </a:lt2>
      <a:accent1>
        <a:srgbClr val="404040"/>
      </a:accent1>
      <a:accent2>
        <a:srgbClr val="808080"/>
      </a:accent2>
      <a:accent3>
        <a:srgbClr val="C0C0C0"/>
      </a:accent3>
      <a:accent4>
        <a:srgbClr val="396187"/>
      </a:accent4>
      <a:accent5>
        <a:srgbClr val="6B8CAB"/>
      </a:accent5>
      <a:accent6>
        <a:srgbClr val="9DB7CF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297</Words>
  <Application>Microsoft Office PowerPoint</Application>
  <PresentationFormat>Custom</PresentationFormat>
  <Paragraphs>90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/>
      <vt:lpstr>Writing a Thesis Statement  Starting an Essay with Clear Direction</vt:lpstr>
      <vt:lpstr>What a Thesis Statement Does</vt:lpstr>
      <vt:lpstr>PowerPoint Presentation</vt:lpstr>
      <vt:lpstr>Let's look at this example:   "Going back to college was a complex process that involved researching a school, applying for admission, and enrolling in classes." </vt:lpstr>
      <vt:lpstr>Let's look at them this way:  "Going back to college was a complex process that involved researching a school, applying for admission, and enrolling in classes."</vt:lpstr>
      <vt:lpstr>1) The Subject or Topic of the Essay:  "Going back to college..."</vt:lpstr>
      <vt:lpstr>2) The Claim Made About the Subject or Topic of the Essay:  "Going back to college was a complex process..." </vt:lpstr>
      <vt:lpstr>3) Three Points of Support for the Claim:  "...a complex process that involved researching a school, applying for admission and enrolling in classes." </vt:lpstr>
      <vt:lpstr>Supporting your Claim:</vt:lpstr>
      <vt:lpstr>Remember the easy formula for a thesis statement!</vt:lpstr>
      <vt:lpstr>The end.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Writing a Thesis Statement  Starting an Essay with Clear Direction</dc:title>
  <dc:creator>Kim</dc:creator>
  <cp:lastModifiedBy>Thomas G Angelakis</cp:lastModifiedBy>
  <cp:revision>1</cp:revision>
  <dcterms:modified xsi:type="dcterms:W3CDTF">2016-06-27T16:39:36Z</dcterms:modified>
</cp:coreProperties>
</file>