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56" r:id="rId2"/>
  </p:sldMasterIdLst>
  <p:notesMasterIdLst>
    <p:notesMasterId r:id="rId12"/>
  </p:notesMasterIdLst>
  <p:sldIdLst>
    <p:sldId id="350" r:id="rId3"/>
    <p:sldId id="327" r:id="rId4"/>
    <p:sldId id="329" r:id="rId5"/>
    <p:sldId id="348" r:id="rId6"/>
    <p:sldId id="280" r:id="rId7"/>
    <p:sldId id="323" r:id="rId8"/>
    <p:sldId id="303" r:id="rId9"/>
    <p:sldId id="351" r:id="rId10"/>
    <p:sldId id="34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FED3C5-C974-7D43-BA71-6D8590A42C69}">
          <p14:sldIdLst>
            <p14:sldId id="350"/>
            <p14:sldId id="327"/>
            <p14:sldId id="329"/>
            <p14:sldId id="348"/>
            <p14:sldId id="280"/>
            <p14:sldId id="323"/>
            <p14:sldId id="303"/>
            <p14:sldId id="351"/>
            <p14:sldId id="3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353" autoAdjust="0"/>
  </p:normalViewPr>
  <p:slideViewPr>
    <p:cSldViewPr snapToGrid="0" snapToObjects="1">
      <p:cViewPr varScale="1">
        <p:scale>
          <a:sx n="61" d="100"/>
          <a:sy n="61" d="100"/>
        </p:scale>
        <p:origin x="14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5B331-ECE3-9844-AACE-8CD571691B7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F0621-9611-C549-BBA1-85F6749887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93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8FBBF5F1-F363-42CD-A74A-516BAFF73B0D}" type="slidenum">
              <a:rPr lang="en-US" altLang="en-US" smtClean="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471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C3102F4-0917-4ADA-BF4A-D1D1795234F8}" type="slidenum">
              <a:rPr lang="en-US" altLang="en-US" smtClean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altLang="en-US" smtClean="0">
              <a:solidFill>
                <a:srgbClr val="000000"/>
              </a:solidFill>
              <a:latin typeface="Arial" charset="0"/>
              <a:ea typeface="MS PGothic" pitchFamily="34" charset="-128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18273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4DDC5A-2DB5-4516-AF89-42021AD9E3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pitchFamily="34" charset="-128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63644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F4DDC5A-2DB5-4516-AF89-42021AD9E3AF}" type="slidenum">
              <a:rPr lang="en-US" altLang="en-US" smtClean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en-US" smtClean="0">
              <a:solidFill>
                <a:srgbClr val="000000"/>
              </a:solidFill>
              <a:latin typeface="Arial" charset="0"/>
              <a:ea typeface="MS PGothic" pitchFamily="34" charset="-128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47610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4DDC5A-2DB5-4516-AF89-42021AD9E3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pitchFamily="34" charset="-128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63644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4DDC5A-2DB5-4516-AF89-42021AD9E3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pitchFamily="34" charset="-128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59842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4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17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9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8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9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8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70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6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1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89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59A2CF-F8A2-48A9-9A94-4DF9F8F1F898}" type="datetimeFigureOut">
              <a:rPr lang="en-CA" smtClean="0"/>
              <a:t>2020-02-27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8853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002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73439"/>
            <a:ext cx="7886700" cy="8069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5545"/>
            <a:ext cx="7886700" cy="471141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46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507299F-A88B-4C5B-B790-5BFB5E9F7283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40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CB6B333-9C8C-4223-8179-5578038FFE04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641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0E44ADF-8F49-43A7-B340-1ADA9307B397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66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B4B3091-89AD-409D-9BEF-4E2F9E8D041B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628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FD8B99-2D84-433A-9E5C-31D836ED956E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217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757CCC0-8EE9-4138-A5D6-5B79D4D49C16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6721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040355F-B74F-457E-B69D-A64E60BF3FC8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2125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2AA59EE-CA71-4930-AE91-063EF724AC82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607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ACECEB4-A487-4469-8FAF-D74FE2F40B21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235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BA6A9-F40F-4041-B6DC-D4779C475E36}" type="datetimeFigureOut">
              <a:rPr lang="en-US" smtClean="0"/>
              <a:pPr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A8AC5-A5B3-324D-91EA-C588D95F3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9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68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C1CB2D-89F4-4135-AA36-1B306CE54800}"/>
              </a:ext>
            </a:extLst>
          </p:cNvPr>
          <p:cNvSpPr/>
          <p:nvPr/>
        </p:nvSpPr>
        <p:spPr>
          <a:xfrm>
            <a:off x="0" y="0"/>
            <a:ext cx="9144000" cy="1197033"/>
          </a:xfrm>
          <a:prstGeom prst="rect">
            <a:avLst/>
          </a:prstGeom>
          <a:solidFill>
            <a:srgbClr val="5529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1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761666"/>
            <a:ext cx="7886700" cy="4415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CE375-3BA4-4E85-B307-51B5A581F52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8" y="5750813"/>
            <a:ext cx="1087416" cy="85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4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B96CF2-E7B9-4F4A-82B1-733E99290AD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529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3C7A1-189D-4E1D-897C-71BB2C5A9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202" y="2248471"/>
            <a:ext cx="8057931" cy="1811337"/>
          </a:xfrm>
        </p:spPr>
        <p:txBody>
          <a:bodyPr>
            <a:normAutofit/>
          </a:bodyPr>
          <a:lstStyle/>
          <a:p>
            <a:r>
              <a:rPr lang="en-US" sz="4000" b="1" cap="all" dirty="0" smtClean="0">
                <a:solidFill>
                  <a:srgbClr val="FFFFFF"/>
                </a:solidFill>
                <a:latin typeface="+mn-lt"/>
              </a:rPr>
              <a:t>Slide Deck 8:</a:t>
            </a:r>
            <a:r>
              <a:rPr lang="en-US" sz="4000" cap="all" dirty="0">
                <a:solidFill>
                  <a:srgbClr val="FFFFFF"/>
                </a:solidFill>
                <a:latin typeface="+mn-lt"/>
              </a:rPr>
              <a:t/>
            </a:r>
            <a:br>
              <a:rPr lang="en-US" sz="4000" cap="all" dirty="0">
                <a:solidFill>
                  <a:srgbClr val="FFFFFF"/>
                </a:solidFill>
                <a:latin typeface="+mn-lt"/>
              </a:rPr>
            </a:br>
            <a:r>
              <a:rPr lang="en-US" sz="4000" b="1" dirty="0">
                <a:solidFill>
                  <a:srgbClr val="FFFFFF"/>
                </a:solidFill>
              </a:rPr>
              <a:t>Fact vs Opinion and </a:t>
            </a:r>
            <a:r>
              <a:rPr lang="en-US" sz="4000" b="1" dirty="0" smtClean="0">
                <a:solidFill>
                  <a:srgbClr val="FFFFFF"/>
                </a:solidFill>
              </a:rPr>
              <a:t>Journalism</a:t>
            </a:r>
            <a:endParaRPr lang="en-CA" sz="4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06BC41-4DB6-4D89-A3F7-B3CC4F447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00" y="310614"/>
            <a:ext cx="2076138" cy="16272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8F8DA8-2391-4C9A-939F-5237591B8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825" y="5255797"/>
            <a:ext cx="1281763" cy="160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3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idx="4294967295"/>
          </p:nvPr>
        </p:nvSpPr>
        <p:spPr>
          <a:xfrm>
            <a:off x="914400" y="2464969"/>
            <a:ext cx="7085012" cy="1644807"/>
          </a:xfrm>
        </p:spPr>
        <p:txBody>
          <a:bodyPr>
            <a:normAutofit fontScale="92500" lnSpcReduction="20000"/>
          </a:bodyPr>
          <a:lstStyle/>
          <a:p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What is a </a:t>
            </a:r>
            <a:r>
              <a:rPr lang="en-US" sz="39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fact? </a:t>
            </a:r>
          </a:p>
          <a:p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39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is an opinion?  </a:t>
            </a:r>
          </a:p>
        </p:txBody>
      </p:sp>
      <p:sp>
        <p:nvSpPr>
          <p:cNvPr id="9221" name="Picture 4"/>
          <p:cNvSpPr>
            <a:spLocks noChangeAspect="1" noChangeArrowheads="1"/>
          </p:cNvSpPr>
          <p:nvPr/>
        </p:nvSpPr>
        <p:spPr bwMode="auto">
          <a:xfrm>
            <a:off x="914400" y="4572000"/>
            <a:ext cx="11811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26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Grp="1" noChangeArrowheads="1"/>
          </p:cNvSpPr>
          <p:nvPr>
            <p:ph idx="1"/>
          </p:nvPr>
        </p:nvSpPr>
        <p:spPr>
          <a:xfrm>
            <a:off x="628650" y="1787092"/>
            <a:ext cx="7886700" cy="4711418"/>
          </a:xfrm>
        </p:spPr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3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fact </a:t>
            </a: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is something that is known </a:t>
            </a:r>
            <a:r>
              <a:rPr lang="en-US" sz="32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or proven </a:t>
            </a: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to be true</a:t>
            </a:r>
            <a:r>
              <a:rPr lang="en-US" sz="32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sz="3200" dirty="0">
              <a:solidFill>
                <a:schemeClr val="tx1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3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opinion</a:t>
            </a: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is a view or judgment formed about something, not necessarily based on fact or knowledge.</a:t>
            </a:r>
          </a:p>
          <a:p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buNone/>
            </a:pPr>
            <a:endParaRPr lang="en-US" sz="3600" dirty="0" smtClean="0">
              <a:solidFill>
                <a:schemeClr val="tx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99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619230" y="278722"/>
            <a:ext cx="7886700" cy="876839"/>
          </a:xfrm>
        </p:spPr>
        <p:txBody>
          <a:bodyPr>
            <a:normAutofit/>
          </a:bodyPr>
          <a:lstStyle/>
          <a:p>
            <a:pPr algn="ctr"/>
            <a:r>
              <a:rPr lang="en-CA" sz="3800" b="1" dirty="0" smtClean="0">
                <a:solidFill>
                  <a:schemeClr val="bg1"/>
                </a:solidFill>
                <a:latin typeface="+mn-lt"/>
              </a:rPr>
              <a:t>Fact vs. Opinion</a:t>
            </a:r>
            <a:endParaRPr lang="en-US" sz="3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0029" y="1252059"/>
            <a:ext cx="83872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A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A" sz="3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Fact:</a:t>
            </a:r>
            <a:endParaRPr lang="en-CA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A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An apple is a fruit.</a:t>
            </a:r>
          </a:p>
          <a:p>
            <a:endParaRPr lang="en-CA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CA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A" sz="3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Opinion:</a:t>
            </a:r>
            <a:endParaRPr lang="en-CA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A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Apples are delicious.</a:t>
            </a:r>
            <a:endParaRPr lang="en-CA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831" y="1709921"/>
            <a:ext cx="4757081" cy="373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47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2130251" y="2888029"/>
            <a:ext cx="4600575" cy="8223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000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What is </a:t>
            </a:r>
            <a:r>
              <a:rPr lang="en-US" sz="4000" dirty="0" smtClean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journalism?</a:t>
            </a:r>
            <a:endParaRPr lang="en-US" sz="4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403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628650" y="1996447"/>
            <a:ext cx="3886200" cy="3339228"/>
          </a:xfrm>
        </p:spPr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000"/>
              <a:buNone/>
            </a:pPr>
            <a:r>
              <a:rPr lang="en-US" sz="3200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Journalism involves the gathering, </a:t>
            </a:r>
            <a:br>
              <a:rPr lang="en-US" sz="3200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en-US" sz="3200" dirty="0" smtClean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evaluating and </a:t>
            </a:r>
            <a:r>
              <a:rPr lang="en-US" sz="3200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presenting of </a:t>
            </a:r>
            <a:br>
              <a:rPr lang="en-US" sz="3200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en-US" sz="3200" b="1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news </a:t>
            </a:r>
            <a:r>
              <a:rPr lang="en-US" sz="3200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and 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information </a:t>
            </a:r>
            <a:r>
              <a:rPr lang="en-US" sz="3200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to the public.</a:t>
            </a:r>
            <a:endParaRPr lang="en-US" sz="3200" dirty="0">
              <a:solidFill>
                <a:schemeClr val="tx1"/>
              </a:solidFill>
              <a:latin typeface="+mn-lt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000"/>
              <a:buNone/>
            </a:pPr>
            <a:endParaRPr lang="en-US" sz="3200" b="1" dirty="0">
              <a:solidFill>
                <a:srgbClr val="FFFFFF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algn="ctr">
              <a:buNone/>
              <a:defRPr/>
            </a:pPr>
            <a:endParaRPr lang="en-CA" sz="4000" b="1" dirty="0">
              <a:solidFill>
                <a:srgbClr val="FFFFFF"/>
              </a:solidFill>
              <a:latin typeface="Calibri" pitchFamily="34" charset="0"/>
              <a:ea typeface="ＭＳ Ｐゴシック" pitchFamily="34" charset="-12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099" y="1996447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02901" y="1286189"/>
            <a:ext cx="7877908" cy="4210259"/>
          </a:xfrm>
        </p:spPr>
        <p:txBody>
          <a:bodyPr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</a:pPr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Fact-based journalism: 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Purpose is to inform. 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Focuses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on reporting on issues and 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events.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While it may include analysis or assessment, it is based on 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facts,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not opinion. 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>
              <a:spcBef>
                <a:spcPts val="0"/>
              </a:spcBef>
            </a:pPr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Opinion </a:t>
            </a: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journalism: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urpose is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to 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criticize,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praise, interpret or 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persuade. 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An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opinion piece provides a viewpoint about an issue or event. It may not be 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neutral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or </a:t>
            </a:r>
            <a:r>
              <a:rPr 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balanced.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Examples include editorials, columns and commentary. 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03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6076"/>
            <a:ext cx="9144000" cy="4745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00588" y="5998865"/>
            <a:ext cx="613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Look for signs that an article is an opinion-piece, such as labels, photos of journalists, or names of the authors up front.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4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1085222" y="2899003"/>
            <a:ext cx="6911975" cy="1311275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is it important to distinguish between fact-based </a:t>
            </a:r>
            <a:r>
              <a:rPr lang="en-CA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news reporting and </a:t>
            </a:r>
            <a:r>
              <a:rPr lang="en-CA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commentary?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95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V Canada 2019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V Canada 2019 theme" id="{650BD2DA-87CD-46DB-A627-796BCA8C6A74}" vid="{910DFDD4-5897-44A1-A402-9C2A1926875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16559</TotalTime>
  <Words>193</Words>
  <Application>Microsoft Office PowerPoint</Application>
  <PresentationFormat>On-screen Show (4:3)</PresentationFormat>
  <Paragraphs>34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MS PGothic</vt:lpstr>
      <vt:lpstr>MS PGothic</vt:lpstr>
      <vt:lpstr>Arial</vt:lpstr>
      <vt:lpstr>Calibri</vt:lpstr>
      <vt:lpstr>Office Theme</vt:lpstr>
      <vt:lpstr>SV Canada 2019 theme</vt:lpstr>
      <vt:lpstr>Slide Deck 8: Fact vs Opinion and Journalism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Fighter Writer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and DEMOCRACY</dc:title>
  <dc:creator>Michael  Doyle</dc:creator>
  <cp:lastModifiedBy>Thomas G Angelakis</cp:lastModifiedBy>
  <cp:revision>199</cp:revision>
  <dcterms:created xsi:type="dcterms:W3CDTF">2016-08-17T16:14:15Z</dcterms:created>
  <dcterms:modified xsi:type="dcterms:W3CDTF">2020-02-27T22:09:40Z</dcterms:modified>
</cp:coreProperties>
</file>