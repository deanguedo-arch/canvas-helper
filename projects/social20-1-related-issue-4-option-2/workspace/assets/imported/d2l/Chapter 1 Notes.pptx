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69" r:id="rId2"/>
    <p:sldId id="267" r:id="rId3"/>
    <p:sldId id="280" r:id="rId4"/>
    <p:sldId id="270" r:id="rId5"/>
    <p:sldId id="256" r:id="rId6"/>
    <p:sldId id="272" r:id="rId7"/>
    <p:sldId id="281" r:id="rId8"/>
    <p:sldId id="279" r:id="rId9"/>
    <p:sldId id="275" r:id="rId10"/>
    <p:sldId id="273" r:id="rId11"/>
    <p:sldId id="282" r:id="rId12"/>
    <p:sldId id="276" r:id="rId13"/>
    <p:sldId id="277" r:id="rId14"/>
    <p:sldId id="283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EF49F-560B-47D6-86C7-8A14C6715480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39A3B-2FDC-4DF2-9A74-070C4E5F7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7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06848EB-72F9-4543-ACA4-36251E4C5598}" type="datetimeFigureOut">
              <a:rPr lang="en-US" smtClean="0"/>
              <a:t>8/30/2017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1C7447-6EDC-4BA3-BA6F-7E361283708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808038"/>
          </a:xfrm>
        </p:spPr>
        <p:txBody>
          <a:bodyPr>
            <a:noAutofit/>
          </a:bodyPr>
          <a:lstStyle/>
          <a:p>
            <a:pPr algn="ctr"/>
            <a:r>
              <a:rPr lang="en-CA" sz="4800" b="1" dirty="0"/>
              <a:t>Social Studies 20-1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893882" y="1400964"/>
            <a:ext cx="5356237" cy="53046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882" y="1400963"/>
            <a:ext cx="1839918" cy="174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35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/>
              <a:t>Key Terms</a:t>
            </a:r>
          </a:p>
          <a:p>
            <a:r>
              <a:rPr lang="en-CA" sz="2400" b="1" dirty="0"/>
              <a:t>Point of View </a:t>
            </a:r>
            <a:r>
              <a:rPr lang="en-CA" sz="2400" dirty="0"/>
              <a:t>- an individual’s opinion about a matter, based on his or her personal experience.</a:t>
            </a:r>
          </a:p>
          <a:p>
            <a:endParaRPr lang="en-CA" sz="2400" dirty="0"/>
          </a:p>
          <a:p>
            <a:r>
              <a:rPr lang="en-CA" sz="2400" b="1" dirty="0"/>
              <a:t>Perspective</a:t>
            </a:r>
            <a:r>
              <a:rPr lang="en-CA" sz="2400" dirty="0"/>
              <a:t> - a people’s world view, one that has developed from its collective experience</a:t>
            </a:r>
          </a:p>
          <a:p>
            <a:endParaRPr lang="en-CA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531" y="2819400"/>
            <a:ext cx="4452938" cy="358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01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/>
              <a:t>Pluralism</a:t>
            </a:r>
            <a:r>
              <a:rPr lang="en-CA" sz="2400" dirty="0"/>
              <a:t> - Canada is a pluralistic society. This means a society which has a diversity of languages, beliefs, traditions, values, religions and other aspects of culture.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CA" sz="2400" b="1" dirty="0"/>
              <a:t>Aboriginal</a:t>
            </a:r>
            <a:r>
              <a:rPr lang="en-CA" sz="2400" dirty="0"/>
              <a:t> — A term encompassing First Nations, Metis, and Inuit peoples.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2052" name="Picture 4" descr="http://www.foundationforpluralism.com/Images-%20Pluralism%20logos/Cultural%20pluralis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10668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092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/>
              <a:t>Identity</a:t>
            </a:r>
            <a:r>
              <a:rPr lang="en-CA" sz="2400" dirty="0"/>
              <a:t> - In social studies, the term identity refers to a condition in which people feel a sense of similarity or sameness with others of their religion, race, ethnicity, or nationality. </a:t>
            </a:r>
          </a:p>
          <a:p>
            <a:endParaRPr lang="en-CA" sz="2400" dirty="0"/>
          </a:p>
          <a:p>
            <a:r>
              <a:rPr lang="en-CA" sz="2400" dirty="0"/>
              <a:t>It is a feeling that can be solidified through symbols thought to represent these similarities, such as the Maple Leaf in Canada or the Star of David for Jewish people. </a:t>
            </a:r>
          </a:p>
          <a:p>
            <a:endParaRPr lang="en-CA" sz="2400" dirty="0"/>
          </a:p>
          <a:p>
            <a:r>
              <a:rPr lang="en-CA" sz="2400" dirty="0"/>
              <a:t>It can also be developed through a shared history, language, or effort to ensure traditions associated with a group are passed through generations.</a:t>
            </a:r>
          </a:p>
        </p:txBody>
      </p:sp>
    </p:spTree>
    <p:extLst>
      <p:ext uri="{BB962C8B-B14F-4D97-AF65-F5344CB8AC3E}">
        <p14:creationId xmlns:p14="http://schemas.microsoft.com/office/powerpoint/2010/main" val="70884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Issue:</a:t>
            </a:r>
          </a:p>
          <a:p>
            <a:r>
              <a:rPr lang="en-US" dirty="0"/>
              <a:t>To what extent do understandings of nation and </a:t>
            </a:r>
          </a:p>
          <a:p>
            <a:r>
              <a:rPr lang="en-US" dirty="0"/>
              <a:t>nationalism vary?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Understandings of Nation</a:t>
            </a:r>
            <a:br>
              <a:rPr lang="en-US" dirty="0"/>
            </a:br>
            <a:r>
              <a:rPr lang="en-US" dirty="0"/>
              <a:t>and Nationalism</a:t>
            </a:r>
          </a:p>
        </p:txBody>
      </p:sp>
    </p:spTree>
    <p:extLst>
      <p:ext uri="{BB962C8B-B14F-4D97-AF65-F5344CB8AC3E}">
        <p14:creationId xmlns:p14="http://schemas.microsoft.com/office/powerpoint/2010/main" val="402894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accent1"/>
                </a:solidFill>
              </a:rPr>
              <a:t>Section 1 - Understandings of Nation</a:t>
            </a:r>
            <a:endParaRPr lang="en-CA" sz="3200" b="1" dirty="0">
              <a:solidFill>
                <a:schemeClr val="accent1"/>
              </a:solidFill>
            </a:endParaRPr>
          </a:p>
          <a:p>
            <a:r>
              <a:rPr lang="en-CA" b="1" dirty="0"/>
              <a:t>Nation</a:t>
            </a:r>
            <a:r>
              <a:rPr lang="en-CA" dirty="0"/>
              <a:t> - The term nation refers to a group of people living in or related to a specific geographic region. A nation often has a sovereign government and possesses distinct laws, cultures, and traditions.</a:t>
            </a:r>
          </a:p>
          <a:p>
            <a:pPr marL="0" indent="0">
              <a:buNone/>
            </a:pPr>
            <a:endParaRPr lang="en-CA" sz="2400" dirty="0"/>
          </a:p>
          <a:p>
            <a:r>
              <a:rPr lang="en-CA" dirty="0" smtClean="0"/>
              <a:t>A </a:t>
            </a:r>
            <a:r>
              <a:rPr lang="en-CA" b="1" dirty="0"/>
              <a:t>nation-state</a:t>
            </a:r>
            <a:r>
              <a:rPr lang="en-CA" dirty="0"/>
              <a:t> is a sovereign country in which the majority of its citizens often share common cultures, traditions, and languages. </a:t>
            </a:r>
            <a:endParaRPr lang="en-CA" sz="2400" dirty="0" smtClean="0"/>
          </a:p>
          <a:p>
            <a:endParaRPr lang="en-CA" sz="2400" dirty="0"/>
          </a:p>
          <a:p>
            <a:endParaRPr lang="en-CA" sz="2400" dirty="0" smtClean="0"/>
          </a:p>
          <a:p>
            <a:endParaRPr lang="en-CA" sz="2400" dirty="0"/>
          </a:p>
          <a:p>
            <a:endParaRPr lang="en-CA" sz="2400" dirty="0" smtClean="0"/>
          </a:p>
          <a:p>
            <a:endParaRPr lang="en-CA" sz="2400" dirty="0" smtClean="0"/>
          </a:p>
          <a:p>
            <a:endParaRPr lang="en-CA" sz="2400" dirty="0"/>
          </a:p>
          <a:p>
            <a:endParaRPr lang="en-CA" sz="2400" dirty="0"/>
          </a:p>
          <a:p>
            <a:pPr marL="0" indent="0">
              <a:buNone/>
            </a:pPr>
            <a:endParaRPr lang="en-CA" sz="2400" dirty="0"/>
          </a:p>
          <a:p>
            <a:r>
              <a:rPr lang="en-CA" dirty="0"/>
              <a:t>A nation-state has its own system of government, currency, and official language(s). </a:t>
            </a:r>
          </a:p>
          <a:p>
            <a:endParaRPr lang="en-CA" sz="2400" dirty="0"/>
          </a:p>
        </p:txBody>
      </p:sp>
      <p:pic>
        <p:nvPicPr>
          <p:cNvPr id="1026" name="Picture 2" descr="Image result for nation 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5728" y="2895600"/>
            <a:ext cx="5112544" cy="280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637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dirty="0" smtClean="0"/>
              <a:t>A </a:t>
            </a:r>
            <a:r>
              <a:rPr lang="en-CA" sz="2400" b="1" dirty="0"/>
              <a:t>nation</a:t>
            </a:r>
            <a:r>
              <a:rPr lang="en-CA" sz="2400" dirty="0"/>
              <a:t> can refer to a group of people with similar cultures, traditions, and languages who inhabit a specific area but do not have the ability to govern themselves and who do not possess characteristics of a nation-state (e.g., currency). </a:t>
            </a:r>
          </a:p>
          <a:p>
            <a:endParaRPr lang="en-CA" sz="2400" dirty="0" smtClean="0"/>
          </a:p>
          <a:p>
            <a:endParaRPr lang="en-CA" sz="2400" dirty="0"/>
          </a:p>
          <a:p>
            <a:pPr marL="0" indent="0">
              <a:buNone/>
            </a:pPr>
            <a:endParaRPr lang="en-CA" sz="2400" dirty="0" smtClean="0"/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endParaRPr lang="en-CA" sz="2400" dirty="0"/>
          </a:p>
          <a:p>
            <a:pPr marL="0" indent="0">
              <a:buNone/>
            </a:pPr>
            <a:endParaRPr lang="en-CA" sz="2400" dirty="0"/>
          </a:p>
          <a:p>
            <a:r>
              <a:rPr lang="en-CA" sz="2400" dirty="0"/>
              <a:t>In some instances, nation-states have been created when the leaders of various nations decide they would like to unite and form an independent country.</a:t>
            </a:r>
          </a:p>
        </p:txBody>
      </p:sp>
      <p:pic>
        <p:nvPicPr>
          <p:cNvPr id="205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7" y="1524000"/>
            <a:ext cx="3529013" cy="2570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6" y="5182658"/>
            <a:ext cx="2170113" cy="144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285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3200" b="1" dirty="0">
                <a:solidFill>
                  <a:schemeClr val="accent1"/>
                </a:solidFill>
              </a:rPr>
              <a:t>Section 2 - Understanding Nationalism</a:t>
            </a:r>
          </a:p>
          <a:p>
            <a:r>
              <a:rPr lang="en-CA" sz="2400" dirty="0"/>
              <a:t>There are many different types of nationalism because people in a nation feel different connections to each other and their environment. </a:t>
            </a:r>
          </a:p>
          <a:p>
            <a:endParaRPr lang="en-CA" sz="2400" dirty="0"/>
          </a:p>
          <a:p>
            <a:r>
              <a:rPr lang="en-CA" sz="2400" dirty="0"/>
              <a:t>A person's relationship to the land can create feelings of nationalism. This connection to the environment can be generations old and can cause people to feel a sense of sameness with those around them who share a history with that region.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605" y="3581400"/>
            <a:ext cx="4872789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23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dirty="0"/>
              <a:t>A collective sense of nationalism is when people believe themselves to be part of a group unique to other groups. </a:t>
            </a:r>
          </a:p>
          <a:p>
            <a:endParaRPr lang="en-CA" sz="2400" dirty="0"/>
          </a:p>
          <a:p>
            <a:r>
              <a:rPr lang="en-CA" sz="2400" dirty="0"/>
              <a:t>Shared experiences, language, beliefs, goals, or culture can make people feel like part of a group, thus encouraging a feeling of nationhood.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263" y="2133600"/>
            <a:ext cx="4809474" cy="438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66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/>
              <a:t>Civic nationalism</a:t>
            </a:r>
            <a:r>
              <a:rPr lang="en-CA" sz="2400" dirty="0"/>
              <a:t> binds people together through a shared belief in the same laws, values, and political traditions. It is capable of uniting people who do not share the same race, ethnicity, culture, or language. </a:t>
            </a:r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pPr marL="0" indent="0">
              <a:buNone/>
            </a:pPr>
            <a:endParaRPr lang="en-CA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562225"/>
            <a:ext cx="2857500" cy="2085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4907" y="2562225"/>
            <a:ext cx="1761490" cy="2085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405" y="2562225"/>
            <a:ext cx="142964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4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 smtClean="0"/>
              <a:t>Ethnic </a:t>
            </a:r>
            <a:r>
              <a:rPr lang="en-CA" sz="2400" b="1" dirty="0"/>
              <a:t>nationalism</a:t>
            </a:r>
            <a:r>
              <a:rPr lang="en-CA" sz="2400" dirty="0"/>
              <a:t> develops when people share a common ethnic history, usually with many generations of ancestors sharing that ethnicity. </a:t>
            </a:r>
            <a:endParaRPr lang="en-CA" sz="2400" dirty="0" smtClean="0"/>
          </a:p>
          <a:p>
            <a:endParaRPr lang="en-CA" sz="2400" dirty="0"/>
          </a:p>
          <a:p>
            <a:endParaRPr lang="en-CA" sz="2400" dirty="0" smtClean="0"/>
          </a:p>
          <a:p>
            <a:endParaRPr lang="en-CA" sz="2400" dirty="0"/>
          </a:p>
          <a:p>
            <a:endParaRPr lang="en-CA" sz="2400" dirty="0" smtClean="0"/>
          </a:p>
          <a:p>
            <a:endParaRPr lang="en-CA" sz="2400" dirty="0"/>
          </a:p>
          <a:p>
            <a:endParaRPr lang="en-CA" sz="2400" dirty="0" smtClean="0"/>
          </a:p>
          <a:p>
            <a:pPr marL="0" indent="0">
              <a:buNone/>
            </a:pPr>
            <a:endParaRPr lang="en-CA" sz="2400" dirty="0" smtClean="0"/>
          </a:p>
          <a:p>
            <a:r>
              <a:rPr lang="en-CA" sz="2400" b="1" dirty="0"/>
              <a:t>Cultural nationalism</a:t>
            </a:r>
            <a:r>
              <a:rPr lang="en-CA" sz="2400" dirty="0"/>
              <a:t> develops when a group of people share a common culture with similar traditions, artistic expressions, foods, and attire. Often, people who share a cultural nationalism share the same ethnicity, but this is not always true. </a:t>
            </a:r>
          </a:p>
          <a:p>
            <a:endParaRPr lang="en-CA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10" y="1438292"/>
            <a:ext cx="3407960" cy="17039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79" y="1137677"/>
            <a:ext cx="3676080" cy="230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6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 smtClean="0"/>
              <a:t>Linguistic</a:t>
            </a:r>
            <a:r>
              <a:rPr lang="en-CA" sz="2400" dirty="0" smtClean="0"/>
              <a:t> </a:t>
            </a:r>
            <a:r>
              <a:rPr lang="en-CA" sz="2400" dirty="0"/>
              <a:t>nationalism exists among people who share a similar language and a desire to protect it, even if they are of different ethnicities or cultures. </a:t>
            </a:r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/>
          </a:p>
          <a:p>
            <a:r>
              <a:rPr lang="en-CA" sz="2400" b="1" dirty="0"/>
              <a:t>Political nationalism</a:t>
            </a:r>
            <a:r>
              <a:rPr lang="en-CA" sz="2400" dirty="0"/>
              <a:t> exists when people share a desire to govern themselves independently and without influence from other countries. Although people in such a group may not actually have their own country, they share a sense of nationalism out of the desire to achieve this autonomy.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4245" y="1511669"/>
            <a:ext cx="2874773" cy="2219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57261"/>
            <a:ext cx="4695825" cy="312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94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/>
              <a:t>Religious nationalism</a:t>
            </a:r>
            <a:r>
              <a:rPr lang="en-CA" sz="2400" dirty="0"/>
              <a:t> exists when people share the same or similar religious beliefs, even if they live in different countries and speak different languages. </a:t>
            </a:r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 smtClean="0"/>
          </a:p>
          <a:p>
            <a:endParaRPr lang="en-CA" sz="2400" b="1" dirty="0"/>
          </a:p>
          <a:p>
            <a:endParaRPr lang="en-CA" sz="2400" b="1" dirty="0"/>
          </a:p>
          <a:p>
            <a:r>
              <a:rPr lang="en-CA" sz="2400" b="1" dirty="0"/>
              <a:t>Spiritual nationalism</a:t>
            </a:r>
            <a:r>
              <a:rPr lang="en-CA" sz="2400" dirty="0"/>
              <a:t> is closely related to both religion and a person's relationship to the land. Religious beliefs may spur feelings of spirituality about a geographic location, which creates a sense of nationhood among people. Sometimes, people will make pilgrimages to these places, which also strengthens their feelings of nationalism and connectedness with the area. </a:t>
            </a:r>
          </a:p>
          <a:p>
            <a:pPr marL="0" indent="0">
              <a:buNone/>
            </a:pPr>
            <a:endParaRPr lang="en-CA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5" y="1524000"/>
            <a:ext cx="238125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3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14300" y="114300"/>
            <a:ext cx="8915400" cy="6667499"/>
          </a:xfrm>
        </p:spPr>
        <p:txBody>
          <a:bodyPr>
            <a:normAutofit/>
          </a:bodyPr>
          <a:lstStyle/>
          <a:p>
            <a:r>
              <a:rPr lang="en-CA" sz="2400" b="1" dirty="0" smtClean="0"/>
              <a:t>Patriotic </a:t>
            </a:r>
            <a:r>
              <a:rPr lang="en-CA" sz="2400" b="1" dirty="0"/>
              <a:t>nationalism</a:t>
            </a:r>
            <a:r>
              <a:rPr lang="en-CA" sz="2400" dirty="0"/>
              <a:t> exists when people have a shared feeling of love for their country. These people may speak different languages or practice different religions, but their common sense of love for their country creates a sense of nationalism among them.	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828800"/>
            <a:ext cx="6934200" cy="46228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853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76200"/>
            <a:ext cx="8991600" cy="6705600"/>
          </a:xfrm>
        </p:spPr>
        <p:txBody>
          <a:bodyPr/>
          <a:lstStyle/>
          <a:p>
            <a:r>
              <a:rPr lang="en-US" dirty="0"/>
              <a:t>Geography, language, spirituality and religion, ethnicity, culture, and citizenship can all inspire a sense of nationalism among members of a nation.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76375"/>
            <a:ext cx="5848350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81400"/>
            <a:ext cx="2381250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581400"/>
            <a:ext cx="3960305" cy="2965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901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263</TotalTime>
  <Words>804</Words>
  <Application>Microsoft Office PowerPoint</Application>
  <PresentationFormat>On-screen Show (4:3)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Franklin Gothic Book</vt:lpstr>
      <vt:lpstr>Perpetua</vt:lpstr>
      <vt:lpstr>Wingdings 2</vt:lpstr>
      <vt:lpstr>Equity</vt:lpstr>
      <vt:lpstr>Social Studies 20-1</vt:lpstr>
      <vt:lpstr>PowerPoint Presentation</vt:lpstr>
      <vt:lpstr>PowerPoint Presentation</vt:lpstr>
      <vt:lpstr>PowerPoint Presentation</vt:lpstr>
      <vt:lpstr>Understandings of Nation and Nationalism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Understandings of Nation and Nationalism</dc:title>
  <dc:creator>Fernando Guzzo</dc:creator>
  <cp:lastModifiedBy>Fernando Guzzo</cp:lastModifiedBy>
  <cp:revision>47</cp:revision>
  <dcterms:created xsi:type="dcterms:W3CDTF">2010-08-26T19:21:05Z</dcterms:created>
  <dcterms:modified xsi:type="dcterms:W3CDTF">2017-08-30T19:42:19Z</dcterms:modified>
</cp:coreProperties>
</file>