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4"/>
  </p:sldMasterIdLst>
  <p:sldIdLst>
    <p:sldId id="256" r:id="rId5"/>
    <p:sldId id="258" r:id="rId6"/>
    <p:sldId id="270" r:id="rId7"/>
    <p:sldId id="259" r:id="rId8"/>
    <p:sldId id="271" r:id="rId9"/>
    <p:sldId id="261" r:id="rId10"/>
    <p:sldId id="274" r:id="rId11"/>
    <p:sldId id="260" r:id="rId12"/>
    <p:sldId id="272" r:id="rId13"/>
    <p:sldId id="262" r:id="rId14"/>
    <p:sldId id="273" r:id="rId15"/>
    <p:sldId id="263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-1056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0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47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58A27-08C0-4454-B116-CA4B8D6C63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2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C95E0-138F-4DB7-90F4-B7F8795107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3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0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0" y="2601913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47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303E2-FB18-462E-B845-518DD9AD0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3222E-2FFB-4174-A45F-38118A2496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0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EC08F-EBC0-4167-84B9-35CBA21EF4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05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7390C-BF83-4383-A472-9CA3D3512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29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9EB28F-E413-44F9-B032-A2E1303B5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4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B036B-321B-4530-A265-A6520464B2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300" y="1169988"/>
            <a:ext cx="5194300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6714B-08C6-4578-BE42-BA29511CBE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16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B41B8-91B5-464E-A0D5-CB7783A998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1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6599238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6376988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EC0E5-9CF1-4A01-AF93-5801D3060C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7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013" y="6477000"/>
            <a:ext cx="5508625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00" y="6477000"/>
            <a:ext cx="733425" cy="274638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 smtClean="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fld id="{0D64813B-EDD2-4799-9BAB-935E6DD1C5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0" r:id="rId2"/>
    <p:sldLayoutId id="2147483796" r:id="rId3"/>
    <p:sldLayoutId id="2147483791" r:id="rId4"/>
    <p:sldLayoutId id="2147483792" r:id="rId5"/>
    <p:sldLayoutId id="2147483793" r:id="rId6"/>
    <p:sldLayoutId id="2147483797" r:id="rId7"/>
    <p:sldLayoutId id="2147483798" r:id="rId8"/>
    <p:sldLayoutId id="2147483799" r:id="rId9"/>
    <p:sldLayoutId id="2147483794" r:id="rId10"/>
    <p:sldLayoutId id="214748380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500" b="1" kern="1200">
          <a:solidFill>
            <a:srgbClr val="FFC8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9pPr>
      <a:extLst/>
    </p:titleStyle>
    <p:bodyStyle>
      <a:lvl1pPr marL="438150" indent="-319088" algn="l" rtl="0" fontAlgn="base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30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charset="2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spcBef>
          <a:spcPct val="20000"/>
        </a:spcBef>
        <a:spcAft>
          <a:spcPct val="0"/>
        </a:spcAft>
        <a:buClr>
          <a:srgbClr val="E66C7D"/>
        </a:buClr>
        <a:buFont typeface="Arial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025" indent="-182563" algn="l" rtl="0" fontAlgn="base">
        <a:spcBef>
          <a:spcPct val="20000"/>
        </a:spcBef>
        <a:spcAft>
          <a:spcPct val="0"/>
        </a:spcAft>
        <a:buClr>
          <a:srgbClr val="6BB76D"/>
        </a:buClr>
        <a:buFont typeface="Arial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182563" algn="l" rtl="0" fontAlgn="base">
        <a:spcBef>
          <a:spcPct val="20000"/>
        </a:spcBef>
        <a:spcAft>
          <a:spcPct val="0"/>
        </a:spcAft>
        <a:buClr>
          <a:srgbClr val="E88651"/>
        </a:buClr>
        <a:buFont typeface="Wingdings 3" pitchFamily="18" charset="2"/>
        <a:buChar char="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>
                <a:solidFill>
                  <a:schemeClr val="accent1">
                    <a:satMod val="150000"/>
                  </a:schemeClr>
                </a:solidFill>
              </a:rPr>
              <a:t>It’s No Laughing Matter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828800"/>
            <a:ext cx="8077200" cy="1500188"/>
          </a:xfrm>
        </p:spPr>
        <p:txBody>
          <a:bodyPr/>
          <a:lstStyle/>
          <a:p>
            <a:r>
              <a:rPr lang="en-US" smtClean="0"/>
              <a:t>Understanding Political Cartoons</a:t>
            </a:r>
          </a:p>
        </p:txBody>
      </p:sp>
      <p:pic>
        <p:nvPicPr>
          <p:cNvPr id="13319" name="Picture 7" descr="http://www.classbrain.com/artteensb/uploads/swine-fl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58775"/>
            <a:ext cx="2935862" cy="23067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1" name="Picture 9" descr="http://www.classbrain.com/artteensb/uploads/wall-street-lynchmo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512377"/>
            <a:ext cx="3334943" cy="22629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3" name="Picture 11" descr="http://www.classbrain.com/artteensb/uploads/obama-inauguration_00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4848"/>
            <a:ext cx="3200400" cy="251460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5" name="Picture 13" descr="http://www.classbrain.com/artteensb/uploads/tb-pandemic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14447"/>
            <a:ext cx="3124200" cy="246092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smtClean="0">
                <a:solidFill>
                  <a:schemeClr val="accent1">
                    <a:satMod val="150000"/>
                  </a:schemeClr>
                </a:solidFill>
              </a:rPr>
              <a:t>How Do I Know what the Cartoon is Saying?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5 Things to Look for:</a:t>
            </a:r>
          </a:p>
          <a:p>
            <a:pPr lvl="1"/>
            <a:r>
              <a:rPr lang="en-US" smtClean="0"/>
              <a:t>1. </a:t>
            </a:r>
            <a:r>
              <a:rPr lang="en-US" b="1" smtClean="0"/>
              <a:t>Symbolism</a:t>
            </a:r>
          </a:p>
          <a:p>
            <a:pPr lvl="2"/>
            <a:r>
              <a:rPr lang="en-US" smtClean="0"/>
              <a:t>Cartoonists use simple objects, or </a:t>
            </a:r>
            <a:r>
              <a:rPr lang="en-US" b="1" smtClean="0"/>
              <a:t>symbols</a:t>
            </a:r>
            <a:r>
              <a:rPr lang="en-US" smtClean="0"/>
              <a:t>, to stand for larger concepts or ideas.</a:t>
            </a:r>
          </a:p>
          <a:p>
            <a:pPr lvl="2"/>
            <a:r>
              <a:rPr lang="en-US" smtClean="0"/>
              <a:t>After you identify the symbols in a cartoon, think about what the cartoonist </a:t>
            </a:r>
            <a:r>
              <a:rPr lang="en-US" b="1" smtClean="0"/>
              <a:t>intends </a:t>
            </a:r>
            <a:r>
              <a:rPr lang="en-US" smtClean="0"/>
              <a:t>each symbol to stand for.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</a:rPr>
              <a:t>Symbolism:</a:t>
            </a:r>
          </a:p>
        </p:txBody>
      </p:sp>
      <p:pic>
        <p:nvPicPr>
          <p:cNvPr id="10243" name="Picture 5" descr="http://www.classbrain.com/artteensb/uploads/china-spacewalk_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914400"/>
            <a:ext cx="4800600" cy="569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7" descr="http://www.classbrain.com/artteensb/uploads/myanma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08275"/>
            <a:ext cx="4953000" cy="363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smtClean="0">
                <a:solidFill>
                  <a:schemeClr val="accent1">
                    <a:satMod val="150000"/>
                  </a:schemeClr>
                </a:solidFill>
              </a:rPr>
              <a:t>How Do I Know what the Cartoon is Saying?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2. </a:t>
            </a:r>
            <a:r>
              <a:rPr lang="en-US" b="1" smtClean="0"/>
              <a:t>Exaggeration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Sometimes cartoonists overdo, or</a:t>
            </a:r>
            <a:r>
              <a:rPr lang="en-US" b="1" smtClean="0"/>
              <a:t> exaggerate</a:t>
            </a:r>
            <a:r>
              <a:rPr lang="en-US" smtClean="0"/>
              <a:t>, the physical characteristics of people or things in order to make a point.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When you study a cartoon, look for any characteristics that seem overdone or overblown. (Facial characteristics and clothing are some of the most commonly exaggerated characteristics.) 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Then, try to decide what point the cartoonist was trying to make through exaggeration.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</a:rPr>
              <a:t>Exaggeration: </a:t>
            </a:r>
          </a:p>
        </p:txBody>
      </p:sp>
      <p:pic>
        <p:nvPicPr>
          <p:cNvPr id="12291" name="Picture 2" descr="http://www.classbrain.com/artteensb/uploads/caucus_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338" y="3276600"/>
            <a:ext cx="480060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 descr="http://www.classbrain.com/artteensb/uploads/president-in-histor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68488"/>
            <a:ext cx="40386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smtClean="0">
                <a:solidFill>
                  <a:schemeClr val="accent1">
                    <a:satMod val="150000"/>
                  </a:schemeClr>
                </a:solidFill>
              </a:rPr>
              <a:t>How Do I Know what the Cartoon is Saying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3.  Labeling</a:t>
            </a:r>
          </a:p>
          <a:p>
            <a:pPr lvl="1"/>
            <a:r>
              <a:rPr lang="en-US" smtClean="0"/>
              <a:t>Cartoonists often </a:t>
            </a:r>
            <a:r>
              <a:rPr lang="en-US" b="1" smtClean="0"/>
              <a:t>label</a:t>
            </a:r>
            <a:r>
              <a:rPr lang="en-US" smtClean="0"/>
              <a:t> objects or people to make it clear exactly what they stand for.</a:t>
            </a:r>
          </a:p>
          <a:p>
            <a:pPr lvl="1"/>
            <a:r>
              <a:rPr lang="en-US" smtClean="0"/>
              <a:t> Watch out for the different labels that appear in a cartoon, and ask yourself why the cartoonist chose to label that particular person or object.</a:t>
            </a:r>
          </a:p>
          <a:p>
            <a:pPr lvl="1"/>
            <a:r>
              <a:rPr lang="en-US" smtClean="0"/>
              <a:t>Does the label make the meaning of the object more clear?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</a:rPr>
              <a:t>Labeling:</a:t>
            </a:r>
          </a:p>
        </p:txBody>
      </p:sp>
      <p:pic>
        <p:nvPicPr>
          <p:cNvPr id="14339" name="Picture 2" descr="http://www.classbrain.com/artteensb/uploads/science-comebac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1752600"/>
            <a:ext cx="480060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 descr="http://www.classbrain.com/artteensb/uploads/palin-interview_0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971800"/>
            <a:ext cx="3657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smtClean="0">
                <a:solidFill>
                  <a:schemeClr val="accent1">
                    <a:satMod val="150000"/>
                  </a:schemeClr>
                </a:solidFill>
              </a:rPr>
              <a:t>How Do I Know what the Cartoon is Saying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362200"/>
            <a:ext cx="8077200" cy="4191000"/>
          </a:xfrm>
        </p:spPr>
        <p:txBody>
          <a:bodyPr/>
          <a:lstStyle/>
          <a:p>
            <a:r>
              <a:rPr lang="en-US" sz="2400" b="1" smtClean="0"/>
              <a:t>4. Analogy</a:t>
            </a:r>
          </a:p>
          <a:p>
            <a:pPr lvl="1"/>
            <a:r>
              <a:rPr lang="en-US" sz="2000" smtClean="0"/>
              <a:t>An </a:t>
            </a:r>
            <a:r>
              <a:rPr lang="en-US" sz="2000" b="1" smtClean="0"/>
              <a:t>analogy</a:t>
            </a:r>
            <a:r>
              <a:rPr lang="en-US" sz="2000" smtClean="0"/>
              <a:t> is a comparison between two unlike things that share some characteristics. </a:t>
            </a:r>
          </a:p>
          <a:p>
            <a:pPr lvl="1"/>
            <a:r>
              <a:rPr lang="en-US" sz="2000" smtClean="0"/>
              <a:t>By comparing a complex issue or situation with a more familiar one, cartoonists can help their readers see it in a different light.</a:t>
            </a:r>
          </a:p>
          <a:p>
            <a:pPr lvl="1"/>
            <a:r>
              <a:rPr lang="en-US" sz="2000" smtClean="0"/>
              <a:t>After you’ve studied a cartoon for a while, try to decide what the cartoon’s main analogy is. What two situations does the cartoon compare?</a:t>
            </a:r>
          </a:p>
          <a:p>
            <a:pPr lvl="1"/>
            <a:r>
              <a:rPr lang="en-US" sz="2000" smtClean="0"/>
              <a:t> Once you understand the main analogy, decide if this comparison makes the cartoonist’s point more clear to you.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</a:rPr>
              <a:t>Analogy:</a:t>
            </a:r>
          </a:p>
        </p:txBody>
      </p:sp>
      <p:pic>
        <p:nvPicPr>
          <p:cNvPr id="16387" name="Picture 2" descr="http://www.classbrain.com/artteensb/uploads/first-presidential-debate_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4479925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 descr="http://www.classbrain.com/artteensb/uploads/omnibus-bill_0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09800"/>
            <a:ext cx="3657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smtClean="0">
                <a:solidFill>
                  <a:schemeClr val="accent1">
                    <a:satMod val="150000"/>
                  </a:schemeClr>
                </a:solidFill>
              </a:rPr>
              <a:t>How Do I Know what the Cartoon is Saying? 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362200"/>
            <a:ext cx="7693025" cy="4114800"/>
          </a:xfrm>
        </p:spPr>
        <p:txBody>
          <a:bodyPr/>
          <a:lstStyle/>
          <a:p>
            <a:r>
              <a:rPr lang="en-US" sz="2400" b="1" smtClean="0"/>
              <a:t>Irony</a:t>
            </a:r>
          </a:p>
          <a:p>
            <a:pPr lvl="1"/>
            <a:r>
              <a:rPr lang="en-US" sz="2000" b="1" smtClean="0"/>
              <a:t>Irony</a:t>
            </a:r>
            <a:r>
              <a:rPr lang="en-US" sz="2000" smtClean="0"/>
              <a:t> is the difference between the ways things are and the way things should be, or the way things are expected to be. </a:t>
            </a:r>
          </a:p>
          <a:p>
            <a:pPr lvl="1"/>
            <a:r>
              <a:rPr lang="en-US" sz="2000" smtClean="0"/>
              <a:t>Cartoonists often use irony to express their opinion on an issue.</a:t>
            </a:r>
          </a:p>
          <a:p>
            <a:pPr lvl="1"/>
            <a:r>
              <a:rPr lang="en-US" sz="2000" smtClean="0"/>
              <a:t> When you look at a cartoon, see if you can find any irony in the situation the cartoon depicts. If you can, think about what point the irony might be intended to emphasize. </a:t>
            </a:r>
          </a:p>
          <a:p>
            <a:pPr lvl="1"/>
            <a:r>
              <a:rPr lang="en-US" sz="2000" smtClean="0"/>
              <a:t>Does the irony help the cartoonist express his or her opinion more effectively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</a:rPr>
              <a:t>Irony:</a:t>
            </a:r>
          </a:p>
        </p:txBody>
      </p:sp>
      <p:pic>
        <p:nvPicPr>
          <p:cNvPr id="18435" name="Picture 2" descr="http://www.classbrain.com/artteensb/uploads/state-of-emergenc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3424238"/>
            <a:ext cx="426085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 descr="http://www.classbrain.com/artteensb/uploads/no-bees_0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1704975"/>
            <a:ext cx="4800601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smtClean="0">
                <a:solidFill>
                  <a:schemeClr val="accent1">
                    <a:satMod val="150000"/>
                  </a:schemeClr>
                </a:solidFill>
              </a:rPr>
              <a:t>Once you’ve identified the persuasive techniques that the cartoonist used, ask yourself: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charset="2"/>
              <a:buNone/>
            </a:pPr>
            <a:endParaRPr lang="en-US" sz="2400" smtClean="0"/>
          </a:p>
          <a:p>
            <a:pPr>
              <a:lnSpc>
                <a:spcPct val="90000"/>
              </a:lnSpc>
            </a:pPr>
            <a:r>
              <a:rPr lang="en-US" sz="2400" smtClean="0"/>
              <a:t>What issue is this political cartoon about? </a:t>
            </a:r>
          </a:p>
          <a:p>
            <a:pPr>
              <a:lnSpc>
                <a:spcPct val="90000"/>
              </a:lnSpc>
            </a:pPr>
            <a:r>
              <a:rPr lang="en-US" sz="2400" smtClean="0"/>
              <a:t>What is the cartoonist’s opinion on this issue? </a:t>
            </a:r>
          </a:p>
          <a:p>
            <a:pPr>
              <a:lnSpc>
                <a:spcPct val="90000"/>
              </a:lnSpc>
            </a:pPr>
            <a:r>
              <a:rPr lang="en-US" sz="2400" smtClean="0"/>
              <a:t>What other opinion can you imagine another person having on this issue? </a:t>
            </a:r>
          </a:p>
          <a:p>
            <a:pPr>
              <a:lnSpc>
                <a:spcPct val="90000"/>
              </a:lnSpc>
            </a:pPr>
            <a:r>
              <a:rPr lang="en-US" sz="2400" smtClean="0"/>
              <a:t>Did you find this cartoon persuasive? Why or why not? </a:t>
            </a:r>
          </a:p>
          <a:p>
            <a:pPr>
              <a:lnSpc>
                <a:spcPct val="90000"/>
              </a:lnSpc>
            </a:pPr>
            <a:r>
              <a:rPr lang="en-US" sz="2400" smtClean="0"/>
              <a:t>What other techniques could the cartoonist have used to make this cartoon more persuasive?</a:t>
            </a:r>
          </a:p>
          <a:p>
            <a:pPr>
              <a:lnSpc>
                <a:spcPct val="90000"/>
              </a:lnSpc>
            </a:pPr>
            <a:endParaRPr 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F7B3D946485A45823BFED88131D576" ma:contentTypeVersion="1" ma:contentTypeDescription="Create a new document." ma:contentTypeScope="" ma:versionID="720423ffcf4d4f250cc9bffe4fb34d32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447206dab0015f8b9f8924535193e8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7B1DA6-FADF-4C3E-8F4B-97EE20C6A95B}">
  <ds:schemaRefs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80A5AAB-0DD1-4852-A77F-C0EF60E302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17D527-AFF7-4E7C-A2DA-69B24D17BE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0</TotalTime>
  <Words>490</Words>
  <Application>Microsoft Office PowerPoint</Application>
  <PresentationFormat>On-screen Show (4:3)</PresentationFormat>
  <Paragraphs>41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Module</vt:lpstr>
      <vt:lpstr>It’s No Laughing Matter</vt:lpstr>
      <vt:lpstr>How Do I Know what the Cartoon is Saying?</vt:lpstr>
      <vt:lpstr>Symbolism:</vt:lpstr>
      <vt:lpstr>How Do I Know what the Cartoon is Saying?</vt:lpstr>
      <vt:lpstr>Exaggeration: </vt:lpstr>
      <vt:lpstr>How Do I Know what the Cartoon is Saying</vt:lpstr>
      <vt:lpstr>Labeling:</vt:lpstr>
      <vt:lpstr>How Do I Know what the Cartoon is Saying</vt:lpstr>
      <vt:lpstr>Analogy:</vt:lpstr>
      <vt:lpstr>How Do I Know what the Cartoon is Saying? </vt:lpstr>
      <vt:lpstr>Irony:</vt:lpstr>
      <vt:lpstr>Once you’ve identified the persuasive techniques that the cartoonist used, ask yourself:</vt:lpstr>
    </vt:vector>
  </TitlesOfParts>
  <Company>....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Political Cartoons</dc:title>
  <dc:creator>Brown</dc:creator>
  <cp:lastModifiedBy>Thomas G Angelakis</cp:lastModifiedBy>
  <cp:revision>8</cp:revision>
  <dcterms:created xsi:type="dcterms:W3CDTF">2010-09-14T22:03:38Z</dcterms:created>
  <dcterms:modified xsi:type="dcterms:W3CDTF">2018-09-13T20:44:17Z</dcterms:modified>
</cp:coreProperties>
</file>