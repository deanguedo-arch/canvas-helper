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57" name="Google Shape;25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6ba40b36be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6ba40b36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0" name="Google Shape;270;p6: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6" name="Google Shape;2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6ba40b36be_0_2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6ba40b36be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26ba40b36be_0_25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ba40b36be_0_3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ba40b36be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26ba40b36be_0_34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4feddc54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4feddc5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4feddc54c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04" name="Google Shape;30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26" name="Google Shape;32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6ba40b36be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41" name="Google Shape;341;g26ba40b36be_0_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47" name="Google Shape;34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6ba40b36be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5" name="Google Shape;355;g26ba40b36be_0_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3" name="Google Shape;37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6ba40b36be_0_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6ba40b36be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26ba40b36be_0_32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6ba40b36be_0_3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6ba40b36be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26ba40b36be_0_31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06" name="Google Shape;40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5" name="Google Shape;41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c8de158bb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6" name="Google Shape;426;g2c8de158bb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34" name="Google Shape;43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41" name="Google Shape;44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4feddc54c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4feddc54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4feddc54c_0_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56" name="Google Shape;45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69" name="Google Shape;4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76" name="Google Shape;47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84" name="Google Shape;48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616c9cf471_7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616c9cf471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616c9cf471_7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07" name="Google Shape;50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5721c5715_1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5721c571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5721c5715_12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34: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527" name="Google Shape;527;p3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d00491c44d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g2d00491c44d_0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536" name="Google Shape;536;g2d00491c44d_0_20: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44" name="Google Shape;54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d00491c44d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50" name="Google Shape;550;g2d00491c44d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57" name="Google Shape;55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63" name="Google Shape;56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72" name="Google Shape;57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2"/>
          <p:cNvGrpSpPr/>
          <p:nvPr/>
        </p:nvGrpSpPr>
        <p:grpSpPr>
          <a:xfrm>
            <a:off x="-645041" y="0"/>
            <a:ext cx="10458613" cy="7116923"/>
            <a:chOff x="-645041" y="0"/>
            <a:chExt cx="10458613" cy="7116923"/>
          </a:xfrm>
        </p:grpSpPr>
        <p:grpSp>
          <p:nvGrpSpPr>
            <p:cNvPr id="59" name="Google Shape;59;p2"/>
            <p:cNvGrpSpPr/>
            <p:nvPr/>
          </p:nvGrpSpPr>
          <p:grpSpPr>
            <a:xfrm>
              <a:off x="0" y="0"/>
              <a:ext cx="9144000" cy="6858000"/>
              <a:chOff x="0" y="0"/>
              <a:chExt cx="9144000" cy="6858000"/>
            </a:xfrm>
          </p:grpSpPr>
          <p:grpSp>
            <p:nvGrpSpPr>
              <p:cNvPr id="60" name="Google Shape;60;p2"/>
              <p:cNvGrpSpPr/>
              <p:nvPr/>
            </p:nvGrpSpPr>
            <p:grpSpPr>
              <a:xfrm>
                <a:off x="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a:off x="42291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8" name="Google Shape;68;p2"/>
              <p:cNvGrpSpPr/>
              <p:nvPr/>
            </p:nvGrpSpPr>
            <p:grpSpPr>
              <a:xfrm rot="10800000">
                <a:off x="6629400" y="0"/>
                <a:ext cx="2514600" cy="6858000"/>
                <a:chOff x="0" y="0"/>
                <a:chExt cx="2514600" cy="6858000"/>
              </a:xfrm>
            </p:grpSpPr>
            <p:sp>
              <p:nvSpPr>
                <p:cNvPr id="69" name="Google Shape;69;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1" name="Google Shape;71;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2" name="Google Shape;72;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3" name="Google Shape;73;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4" name="Google Shape;74;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5" name="Google Shape;75;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7" name="Google Shape;77;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8" name="Google Shape;78;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9" name="Google Shape;79;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80" name="Google Shape;80;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3" name="Google Shape;93;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6" name="Google Shape;96;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7" name="Google Shape;97;p2"/>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8" name="Google Shape;98;p2"/>
          <p:cNvSpPr/>
          <p:nvPr/>
        </p:nvSpPr>
        <p:spPr>
          <a:xfrm>
            <a:off x="4649096" y="-21511"/>
            <a:ext cx="3505200" cy="2313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type="ctrTitle"/>
          </p:nvPr>
        </p:nvSpPr>
        <p:spPr>
          <a:xfrm>
            <a:off x="4733365" y="2708476"/>
            <a:ext cx="3313500" cy="17022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0" name="Google Shape;100;p2"/>
          <p:cNvSpPr txBox="1"/>
          <p:nvPr>
            <p:ph idx="1" type="subTitle"/>
          </p:nvPr>
        </p:nvSpPr>
        <p:spPr>
          <a:xfrm>
            <a:off x="4733365" y="4421080"/>
            <a:ext cx="3309900" cy="1260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01" name="Google Shape;101;p2"/>
          <p:cNvSpPr txBox="1"/>
          <p:nvPr>
            <p:ph idx="10" type="dt"/>
          </p:nvPr>
        </p:nvSpPr>
        <p:spPr>
          <a:xfrm>
            <a:off x="4738744" y="1516828"/>
            <a:ext cx="2133600" cy="7509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2" name="Google Shape;102;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3" name="Google Shape;103;p2"/>
          <p:cNvSpPr txBox="1"/>
          <p:nvPr>
            <p:ph idx="11" type="ftr"/>
          </p:nvPr>
        </p:nvSpPr>
        <p:spPr>
          <a:xfrm>
            <a:off x="5303520" y="5719966"/>
            <a:ext cx="28317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4" name="Google Shape;104;p2"/>
          <p:cNvSpPr txBox="1"/>
          <p:nvPr>
            <p:ph idx="12" type="sldNum"/>
          </p:nvPr>
        </p:nvSpPr>
        <p:spPr>
          <a:xfrm>
            <a:off x="4649096" y="5719966"/>
            <a:ext cx="6438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05" name="Google Shape;105;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3"/>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8" name="Google Shape;108;p3"/>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9" name="Google Shape;109;p3"/>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3"/>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3"/>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
        <p:nvSpPr>
          <p:cNvPr id="113" name="Google Shape;113;p4"/>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4" name="Google Shape;114;p4"/>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5" name="Google Shape;115;p4"/>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5"/>
          <p:cNvSpPr txBox="1"/>
          <p:nvPr>
            <p:ph type="title"/>
          </p:nvPr>
        </p:nvSpPr>
        <p:spPr>
          <a:xfrm>
            <a:off x="1258645" y="2900829"/>
            <a:ext cx="6637500" cy="1362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8" name="Google Shape;118;p5"/>
          <p:cNvSpPr txBox="1"/>
          <p:nvPr>
            <p:ph idx="1" type="body"/>
          </p:nvPr>
        </p:nvSpPr>
        <p:spPr>
          <a:xfrm>
            <a:off x="1258645" y="4267200"/>
            <a:ext cx="6637500" cy="15204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9" name="Google Shape;119;p5"/>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0" name="Google Shape;120;p5"/>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5"/>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6"/>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4" name="Google Shape;124;p6"/>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5" name="Google Shape;125;p6"/>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6" name="Google Shape;126;p6"/>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27" name="Google Shape;127;p6"/>
          <p:cNvSpPr txBox="1"/>
          <p:nvPr>
            <p:ph idx="1" type="body"/>
          </p:nvPr>
        </p:nvSpPr>
        <p:spPr>
          <a:xfrm>
            <a:off x="1042416" y="2313432"/>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8" name="Google Shape;128;p6"/>
          <p:cNvSpPr txBox="1"/>
          <p:nvPr>
            <p:ph idx="2" type="body"/>
          </p:nvPr>
        </p:nvSpPr>
        <p:spPr>
          <a:xfrm>
            <a:off x="4645152" y="2313431"/>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9" name="Shape 129"/>
        <p:cNvGrpSpPr/>
        <p:nvPr/>
      </p:nvGrpSpPr>
      <p:grpSpPr>
        <a:xfrm>
          <a:off x="0" y="0"/>
          <a:ext cx="0" cy="0"/>
          <a:chOff x="0" y="0"/>
          <a:chExt cx="0" cy="0"/>
        </a:xfrm>
      </p:grpSpPr>
      <p:sp>
        <p:nvSpPr>
          <p:cNvPr id="130" name="Google Shape;130;p7"/>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1" name="Google Shape;131;p7"/>
          <p:cNvSpPr txBox="1"/>
          <p:nvPr>
            <p:ph idx="1" type="body"/>
          </p:nvPr>
        </p:nvSpPr>
        <p:spPr>
          <a:xfrm>
            <a:off x="1412111" y="2316009"/>
            <a:ext cx="30570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2" name="Google Shape;132;p7"/>
          <p:cNvSpPr txBox="1"/>
          <p:nvPr>
            <p:ph idx="2" type="body"/>
          </p:nvPr>
        </p:nvSpPr>
        <p:spPr>
          <a:xfrm>
            <a:off x="1041721"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3" name="Google Shape;133;p7"/>
          <p:cNvSpPr txBox="1"/>
          <p:nvPr>
            <p:ph idx="3" type="body"/>
          </p:nvPr>
        </p:nvSpPr>
        <p:spPr>
          <a:xfrm>
            <a:off x="5011837" y="2316010"/>
            <a:ext cx="30558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4" name="Google Shape;134;p7"/>
          <p:cNvSpPr txBox="1"/>
          <p:nvPr>
            <p:ph idx="4" type="body"/>
          </p:nvPr>
        </p:nvSpPr>
        <p:spPr>
          <a:xfrm>
            <a:off x="4645152"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5" name="Google Shape;135;p7"/>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6" name="Google Shape;136;p7"/>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7"/>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8"/>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0" name="Google Shape;140;p8"/>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1" name="Google Shape;141;p8"/>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2" name="Google Shape;142;p8"/>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3" name="Shape 143"/>
        <p:cNvGrpSpPr/>
        <p:nvPr/>
      </p:nvGrpSpPr>
      <p:grpSpPr>
        <a:xfrm>
          <a:off x="0" y="0"/>
          <a:ext cx="0" cy="0"/>
          <a:chOff x="0" y="0"/>
          <a:chExt cx="0" cy="0"/>
        </a:xfrm>
      </p:grpSpPr>
      <p:grpSp>
        <p:nvGrpSpPr>
          <p:cNvPr id="144" name="Google Shape;144;p9"/>
          <p:cNvGrpSpPr/>
          <p:nvPr/>
        </p:nvGrpSpPr>
        <p:grpSpPr>
          <a:xfrm>
            <a:off x="-645041" y="0"/>
            <a:ext cx="10458613" cy="7116923"/>
            <a:chOff x="-645041" y="0"/>
            <a:chExt cx="10458613" cy="7116923"/>
          </a:xfrm>
        </p:grpSpPr>
        <p:grpSp>
          <p:nvGrpSpPr>
            <p:cNvPr id="145" name="Google Shape;145;p9"/>
            <p:cNvGrpSpPr/>
            <p:nvPr/>
          </p:nvGrpSpPr>
          <p:grpSpPr>
            <a:xfrm>
              <a:off x="0" y="0"/>
              <a:ext cx="9144000" cy="6858000"/>
              <a:chOff x="0" y="0"/>
              <a:chExt cx="9144000" cy="6858000"/>
            </a:xfrm>
          </p:grpSpPr>
          <p:grpSp>
            <p:nvGrpSpPr>
              <p:cNvPr id="146" name="Google Shape;146;p9"/>
              <p:cNvGrpSpPr/>
              <p:nvPr/>
            </p:nvGrpSpPr>
            <p:grpSpPr>
              <a:xfrm>
                <a:off x="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a:off x="42291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4" name="Google Shape;154;p9"/>
              <p:cNvGrpSpPr/>
              <p:nvPr/>
            </p:nvGrpSpPr>
            <p:grpSpPr>
              <a:xfrm rot="10800000">
                <a:off x="6629400" y="0"/>
                <a:ext cx="2514600" cy="6858000"/>
                <a:chOff x="0" y="0"/>
                <a:chExt cx="2514600" cy="6858000"/>
              </a:xfrm>
            </p:grpSpPr>
            <p:sp>
              <p:nvSpPr>
                <p:cNvPr id="155" name="Google Shape;155;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7" name="Google Shape;157;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8" name="Google Shape;158;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9" name="Google Shape;159;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0" name="Google Shape;160;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61" name="Google Shape;161;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3" name="Google Shape;163;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4" name="Google Shape;164;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5" name="Google Shape;165;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6" name="Google Shape;166;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9" name="Google Shape;179;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2" name="Google Shape;182;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83" name="Google Shape;183;p9"/>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5" name="Google Shape;185;p9"/>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6" name="Google Shape;186;p9"/>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87" name="Google Shape;187;p9"/>
          <p:cNvSpPr/>
          <p:nvPr/>
        </p:nvSpPr>
        <p:spPr>
          <a:xfrm>
            <a:off x="905571" y="601883"/>
            <a:ext cx="3562200" cy="5648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8" name="Google Shape;188;p9"/>
          <p:cNvSpPr txBox="1"/>
          <p:nvPr>
            <p:ph idx="1" type="body"/>
          </p:nvPr>
        </p:nvSpPr>
        <p:spPr>
          <a:xfrm>
            <a:off x="1145894" y="856527"/>
            <a:ext cx="3090300" cy="5150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9" name="Google Shape;189;p9"/>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0" name="Google Shape;190;p9"/>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91" name="Google Shape;191;p9"/>
          <p:cNvSpPr txBox="1"/>
          <p:nvPr>
            <p:ph type="title"/>
          </p:nvPr>
        </p:nvSpPr>
        <p:spPr>
          <a:xfrm>
            <a:off x="4739833" y="2657434"/>
            <a:ext cx="33045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92" name="Google Shape;192;p9"/>
          <p:cNvSpPr txBox="1"/>
          <p:nvPr>
            <p:ph idx="2" type="body"/>
          </p:nvPr>
        </p:nvSpPr>
        <p:spPr>
          <a:xfrm>
            <a:off x="4736592" y="4136994"/>
            <a:ext cx="3298800" cy="1518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93" name="Shape 193"/>
        <p:cNvGrpSpPr/>
        <p:nvPr/>
      </p:nvGrpSpPr>
      <p:grpSpPr>
        <a:xfrm>
          <a:off x="0" y="0"/>
          <a:ext cx="0" cy="0"/>
          <a:chOff x="0" y="0"/>
          <a:chExt cx="0" cy="0"/>
        </a:xfrm>
      </p:grpSpPr>
      <p:grpSp>
        <p:nvGrpSpPr>
          <p:cNvPr id="194" name="Google Shape;194;p10"/>
          <p:cNvGrpSpPr/>
          <p:nvPr/>
        </p:nvGrpSpPr>
        <p:grpSpPr>
          <a:xfrm>
            <a:off x="-645041" y="0"/>
            <a:ext cx="10458613" cy="7116923"/>
            <a:chOff x="-645041" y="0"/>
            <a:chExt cx="10458613" cy="7116923"/>
          </a:xfrm>
        </p:grpSpPr>
        <p:grpSp>
          <p:nvGrpSpPr>
            <p:cNvPr id="195" name="Google Shape;195;p10"/>
            <p:cNvGrpSpPr/>
            <p:nvPr/>
          </p:nvGrpSpPr>
          <p:grpSpPr>
            <a:xfrm>
              <a:off x="0" y="0"/>
              <a:ext cx="9144000" cy="6858000"/>
              <a:chOff x="0" y="0"/>
              <a:chExt cx="9144000" cy="6858000"/>
            </a:xfrm>
          </p:grpSpPr>
          <p:grpSp>
            <p:nvGrpSpPr>
              <p:cNvPr id="196" name="Google Shape;196;p10"/>
              <p:cNvGrpSpPr/>
              <p:nvPr/>
            </p:nvGrpSpPr>
            <p:grpSpPr>
              <a:xfrm>
                <a:off x="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a:off x="42291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4" name="Google Shape;204;p10"/>
              <p:cNvGrpSpPr/>
              <p:nvPr/>
            </p:nvGrpSpPr>
            <p:grpSpPr>
              <a:xfrm rot="10800000">
                <a:off x="6629400" y="0"/>
                <a:ext cx="2514600" cy="6858000"/>
                <a:chOff x="0" y="0"/>
                <a:chExt cx="2514600" cy="6858000"/>
              </a:xfrm>
            </p:grpSpPr>
            <p:sp>
              <p:nvSpPr>
                <p:cNvPr id="205" name="Google Shape;205;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7" name="Google Shape;207;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8" name="Google Shape;208;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9" name="Google Shape;209;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0" name="Google Shape;210;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11" name="Google Shape;211;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3" name="Google Shape;213;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4" name="Google Shape;214;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5" name="Google Shape;215;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6" name="Google Shape;216;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9" name="Google Shape;229;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33" name="Google Shape;233;p10"/>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4" name="Google Shape;234;p10"/>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5" name="Google Shape;235;p10"/>
          <p:cNvSpPr/>
          <p:nvPr/>
        </p:nvSpPr>
        <p:spPr>
          <a:xfrm>
            <a:off x="905571" y="601883"/>
            <a:ext cx="3562200" cy="56484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6" name="Google Shape;236;p10"/>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7" name="Google Shape;237;p10"/>
          <p:cNvSpPr txBox="1"/>
          <p:nvPr>
            <p:ph type="title"/>
          </p:nvPr>
        </p:nvSpPr>
        <p:spPr>
          <a:xfrm>
            <a:off x="4734424" y="2660904"/>
            <a:ext cx="33009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8" name="Google Shape;238;p10"/>
          <p:cNvSpPr/>
          <p:nvPr>
            <p:ph idx="2" type="pic"/>
          </p:nvPr>
        </p:nvSpPr>
        <p:spPr>
          <a:xfrm>
            <a:off x="1005208" y="693795"/>
            <a:ext cx="3359700" cy="54681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9" name="Google Shape;239;p10"/>
          <p:cNvSpPr txBox="1"/>
          <p:nvPr>
            <p:ph idx="1" type="body"/>
          </p:nvPr>
        </p:nvSpPr>
        <p:spPr>
          <a:xfrm>
            <a:off x="4734630" y="4133088"/>
            <a:ext cx="3300600" cy="1519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40" name="Google Shape;240;p10"/>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1" name="Google Shape;241;p10"/>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2" name="Google Shape;242;p10"/>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5" name="Google Shape;245;p11"/>
          <p:cNvSpPr txBox="1"/>
          <p:nvPr>
            <p:ph idx="1" type="body"/>
          </p:nvPr>
        </p:nvSpPr>
        <p:spPr>
          <a:xfrm rot="5400000">
            <a:off x="2677609" y="689552"/>
            <a:ext cx="35091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6" name="Google Shape;246;p1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7" name="Google Shape;247;p1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8" name="Google Shape;248;p1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2"/>
          <p:cNvSpPr txBox="1"/>
          <p:nvPr>
            <p:ph type="title"/>
          </p:nvPr>
        </p:nvSpPr>
        <p:spPr>
          <a:xfrm rot="5400000">
            <a:off x="4981553" y="2678047"/>
            <a:ext cx="47802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51" name="Google Shape;251;p12"/>
          <p:cNvSpPr txBox="1"/>
          <p:nvPr>
            <p:ph idx="1" type="body"/>
          </p:nvPr>
        </p:nvSpPr>
        <p:spPr>
          <a:xfrm rot="5400000">
            <a:off x="1375050" y="708397"/>
            <a:ext cx="47802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52" name="Google Shape;252;p12"/>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3" name="Google Shape;253;p12"/>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4" name="Google Shape;254;p12"/>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567437" y="0"/>
            <a:ext cx="10458613" cy="7116923"/>
            <a:chOff x="-645041" y="0"/>
            <a:chExt cx="10458613" cy="7116923"/>
          </a:xfrm>
        </p:grpSpPr>
        <p:grpSp>
          <p:nvGrpSpPr>
            <p:cNvPr id="11" name="Google Shape;11;p1"/>
            <p:cNvGrpSpPr/>
            <p:nvPr/>
          </p:nvGrpSpPr>
          <p:grpSpPr>
            <a:xfrm>
              <a:off x="0" y="0"/>
              <a:ext cx="9144000" cy="6858000"/>
              <a:chOff x="0" y="0"/>
              <a:chExt cx="9144000" cy="6858000"/>
            </a:xfrm>
          </p:grpSpPr>
          <p:grpSp>
            <p:nvGrpSpPr>
              <p:cNvPr id="12" name="Google Shape;12;p1"/>
              <p:cNvGrpSpPr/>
              <p:nvPr/>
            </p:nvGrpSpPr>
            <p:grpSpPr>
              <a:xfrm>
                <a:off x="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a:off x="42291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20" name="Google Shape;20;p1"/>
              <p:cNvGrpSpPr/>
              <p:nvPr/>
            </p:nvGrpSpPr>
            <p:grpSpPr>
              <a:xfrm rot="10800000">
                <a:off x="6629400" y="0"/>
                <a:ext cx="2514600" cy="6858000"/>
                <a:chOff x="0" y="0"/>
                <a:chExt cx="2514600" cy="6858000"/>
              </a:xfrm>
            </p:grpSpPr>
            <p:sp>
              <p:nvSpPr>
                <p:cNvPr id="21" name="Google Shape;21;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3" name="Google Shape;23;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4" name="Google Shape;24;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5" name="Google Shape;25;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6" name="Google Shape;26;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7" name="Google Shape;27;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9" name="Google Shape;29;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1" name="Google Shape;31;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2" name="Google Shape;32;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5" name="Google Shape;45;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9" name="Google Shape;49;p1"/>
          <p:cNvSpPr/>
          <p:nvPr/>
        </p:nvSpPr>
        <p:spPr>
          <a:xfrm>
            <a:off x="457200" y="333487"/>
            <a:ext cx="8229600" cy="618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0" name="Google Shape;50;p1"/>
          <p:cNvSpPr/>
          <p:nvPr/>
        </p:nvSpPr>
        <p:spPr>
          <a:xfrm>
            <a:off x="4561242" y="-21511"/>
            <a:ext cx="3679200" cy="6993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1" name="Google Shape;51;p1"/>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2" name="Google Shape;52;p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4" name="Google Shape;54;p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5" name="Google Shape;55;p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6" name="Google Shape;56;p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XQcnO4iX_U" TargetMode="Externa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9.jp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hyperlink" Target="http://www.youtube.com/watch?v=ZFLb19nC2bs" TargetMode="External"/><Relationship Id="rId5"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hyperlink" Target="http://www.youtube.com/watch?v=6fBa8UqEano" TargetMode="External"/><Relationship Id="rId5"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www.youtube.com/watch?v=RFDatCchpus" TargetMode="External"/><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5.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www.youtube.com/watch?v=Is1LOacgWkc" TargetMode="External"/><Relationship Id="rId4" Type="http://schemas.openxmlformats.org/officeDocument/2006/relationships/image" Target="../media/image17.jpg"/><Relationship Id="rId5" Type="http://schemas.openxmlformats.org/officeDocument/2006/relationships/hyperlink" Target="http://www.youtube.com/watch?v=2_owp8kNMus" TargetMode="External"/><Relationship Id="rId6"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7.jpg"/><Relationship Id="rId4" Type="http://schemas.openxmlformats.org/officeDocument/2006/relationships/hyperlink" Target="http://www.youtube.com/watch?v=hI2C7TsnSfk" TargetMode="External"/><Relationship Id="rId5"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3"/>
          <p:cNvSpPr txBox="1"/>
          <p:nvPr>
            <p:ph type="ctrTitle"/>
          </p:nvPr>
        </p:nvSpPr>
        <p:spPr>
          <a:xfrm>
            <a:off x="4704250" y="3363875"/>
            <a:ext cx="3366900" cy="143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2400"/>
              <a:t>UNIT B: </a:t>
            </a:r>
            <a:endParaRPr b="1" sz="2400"/>
          </a:p>
          <a:p>
            <a:pPr indent="0" lvl="0" marL="0" marR="0" rtl="0" algn="ctr">
              <a:lnSpc>
                <a:spcPct val="100000"/>
              </a:lnSpc>
              <a:spcBef>
                <a:spcPts val="1000"/>
              </a:spcBef>
              <a:spcAft>
                <a:spcPts val="0"/>
              </a:spcAft>
              <a:buClr>
                <a:schemeClr val="accent1"/>
              </a:buClr>
              <a:buSzPts val="800"/>
              <a:buFont typeface="Verdana"/>
              <a:buNone/>
            </a:pPr>
            <a:r>
              <a:rPr b="1" i="0" lang="en-CA" sz="2800" u="none" cap="none" strike="noStrike">
                <a:solidFill>
                  <a:schemeClr val="accent1"/>
                </a:solidFill>
                <a:latin typeface="Verdana"/>
                <a:ea typeface="Verdana"/>
                <a:cs typeface="Verdana"/>
                <a:sym typeface="Verdana"/>
              </a:rPr>
              <a:t>Reproduction </a:t>
            </a:r>
            <a:r>
              <a:rPr b="1" lang="en-CA" sz="2800"/>
              <a:t>&amp; </a:t>
            </a:r>
            <a:r>
              <a:rPr b="1" i="0" lang="en-CA" sz="2800" u="none" cap="none" strike="noStrike">
                <a:solidFill>
                  <a:schemeClr val="accent1"/>
                </a:solidFill>
                <a:latin typeface="Verdana"/>
                <a:ea typeface="Verdana"/>
                <a:cs typeface="Verdana"/>
                <a:sym typeface="Verdana"/>
              </a:rPr>
              <a:t>Development</a:t>
            </a:r>
            <a:endParaRPr b="1" i="0" sz="2800" u="none" cap="none" strike="noStrike">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800"/>
              <a:buFont typeface="Verdana"/>
              <a:buNone/>
            </a:pPr>
            <a:r>
              <a:t/>
            </a:r>
            <a:endParaRPr b="1" sz="2800"/>
          </a:p>
        </p:txBody>
      </p:sp>
      <p:sp>
        <p:nvSpPr>
          <p:cNvPr id="260" name="Google Shape;260;p13"/>
          <p:cNvSpPr txBox="1"/>
          <p:nvPr/>
        </p:nvSpPr>
        <p:spPr>
          <a:xfrm>
            <a:off x="5039950" y="1592250"/>
            <a:ext cx="26955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a:solidFill>
                  <a:srgbClr val="424242"/>
                </a:solidFill>
                <a:latin typeface="Verdana"/>
                <a:ea typeface="Verdana"/>
                <a:cs typeface="Verdana"/>
                <a:sym typeface="Verdana"/>
              </a:rPr>
              <a:t>BIOLOGY 30</a:t>
            </a:r>
            <a:endParaRPr b="1">
              <a:solidFill>
                <a:srgbClr val="424242"/>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4"/>
          <p:cNvSpPr txBox="1"/>
          <p:nvPr>
            <p:ph type="ctrTitle"/>
          </p:nvPr>
        </p:nvSpPr>
        <p:spPr>
          <a:xfrm>
            <a:off x="4781240" y="2055401"/>
            <a:ext cx="3313500" cy="226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Chapter 14</a:t>
            </a:r>
            <a:endParaRPr/>
          </a:p>
        </p:txBody>
      </p:sp>
      <p:sp>
        <p:nvSpPr>
          <p:cNvPr id="266" name="Google Shape;266;p14"/>
          <p:cNvSpPr txBox="1"/>
          <p:nvPr>
            <p:ph idx="1" type="subTitle"/>
          </p:nvPr>
        </p:nvSpPr>
        <p:spPr>
          <a:xfrm>
            <a:off x="4783040" y="4578248"/>
            <a:ext cx="3309900" cy="16809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CA"/>
              <a:t>The Reproductive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txBox="1"/>
          <p:nvPr>
            <p:ph idx="4294967295" type="body"/>
          </p:nvPr>
        </p:nvSpPr>
        <p:spPr>
          <a:xfrm>
            <a:off x="834000" y="2448300"/>
            <a:ext cx="7476000" cy="2694300"/>
          </a:xfrm>
          <a:prstGeom prst="rect">
            <a:avLst/>
          </a:prstGeom>
          <a:noFill/>
          <a:ln>
            <a:noFill/>
          </a:ln>
        </p:spPr>
        <p:txBody>
          <a:bodyPr anchorCtr="0" anchor="t" bIns="45700" lIns="91425" spcFirstLastPara="1" rIns="91425" wrap="square" tIns="45700">
            <a:noAutofit/>
          </a:bodyPr>
          <a:lstStyle/>
          <a:p>
            <a:pPr indent="-306473" lvl="0" marL="342900" rtl="0" algn="l">
              <a:lnSpc>
                <a:spcPct val="115000"/>
              </a:lnSpc>
              <a:spcBef>
                <a:spcPts val="400"/>
              </a:spcBef>
              <a:spcAft>
                <a:spcPts val="0"/>
              </a:spcAft>
              <a:buClr>
                <a:srgbClr val="3F3F3F"/>
              </a:buClr>
              <a:buSzPts val="2000"/>
              <a:buFont typeface="Verdana"/>
              <a:buChar char="○"/>
            </a:pPr>
            <a:r>
              <a:rPr lang="en-CA" sz="2000">
                <a:solidFill>
                  <a:srgbClr val="3F3F3F"/>
                </a:solidFill>
              </a:rPr>
              <a:t>The male reproductive system (​key structures, spermatogenesis, secondary sex characteristics)</a:t>
            </a:r>
            <a:endParaRPr sz="2000">
              <a:solidFill>
                <a:srgbClr val="3F3F3F"/>
              </a:solidFill>
            </a:endParaRPr>
          </a:p>
          <a:p>
            <a:pPr indent="-306473" lvl="0" marL="342900" rtl="0" algn="l">
              <a:lnSpc>
                <a:spcPct val="115000"/>
              </a:lnSpc>
              <a:spcBef>
                <a:spcPts val="1000"/>
              </a:spcBef>
              <a:spcAft>
                <a:spcPts val="0"/>
              </a:spcAft>
              <a:buClr>
                <a:srgbClr val="3F3F3F"/>
              </a:buClr>
              <a:buSzPts val="2000"/>
              <a:buFont typeface="Noto Sans Symbols"/>
              <a:buChar char="○"/>
            </a:pPr>
            <a:r>
              <a:rPr lang="en-CA" sz="2000">
                <a:solidFill>
                  <a:srgbClr val="3F3F3F"/>
                </a:solidFill>
              </a:rPr>
              <a:t>Male sex hormones (roles of testosterone, LH &amp; FSH)</a:t>
            </a:r>
            <a:endParaRPr sz="2000">
              <a:solidFill>
                <a:srgbClr val="3F3F3F"/>
              </a:solidFill>
            </a:endParaRPr>
          </a:p>
          <a:p>
            <a:pPr indent="-306473" lvl="0" marL="342900" rtl="0" algn="l">
              <a:lnSpc>
                <a:spcPct val="115000"/>
              </a:lnSpc>
              <a:spcBef>
                <a:spcPts val="1000"/>
              </a:spcBef>
              <a:spcAft>
                <a:spcPts val="0"/>
              </a:spcAft>
              <a:buClr>
                <a:srgbClr val="3F3F3F"/>
              </a:buClr>
              <a:buSzPts val="2000"/>
              <a:buFont typeface="Verdana"/>
              <a:buChar char="○"/>
            </a:pPr>
            <a:r>
              <a:rPr lang="en-CA" sz="2000">
                <a:solidFill>
                  <a:srgbClr val="3F3F3F"/>
                </a:solidFill>
              </a:rPr>
              <a:t>The female reproductive system (key structures, oogenesis, secondary sex characteristics)</a:t>
            </a:r>
            <a:endParaRPr sz="2000">
              <a:solidFill>
                <a:srgbClr val="3F3F3F"/>
              </a:solidFill>
            </a:endParaRPr>
          </a:p>
          <a:p>
            <a:pPr indent="-306473" lvl="0" marL="342900" rtl="0" algn="l">
              <a:lnSpc>
                <a:spcPct val="115000"/>
              </a:lnSpc>
              <a:spcBef>
                <a:spcPts val="1000"/>
              </a:spcBef>
              <a:spcAft>
                <a:spcPts val="0"/>
              </a:spcAft>
              <a:buClr>
                <a:srgbClr val="3F3F3F"/>
              </a:buClr>
              <a:buSzPts val="2000"/>
              <a:buFont typeface="Verdana"/>
              <a:buChar char="○"/>
            </a:pPr>
            <a:r>
              <a:rPr lang="en-CA" sz="2000">
                <a:solidFill>
                  <a:srgbClr val="3F3F3F"/>
                </a:solidFill>
              </a:rPr>
              <a:t>Sexually transmitted infections</a:t>
            </a:r>
            <a:endParaRPr sz="2000">
              <a:solidFill>
                <a:srgbClr val="3F3F3F"/>
              </a:solidFill>
            </a:endParaRPr>
          </a:p>
          <a:p>
            <a:pPr indent="-306473" lvl="0" marL="342900" rtl="0" algn="l">
              <a:lnSpc>
                <a:spcPct val="115000"/>
              </a:lnSpc>
              <a:spcBef>
                <a:spcPts val="1000"/>
              </a:spcBef>
              <a:spcAft>
                <a:spcPts val="0"/>
              </a:spcAft>
              <a:buClr>
                <a:srgbClr val="3F3F3F"/>
              </a:buClr>
              <a:buSzPts val="2000"/>
              <a:buFont typeface="Noto Sans Symbols"/>
              <a:buChar char="○"/>
            </a:pPr>
            <a:r>
              <a:rPr lang="en-CA" sz="2000">
                <a:solidFill>
                  <a:srgbClr val="3F3F3F"/>
                </a:solidFill>
              </a:rPr>
              <a:t>Hormonal regulation of gametogenesis</a:t>
            </a:r>
            <a:endParaRPr sz="2000">
              <a:solidFill>
                <a:srgbClr val="3F3F3F"/>
              </a:solidFill>
            </a:endParaRPr>
          </a:p>
          <a:p>
            <a:pPr indent="0" lvl="0" marL="342900" rtl="0" algn="l">
              <a:lnSpc>
                <a:spcPct val="115000"/>
              </a:lnSpc>
              <a:spcBef>
                <a:spcPts val="1000"/>
              </a:spcBef>
              <a:spcAft>
                <a:spcPts val="0"/>
              </a:spcAft>
              <a:buNone/>
            </a:pPr>
            <a:r>
              <a:t/>
            </a:r>
            <a:endParaRPr sz="2000">
              <a:solidFill>
                <a:srgbClr val="3F3F3F"/>
              </a:solidFill>
            </a:endParaRPr>
          </a:p>
          <a:p>
            <a:pPr indent="0" lvl="0" marL="342900" rtl="0" algn="ctr">
              <a:lnSpc>
                <a:spcPct val="115000"/>
              </a:lnSpc>
              <a:spcBef>
                <a:spcPts val="1000"/>
              </a:spcBef>
              <a:spcAft>
                <a:spcPts val="0"/>
              </a:spcAft>
              <a:buNone/>
            </a:pPr>
            <a:r>
              <a:rPr b="1" i="1" lang="en-CA" sz="2000">
                <a:solidFill>
                  <a:srgbClr val="3F3F3F"/>
                </a:solidFill>
              </a:rPr>
              <a:t>Textbook pages 476-505</a:t>
            </a:r>
            <a:endParaRPr b="1" i="1" sz="2000">
              <a:solidFill>
                <a:srgbClr val="3F3F3F"/>
              </a:solidFill>
            </a:endParaRPr>
          </a:p>
          <a:p>
            <a:pPr indent="0" lvl="0" marL="342900" marR="0" rtl="0" algn="l">
              <a:lnSpc>
                <a:spcPct val="100000"/>
              </a:lnSpc>
              <a:spcBef>
                <a:spcPts val="1407"/>
              </a:spcBef>
              <a:spcAft>
                <a:spcPts val="0"/>
              </a:spcAft>
              <a:buNone/>
            </a:pPr>
            <a:r>
              <a:t/>
            </a:r>
            <a:endParaRPr/>
          </a:p>
        </p:txBody>
      </p:sp>
      <p:sp>
        <p:nvSpPr>
          <p:cNvPr id="273" name="Google Shape;273;p15"/>
          <p:cNvSpPr txBox="1"/>
          <p:nvPr>
            <p:ph idx="4294967295" type="title"/>
          </p:nvPr>
        </p:nvSpPr>
        <p:spPr>
          <a:xfrm>
            <a:off x="934775" y="1145550"/>
            <a:ext cx="7599900" cy="6696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CA" sz="2800"/>
              <a:t>Chapter 14 The Reproductive 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563725" y="846800"/>
            <a:ext cx="81147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Male and female reproductive systems are characterized by distinct…</a:t>
            </a:r>
            <a:endParaRPr/>
          </a:p>
        </p:txBody>
      </p:sp>
      <p:sp>
        <p:nvSpPr>
          <p:cNvPr id="279" name="Google Shape;279;p16"/>
          <p:cNvSpPr txBox="1"/>
          <p:nvPr>
            <p:ph idx="1" type="body"/>
          </p:nvPr>
        </p:nvSpPr>
        <p:spPr>
          <a:xfrm>
            <a:off x="672000" y="2141800"/>
            <a:ext cx="8066400" cy="3339600"/>
          </a:xfrm>
          <a:prstGeom prst="rect">
            <a:avLst/>
          </a:prstGeom>
          <a:noFill/>
          <a:ln>
            <a:noFill/>
          </a:ln>
        </p:spPr>
        <p:txBody>
          <a:bodyPr anchorCtr="0" anchor="t" bIns="45700" lIns="91425" spcFirstLastPara="1" rIns="91425" wrap="square" tIns="45700">
            <a:noAutofit/>
          </a:bodyPr>
          <a:lstStyle/>
          <a:p>
            <a:pPr indent="-293772" lvl="0" marL="342900" marR="0" rtl="0" algn="l">
              <a:lnSpc>
                <a:spcPct val="100000"/>
              </a:lnSpc>
              <a:spcBef>
                <a:spcPts val="0"/>
              </a:spcBef>
              <a:spcAft>
                <a:spcPts val="0"/>
              </a:spcAft>
              <a:buClr>
                <a:schemeClr val="accent1"/>
              </a:buClr>
              <a:buSzPts val="1800"/>
              <a:buFont typeface="Noto Sans Symbols"/>
              <a:buChar char="○"/>
            </a:pPr>
            <a:r>
              <a:rPr b="1" i="0" lang="en-CA" sz="1800" u="none" cap="none" strike="noStrike">
                <a:solidFill>
                  <a:schemeClr val="accent1"/>
                </a:solidFill>
              </a:rPr>
              <a:t>Gonads</a:t>
            </a:r>
            <a:r>
              <a:rPr b="0" i="0" lang="en-CA" sz="1800" u="none" cap="none" strike="noStrike">
                <a:solidFill>
                  <a:schemeClr val="accent1"/>
                </a:solidFill>
                <a:latin typeface="Verdana"/>
                <a:ea typeface="Verdana"/>
                <a:cs typeface="Verdana"/>
                <a:sym typeface="Verdana"/>
              </a:rPr>
              <a:t> (</a:t>
            </a:r>
            <a:r>
              <a:rPr lang="en-CA" sz="1800">
                <a:solidFill>
                  <a:schemeClr val="accent1"/>
                </a:solidFill>
              </a:rPr>
              <a:t>gamete-producing organs → </a:t>
            </a:r>
            <a:r>
              <a:rPr b="0" i="0" lang="en-CA" sz="1800" u="none" cap="none" strike="noStrike">
                <a:solidFill>
                  <a:schemeClr val="accent1"/>
                </a:solidFill>
                <a:latin typeface="Verdana"/>
                <a:ea typeface="Verdana"/>
                <a:cs typeface="Verdana"/>
                <a:sym typeface="Verdana"/>
              </a:rPr>
              <a:t>testes vs. ovaries)</a:t>
            </a:r>
            <a:endParaRPr sz="1800"/>
          </a:p>
          <a:p>
            <a:pPr indent="-293772" lvl="0" marL="342900" marR="0" rtl="0" algn="l">
              <a:lnSpc>
                <a:spcPct val="100000"/>
              </a:lnSpc>
              <a:spcBef>
                <a:spcPts val="1000"/>
              </a:spcBef>
              <a:spcAft>
                <a:spcPts val="0"/>
              </a:spcAft>
              <a:buClr>
                <a:schemeClr val="accent1"/>
              </a:buClr>
              <a:buSzPts val="1800"/>
              <a:buFont typeface="Noto Sans Symbols"/>
              <a:buChar char="○"/>
            </a:pPr>
            <a:r>
              <a:rPr b="1" i="0" lang="en-CA" sz="1800" u="none" cap="none" strike="noStrike">
                <a:solidFill>
                  <a:schemeClr val="accent1"/>
                </a:solidFill>
              </a:rPr>
              <a:t>Sex hormones </a:t>
            </a:r>
            <a:r>
              <a:rPr b="0" i="0" lang="en-CA" sz="1800" u="none" cap="none" strike="noStrike">
                <a:solidFill>
                  <a:schemeClr val="accent1"/>
                </a:solidFill>
                <a:latin typeface="Verdana"/>
                <a:ea typeface="Verdana"/>
                <a:cs typeface="Verdana"/>
                <a:sym typeface="Verdana"/>
              </a:rPr>
              <a:t>(testosterone vs. estrogen)</a:t>
            </a:r>
            <a:endParaRPr sz="1800"/>
          </a:p>
          <a:p>
            <a:pPr indent="-293772" lvl="0" marL="342900" marR="0" rtl="0" algn="l">
              <a:lnSpc>
                <a:spcPct val="100000"/>
              </a:lnSpc>
              <a:spcBef>
                <a:spcPts val="1000"/>
              </a:spcBef>
              <a:spcAft>
                <a:spcPts val="0"/>
              </a:spcAft>
              <a:buClr>
                <a:schemeClr val="accent1"/>
              </a:buClr>
              <a:buSzPts val="1800"/>
              <a:buFont typeface="Noto Sans Symbols"/>
              <a:buChar char="○"/>
            </a:pPr>
            <a:r>
              <a:rPr b="1" i="0" lang="en-CA" sz="1800" u="none" cap="none" strike="noStrike">
                <a:solidFill>
                  <a:schemeClr val="accent1"/>
                </a:solidFill>
              </a:rPr>
              <a:t>Gametes </a:t>
            </a:r>
            <a:r>
              <a:rPr b="0" i="0" lang="en-CA" sz="1800" u="none" cap="none" strike="noStrike">
                <a:solidFill>
                  <a:schemeClr val="accent1"/>
                </a:solidFill>
                <a:latin typeface="Verdana"/>
                <a:ea typeface="Verdana"/>
                <a:cs typeface="Verdana"/>
                <a:sym typeface="Verdana"/>
              </a:rPr>
              <a:t>(sex cells</a:t>
            </a:r>
            <a:r>
              <a:rPr lang="en-CA" sz="1800">
                <a:solidFill>
                  <a:schemeClr val="accent1"/>
                </a:solidFill>
              </a:rPr>
              <a:t> → </a:t>
            </a:r>
            <a:r>
              <a:rPr b="0" i="0" lang="en-CA" sz="1800" u="none" cap="none" strike="noStrike">
                <a:solidFill>
                  <a:schemeClr val="accent1"/>
                </a:solidFill>
                <a:latin typeface="Verdana"/>
                <a:ea typeface="Verdana"/>
                <a:cs typeface="Verdana"/>
                <a:sym typeface="Verdana"/>
              </a:rPr>
              <a:t>sperm vs. eggs)</a:t>
            </a:r>
            <a:endParaRPr sz="1800"/>
          </a:p>
          <a:p>
            <a:pPr indent="-293773" lvl="0" marL="342900" marR="0" rtl="0" algn="l">
              <a:lnSpc>
                <a:spcPct val="100000"/>
              </a:lnSpc>
              <a:spcBef>
                <a:spcPts val="1000"/>
              </a:spcBef>
              <a:spcAft>
                <a:spcPts val="0"/>
              </a:spcAft>
              <a:buClr>
                <a:schemeClr val="accent1"/>
              </a:buClr>
              <a:buSzPts val="1800"/>
              <a:buFont typeface="Noto Sans Symbols"/>
              <a:buChar char="○"/>
            </a:pPr>
            <a:r>
              <a:rPr b="1" i="0" lang="en-CA" sz="1800" u="none" cap="none" strike="noStrike">
                <a:solidFill>
                  <a:schemeClr val="accent1"/>
                </a:solidFill>
              </a:rPr>
              <a:t>Primary sex characteristics </a:t>
            </a:r>
            <a:endParaRPr b="1" i="0" sz="1800" u="none" cap="none" strike="noStrike">
              <a:solidFill>
                <a:schemeClr val="accent1"/>
              </a:solidFill>
            </a:endParaRPr>
          </a:p>
          <a:p>
            <a:pPr indent="-282448" lvl="1" marL="640080" marR="0" rtl="0" algn="l">
              <a:lnSpc>
                <a:spcPct val="100000"/>
              </a:lnSpc>
              <a:spcBef>
                <a:spcPts val="1000"/>
              </a:spcBef>
              <a:spcAft>
                <a:spcPts val="0"/>
              </a:spcAft>
              <a:buClr>
                <a:schemeClr val="accent1"/>
              </a:buClr>
              <a:buSzPts val="1800"/>
              <a:buFont typeface="Noto Sans Symbols"/>
              <a:buChar char="○"/>
            </a:pPr>
            <a:r>
              <a:rPr lang="en-CA" sz="1800">
                <a:solidFill>
                  <a:schemeClr val="accent1"/>
                </a:solidFill>
              </a:rPr>
              <a:t>These are the </a:t>
            </a:r>
            <a:r>
              <a:rPr b="1" lang="en-CA" sz="1800">
                <a:solidFill>
                  <a:schemeClr val="accent1"/>
                </a:solidFill>
              </a:rPr>
              <a:t>reproductive organs/structures</a:t>
            </a:r>
            <a:endParaRPr b="1" sz="1800">
              <a:solidFill>
                <a:schemeClr val="accent1"/>
              </a:solidFill>
            </a:endParaRPr>
          </a:p>
          <a:p>
            <a:pPr indent="-282448" lvl="1" marL="640080" marR="0" rtl="0" algn="l">
              <a:lnSpc>
                <a:spcPct val="100000"/>
              </a:lnSpc>
              <a:spcBef>
                <a:spcPts val="1000"/>
              </a:spcBef>
              <a:spcAft>
                <a:spcPts val="0"/>
              </a:spcAft>
              <a:buClr>
                <a:schemeClr val="accent1"/>
              </a:buClr>
              <a:buSzPts val="1800"/>
              <a:buFont typeface="Noto Sans Symbols"/>
              <a:buChar char="○"/>
            </a:pPr>
            <a:r>
              <a:rPr lang="en-CA" sz="1800">
                <a:solidFill>
                  <a:schemeClr val="accent1"/>
                </a:solidFill>
              </a:rPr>
              <a:t>Typically </a:t>
            </a:r>
            <a:r>
              <a:rPr b="1" lang="en-CA" sz="1800">
                <a:solidFill>
                  <a:schemeClr val="accent1"/>
                </a:solidFill>
              </a:rPr>
              <a:t>present at birth</a:t>
            </a:r>
            <a:r>
              <a:rPr lang="en-CA" sz="1800">
                <a:solidFill>
                  <a:schemeClr val="accent1"/>
                </a:solidFill>
              </a:rPr>
              <a:t> but further develop during puberty</a:t>
            </a:r>
            <a:endParaRPr sz="1800"/>
          </a:p>
          <a:p>
            <a:pPr indent="-293773" lvl="0" marL="342900" marR="0" rtl="0" algn="l">
              <a:lnSpc>
                <a:spcPct val="100000"/>
              </a:lnSpc>
              <a:spcBef>
                <a:spcPts val="1000"/>
              </a:spcBef>
              <a:spcAft>
                <a:spcPts val="0"/>
              </a:spcAft>
              <a:buClr>
                <a:schemeClr val="accent1"/>
              </a:buClr>
              <a:buSzPts val="1800"/>
              <a:buFont typeface="Noto Sans Symbols"/>
              <a:buChar char="○"/>
            </a:pPr>
            <a:r>
              <a:rPr b="1" i="0" lang="en-CA" sz="1800" u="none" cap="none" strike="noStrike">
                <a:solidFill>
                  <a:schemeClr val="accent1"/>
                </a:solidFill>
              </a:rPr>
              <a:t>Secondary sex characteristics </a:t>
            </a:r>
            <a:endParaRPr b="1" i="0" sz="1800" u="none" cap="none" strike="noStrike">
              <a:solidFill>
                <a:schemeClr val="accent1"/>
              </a:solidFill>
            </a:endParaRPr>
          </a:p>
          <a:p>
            <a:pPr indent="-282448" lvl="1" marL="640080" marR="0" rtl="0" algn="l">
              <a:lnSpc>
                <a:spcPct val="100000"/>
              </a:lnSpc>
              <a:spcBef>
                <a:spcPts val="1000"/>
              </a:spcBef>
              <a:spcAft>
                <a:spcPts val="0"/>
              </a:spcAft>
              <a:buClr>
                <a:schemeClr val="accent1"/>
              </a:buClr>
              <a:buSzPts val="1800"/>
              <a:buFont typeface="Noto Sans Symbols"/>
              <a:buChar char="○"/>
            </a:pPr>
            <a:r>
              <a:rPr b="0" i="0" lang="en-CA" sz="1800" u="none" cap="none" strike="noStrike">
                <a:solidFill>
                  <a:schemeClr val="accent1"/>
                </a:solidFill>
                <a:latin typeface="Verdana"/>
                <a:ea typeface="Verdana"/>
                <a:cs typeface="Verdana"/>
                <a:sym typeface="Verdana"/>
              </a:rPr>
              <a:t>features not directly related to reproduction</a:t>
            </a:r>
            <a:r>
              <a:rPr lang="en-CA" sz="1800">
                <a:solidFill>
                  <a:schemeClr val="accent1"/>
                </a:solidFill>
              </a:rPr>
              <a:t> </a:t>
            </a:r>
            <a:endParaRPr sz="1800">
              <a:solidFill>
                <a:schemeClr val="accent1"/>
              </a:solidFill>
            </a:endParaRPr>
          </a:p>
          <a:p>
            <a:pPr indent="-282448" lvl="1" marL="640080" marR="0" rtl="0" algn="l">
              <a:lnSpc>
                <a:spcPct val="100000"/>
              </a:lnSpc>
              <a:spcBef>
                <a:spcPts val="1000"/>
              </a:spcBef>
              <a:spcAft>
                <a:spcPts val="0"/>
              </a:spcAft>
              <a:buClr>
                <a:schemeClr val="accent1"/>
              </a:buClr>
              <a:buSzPts val="1800"/>
              <a:buChar char="○"/>
            </a:pPr>
            <a:r>
              <a:rPr lang="en-CA" sz="1800">
                <a:solidFill>
                  <a:schemeClr val="accent1"/>
                </a:solidFill>
              </a:rPr>
              <a:t>Develop over time, especially after puberty, in response to increased sex-hormone levels</a:t>
            </a:r>
            <a:endParaRPr sz="1800">
              <a:solidFill>
                <a:schemeClr val="accent1"/>
              </a:solidFill>
            </a:endParaRPr>
          </a:p>
          <a:p>
            <a:pPr indent="-282448" lvl="1" marL="640080" marR="0" rtl="0" algn="l">
              <a:lnSpc>
                <a:spcPct val="100000"/>
              </a:lnSpc>
              <a:spcBef>
                <a:spcPts val="1000"/>
              </a:spcBef>
              <a:spcAft>
                <a:spcPts val="1000"/>
              </a:spcAft>
              <a:buClr>
                <a:schemeClr val="accent1"/>
              </a:buClr>
              <a:buSzPts val="1800"/>
              <a:buChar char="○"/>
            </a:pPr>
            <a:r>
              <a:rPr lang="en-CA" sz="1800">
                <a:solidFill>
                  <a:schemeClr val="accent1"/>
                </a:solidFill>
              </a:rPr>
              <a:t>e</a:t>
            </a:r>
            <a:r>
              <a:rPr lang="en-CA" sz="1800">
                <a:solidFill>
                  <a:schemeClr val="accent1"/>
                </a:solidFill>
              </a:rPr>
              <a:t>.g. facial hair, voice changes, breast development, etc.</a:t>
            </a:r>
            <a:endParaRPr sz="18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1043490" y="1027664"/>
            <a:ext cx="7024800" cy="114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CA" sz="3800"/>
              <a:t>Primary vs. Secondary Sex Characteristics</a:t>
            </a:r>
            <a:endParaRPr b="1" sz="3800"/>
          </a:p>
        </p:txBody>
      </p:sp>
      <p:sp>
        <p:nvSpPr>
          <p:cNvPr id="286" name="Google Shape;286;p17"/>
          <p:cNvSpPr txBox="1"/>
          <p:nvPr>
            <p:ph idx="1" type="body"/>
          </p:nvPr>
        </p:nvSpPr>
        <p:spPr>
          <a:xfrm>
            <a:off x="1043492" y="2323652"/>
            <a:ext cx="6777300" cy="35091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t/>
            </a:r>
            <a:endParaRPr/>
          </a:p>
        </p:txBody>
      </p:sp>
      <p:pic>
        <p:nvPicPr>
          <p:cNvPr id="287" name="Google Shape;287;p17"/>
          <p:cNvPicPr preferRelativeResize="0"/>
          <p:nvPr/>
        </p:nvPicPr>
        <p:blipFill rotWithShape="1">
          <a:blip r:embed="rId3">
            <a:alphaModFix/>
          </a:blip>
          <a:srcRect b="0" l="0" r="0" t="6769"/>
          <a:stretch/>
        </p:blipFill>
        <p:spPr>
          <a:xfrm>
            <a:off x="276250" y="2390875"/>
            <a:ext cx="8591501" cy="3792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501150" y="1534150"/>
            <a:ext cx="8203500" cy="94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CA"/>
              <a:t>Control of Reproductive System </a:t>
            </a:r>
            <a:endParaRPr b="1"/>
          </a:p>
          <a:p>
            <a:pPr indent="0" lvl="0" marL="0" rtl="0" algn="ctr">
              <a:spcBef>
                <a:spcPts val="0"/>
              </a:spcBef>
              <a:spcAft>
                <a:spcPts val="0"/>
              </a:spcAft>
              <a:buNone/>
            </a:pPr>
            <a:r>
              <a:rPr i="1" lang="en-CA" sz="3400"/>
              <a:t>Sex Determination</a:t>
            </a:r>
            <a:endParaRPr i="1" sz="3400"/>
          </a:p>
        </p:txBody>
      </p:sp>
      <p:sp>
        <p:nvSpPr>
          <p:cNvPr id="294" name="Google Shape;294;p18"/>
          <p:cNvSpPr txBox="1"/>
          <p:nvPr/>
        </p:nvSpPr>
        <p:spPr>
          <a:xfrm>
            <a:off x="870250" y="2097975"/>
            <a:ext cx="7620000" cy="366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t/>
            </a:r>
            <a:endParaRPr sz="1800">
              <a:solidFill>
                <a:srgbClr val="404040"/>
              </a:solidFill>
              <a:latin typeface="Trebuchet MS"/>
              <a:ea typeface="Trebuchet MS"/>
              <a:cs typeface="Trebuchet MS"/>
              <a:sym typeface="Trebuchet MS"/>
            </a:endParaRPr>
          </a:p>
          <a:p>
            <a:pPr indent="-342900" lvl="1" marL="457200" rtl="0" algn="l">
              <a:lnSpc>
                <a:spcPct val="115000"/>
              </a:lnSpc>
              <a:spcBef>
                <a:spcPts val="100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How do embryos develop into male or female?</a:t>
            </a:r>
            <a:endParaRPr sz="1600">
              <a:solidFill>
                <a:srgbClr val="404040"/>
              </a:solidFill>
              <a:latin typeface="Trebuchet MS"/>
              <a:ea typeface="Trebuchet MS"/>
              <a:cs typeface="Trebuchet MS"/>
              <a:sym typeface="Trebuchet MS"/>
            </a:endParaRPr>
          </a:p>
          <a:p>
            <a:pPr indent="-342900" lvl="1" marL="457200" rtl="0" algn="l">
              <a:lnSpc>
                <a:spcPct val="115000"/>
              </a:lnSpc>
              <a:spcBef>
                <a:spcPts val="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There are 23 pairs of chromosomes in humans (46 total)</a:t>
            </a:r>
            <a:endParaRPr sz="1600">
              <a:solidFill>
                <a:srgbClr val="404040"/>
              </a:solidFill>
              <a:latin typeface="Trebuchet MS"/>
              <a:ea typeface="Trebuchet MS"/>
              <a:cs typeface="Trebuchet MS"/>
              <a:sym typeface="Trebuchet MS"/>
            </a:endParaRPr>
          </a:p>
          <a:p>
            <a:pPr indent="-342900" lvl="1" marL="457200" rtl="0" algn="l">
              <a:lnSpc>
                <a:spcPct val="115000"/>
              </a:lnSpc>
              <a:spcBef>
                <a:spcPts val="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The 23rd pair is the sex chromosome pair, and are different between male/female</a:t>
            </a:r>
            <a:endParaRPr sz="1600">
              <a:solidFill>
                <a:srgbClr val="404040"/>
              </a:solidFill>
              <a:latin typeface="Trebuchet MS"/>
              <a:ea typeface="Trebuchet MS"/>
              <a:cs typeface="Trebuchet MS"/>
              <a:sym typeface="Trebuchet MS"/>
            </a:endParaRPr>
          </a:p>
          <a:p>
            <a:pPr indent="-342900" lvl="2" marL="1371600" rtl="0" algn="l">
              <a:lnSpc>
                <a:spcPct val="115000"/>
              </a:lnSpc>
              <a:spcBef>
                <a:spcPts val="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Females have two ‘X’ chromosomes (XX)</a:t>
            </a:r>
            <a:endParaRPr sz="1600">
              <a:solidFill>
                <a:srgbClr val="404040"/>
              </a:solidFill>
              <a:latin typeface="Trebuchet MS"/>
              <a:ea typeface="Trebuchet MS"/>
              <a:cs typeface="Trebuchet MS"/>
              <a:sym typeface="Trebuchet MS"/>
            </a:endParaRPr>
          </a:p>
          <a:p>
            <a:pPr indent="-342900" lvl="2" marL="1371600" rtl="0" algn="l">
              <a:lnSpc>
                <a:spcPct val="115000"/>
              </a:lnSpc>
              <a:spcBef>
                <a:spcPts val="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Males have an X and a Y chromosome (XY)</a:t>
            </a:r>
            <a:endParaRPr sz="1600">
              <a:solidFill>
                <a:srgbClr val="404040"/>
              </a:solidFill>
              <a:latin typeface="Trebuchet MS"/>
              <a:ea typeface="Trebuchet MS"/>
              <a:cs typeface="Trebuchet MS"/>
              <a:sym typeface="Trebuchet MS"/>
            </a:endParaRPr>
          </a:p>
          <a:p>
            <a:pPr indent="-342900" lvl="1" marL="457200" rtl="0" algn="l">
              <a:lnSpc>
                <a:spcPct val="115000"/>
              </a:lnSpc>
              <a:spcBef>
                <a:spcPts val="0"/>
              </a:spcBef>
              <a:spcAft>
                <a:spcPts val="0"/>
              </a:spcAft>
              <a:buClr>
                <a:srgbClr val="404040"/>
              </a:buClr>
              <a:buSzPts val="1800"/>
              <a:buFont typeface="Trebuchet MS"/>
              <a:buChar char="○"/>
            </a:pPr>
            <a:r>
              <a:rPr lang="en-CA" sz="1600">
                <a:solidFill>
                  <a:srgbClr val="404040"/>
                </a:solidFill>
                <a:latin typeface="Trebuchet MS"/>
                <a:ea typeface="Trebuchet MS"/>
                <a:cs typeface="Trebuchet MS"/>
                <a:sym typeface="Trebuchet MS"/>
              </a:rPr>
              <a:t>The presence of a Y chromosome stimulates the production of testes</a:t>
            </a:r>
            <a:endParaRPr sz="1600">
              <a:solidFill>
                <a:srgbClr val="404040"/>
              </a:solidFill>
              <a:latin typeface="Trebuchet MS"/>
              <a:ea typeface="Trebuchet MS"/>
              <a:cs typeface="Trebuchet MS"/>
              <a:sym typeface="Trebuchet MS"/>
            </a:endParaRPr>
          </a:p>
          <a:p>
            <a:pPr indent="-330200" lvl="2" marL="1371600" rtl="0" algn="l">
              <a:lnSpc>
                <a:spcPct val="115000"/>
              </a:lnSpc>
              <a:spcBef>
                <a:spcPts val="0"/>
              </a:spcBef>
              <a:spcAft>
                <a:spcPts val="0"/>
              </a:spcAft>
              <a:buClr>
                <a:srgbClr val="404040"/>
              </a:buClr>
              <a:buSzPts val="1600"/>
              <a:buFont typeface="Trebuchet MS"/>
              <a:buChar char="■"/>
            </a:pPr>
            <a:r>
              <a:rPr lang="en-CA" sz="1600">
                <a:solidFill>
                  <a:srgbClr val="404040"/>
                </a:solidFill>
                <a:latin typeface="Trebuchet MS"/>
                <a:ea typeface="Trebuchet MS"/>
                <a:cs typeface="Trebuchet MS"/>
                <a:sym typeface="Trebuchet MS"/>
              </a:rPr>
              <a:t>Testes in turn secrete testosterone which leads to the development of male sex characteristics 6-7 weeks after fertilization</a:t>
            </a:r>
            <a:endParaRPr sz="2400">
              <a:solidFill>
                <a:schemeClr val="dk2"/>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Our month-long exploration of human reproduction continues with a look at testicular anatomy, the steps of sperm production, and how it’s influenced by gonadotropin and testosterone. Hank also explains how sperm mature, and how they leave the body on a tide of glandular secretions during ejaculation. &#10;&#10;Anatomy &amp; Physiology poster: http://store.dftba.com/products/crashcourse-anatomy-and-physiology-poster&#10;&#10;Table of Contents&#10;Testicular Anatomy 1:53&#10;Sperm Production 2:07&#10;The Influence of Gonadotropin and Testosterone 3:24&#10;How Sperm Mature and Leave the Body 5:35&#10;Glandular Secretions During Ejaculation 6:45&#10;&#10;***&#10;&#10;Crash Course is on Patreon! You can support us directly by signing up at http://www.patreon.com/crashcourse&#10;&#10;Thanks to the following Patrons for their generous monthly contributions that help keep Crash Course free for everyone forever:&#10;&#10;Mark, Eric Kitchen, Jessica Wode, Jeffrey Thompson, Steve Marshall, Moritz Schmidt, Robert Kunz, Tim Curwick, Jason A Saslow, SR Foxley, Elliot Beter, Jacob Ash, Christian, Jan Schmid, Jirat, Christy Huddleston, Daniel Baulig, Chris Peters, Anna-Ester Volozh, Ian Dundore, Caleb Weeks&#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300" name="Google Shape;300;p19" title="Reproductive System, part 2 - Male Reproductive System: Crash Course A&amp;P 41">
            <a:hlinkClick r:id="rId3"/>
          </p:cNvPr>
          <p:cNvPicPr preferRelativeResize="0"/>
          <p:nvPr/>
        </p:nvPicPr>
        <p:blipFill>
          <a:blip r:embed="rId4">
            <a:alphaModFix/>
          </a:blip>
          <a:stretch>
            <a:fillRect/>
          </a:stretch>
        </p:blipFill>
        <p:spPr>
          <a:xfrm>
            <a:off x="2286000" y="2418925"/>
            <a:ext cx="4572000" cy="3429000"/>
          </a:xfrm>
          <a:prstGeom prst="rect">
            <a:avLst/>
          </a:prstGeom>
          <a:noFill/>
          <a:ln>
            <a:noFill/>
          </a:ln>
        </p:spPr>
      </p:pic>
      <p:sp>
        <p:nvSpPr>
          <p:cNvPr id="301" name="Google Shape;301;p19"/>
          <p:cNvSpPr txBox="1"/>
          <p:nvPr>
            <p:ph type="title"/>
          </p:nvPr>
        </p:nvSpPr>
        <p:spPr>
          <a:xfrm>
            <a:off x="1059590" y="990973"/>
            <a:ext cx="70248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The Male Reproductive System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0"/>
          <p:cNvSpPr txBox="1"/>
          <p:nvPr>
            <p:ph type="title"/>
          </p:nvPr>
        </p:nvSpPr>
        <p:spPr>
          <a:xfrm>
            <a:off x="1043490" y="917848"/>
            <a:ext cx="7024744"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The Male Reproductive System</a:t>
            </a:r>
            <a:endParaRPr b="1" i="0" sz="3200" u="none" cap="none" strike="noStrike">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800"/>
              <a:buFont typeface="Verdana"/>
              <a:buNone/>
            </a:pPr>
            <a:r>
              <a:rPr i="1" lang="en-CA" sz="1400"/>
              <a:t>*you need to know all these structures and functions. A more comprehensive table with functions is on a later slide.</a:t>
            </a:r>
            <a:endParaRPr i="1" sz="1400"/>
          </a:p>
        </p:txBody>
      </p:sp>
      <p:sp>
        <p:nvSpPr>
          <p:cNvPr id="307" name="Google Shape;307;p20"/>
          <p:cNvSpPr txBox="1"/>
          <p:nvPr/>
        </p:nvSpPr>
        <p:spPr>
          <a:xfrm>
            <a:off x="2445175" y="3751288"/>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grpSp>
        <p:nvGrpSpPr>
          <p:cNvPr id="308" name="Google Shape;308;p20"/>
          <p:cNvGrpSpPr/>
          <p:nvPr/>
        </p:nvGrpSpPr>
        <p:grpSpPr>
          <a:xfrm>
            <a:off x="20375" y="2132300"/>
            <a:ext cx="9070975" cy="3384375"/>
            <a:chOff x="20375" y="2132300"/>
            <a:chExt cx="9070975" cy="3384375"/>
          </a:xfrm>
        </p:grpSpPr>
        <p:grpSp>
          <p:nvGrpSpPr>
            <p:cNvPr id="309" name="Google Shape;309;p20"/>
            <p:cNvGrpSpPr/>
            <p:nvPr/>
          </p:nvGrpSpPr>
          <p:grpSpPr>
            <a:xfrm>
              <a:off x="20375" y="2132300"/>
              <a:ext cx="9070975" cy="3384375"/>
              <a:chOff x="36513" y="2060850"/>
              <a:chExt cx="9070975" cy="3384375"/>
            </a:xfrm>
          </p:grpSpPr>
          <p:pic>
            <p:nvPicPr>
              <p:cNvPr id="310" name="Google Shape;310;p20"/>
              <p:cNvPicPr preferRelativeResize="0"/>
              <p:nvPr/>
            </p:nvPicPr>
            <p:blipFill rotWithShape="1">
              <a:blip r:embed="rId3">
                <a:alphaModFix/>
              </a:blip>
              <a:srcRect b="0" l="0" r="0" t="0"/>
              <a:stretch/>
            </p:blipFill>
            <p:spPr>
              <a:xfrm>
                <a:off x="36513" y="2060850"/>
                <a:ext cx="9070975" cy="3384375"/>
              </a:xfrm>
              <a:prstGeom prst="rect">
                <a:avLst/>
              </a:prstGeom>
              <a:noFill/>
              <a:ln>
                <a:noFill/>
              </a:ln>
            </p:spPr>
          </p:pic>
          <p:sp>
            <p:nvSpPr>
              <p:cNvPr id="311" name="Google Shape;311;p20"/>
              <p:cNvSpPr txBox="1"/>
              <p:nvPr/>
            </p:nvSpPr>
            <p:spPr>
              <a:xfrm>
                <a:off x="6743925" y="4217175"/>
                <a:ext cx="2312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CA" sz="700">
                    <a:solidFill>
                      <a:schemeClr val="dk2"/>
                    </a:solidFill>
                    <a:latin typeface="Verdana"/>
                    <a:ea typeface="Verdana"/>
                    <a:cs typeface="Verdana"/>
                    <a:sym typeface="Verdana"/>
                  </a:rPr>
                  <a:t>(secretes alkaline </a:t>
                </a:r>
                <a:r>
                  <a:rPr lang="en-CA" sz="700">
                    <a:solidFill>
                      <a:schemeClr val="dk2"/>
                    </a:solidFill>
                    <a:latin typeface="Verdana"/>
                    <a:ea typeface="Verdana"/>
                    <a:cs typeface="Verdana"/>
                    <a:sym typeface="Verdana"/>
                  </a:rPr>
                  <a:t>mucus</a:t>
                </a:r>
                <a:r>
                  <a:rPr lang="en-CA" sz="700">
                    <a:solidFill>
                      <a:schemeClr val="dk2"/>
                    </a:solidFill>
                    <a:latin typeface="Verdana"/>
                    <a:ea typeface="Verdana"/>
                    <a:cs typeface="Verdana"/>
                    <a:sym typeface="Verdana"/>
                  </a:rPr>
                  <a:t> to protect sperm)</a:t>
                </a:r>
                <a:endParaRPr sz="700">
                  <a:solidFill>
                    <a:schemeClr val="dk2"/>
                  </a:solidFill>
                  <a:latin typeface="Verdana"/>
                  <a:ea typeface="Verdana"/>
                  <a:cs typeface="Verdana"/>
                  <a:sym typeface="Verdana"/>
                </a:endParaRPr>
              </a:p>
            </p:txBody>
          </p:sp>
          <p:sp>
            <p:nvSpPr>
              <p:cNvPr id="312" name="Google Shape;312;p20"/>
              <p:cNvSpPr txBox="1"/>
              <p:nvPr/>
            </p:nvSpPr>
            <p:spPr>
              <a:xfrm>
                <a:off x="6905325" y="3928350"/>
                <a:ext cx="20322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CA" sz="700">
                    <a:solidFill>
                      <a:schemeClr val="dk2"/>
                    </a:solidFill>
                    <a:latin typeface="Verdana"/>
                    <a:ea typeface="Verdana"/>
                    <a:cs typeface="Verdana"/>
                    <a:sym typeface="Verdana"/>
                  </a:rPr>
                  <a:t>(secretes alkaline mucus to protect sperm)</a:t>
                </a:r>
                <a:endParaRPr sz="700">
                  <a:solidFill>
                    <a:schemeClr val="dk2"/>
                  </a:solidFill>
                  <a:latin typeface="Verdana"/>
                  <a:ea typeface="Verdana"/>
                  <a:cs typeface="Verdana"/>
                  <a:sym typeface="Verdana"/>
                </a:endParaRPr>
              </a:p>
            </p:txBody>
          </p:sp>
          <p:sp>
            <p:nvSpPr>
              <p:cNvPr id="313" name="Google Shape;313;p20"/>
              <p:cNvSpPr txBox="1"/>
              <p:nvPr/>
            </p:nvSpPr>
            <p:spPr>
              <a:xfrm>
                <a:off x="6519775" y="3049300"/>
                <a:ext cx="2373900" cy="1629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CA" sz="700">
                    <a:solidFill>
                      <a:schemeClr val="dk2"/>
                    </a:solidFill>
                    <a:latin typeface="Verdana"/>
                    <a:ea typeface="Verdana"/>
                    <a:cs typeface="Verdana"/>
                    <a:sym typeface="Verdana"/>
                  </a:rPr>
                  <a:t>(secretes fructose into semen to provide energy)</a:t>
                </a:r>
                <a:endParaRPr sz="700">
                  <a:solidFill>
                    <a:schemeClr val="dk2"/>
                  </a:solidFill>
                  <a:latin typeface="Verdana"/>
                  <a:ea typeface="Verdana"/>
                  <a:cs typeface="Verdana"/>
                  <a:sym typeface="Verdana"/>
                </a:endParaRPr>
              </a:p>
            </p:txBody>
          </p:sp>
          <p:sp>
            <p:nvSpPr>
              <p:cNvPr id="314" name="Google Shape;314;p20"/>
              <p:cNvSpPr txBox="1"/>
              <p:nvPr/>
            </p:nvSpPr>
            <p:spPr>
              <a:xfrm>
                <a:off x="1411425" y="3307050"/>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15" name="Google Shape;315;p20"/>
              <p:cNvSpPr txBox="1"/>
              <p:nvPr/>
            </p:nvSpPr>
            <p:spPr>
              <a:xfrm>
                <a:off x="7526125" y="2818350"/>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16" name="Google Shape;316;p20"/>
              <p:cNvSpPr txBox="1"/>
              <p:nvPr/>
            </p:nvSpPr>
            <p:spPr>
              <a:xfrm>
                <a:off x="7626025" y="3517763"/>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17" name="Google Shape;317;p20"/>
              <p:cNvSpPr txBox="1"/>
              <p:nvPr/>
            </p:nvSpPr>
            <p:spPr>
              <a:xfrm>
                <a:off x="1322325" y="4405350"/>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18" name="Google Shape;318;p20"/>
              <p:cNvSpPr txBox="1"/>
              <p:nvPr/>
            </p:nvSpPr>
            <p:spPr>
              <a:xfrm>
                <a:off x="5263175" y="5024150"/>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19" name="Google Shape;319;p20"/>
              <p:cNvSpPr txBox="1"/>
              <p:nvPr/>
            </p:nvSpPr>
            <p:spPr>
              <a:xfrm>
                <a:off x="7064150" y="4888750"/>
                <a:ext cx="161400" cy="1629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20" name="Google Shape;320;p20"/>
              <p:cNvSpPr txBox="1"/>
              <p:nvPr/>
            </p:nvSpPr>
            <p:spPr>
              <a:xfrm>
                <a:off x="6743925" y="4129975"/>
                <a:ext cx="161400" cy="903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21" name="Google Shape;321;p20"/>
              <p:cNvSpPr txBox="1"/>
              <p:nvPr/>
            </p:nvSpPr>
            <p:spPr>
              <a:xfrm>
                <a:off x="6743925" y="4405350"/>
                <a:ext cx="161400" cy="1464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sp>
            <p:nvSpPr>
              <p:cNvPr id="322" name="Google Shape;322;p20"/>
              <p:cNvSpPr txBox="1"/>
              <p:nvPr/>
            </p:nvSpPr>
            <p:spPr>
              <a:xfrm>
                <a:off x="6962300" y="3838200"/>
                <a:ext cx="161400" cy="903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t>
                </a:r>
                <a:endParaRPr b="1" sz="800">
                  <a:solidFill>
                    <a:schemeClr val="dk2"/>
                  </a:solidFill>
                  <a:latin typeface="Verdana"/>
                  <a:ea typeface="Verdana"/>
                  <a:cs typeface="Verdana"/>
                  <a:sym typeface="Verdana"/>
                </a:endParaRPr>
              </a:p>
            </p:txBody>
          </p:sp>
        </p:grpSp>
        <p:sp>
          <p:nvSpPr>
            <p:cNvPr id="323" name="Google Shape;323;p20"/>
            <p:cNvSpPr txBox="1"/>
            <p:nvPr/>
          </p:nvSpPr>
          <p:spPr>
            <a:xfrm>
              <a:off x="6611125" y="5116600"/>
              <a:ext cx="2108700" cy="189300"/>
            </a:xfrm>
            <a:prstGeom prst="rect">
              <a:avLst/>
            </a:prstGeom>
            <a:solidFill>
              <a:srgbClr val="FEFEFE"/>
            </a:solidFill>
            <a:ln>
              <a:noFill/>
            </a:ln>
          </p:spPr>
          <p:txBody>
            <a:bodyPr anchorCtr="0" anchor="t" bIns="18000" lIns="18000" spcFirstLastPara="1" rIns="18000" wrap="square" tIns="18000">
              <a:noAutofit/>
            </a:bodyPr>
            <a:lstStyle/>
            <a:p>
              <a:pPr indent="0" lvl="0" marL="0" rtl="0" algn="l">
                <a:spcBef>
                  <a:spcPts val="0"/>
                </a:spcBef>
                <a:spcAft>
                  <a:spcPts val="0"/>
                </a:spcAft>
                <a:buNone/>
              </a:pPr>
              <a:r>
                <a:rPr lang="en-CA" sz="700">
                  <a:solidFill>
                    <a:schemeClr val="dk2"/>
                  </a:solidFill>
                  <a:latin typeface="Verdana"/>
                  <a:ea typeface="Verdana"/>
                  <a:cs typeface="Verdana"/>
                  <a:sym typeface="Verdana"/>
                </a:rPr>
                <a:t>(produces sperm in </a:t>
              </a:r>
              <a:r>
                <a:rPr b="1" lang="en-CA" sz="700">
                  <a:solidFill>
                    <a:schemeClr val="dk2"/>
                  </a:solidFill>
                  <a:latin typeface="Verdana"/>
                  <a:ea typeface="Verdana"/>
                  <a:cs typeface="Verdana"/>
                  <a:sym typeface="Verdana"/>
                </a:rPr>
                <a:t>seminiferous</a:t>
              </a:r>
              <a:r>
                <a:rPr b="1" lang="en-CA" sz="700">
                  <a:solidFill>
                    <a:schemeClr val="dk2"/>
                  </a:solidFill>
                  <a:latin typeface="Verdana"/>
                  <a:ea typeface="Verdana"/>
                  <a:cs typeface="Verdana"/>
                  <a:sym typeface="Verdana"/>
                </a:rPr>
                <a:t> tubules)</a:t>
              </a:r>
              <a:endParaRPr b="1" sz="700">
                <a:solidFill>
                  <a:schemeClr val="dk2"/>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999425" y="889050"/>
            <a:ext cx="7392600" cy="1063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2500"/>
              <a:t>Can you match the structures on the previous page to a front view diagram?</a:t>
            </a:r>
            <a:endParaRPr b="1" sz="2500"/>
          </a:p>
          <a:p>
            <a:pPr indent="0" lvl="0" marL="0" marR="0" rtl="0" algn="ctr">
              <a:lnSpc>
                <a:spcPct val="100000"/>
              </a:lnSpc>
              <a:spcBef>
                <a:spcPts val="0"/>
              </a:spcBef>
              <a:spcAft>
                <a:spcPts val="0"/>
              </a:spcAft>
              <a:buClr>
                <a:schemeClr val="accent1"/>
              </a:buClr>
              <a:buSzPts val="800"/>
              <a:buFont typeface="Verdana"/>
              <a:buNone/>
            </a:pPr>
            <a:r>
              <a:rPr i="1" lang="en-CA" sz="2100"/>
              <a:t>(Answers on the next slide)</a:t>
            </a:r>
            <a:endParaRPr i="1" sz="2100"/>
          </a:p>
        </p:txBody>
      </p:sp>
      <p:grpSp>
        <p:nvGrpSpPr>
          <p:cNvPr id="329" name="Google Shape;329;p21"/>
          <p:cNvGrpSpPr/>
          <p:nvPr/>
        </p:nvGrpSpPr>
        <p:grpSpPr>
          <a:xfrm>
            <a:off x="1334326" y="2131588"/>
            <a:ext cx="7057687" cy="4275502"/>
            <a:chOff x="1691680" y="2204864"/>
            <a:chExt cx="6008076" cy="3024335"/>
          </a:xfrm>
        </p:grpSpPr>
        <p:pic>
          <p:nvPicPr>
            <p:cNvPr id="330" name="Google Shape;330;p21"/>
            <p:cNvPicPr preferRelativeResize="0"/>
            <p:nvPr/>
          </p:nvPicPr>
          <p:blipFill rotWithShape="1">
            <a:blip r:embed="rId3">
              <a:alphaModFix/>
            </a:blip>
            <a:srcRect b="0" l="0" r="0" t="0"/>
            <a:stretch/>
          </p:blipFill>
          <p:spPr>
            <a:xfrm>
              <a:off x="1691680" y="2204864"/>
              <a:ext cx="6008076" cy="3024335"/>
            </a:xfrm>
            <a:prstGeom prst="rect">
              <a:avLst/>
            </a:prstGeom>
            <a:noFill/>
            <a:ln>
              <a:noFill/>
            </a:ln>
          </p:spPr>
        </p:pic>
        <p:sp>
          <p:nvSpPr>
            <p:cNvPr id="331" name="Google Shape;331;p21"/>
            <p:cNvSpPr txBox="1"/>
            <p:nvPr/>
          </p:nvSpPr>
          <p:spPr>
            <a:xfrm>
              <a:off x="3362125" y="2606300"/>
              <a:ext cx="1026000" cy="952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2" name="Google Shape;332;p21"/>
            <p:cNvSpPr txBox="1"/>
            <p:nvPr/>
          </p:nvSpPr>
          <p:spPr>
            <a:xfrm>
              <a:off x="3362025" y="3998400"/>
              <a:ext cx="1026000" cy="885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3" name="Google Shape;333;p21"/>
            <p:cNvSpPr txBox="1"/>
            <p:nvPr/>
          </p:nvSpPr>
          <p:spPr>
            <a:xfrm>
              <a:off x="6063700" y="2550500"/>
              <a:ext cx="1026000" cy="360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4" name="Google Shape;334;p21"/>
            <p:cNvSpPr txBox="1"/>
            <p:nvPr/>
          </p:nvSpPr>
          <p:spPr>
            <a:xfrm>
              <a:off x="6496825" y="3040175"/>
              <a:ext cx="831000" cy="252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5" name="Google Shape;335;p21"/>
            <p:cNvSpPr txBox="1"/>
            <p:nvPr/>
          </p:nvSpPr>
          <p:spPr>
            <a:xfrm>
              <a:off x="6411100" y="2911100"/>
              <a:ext cx="1026000" cy="360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6" name="Google Shape;336;p21"/>
            <p:cNvSpPr txBox="1"/>
            <p:nvPr/>
          </p:nvSpPr>
          <p:spPr>
            <a:xfrm>
              <a:off x="6667500" y="4522800"/>
              <a:ext cx="831000" cy="360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7" name="Google Shape;337;p21"/>
            <p:cNvSpPr txBox="1"/>
            <p:nvPr/>
          </p:nvSpPr>
          <p:spPr>
            <a:xfrm>
              <a:off x="6411097" y="4766237"/>
              <a:ext cx="791400" cy="252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8" name="Google Shape;338;p21"/>
            <p:cNvSpPr txBox="1"/>
            <p:nvPr/>
          </p:nvSpPr>
          <p:spPr>
            <a:xfrm>
              <a:off x="6765000" y="3564550"/>
              <a:ext cx="831000" cy="360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2"/>
          <p:cNvSpPr txBox="1"/>
          <p:nvPr>
            <p:ph type="title"/>
          </p:nvPr>
        </p:nvSpPr>
        <p:spPr>
          <a:xfrm>
            <a:off x="999413" y="889050"/>
            <a:ext cx="7392600" cy="5769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2500"/>
              <a:t>Male </a:t>
            </a:r>
            <a:r>
              <a:rPr b="1" lang="en-CA" sz="2500"/>
              <a:t>Reproductive</a:t>
            </a:r>
            <a:r>
              <a:rPr b="1" lang="en-CA" sz="2500"/>
              <a:t> Structures </a:t>
            </a:r>
            <a:endParaRPr b="1" sz="2500"/>
          </a:p>
          <a:p>
            <a:pPr indent="0" lvl="0" marL="0" marR="0" rtl="0" algn="ctr">
              <a:lnSpc>
                <a:spcPct val="100000"/>
              </a:lnSpc>
              <a:spcBef>
                <a:spcPts val="0"/>
              </a:spcBef>
              <a:spcAft>
                <a:spcPts val="0"/>
              </a:spcAft>
              <a:buClr>
                <a:schemeClr val="accent1"/>
              </a:buClr>
              <a:buSzPts val="800"/>
              <a:buFont typeface="Verdana"/>
              <a:buNone/>
            </a:pPr>
            <a:r>
              <a:rPr b="1" lang="en-CA" sz="2500"/>
              <a:t>(Front View)</a:t>
            </a:r>
            <a:endParaRPr sz="3300"/>
          </a:p>
        </p:txBody>
      </p:sp>
      <p:pic>
        <p:nvPicPr>
          <p:cNvPr id="344" name="Google Shape;344;p22"/>
          <p:cNvPicPr preferRelativeResize="0"/>
          <p:nvPr/>
        </p:nvPicPr>
        <p:blipFill rotWithShape="1">
          <a:blip r:embed="rId3">
            <a:alphaModFix/>
          </a:blip>
          <a:srcRect b="0" l="0" r="0" t="0"/>
          <a:stretch/>
        </p:blipFill>
        <p:spPr>
          <a:xfrm>
            <a:off x="772275" y="1742050"/>
            <a:ext cx="7508051" cy="3779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txBox="1"/>
          <p:nvPr>
            <p:ph type="title"/>
          </p:nvPr>
        </p:nvSpPr>
        <p:spPr>
          <a:xfrm>
            <a:off x="1059628" y="835595"/>
            <a:ext cx="70248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Sperm</a:t>
            </a:r>
            <a:r>
              <a:rPr b="1" lang="en-CA" sz="2800"/>
              <a:t>: T</a:t>
            </a:r>
            <a:r>
              <a:rPr b="1" i="0" lang="en-CA" sz="2800" u="none" cap="none" strike="noStrike">
                <a:solidFill>
                  <a:schemeClr val="accent1"/>
                </a:solidFill>
                <a:latin typeface="Verdana"/>
                <a:ea typeface="Verdana"/>
                <a:cs typeface="Verdana"/>
                <a:sym typeface="Verdana"/>
              </a:rPr>
              <a:t>he </a:t>
            </a:r>
            <a:r>
              <a:rPr b="1" lang="en-CA" sz="2800"/>
              <a:t>M</a:t>
            </a:r>
            <a:r>
              <a:rPr b="1" i="0" lang="en-CA" sz="2800" u="none" cap="none" strike="noStrike">
                <a:solidFill>
                  <a:schemeClr val="accent1"/>
                </a:solidFill>
                <a:latin typeface="Verdana"/>
                <a:ea typeface="Verdana"/>
                <a:cs typeface="Verdana"/>
                <a:sym typeface="Verdana"/>
              </a:rPr>
              <a:t>ale </a:t>
            </a:r>
            <a:r>
              <a:rPr b="1" lang="en-CA" sz="2800"/>
              <a:t>G</a:t>
            </a:r>
            <a:r>
              <a:rPr b="1" i="0" lang="en-CA" sz="2800" u="none" cap="none" strike="noStrike">
                <a:solidFill>
                  <a:schemeClr val="accent1"/>
                </a:solidFill>
                <a:latin typeface="Verdana"/>
                <a:ea typeface="Verdana"/>
                <a:cs typeface="Verdana"/>
                <a:sym typeface="Verdana"/>
              </a:rPr>
              <a:t>amete </a:t>
            </a:r>
            <a:br>
              <a:rPr b="1" i="0" lang="en-CA" sz="2800" u="none" cap="none" strike="noStrike">
                <a:solidFill>
                  <a:schemeClr val="accent1"/>
                </a:solidFill>
                <a:latin typeface="Verdana"/>
                <a:ea typeface="Verdana"/>
                <a:cs typeface="Verdana"/>
                <a:sym typeface="Verdana"/>
              </a:rPr>
            </a:br>
            <a:r>
              <a:rPr b="1" i="0" lang="en-CA" sz="2800" u="none" cap="none" strike="noStrike">
                <a:solidFill>
                  <a:schemeClr val="accent1"/>
                </a:solidFill>
                <a:latin typeface="Verdana"/>
                <a:ea typeface="Verdana"/>
                <a:cs typeface="Verdana"/>
                <a:sym typeface="Verdana"/>
              </a:rPr>
              <a:t>(sex cells)</a:t>
            </a:r>
            <a:endParaRPr/>
          </a:p>
        </p:txBody>
      </p:sp>
      <p:pic>
        <p:nvPicPr>
          <p:cNvPr id="350" name="Google Shape;350;p23"/>
          <p:cNvPicPr preferRelativeResize="0"/>
          <p:nvPr/>
        </p:nvPicPr>
        <p:blipFill rotWithShape="1">
          <a:blip r:embed="rId3">
            <a:alphaModFix/>
          </a:blip>
          <a:srcRect b="0" l="0" r="0" t="0"/>
          <a:stretch/>
        </p:blipFill>
        <p:spPr>
          <a:xfrm>
            <a:off x="899591" y="2510315"/>
            <a:ext cx="5112567" cy="3654989"/>
          </a:xfrm>
          <a:prstGeom prst="rect">
            <a:avLst/>
          </a:prstGeom>
          <a:noFill/>
          <a:ln>
            <a:noFill/>
          </a:ln>
        </p:spPr>
      </p:pic>
      <p:sp>
        <p:nvSpPr>
          <p:cNvPr id="351" name="Google Shape;351;p23"/>
          <p:cNvSpPr txBox="1"/>
          <p:nvPr/>
        </p:nvSpPr>
        <p:spPr>
          <a:xfrm>
            <a:off x="4067944" y="2636911"/>
            <a:ext cx="3816424" cy="2308323"/>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Produced in large amounts throughout a male’s lifespan </a:t>
            </a:r>
            <a:r>
              <a:rPr lang="en-CA" sz="1600">
                <a:solidFill>
                  <a:schemeClr val="accent1"/>
                </a:solidFill>
                <a:latin typeface="Verdana"/>
                <a:ea typeface="Verdana"/>
                <a:cs typeface="Verdana"/>
                <a:sym typeface="Verdana"/>
              </a:rPr>
              <a:t>starting at puberty</a:t>
            </a:r>
            <a:endParaRPr/>
          </a:p>
          <a:p>
            <a:pPr indent="-285750" lvl="0" marL="285750" marR="0" rtl="0" algn="l">
              <a:lnSpc>
                <a:spcPct val="100000"/>
              </a:lnSpc>
              <a:spcBef>
                <a:spcPts val="1000"/>
              </a:spcBef>
              <a:spcAft>
                <a:spcPts val="0"/>
              </a:spcAft>
              <a:buClr>
                <a:schemeClr val="accent1"/>
              </a:buClr>
              <a:buSzPts val="1600"/>
              <a:buFont typeface="Courier New"/>
              <a:buChar char="o"/>
            </a:pPr>
            <a:r>
              <a:rPr b="1" i="1" lang="en-CA" sz="1600" u="none" cap="none" strike="noStrike">
                <a:solidFill>
                  <a:schemeClr val="accent1"/>
                </a:solidFill>
                <a:latin typeface="Verdana"/>
                <a:ea typeface="Verdana"/>
                <a:cs typeface="Verdana"/>
                <a:sym typeface="Verdana"/>
              </a:rPr>
              <a:t>Flagellum</a:t>
            </a:r>
            <a:r>
              <a:rPr b="0" i="0" lang="en-CA" sz="1600" u="none" cap="none" strike="noStrike">
                <a:solidFill>
                  <a:schemeClr val="accent1"/>
                </a:solidFill>
                <a:latin typeface="Verdana"/>
                <a:ea typeface="Verdana"/>
                <a:cs typeface="Verdana"/>
                <a:sym typeface="Verdana"/>
              </a:rPr>
              <a:t> allows sperm to propel themselves through the female reproductive system</a:t>
            </a:r>
            <a:endParaRPr/>
          </a:p>
          <a:p>
            <a:pPr indent="-285750" lvl="0" marL="285750" marR="0" rtl="0" algn="l">
              <a:lnSpc>
                <a:spcPct val="100000"/>
              </a:lnSpc>
              <a:spcBef>
                <a:spcPts val="1000"/>
              </a:spcBef>
              <a:spcAft>
                <a:spcPts val="1000"/>
              </a:spcAft>
              <a:buClr>
                <a:schemeClr val="accent1"/>
              </a:buClr>
              <a:buSzPts val="1600"/>
              <a:buFont typeface="Courier New"/>
              <a:buChar char="o"/>
            </a:pPr>
            <a:r>
              <a:rPr b="1" i="1" lang="en-CA" sz="1600" u="none" cap="none" strike="noStrike">
                <a:solidFill>
                  <a:schemeClr val="accent1"/>
                </a:solidFill>
                <a:latin typeface="Verdana"/>
                <a:ea typeface="Verdana"/>
                <a:cs typeface="Verdana"/>
                <a:sym typeface="Verdana"/>
              </a:rPr>
              <a:t>Acrosome cap</a:t>
            </a:r>
            <a:r>
              <a:rPr b="0" i="0" lang="en-CA" sz="1600" u="none" cap="none" strike="noStrike">
                <a:solidFill>
                  <a:schemeClr val="accent1"/>
                </a:solidFill>
                <a:latin typeface="Verdana"/>
                <a:ea typeface="Verdana"/>
                <a:cs typeface="Verdana"/>
                <a:sym typeface="Verdana"/>
              </a:rPr>
              <a:t> releases enzymes which enable sperm to penetrate the outer layers of the female egg</a:t>
            </a:r>
            <a:endParaRPr/>
          </a:p>
        </p:txBody>
      </p:sp>
      <p:sp>
        <p:nvSpPr>
          <p:cNvPr id="352" name="Google Shape;352;p23"/>
          <p:cNvSpPr/>
          <p:nvPr/>
        </p:nvSpPr>
        <p:spPr>
          <a:xfrm>
            <a:off x="863550" y="2322874"/>
            <a:ext cx="7416900" cy="3842400"/>
          </a:xfrm>
          <a:prstGeom prst="rect">
            <a:avLst/>
          </a:prstGeom>
          <a:noFill/>
          <a:ln cap="flat" cmpd="sng" w="762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24"/>
          <p:cNvPicPr preferRelativeResize="0"/>
          <p:nvPr/>
        </p:nvPicPr>
        <p:blipFill rotWithShape="1">
          <a:blip r:embed="rId3">
            <a:alphaModFix/>
          </a:blip>
          <a:srcRect b="0" l="0" r="0" t="0"/>
          <a:stretch/>
        </p:blipFill>
        <p:spPr>
          <a:xfrm>
            <a:off x="5175802" y="-5"/>
            <a:ext cx="3392651" cy="1707775"/>
          </a:xfrm>
          <a:prstGeom prst="rect">
            <a:avLst/>
          </a:prstGeom>
          <a:noFill/>
          <a:ln>
            <a:noFill/>
          </a:ln>
        </p:spPr>
      </p:pic>
      <p:sp>
        <p:nvSpPr>
          <p:cNvPr id="358" name="Google Shape;358;p24"/>
          <p:cNvSpPr txBox="1"/>
          <p:nvPr/>
        </p:nvSpPr>
        <p:spPr>
          <a:xfrm>
            <a:off x="448800" y="1780175"/>
            <a:ext cx="8246400" cy="13344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chemeClr val="accent1"/>
              </a:buClr>
              <a:buSzPts val="1600"/>
              <a:buFont typeface="Verdana"/>
              <a:buChar char="➢"/>
            </a:pPr>
            <a:r>
              <a:rPr b="0" i="0" lang="en-CA" sz="1600" u="none" cap="none" strike="noStrike">
                <a:solidFill>
                  <a:schemeClr val="accent1"/>
                </a:solidFill>
                <a:latin typeface="Verdana"/>
                <a:ea typeface="Verdana"/>
                <a:cs typeface="Verdana"/>
                <a:sym typeface="Verdana"/>
              </a:rPr>
              <a:t>The testes are composed of long, coiled tubes called </a:t>
            </a:r>
            <a:r>
              <a:rPr b="1" i="1" lang="en-CA" sz="1600" u="none" cap="none" strike="noStrike">
                <a:solidFill>
                  <a:schemeClr val="accent1"/>
                </a:solidFill>
                <a:latin typeface="Verdana"/>
                <a:ea typeface="Verdana"/>
                <a:cs typeface="Verdana"/>
                <a:sym typeface="Verdana"/>
              </a:rPr>
              <a:t>seminiferous tubules</a:t>
            </a:r>
            <a:r>
              <a:rPr lang="en-CA" sz="1600">
                <a:solidFill>
                  <a:schemeClr val="accent1"/>
                </a:solidFill>
                <a:latin typeface="Verdana"/>
                <a:ea typeface="Verdana"/>
                <a:cs typeface="Verdana"/>
                <a:sym typeface="Verdana"/>
              </a:rPr>
              <a:t>; this is where sperm are produced during </a:t>
            </a:r>
            <a:r>
              <a:rPr b="1" lang="en-CA" sz="1600">
                <a:solidFill>
                  <a:schemeClr val="accent1"/>
                </a:solidFill>
                <a:latin typeface="Verdana"/>
                <a:ea typeface="Verdana"/>
                <a:cs typeface="Verdana"/>
                <a:sym typeface="Verdana"/>
              </a:rPr>
              <a:t>spermatogenesis</a:t>
            </a:r>
            <a:r>
              <a:rPr lang="en-CA" sz="1600">
                <a:solidFill>
                  <a:schemeClr val="accent1"/>
                </a:solidFill>
                <a:latin typeface="Verdana"/>
                <a:ea typeface="Verdana"/>
                <a:cs typeface="Verdana"/>
                <a:sym typeface="Verdana"/>
              </a:rPr>
              <a:t> </a:t>
            </a:r>
            <a:endParaRPr sz="1600">
              <a:solidFill>
                <a:schemeClr val="accent1"/>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000">
              <a:solidFill>
                <a:schemeClr val="accent1"/>
              </a:solidFill>
              <a:latin typeface="Verdana"/>
              <a:ea typeface="Verdana"/>
              <a:cs typeface="Verdana"/>
              <a:sym typeface="Verdana"/>
            </a:endParaRPr>
          </a:p>
          <a:p>
            <a:pPr indent="-330200" lvl="0" marL="457200" marR="0" rtl="0" algn="l">
              <a:lnSpc>
                <a:spcPct val="100000"/>
              </a:lnSpc>
              <a:spcBef>
                <a:spcPts val="0"/>
              </a:spcBef>
              <a:spcAft>
                <a:spcPts val="0"/>
              </a:spcAft>
              <a:buClr>
                <a:schemeClr val="accent1"/>
              </a:buClr>
              <a:buSzPts val="1600"/>
              <a:buFont typeface="Verdana"/>
              <a:buChar char="➢"/>
            </a:pPr>
            <a:r>
              <a:rPr lang="en-CA" sz="1600">
                <a:solidFill>
                  <a:schemeClr val="accent1"/>
                </a:solidFill>
                <a:latin typeface="Verdana"/>
                <a:ea typeface="Verdana"/>
                <a:cs typeface="Verdana"/>
                <a:sym typeface="Verdana"/>
              </a:rPr>
              <a:t>Testes also contain</a:t>
            </a:r>
            <a:r>
              <a:rPr b="0" i="0" lang="en-CA" sz="1600" u="none" cap="none" strike="noStrike">
                <a:solidFill>
                  <a:schemeClr val="accent1"/>
                </a:solidFill>
                <a:latin typeface="Verdana"/>
                <a:ea typeface="Verdana"/>
                <a:cs typeface="Verdana"/>
                <a:sym typeface="Verdana"/>
              </a:rPr>
              <a:t> </a:t>
            </a:r>
            <a:r>
              <a:rPr lang="en-CA" sz="1600">
                <a:solidFill>
                  <a:schemeClr val="accent1"/>
                </a:solidFill>
                <a:latin typeface="Verdana"/>
                <a:ea typeface="Verdana"/>
                <a:cs typeface="Verdana"/>
                <a:sym typeface="Verdana"/>
              </a:rPr>
              <a:t>testosterone</a:t>
            </a:r>
            <a:r>
              <a:rPr b="0" i="0" lang="en-CA" sz="1600" u="none" cap="none" strike="noStrike">
                <a:solidFill>
                  <a:schemeClr val="accent1"/>
                </a:solidFill>
                <a:latin typeface="Verdana"/>
                <a:ea typeface="Verdana"/>
                <a:cs typeface="Verdana"/>
                <a:sym typeface="Verdana"/>
              </a:rPr>
              <a:t>-secreting cells called </a:t>
            </a:r>
            <a:r>
              <a:rPr b="1" i="1" lang="en-CA" sz="1600" u="none" cap="none" strike="noStrike">
                <a:solidFill>
                  <a:schemeClr val="accent1"/>
                </a:solidFill>
                <a:latin typeface="Verdana"/>
                <a:ea typeface="Verdana"/>
                <a:cs typeface="Verdana"/>
                <a:sym typeface="Verdana"/>
              </a:rPr>
              <a:t>interstitial cells </a:t>
            </a:r>
            <a:r>
              <a:rPr lang="en-CA" sz="1600" u="none" cap="none" strike="noStrike">
                <a:solidFill>
                  <a:schemeClr val="accent1"/>
                </a:solidFill>
                <a:latin typeface="Verdana"/>
                <a:ea typeface="Verdana"/>
                <a:cs typeface="Verdana"/>
                <a:sym typeface="Verdana"/>
              </a:rPr>
              <a:t>(also known as Leydig cells)</a:t>
            </a:r>
            <a:r>
              <a:rPr lang="en-CA" sz="1600">
                <a:solidFill>
                  <a:schemeClr val="accent1"/>
                </a:solidFill>
                <a:latin typeface="Verdana"/>
                <a:ea typeface="Verdana"/>
                <a:cs typeface="Verdana"/>
                <a:sym typeface="Verdana"/>
              </a:rPr>
              <a:t>, that surround the seminiferous tubules. The </a:t>
            </a:r>
            <a:r>
              <a:rPr b="1" lang="en-CA" sz="1600">
                <a:solidFill>
                  <a:schemeClr val="accent1"/>
                </a:solidFill>
                <a:latin typeface="Verdana"/>
                <a:ea typeface="Verdana"/>
                <a:cs typeface="Verdana"/>
                <a:sym typeface="Verdana"/>
              </a:rPr>
              <a:t>testosterone</a:t>
            </a:r>
            <a:r>
              <a:rPr lang="en-CA" sz="1600">
                <a:solidFill>
                  <a:schemeClr val="accent1"/>
                </a:solidFill>
                <a:latin typeface="Verdana"/>
                <a:ea typeface="Verdana"/>
                <a:cs typeface="Verdana"/>
                <a:sym typeface="Verdana"/>
              </a:rPr>
              <a:t> released by the interstitial cells is also indirectly involved in spermatogenesis by stimulating various functions of Sertoli cells.</a:t>
            </a:r>
            <a:endParaRPr/>
          </a:p>
        </p:txBody>
      </p:sp>
      <p:grpSp>
        <p:nvGrpSpPr>
          <p:cNvPr id="359" name="Google Shape;359;p24"/>
          <p:cNvGrpSpPr/>
          <p:nvPr/>
        </p:nvGrpSpPr>
        <p:grpSpPr>
          <a:xfrm>
            <a:off x="4173099" y="4009275"/>
            <a:ext cx="4168535" cy="2300111"/>
            <a:chOff x="1132376" y="908717"/>
            <a:chExt cx="6775902" cy="4542083"/>
          </a:xfrm>
        </p:grpSpPr>
        <p:pic>
          <p:nvPicPr>
            <p:cNvPr descr="http://t3.gstatic.com/images?q=tbn:ANd9GcSPaIc70Fpo9b1GnnkPCl2-BdI1KO1-Yc6bHAkDEQdasv4SiL_k:library.aua.edu.ag/webpath/webpath/jpeg6/male126.jpg" id="360" name="Google Shape;360;p24"/>
            <p:cNvPicPr preferRelativeResize="0"/>
            <p:nvPr/>
          </p:nvPicPr>
          <p:blipFill rotWithShape="1">
            <a:blip r:embed="rId4">
              <a:alphaModFix/>
            </a:blip>
            <a:srcRect b="0" l="0" r="0" t="0"/>
            <a:stretch/>
          </p:blipFill>
          <p:spPr>
            <a:xfrm>
              <a:off x="2987823" y="1953775"/>
              <a:ext cx="4920454" cy="3232938"/>
            </a:xfrm>
            <a:prstGeom prst="rect">
              <a:avLst/>
            </a:prstGeom>
            <a:noFill/>
            <a:ln>
              <a:noFill/>
            </a:ln>
          </p:spPr>
        </p:pic>
        <p:cxnSp>
          <p:nvCxnSpPr>
            <p:cNvPr id="361" name="Google Shape;361;p24"/>
            <p:cNvCxnSpPr/>
            <p:nvPr/>
          </p:nvCxnSpPr>
          <p:spPr>
            <a:xfrm flipH="1" rot="10800000">
              <a:off x="2267743" y="4195273"/>
              <a:ext cx="1152000" cy="609300"/>
            </a:xfrm>
            <a:prstGeom prst="straightConnector1">
              <a:avLst/>
            </a:prstGeom>
            <a:noFill/>
            <a:ln cap="flat" cmpd="sng" w="28575">
              <a:solidFill>
                <a:schemeClr val="dk1"/>
              </a:solidFill>
              <a:prstDash val="solid"/>
              <a:round/>
              <a:headEnd len="sm" w="sm" type="none"/>
              <a:tailEnd len="lg" w="lg" type="stealth"/>
            </a:ln>
          </p:spPr>
        </p:cxnSp>
        <p:sp>
          <p:nvSpPr>
            <p:cNvPr id="362" name="Google Shape;362;p24"/>
            <p:cNvSpPr txBox="1"/>
            <p:nvPr/>
          </p:nvSpPr>
          <p:spPr>
            <a:xfrm>
              <a:off x="1132376" y="4804600"/>
              <a:ext cx="18555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450"/>
                <a:buFont typeface="Verdana"/>
                <a:buNone/>
              </a:pPr>
              <a:r>
                <a:rPr b="1" i="0" lang="en-CA" sz="1200" u="none" cap="none" strike="noStrike">
                  <a:solidFill>
                    <a:schemeClr val="dk1"/>
                  </a:solidFill>
                  <a:latin typeface="Verdana"/>
                  <a:ea typeface="Verdana"/>
                  <a:cs typeface="Verdana"/>
                  <a:sym typeface="Verdana"/>
                </a:rPr>
                <a:t>Interstitial</a:t>
              </a:r>
              <a:endParaRPr sz="1200"/>
            </a:p>
            <a:p>
              <a:pPr indent="0" lvl="0" marL="0" marR="0" rtl="0" algn="ctr">
                <a:lnSpc>
                  <a:spcPct val="100000"/>
                </a:lnSpc>
                <a:spcBef>
                  <a:spcPts val="0"/>
                </a:spcBef>
                <a:spcAft>
                  <a:spcPts val="0"/>
                </a:spcAft>
                <a:buClr>
                  <a:schemeClr val="dk1"/>
                </a:buClr>
                <a:buSzPts val="450"/>
                <a:buFont typeface="Verdana"/>
                <a:buNone/>
              </a:pPr>
              <a:r>
                <a:rPr b="1" i="0" lang="en-CA" sz="1200" u="none" cap="none" strike="noStrike">
                  <a:solidFill>
                    <a:schemeClr val="dk1"/>
                  </a:solidFill>
                  <a:latin typeface="Verdana"/>
                  <a:ea typeface="Verdana"/>
                  <a:cs typeface="Verdana"/>
                  <a:sym typeface="Verdana"/>
                </a:rPr>
                <a:t>cell</a:t>
              </a:r>
              <a:endParaRPr sz="1200"/>
            </a:p>
          </p:txBody>
        </p:sp>
        <p:cxnSp>
          <p:nvCxnSpPr>
            <p:cNvPr id="363" name="Google Shape;363;p24"/>
            <p:cNvCxnSpPr/>
            <p:nvPr/>
          </p:nvCxnSpPr>
          <p:spPr>
            <a:xfrm>
              <a:off x="4431710" y="1810343"/>
              <a:ext cx="1152000" cy="1440300"/>
            </a:xfrm>
            <a:prstGeom prst="straightConnector1">
              <a:avLst/>
            </a:prstGeom>
            <a:noFill/>
            <a:ln cap="flat" cmpd="sng" w="28575">
              <a:solidFill>
                <a:schemeClr val="dk1"/>
              </a:solidFill>
              <a:prstDash val="solid"/>
              <a:round/>
              <a:headEnd len="sm" w="sm" type="none"/>
              <a:tailEnd len="lg" w="lg" type="stealth"/>
            </a:ln>
          </p:spPr>
        </p:cxnSp>
        <p:sp>
          <p:nvSpPr>
            <p:cNvPr id="364" name="Google Shape;364;p24"/>
            <p:cNvSpPr txBox="1"/>
            <p:nvPr/>
          </p:nvSpPr>
          <p:spPr>
            <a:xfrm>
              <a:off x="2555776" y="908717"/>
              <a:ext cx="3685200" cy="1044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50"/>
                <a:buFont typeface="Verdana"/>
                <a:buNone/>
              </a:pPr>
              <a:r>
                <a:rPr b="1" i="0" lang="en-CA" sz="1300" u="none" cap="none" strike="noStrike">
                  <a:solidFill>
                    <a:schemeClr val="dk1"/>
                  </a:solidFill>
                  <a:latin typeface="Verdana"/>
                  <a:ea typeface="Verdana"/>
                  <a:cs typeface="Verdana"/>
                  <a:sym typeface="Verdana"/>
                </a:rPr>
                <a:t>Seminiferous tubule (</a:t>
              </a:r>
              <a:r>
                <a:rPr b="1" lang="en-CA" sz="1300">
                  <a:solidFill>
                    <a:schemeClr val="dk1"/>
                  </a:solidFill>
                  <a:latin typeface="Verdana"/>
                  <a:ea typeface="Verdana"/>
                  <a:cs typeface="Verdana"/>
                  <a:sym typeface="Verdana"/>
                </a:rPr>
                <a:t>c</a:t>
              </a:r>
              <a:r>
                <a:rPr b="1" i="0" lang="en-CA" sz="1300" u="none" cap="none" strike="noStrike">
                  <a:solidFill>
                    <a:schemeClr val="dk1"/>
                  </a:solidFill>
                  <a:latin typeface="Verdana"/>
                  <a:ea typeface="Verdana"/>
                  <a:cs typeface="Verdana"/>
                  <a:sym typeface="Verdana"/>
                </a:rPr>
                <a:t>ross section)</a:t>
              </a:r>
              <a:endParaRPr sz="900"/>
            </a:p>
          </p:txBody>
        </p:sp>
      </p:grpSp>
      <p:sp>
        <p:nvSpPr>
          <p:cNvPr id="365" name="Google Shape;365;p24"/>
          <p:cNvSpPr txBox="1"/>
          <p:nvPr>
            <p:ph type="title"/>
          </p:nvPr>
        </p:nvSpPr>
        <p:spPr>
          <a:xfrm>
            <a:off x="720750" y="697150"/>
            <a:ext cx="3694800" cy="613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SPERMATOGENESIS</a:t>
            </a:r>
            <a:r>
              <a:rPr b="1" lang="en-CA" sz="2400"/>
              <a:t> (Sperm production)</a:t>
            </a:r>
            <a:endParaRPr/>
          </a:p>
        </p:txBody>
      </p:sp>
      <p:cxnSp>
        <p:nvCxnSpPr>
          <p:cNvPr id="366" name="Google Shape;366;p24"/>
          <p:cNvCxnSpPr/>
          <p:nvPr/>
        </p:nvCxnSpPr>
        <p:spPr>
          <a:xfrm>
            <a:off x="7042800" y="4362525"/>
            <a:ext cx="1057500" cy="552000"/>
          </a:xfrm>
          <a:prstGeom prst="straightConnector1">
            <a:avLst/>
          </a:prstGeom>
          <a:noFill/>
          <a:ln cap="flat" cmpd="sng" w="28575">
            <a:solidFill>
              <a:schemeClr val="dk1"/>
            </a:solidFill>
            <a:prstDash val="solid"/>
            <a:round/>
            <a:headEnd len="sm" w="sm" type="none"/>
            <a:tailEnd len="lg" w="lg" type="stealth"/>
          </a:ln>
        </p:spPr>
      </p:cxnSp>
      <p:sp>
        <p:nvSpPr>
          <p:cNvPr id="367" name="Google Shape;367;p24"/>
          <p:cNvSpPr txBox="1"/>
          <p:nvPr/>
        </p:nvSpPr>
        <p:spPr>
          <a:xfrm>
            <a:off x="1463650" y="5555050"/>
            <a:ext cx="421500" cy="66300"/>
          </a:xfrm>
          <a:prstGeom prst="rect">
            <a:avLst/>
          </a:prstGeom>
          <a:solidFill>
            <a:srgbClr val="FEFEFE"/>
          </a:solidFill>
          <a:ln>
            <a:noFill/>
          </a:ln>
        </p:spPr>
        <p:txBody>
          <a:bodyPr anchorCtr="0" anchor="t" bIns="0" lIns="0" spcFirstLastPara="1" rIns="0" wrap="square" tIns="0">
            <a:noAutofit/>
          </a:bodyPr>
          <a:lstStyle/>
          <a:p>
            <a:pPr indent="0" lvl="0" marL="0" rtl="0" algn="l">
              <a:spcBef>
                <a:spcPts val="0"/>
              </a:spcBef>
              <a:spcAft>
                <a:spcPts val="0"/>
              </a:spcAft>
              <a:buNone/>
            </a:pPr>
            <a:r>
              <a:rPr b="1" lang="en-CA" sz="400">
                <a:solidFill>
                  <a:schemeClr val="dk2"/>
                </a:solidFill>
                <a:latin typeface="Verdana"/>
                <a:ea typeface="Verdana"/>
                <a:cs typeface="Verdana"/>
                <a:sym typeface="Verdana"/>
              </a:rPr>
              <a:t>Interstitial cells</a:t>
            </a:r>
            <a:endParaRPr b="1" sz="400">
              <a:solidFill>
                <a:schemeClr val="dk2"/>
              </a:solidFill>
              <a:latin typeface="Verdana"/>
              <a:ea typeface="Verdana"/>
              <a:cs typeface="Verdana"/>
              <a:sym typeface="Verdana"/>
            </a:endParaRPr>
          </a:p>
        </p:txBody>
      </p:sp>
      <p:grpSp>
        <p:nvGrpSpPr>
          <p:cNvPr id="368" name="Google Shape;368;p24"/>
          <p:cNvGrpSpPr/>
          <p:nvPr/>
        </p:nvGrpSpPr>
        <p:grpSpPr>
          <a:xfrm>
            <a:off x="1096525" y="3783375"/>
            <a:ext cx="2437950" cy="2423875"/>
            <a:chOff x="1370225" y="4286975"/>
            <a:chExt cx="2437950" cy="2423875"/>
          </a:xfrm>
        </p:grpSpPr>
        <p:pic>
          <p:nvPicPr>
            <p:cNvPr id="369" name="Google Shape;369;p24"/>
            <p:cNvPicPr preferRelativeResize="0"/>
            <p:nvPr/>
          </p:nvPicPr>
          <p:blipFill rotWithShape="1">
            <a:blip r:embed="rId5">
              <a:alphaModFix/>
            </a:blip>
            <a:srcRect b="0" l="0" r="43675" t="0"/>
            <a:stretch/>
          </p:blipFill>
          <p:spPr>
            <a:xfrm>
              <a:off x="1370225" y="4286975"/>
              <a:ext cx="2437950" cy="2423875"/>
            </a:xfrm>
            <a:prstGeom prst="rect">
              <a:avLst/>
            </a:prstGeom>
            <a:noFill/>
            <a:ln>
              <a:noFill/>
            </a:ln>
          </p:spPr>
        </p:pic>
        <p:sp>
          <p:nvSpPr>
            <p:cNvPr id="370" name="Google Shape;370;p24"/>
            <p:cNvSpPr txBox="1"/>
            <p:nvPr/>
          </p:nvSpPr>
          <p:spPr>
            <a:xfrm>
              <a:off x="1463650" y="5555050"/>
              <a:ext cx="421500" cy="66300"/>
            </a:xfrm>
            <a:prstGeom prst="rect">
              <a:avLst/>
            </a:prstGeom>
            <a:solidFill>
              <a:srgbClr val="FEFEFE"/>
            </a:solidFill>
            <a:ln>
              <a:noFill/>
            </a:ln>
          </p:spPr>
          <p:txBody>
            <a:bodyPr anchorCtr="0" anchor="t" bIns="0" lIns="0" spcFirstLastPara="1" rIns="0" wrap="square" tIns="0">
              <a:noAutofit/>
            </a:bodyPr>
            <a:lstStyle/>
            <a:p>
              <a:pPr indent="0" lvl="0" marL="0" rtl="0" algn="l">
                <a:spcBef>
                  <a:spcPts val="0"/>
                </a:spcBef>
                <a:spcAft>
                  <a:spcPts val="0"/>
                </a:spcAft>
                <a:buNone/>
              </a:pPr>
              <a:r>
                <a:rPr b="1" lang="en-CA" sz="400">
                  <a:solidFill>
                    <a:schemeClr val="dk2"/>
                  </a:solidFill>
                  <a:latin typeface="Verdana"/>
                  <a:ea typeface="Verdana"/>
                  <a:cs typeface="Verdana"/>
                  <a:sym typeface="Verdana"/>
                </a:rPr>
                <a:t>Interstitial cells</a:t>
              </a:r>
              <a:endParaRPr b="1" sz="400">
                <a:solidFill>
                  <a:schemeClr val="dk2"/>
                </a:solidFill>
                <a:latin typeface="Verdana"/>
                <a:ea typeface="Verdana"/>
                <a:cs typeface="Verdana"/>
                <a:sym typeface="Verdan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25"/>
          <p:cNvPicPr preferRelativeResize="0"/>
          <p:nvPr/>
        </p:nvPicPr>
        <p:blipFill rotWithShape="1">
          <a:blip r:embed="rId3">
            <a:alphaModFix/>
          </a:blip>
          <a:srcRect b="0" l="0" r="0" t="0"/>
          <a:stretch/>
        </p:blipFill>
        <p:spPr>
          <a:xfrm>
            <a:off x="0" y="3569675"/>
            <a:ext cx="4845876" cy="3288324"/>
          </a:xfrm>
          <a:prstGeom prst="rect">
            <a:avLst/>
          </a:prstGeom>
          <a:noFill/>
          <a:ln>
            <a:noFill/>
          </a:ln>
        </p:spPr>
      </p:pic>
      <p:sp>
        <p:nvSpPr>
          <p:cNvPr id="376" name="Google Shape;376;p25"/>
          <p:cNvSpPr txBox="1"/>
          <p:nvPr/>
        </p:nvSpPr>
        <p:spPr>
          <a:xfrm>
            <a:off x="458875" y="1227975"/>
            <a:ext cx="8160600" cy="1405800"/>
          </a:xfrm>
          <a:prstGeom prst="rect">
            <a:avLst/>
          </a:prstGeom>
          <a:noFill/>
          <a:ln>
            <a:noFill/>
          </a:ln>
        </p:spPr>
        <p:txBody>
          <a:bodyPr anchorCtr="0" anchor="t" bIns="45700" lIns="91425" spcFirstLastPara="1" rIns="91425" wrap="square" tIns="45700">
            <a:noAutofit/>
          </a:bodyPr>
          <a:lstStyle/>
          <a:p>
            <a:pPr indent="-279400" lvl="0" marL="285750" marR="0" rtl="0" algn="l">
              <a:lnSpc>
                <a:spcPct val="100000"/>
              </a:lnSpc>
              <a:spcBef>
                <a:spcPts val="0"/>
              </a:spcBef>
              <a:spcAft>
                <a:spcPts val="0"/>
              </a:spcAft>
              <a:buClr>
                <a:schemeClr val="accent1"/>
              </a:buClr>
              <a:buSzPts val="1500"/>
              <a:buFont typeface="Courier New"/>
              <a:buChar char="o"/>
            </a:pPr>
            <a:r>
              <a:rPr b="0" i="0" lang="en-CA" sz="1500" u="none" cap="none" strike="noStrike">
                <a:solidFill>
                  <a:schemeClr val="accent1"/>
                </a:solidFill>
                <a:latin typeface="Verdana"/>
                <a:ea typeface="Verdana"/>
                <a:cs typeface="Verdana"/>
                <a:sym typeface="Verdana"/>
              </a:rPr>
              <a:t>Sperm develop from precursor cells called </a:t>
            </a:r>
            <a:r>
              <a:rPr b="1" i="1" lang="en-CA" sz="1500" u="none" cap="none" strike="noStrike">
                <a:solidFill>
                  <a:schemeClr val="accent1"/>
                </a:solidFill>
                <a:latin typeface="Verdana"/>
                <a:ea typeface="Verdana"/>
                <a:cs typeface="Verdana"/>
                <a:sym typeface="Verdana"/>
              </a:rPr>
              <a:t>spermatogonia </a:t>
            </a:r>
            <a:r>
              <a:rPr lang="en-CA" sz="1500">
                <a:solidFill>
                  <a:schemeClr val="accent1"/>
                </a:solidFill>
                <a:latin typeface="Verdana"/>
                <a:ea typeface="Verdana"/>
                <a:cs typeface="Verdana"/>
                <a:sym typeface="Verdana"/>
              </a:rPr>
              <a:t>within seminiferous tubules</a:t>
            </a:r>
            <a:endParaRPr sz="1500">
              <a:solidFill>
                <a:schemeClr val="accent1"/>
              </a:solidFill>
              <a:latin typeface="Verdana"/>
              <a:ea typeface="Verdana"/>
              <a:cs typeface="Verdana"/>
              <a:sym typeface="Verdana"/>
            </a:endParaRPr>
          </a:p>
          <a:p>
            <a:pPr indent="-279400" lvl="0" marL="285750" marR="0" rtl="0" algn="l">
              <a:lnSpc>
                <a:spcPct val="100000"/>
              </a:lnSpc>
              <a:spcBef>
                <a:spcPts val="1000"/>
              </a:spcBef>
              <a:spcAft>
                <a:spcPts val="0"/>
              </a:spcAft>
              <a:buClr>
                <a:schemeClr val="accent1"/>
              </a:buClr>
              <a:buSzPts val="1500"/>
              <a:buFont typeface="Verdana"/>
              <a:buChar char="o"/>
            </a:pPr>
            <a:r>
              <a:rPr lang="en-CA" sz="1500">
                <a:solidFill>
                  <a:schemeClr val="accent1"/>
                </a:solidFill>
                <a:latin typeface="Verdana"/>
                <a:ea typeface="Verdana"/>
                <a:cs typeface="Verdana"/>
                <a:sym typeface="Verdana"/>
              </a:rPr>
              <a:t>Spermatogonia undergo two cycles of meiosis (more on this in Chapter 16) as they </a:t>
            </a:r>
            <a:r>
              <a:rPr lang="en-CA" sz="1500">
                <a:solidFill>
                  <a:schemeClr val="accent1"/>
                </a:solidFill>
                <a:latin typeface="Verdana"/>
                <a:ea typeface="Verdana"/>
                <a:cs typeface="Verdana"/>
                <a:sym typeface="Verdana"/>
              </a:rPr>
              <a:t>develop</a:t>
            </a:r>
            <a:r>
              <a:rPr lang="en-CA" sz="1500">
                <a:solidFill>
                  <a:schemeClr val="accent1"/>
                </a:solidFill>
                <a:latin typeface="Verdana"/>
                <a:ea typeface="Verdana"/>
                <a:cs typeface="Verdana"/>
                <a:sym typeface="Verdana"/>
              </a:rPr>
              <a:t> into a primary spermatocyte, then a </a:t>
            </a:r>
            <a:r>
              <a:rPr lang="en-CA" sz="1500">
                <a:solidFill>
                  <a:schemeClr val="accent1"/>
                </a:solidFill>
                <a:latin typeface="Verdana"/>
                <a:ea typeface="Verdana"/>
                <a:cs typeface="Verdana"/>
                <a:sym typeface="Verdana"/>
              </a:rPr>
              <a:t>secondary</a:t>
            </a:r>
            <a:r>
              <a:rPr lang="en-CA" sz="1500">
                <a:solidFill>
                  <a:schemeClr val="accent1"/>
                </a:solidFill>
                <a:latin typeface="Verdana"/>
                <a:ea typeface="Verdana"/>
                <a:cs typeface="Verdana"/>
                <a:sym typeface="Verdana"/>
              </a:rPr>
              <a:t> spermatocyte, and ultimately a </a:t>
            </a:r>
            <a:r>
              <a:rPr b="1" lang="en-CA" sz="1500">
                <a:solidFill>
                  <a:schemeClr val="accent1"/>
                </a:solidFill>
                <a:latin typeface="Verdana"/>
                <a:ea typeface="Verdana"/>
                <a:cs typeface="Verdana"/>
                <a:sym typeface="Verdana"/>
              </a:rPr>
              <a:t>spermatid</a:t>
            </a:r>
            <a:r>
              <a:rPr lang="en-CA" sz="1500">
                <a:solidFill>
                  <a:schemeClr val="accent1"/>
                </a:solidFill>
                <a:latin typeface="Verdana"/>
                <a:ea typeface="Verdana"/>
                <a:cs typeface="Verdana"/>
                <a:sym typeface="Verdana"/>
              </a:rPr>
              <a:t>. </a:t>
            </a:r>
            <a:endParaRPr sz="1500">
              <a:solidFill>
                <a:schemeClr val="accent1"/>
              </a:solidFill>
              <a:latin typeface="Verdana"/>
              <a:ea typeface="Verdana"/>
              <a:cs typeface="Verdana"/>
              <a:sym typeface="Verdana"/>
            </a:endParaRPr>
          </a:p>
          <a:p>
            <a:pPr indent="-279400" lvl="0" marL="285750" marR="0" rtl="0" algn="l">
              <a:lnSpc>
                <a:spcPct val="100000"/>
              </a:lnSpc>
              <a:spcBef>
                <a:spcPts val="1000"/>
              </a:spcBef>
              <a:spcAft>
                <a:spcPts val="0"/>
              </a:spcAft>
              <a:buClr>
                <a:schemeClr val="accent1"/>
              </a:buClr>
              <a:buSzPts val="1500"/>
              <a:buFont typeface="Verdana"/>
              <a:buChar char="o"/>
            </a:pPr>
            <a:r>
              <a:rPr lang="en-CA" sz="1500">
                <a:solidFill>
                  <a:schemeClr val="accent1"/>
                </a:solidFill>
                <a:latin typeface="Verdana"/>
                <a:ea typeface="Verdana"/>
                <a:cs typeface="Verdana"/>
                <a:sym typeface="Verdana"/>
              </a:rPr>
              <a:t>Spermatids then go on to differentiate into </a:t>
            </a:r>
            <a:r>
              <a:rPr b="1" lang="en-CA" sz="1500">
                <a:solidFill>
                  <a:schemeClr val="accent1"/>
                </a:solidFill>
                <a:latin typeface="Verdana"/>
                <a:ea typeface="Verdana"/>
                <a:cs typeface="Verdana"/>
                <a:sym typeface="Verdana"/>
              </a:rPr>
              <a:t>spermatozoa (sperm)</a:t>
            </a:r>
            <a:endParaRPr b="1" sz="1500">
              <a:solidFill>
                <a:schemeClr val="accent1"/>
              </a:solidFill>
              <a:latin typeface="Verdana"/>
              <a:ea typeface="Verdana"/>
              <a:cs typeface="Verdana"/>
              <a:sym typeface="Verdana"/>
            </a:endParaRPr>
          </a:p>
          <a:p>
            <a:pPr indent="-279400" lvl="0" marL="285750" rtl="0" algn="l">
              <a:spcBef>
                <a:spcPts val="1000"/>
              </a:spcBef>
              <a:spcAft>
                <a:spcPts val="1000"/>
              </a:spcAft>
              <a:buClr>
                <a:schemeClr val="accent1"/>
              </a:buClr>
              <a:buSzPts val="1500"/>
              <a:buFont typeface="Verdana"/>
              <a:buChar char="o"/>
            </a:pPr>
            <a:r>
              <a:rPr lang="en-CA" sz="1500">
                <a:solidFill>
                  <a:schemeClr val="accent1"/>
                </a:solidFill>
                <a:latin typeface="Verdana"/>
                <a:ea typeface="Verdana"/>
                <a:cs typeface="Verdana"/>
                <a:sym typeface="Verdana"/>
              </a:rPr>
              <a:t>These series of cell divisions and differentiation occur towards the middle of the seminiferous tubule, where the final spermatocyte are released into the </a:t>
            </a:r>
            <a:r>
              <a:rPr b="1" lang="en-CA" sz="1500">
                <a:solidFill>
                  <a:schemeClr val="accent1"/>
                </a:solidFill>
                <a:latin typeface="Verdana"/>
                <a:ea typeface="Verdana"/>
                <a:cs typeface="Verdana"/>
                <a:sym typeface="Verdana"/>
              </a:rPr>
              <a:t>lumen</a:t>
            </a:r>
            <a:endParaRPr b="1" sz="1500">
              <a:solidFill>
                <a:schemeClr val="accent1"/>
              </a:solidFill>
              <a:latin typeface="Verdana"/>
              <a:ea typeface="Verdana"/>
              <a:cs typeface="Verdana"/>
              <a:sym typeface="Verdana"/>
            </a:endParaRPr>
          </a:p>
        </p:txBody>
      </p:sp>
      <p:sp>
        <p:nvSpPr>
          <p:cNvPr id="377" name="Google Shape;377;p25"/>
          <p:cNvSpPr txBox="1"/>
          <p:nvPr>
            <p:ph type="title"/>
          </p:nvPr>
        </p:nvSpPr>
        <p:spPr>
          <a:xfrm>
            <a:off x="697000" y="468200"/>
            <a:ext cx="3617700" cy="613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SPERMATOGENESIS</a:t>
            </a:r>
            <a:endParaRPr/>
          </a:p>
        </p:txBody>
      </p:sp>
      <p:sp>
        <p:nvSpPr>
          <p:cNvPr id="378" name="Google Shape;378;p25"/>
          <p:cNvSpPr txBox="1"/>
          <p:nvPr/>
        </p:nvSpPr>
        <p:spPr>
          <a:xfrm>
            <a:off x="2537875" y="3150800"/>
            <a:ext cx="5953200" cy="15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500">
              <a:solidFill>
                <a:schemeClr val="accent1"/>
              </a:solidFill>
              <a:latin typeface="Verdana"/>
              <a:ea typeface="Verdana"/>
              <a:cs typeface="Verdana"/>
              <a:sym typeface="Verdana"/>
            </a:endParaRPr>
          </a:p>
          <a:p>
            <a:pPr indent="-279400" lvl="0" marL="285750" rtl="0" algn="l">
              <a:spcBef>
                <a:spcPts val="1000"/>
              </a:spcBef>
              <a:spcAft>
                <a:spcPts val="0"/>
              </a:spcAft>
              <a:buClr>
                <a:schemeClr val="accent1"/>
              </a:buClr>
              <a:buSzPts val="1500"/>
              <a:buFont typeface="Courier New"/>
              <a:buChar char="o"/>
            </a:pPr>
            <a:r>
              <a:rPr b="1" i="1" lang="en-CA" sz="1500">
                <a:solidFill>
                  <a:schemeClr val="accent1"/>
                </a:solidFill>
                <a:latin typeface="Verdana"/>
                <a:ea typeface="Verdana"/>
                <a:cs typeface="Verdana"/>
                <a:sym typeface="Verdana"/>
              </a:rPr>
              <a:t>Sertoli cells</a:t>
            </a:r>
            <a:r>
              <a:rPr lang="en-CA" sz="1500">
                <a:solidFill>
                  <a:schemeClr val="accent1"/>
                </a:solidFill>
                <a:latin typeface="Verdana"/>
                <a:ea typeface="Verdana"/>
                <a:cs typeface="Verdana"/>
                <a:sym typeface="Verdana"/>
              </a:rPr>
              <a:t> within the seminiferous tubules nourish and provide metabolic support for developing sperm. These can be easily recognized on diagrams as the largest cells in the tubule. </a:t>
            </a:r>
            <a:endParaRPr sz="1500">
              <a:solidFill>
                <a:schemeClr val="accent1"/>
              </a:solidFill>
              <a:latin typeface="Verdana"/>
              <a:ea typeface="Verdana"/>
              <a:cs typeface="Verdana"/>
              <a:sym typeface="Verdana"/>
            </a:endParaRPr>
          </a:p>
          <a:p>
            <a:pPr indent="-279400" lvl="0" marL="285750" rtl="0" algn="l">
              <a:spcBef>
                <a:spcPts val="1000"/>
              </a:spcBef>
              <a:spcAft>
                <a:spcPts val="0"/>
              </a:spcAft>
              <a:buClr>
                <a:schemeClr val="accent1"/>
              </a:buClr>
              <a:buSzPts val="1500"/>
              <a:buFont typeface="Verdana"/>
              <a:buChar char="o"/>
            </a:pPr>
            <a:r>
              <a:rPr lang="en-CA" sz="1500">
                <a:solidFill>
                  <a:schemeClr val="accent1"/>
                </a:solidFill>
                <a:latin typeface="Verdana"/>
                <a:ea typeface="Verdana"/>
                <a:cs typeface="Verdana"/>
                <a:sym typeface="Verdana"/>
              </a:rPr>
              <a:t>Sperm cells mature and gain their ability to swim in the </a:t>
            </a:r>
            <a:r>
              <a:rPr b="1" i="1" lang="en-CA" sz="1500">
                <a:solidFill>
                  <a:schemeClr val="accent1"/>
                </a:solidFill>
                <a:latin typeface="Verdana"/>
                <a:ea typeface="Verdana"/>
                <a:cs typeface="Verdana"/>
                <a:sym typeface="Verdana"/>
              </a:rPr>
              <a:t>epididymis </a:t>
            </a:r>
            <a:r>
              <a:rPr lang="en-CA" sz="1500">
                <a:solidFill>
                  <a:schemeClr val="accent1"/>
                </a:solidFill>
                <a:latin typeface="Verdana"/>
                <a:ea typeface="Verdana"/>
                <a:cs typeface="Verdana"/>
                <a:sym typeface="Verdana"/>
              </a:rPr>
              <a:t>of the testes</a:t>
            </a:r>
            <a:endParaRPr sz="1500">
              <a:solidFill>
                <a:schemeClr val="accent1"/>
              </a:solidFill>
              <a:latin typeface="Verdana"/>
              <a:ea typeface="Verdana"/>
              <a:cs typeface="Verdana"/>
              <a:sym typeface="Verdana"/>
            </a:endParaRPr>
          </a:p>
          <a:p>
            <a:pPr indent="0" lvl="0" marL="0" rtl="0" algn="l">
              <a:spcBef>
                <a:spcPts val="1000"/>
              </a:spcBef>
              <a:spcAft>
                <a:spcPts val="0"/>
              </a:spcAft>
              <a:buNone/>
            </a:pPr>
            <a:r>
              <a:t/>
            </a:r>
            <a:endParaRPr sz="2400">
              <a:solidFill>
                <a:schemeClr val="dk2"/>
              </a:solidFill>
              <a:latin typeface="Verdana"/>
              <a:ea typeface="Verdana"/>
              <a:cs typeface="Verdana"/>
              <a:sym typeface="Verdana"/>
            </a:endParaRPr>
          </a:p>
        </p:txBody>
      </p:sp>
      <p:pic>
        <p:nvPicPr>
          <p:cNvPr descr="Visit Study.com for thousands more videos like this one. You'll get full access to our interactive quizzes and transcripts and can find out how to use our videos to earn real college credit. &#10;YouTube hosts only the first few lessons in each course. The rest are at Study.com. Take the next step in your educational future and graduate with less debt and in less time." id="379" name="Google Shape;379;p25" title="Spermatogenesis">
            <a:hlinkClick r:id="rId4"/>
          </p:cNvPr>
          <p:cNvPicPr preferRelativeResize="0"/>
          <p:nvPr/>
        </p:nvPicPr>
        <p:blipFill>
          <a:blip r:embed="rId5">
            <a:alphaModFix/>
          </a:blip>
          <a:stretch>
            <a:fillRect/>
          </a:stretch>
        </p:blipFill>
        <p:spPr>
          <a:xfrm>
            <a:off x="5620651" y="49706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6"/>
          <p:cNvSpPr txBox="1"/>
          <p:nvPr>
            <p:ph idx="1" type="body"/>
          </p:nvPr>
        </p:nvSpPr>
        <p:spPr>
          <a:xfrm>
            <a:off x="1043492" y="2323652"/>
            <a:ext cx="6777300" cy="35091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t/>
            </a:r>
            <a:endParaRPr/>
          </a:p>
        </p:txBody>
      </p:sp>
      <p:pic>
        <p:nvPicPr>
          <p:cNvPr id="386" name="Google Shape;386;p26"/>
          <p:cNvPicPr preferRelativeResize="0"/>
          <p:nvPr/>
        </p:nvPicPr>
        <p:blipFill>
          <a:blip r:embed="rId3">
            <a:alphaModFix/>
          </a:blip>
          <a:stretch>
            <a:fillRect/>
          </a:stretch>
        </p:blipFill>
        <p:spPr>
          <a:xfrm>
            <a:off x="507775" y="1622700"/>
            <a:ext cx="8096250" cy="4210050"/>
          </a:xfrm>
          <a:prstGeom prst="rect">
            <a:avLst/>
          </a:prstGeom>
          <a:noFill/>
          <a:ln>
            <a:noFill/>
          </a:ln>
        </p:spPr>
      </p:pic>
      <p:cxnSp>
        <p:nvCxnSpPr>
          <p:cNvPr id="387" name="Google Shape;387;p26"/>
          <p:cNvCxnSpPr/>
          <p:nvPr/>
        </p:nvCxnSpPr>
        <p:spPr>
          <a:xfrm>
            <a:off x="3041600" y="2140850"/>
            <a:ext cx="0" cy="1840800"/>
          </a:xfrm>
          <a:prstGeom prst="straightConnector1">
            <a:avLst/>
          </a:prstGeom>
          <a:noFill/>
          <a:ln cap="flat" cmpd="sng" w="38100">
            <a:solidFill>
              <a:schemeClr val="dk2"/>
            </a:solidFill>
            <a:prstDash val="solid"/>
            <a:round/>
            <a:headEnd len="med" w="med" type="none"/>
            <a:tailEnd len="med" w="med" type="triangle"/>
          </a:ln>
        </p:spPr>
      </p:cxnSp>
      <p:sp>
        <p:nvSpPr>
          <p:cNvPr id="388" name="Google Shape;388;p26"/>
          <p:cNvSpPr txBox="1"/>
          <p:nvPr/>
        </p:nvSpPr>
        <p:spPr>
          <a:xfrm rot="-5400000">
            <a:off x="2189850" y="2250775"/>
            <a:ext cx="1181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100">
                <a:solidFill>
                  <a:schemeClr val="dk2"/>
                </a:solidFill>
                <a:latin typeface="Verdana"/>
                <a:ea typeface="Verdana"/>
                <a:cs typeface="Verdana"/>
                <a:sym typeface="Verdana"/>
              </a:rPr>
              <a:t>Direction of development</a:t>
            </a:r>
            <a:endParaRPr sz="100">
              <a:solidFill>
                <a:schemeClr val="dk2"/>
              </a:solidFill>
              <a:latin typeface="Verdana"/>
              <a:ea typeface="Verdana"/>
              <a:cs typeface="Verdana"/>
              <a:sym typeface="Verdana"/>
            </a:endParaRPr>
          </a:p>
        </p:txBody>
      </p:sp>
      <p:cxnSp>
        <p:nvCxnSpPr>
          <p:cNvPr id="389" name="Google Shape;389;p26"/>
          <p:cNvCxnSpPr/>
          <p:nvPr/>
        </p:nvCxnSpPr>
        <p:spPr>
          <a:xfrm flipH="1" rot="10800000">
            <a:off x="1264825" y="4274950"/>
            <a:ext cx="888600" cy="1080600"/>
          </a:xfrm>
          <a:prstGeom prst="straightConnector1">
            <a:avLst/>
          </a:prstGeom>
          <a:noFill/>
          <a:ln cap="flat" cmpd="sng" w="19050">
            <a:solidFill>
              <a:schemeClr val="dk2"/>
            </a:solidFill>
            <a:prstDash val="solid"/>
            <a:round/>
            <a:headEnd len="med" w="med" type="none"/>
            <a:tailEnd len="med" w="med" type="triangle"/>
          </a:ln>
        </p:spPr>
      </p:cxnSp>
      <p:sp>
        <p:nvSpPr>
          <p:cNvPr id="390" name="Google Shape;390;p26"/>
          <p:cNvSpPr txBox="1"/>
          <p:nvPr/>
        </p:nvSpPr>
        <p:spPr>
          <a:xfrm>
            <a:off x="660350" y="5355550"/>
            <a:ext cx="3059100" cy="2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000">
                <a:solidFill>
                  <a:schemeClr val="dk2"/>
                </a:solidFill>
                <a:latin typeface="Verdana"/>
                <a:ea typeface="Verdana"/>
                <a:cs typeface="Verdana"/>
                <a:sym typeface="Verdana"/>
              </a:rPr>
              <a:t>Lumen (where sperm are released)</a:t>
            </a:r>
            <a:endParaRPr b="1" sz="1000">
              <a:solidFill>
                <a:schemeClr val="dk2"/>
              </a:solidFill>
              <a:latin typeface="Verdana"/>
              <a:ea typeface="Verdana"/>
              <a:cs typeface="Verdana"/>
              <a:sym typeface="Verdana"/>
            </a:endParaRPr>
          </a:p>
        </p:txBody>
      </p:sp>
      <p:sp>
        <p:nvSpPr>
          <p:cNvPr id="391" name="Google Shape;391;p26"/>
          <p:cNvSpPr txBox="1"/>
          <p:nvPr/>
        </p:nvSpPr>
        <p:spPr>
          <a:xfrm>
            <a:off x="660350" y="5355550"/>
            <a:ext cx="3059100" cy="2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000">
                <a:solidFill>
                  <a:schemeClr val="dk2"/>
                </a:solidFill>
                <a:latin typeface="Verdana"/>
                <a:ea typeface="Verdana"/>
                <a:cs typeface="Verdana"/>
                <a:sym typeface="Verdana"/>
              </a:rPr>
              <a:t>Lumen (where sperm are released)</a:t>
            </a:r>
            <a:endParaRPr b="1" sz="1000">
              <a:solidFill>
                <a:schemeClr val="dk2"/>
              </a:solidFill>
              <a:latin typeface="Verdana"/>
              <a:ea typeface="Verdana"/>
              <a:cs typeface="Verdana"/>
              <a:sym typeface="Verdana"/>
            </a:endParaRPr>
          </a:p>
        </p:txBody>
      </p:sp>
      <p:sp>
        <p:nvSpPr>
          <p:cNvPr id="392" name="Google Shape;392;p26"/>
          <p:cNvSpPr txBox="1"/>
          <p:nvPr/>
        </p:nvSpPr>
        <p:spPr>
          <a:xfrm>
            <a:off x="1230350" y="1560575"/>
            <a:ext cx="3622500" cy="2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(where sperm mature and gain swimming ability)</a:t>
            </a:r>
            <a:endParaRPr b="1" sz="800">
              <a:solidFill>
                <a:schemeClr val="dk2"/>
              </a:solidFill>
              <a:latin typeface="Verdana"/>
              <a:ea typeface="Verdana"/>
              <a:cs typeface="Verdana"/>
              <a:sym typeface="Verdana"/>
            </a:endParaRPr>
          </a:p>
        </p:txBody>
      </p:sp>
      <p:sp>
        <p:nvSpPr>
          <p:cNvPr id="393" name="Google Shape;393;p26"/>
          <p:cNvSpPr txBox="1"/>
          <p:nvPr/>
        </p:nvSpPr>
        <p:spPr>
          <a:xfrm>
            <a:off x="4653525" y="1740450"/>
            <a:ext cx="3456600" cy="274800"/>
          </a:xfrm>
          <a:prstGeom prst="rect">
            <a:avLst/>
          </a:prstGeom>
          <a:solidFill>
            <a:srgbClr val="FEFEF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(nourish and support the developing sperm)</a:t>
            </a:r>
            <a:endParaRPr b="1" sz="800">
              <a:solidFill>
                <a:schemeClr val="dk2"/>
              </a:solidFill>
              <a:latin typeface="Verdana"/>
              <a:ea typeface="Verdana"/>
              <a:cs typeface="Verdana"/>
              <a:sym typeface="Verdana"/>
            </a:endParaRPr>
          </a:p>
        </p:txBody>
      </p:sp>
      <p:sp>
        <p:nvSpPr>
          <p:cNvPr id="394" name="Google Shape;394;p26"/>
          <p:cNvSpPr txBox="1"/>
          <p:nvPr>
            <p:ph type="title"/>
          </p:nvPr>
        </p:nvSpPr>
        <p:spPr>
          <a:xfrm>
            <a:off x="697000" y="468200"/>
            <a:ext cx="3617700" cy="613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SPERMATOGENESIS</a:t>
            </a:r>
            <a:endParaRPr/>
          </a:p>
        </p:txBody>
      </p:sp>
      <p:pic>
        <p:nvPicPr>
          <p:cNvPr descr="3D animation by Julia Lerner" id="395" name="Google Shape;395;p26" title="Spermatogenesis">
            <a:hlinkClick r:id="rId4"/>
          </p:cNvPr>
          <p:cNvPicPr preferRelativeResize="0"/>
          <p:nvPr/>
        </p:nvPicPr>
        <p:blipFill>
          <a:blip r:embed="rId5">
            <a:alphaModFix/>
          </a:blip>
          <a:stretch>
            <a:fillRect/>
          </a:stretch>
        </p:blipFill>
        <p:spPr>
          <a:xfrm>
            <a:off x="5470875" y="136600"/>
            <a:ext cx="2851300" cy="1603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7"/>
          <p:cNvSpPr txBox="1"/>
          <p:nvPr>
            <p:ph type="title"/>
          </p:nvPr>
        </p:nvSpPr>
        <p:spPr>
          <a:xfrm>
            <a:off x="1043490" y="1027664"/>
            <a:ext cx="70248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Can you label the following structures?</a:t>
            </a:r>
            <a:endParaRPr/>
          </a:p>
        </p:txBody>
      </p:sp>
      <p:pic>
        <p:nvPicPr>
          <p:cNvPr id="402" name="Google Shape;402;p27"/>
          <p:cNvPicPr preferRelativeResize="0"/>
          <p:nvPr/>
        </p:nvPicPr>
        <p:blipFill>
          <a:blip r:embed="rId3">
            <a:alphaModFix/>
          </a:blip>
          <a:stretch>
            <a:fillRect/>
          </a:stretch>
        </p:blipFill>
        <p:spPr>
          <a:xfrm>
            <a:off x="613038" y="2512038"/>
            <a:ext cx="3819525" cy="2676525"/>
          </a:xfrm>
          <a:prstGeom prst="rect">
            <a:avLst/>
          </a:prstGeom>
          <a:noFill/>
          <a:ln>
            <a:noFill/>
          </a:ln>
        </p:spPr>
      </p:pic>
      <p:sp>
        <p:nvSpPr>
          <p:cNvPr id="403" name="Google Shape;403;p27"/>
          <p:cNvSpPr txBox="1"/>
          <p:nvPr/>
        </p:nvSpPr>
        <p:spPr>
          <a:xfrm>
            <a:off x="4662700" y="3005950"/>
            <a:ext cx="3975000" cy="1809300"/>
          </a:xfrm>
          <a:prstGeom prst="rect">
            <a:avLst/>
          </a:prstGeom>
          <a:solidFill>
            <a:schemeClr val="accent4"/>
          </a:solid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Verdana"/>
              <a:buAutoNum type="alphaUcPeriod"/>
            </a:pPr>
            <a:r>
              <a:rPr lang="en-CA" sz="2100">
                <a:solidFill>
                  <a:schemeClr val="dk1"/>
                </a:solidFill>
                <a:latin typeface="Verdana"/>
                <a:ea typeface="Verdana"/>
                <a:cs typeface="Verdana"/>
                <a:sym typeface="Verdana"/>
              </a:rPr>
              <a:t>Sertoli cell</a:t>
            </a:r>
            <a:endParaRPr sz="2100">
              <a:solidFill>
                <a:schemeClr val="dk1"/>
              </a:solidFill>
              <a:latin typeface="Verdana"/>
              <a:ea typeface="Verdana"/>
              <a:cs typeface="Verdana"/>
              <a:sym typeface="Verdana"/>
            </a:endParaRPr>
          </a:p>
          <a:p>
            <a:pPr indent="-361950" lvl="0" marL="457200" rtl="0" algn="l">
              <a:spcBef>
                <a:spcPts val="0"/>
              </a:spcBef>
              <a:spcAft>
                <a:spcPts val="0"/>
              </a:spcAft>
              <a:buClr>
                <a:schemeClr val="dk1"/>
              </a:buClr>
              <a:buSzPts val="2100"/>
              <a:buFont typeface="Verdana"/>
              <a:buAutoNum type="alphaUcPeriod"/>
            </a:pPr>
            <a:r>
              <a:rPr lang="en-CA" sz="2100">
                <a:solidFill>
                  <a:schemeClr val="dk1"/>
                </a:solidFill>
                <a:latin typeface="Verdana"/>
                <a:ea typeface="Verdana"/>
                <a:cs typeface="Verdana"/>
                <a:sym typeface="Verdana"/>
              </a:rPr>
              <a:t>Spermatid</a:t>
            </a:r>
            <a:endParaRPr sz="2100">
              <a:solidFill>
                <a:schemeClr val="dk1"/>
              </a:solidFill>
              <a:latin typeface="Verdana"/>
              <a:ea typeface="Verdana"/>
              <a:cs typeface="Verdana"/>
              <a:sym typeface="Verdana"/>
            </a:endParaRPr>
          </a:p>
          <a:p>
            <a:pPr indent="-361950" lvl="0" marL="457200" rtl="0" algn="l">
              <a:spcBef>
                <a:spcPts val="0"/>
              </a:spcBef>
              <a:spcAft>
                <a:spcPts val="0"/>
              </a:spcAft>
              <a:buClr>
                <a:schemeClr val="dk1"/>
              </a:buClr>
              <a:buSzPts val="2100"/>
              <a:buFont typeface="Verdana"/>
              <a:buAutoNum type="alphaUcPeriod"/>
            </a:pPr>
            <a:r>
              <a:rPr lang="en-CA" sz="2100">
                <a:solidFill>
                  <a:schemeClr val="dk1"/>
                </a:solidFill>
                <a:latin typeface="Verdana"/>
                <a:ea typeface="Verdana"/>
                <a:cs typeface="Verdana"/>
                <a:sym typeface="Verdana"/>
              </a:rPr>
              <a:t>Spermatozoa (Sperm)</a:t>
            </a:r>
            <a:endParaRPr sz="2100">
              <a:solidFill>
                <a:schemeClr val="dk1"/>
              </a:solidFill>
              <a:latin typeface="Verdana"/>
              <a:ea typeface="Verdana"/>
              <a:cs typeface="Verdana"/>
              <a:sym typeface="Verdana"/>
            </a:endParaRPr>
          </a:p>
          <a:p>
            <a:pPr indent="-361950" lvl="0" marL="457200" rtl="0" algn="l">
              <a:spcBef>
                <a:spcPts val="0"/>
              </a:spcBef>
              <a:spcAft>
                <a:spcPts val="0"/>
              </a:spcAft>
              <a:buClr>
                <a:schemeClr val="dk1"/>
              </a:buClr>
              <a:buSzPts val="2100"/>
              <a:buFont typeface="Verdana"/>
              <a:buAutoNum type="alphaUcPeriod"/>
            </a:pPr>
            <a:r>
              <a:rPr lang="en-CA" sz="2100">
                <a:solidFill>
                  <a:schemeClr val="dk1"/>
                </a:solidFill>
                <a:latin typeface="Verdana"/>
                <a:ea typeface="Verdana"/>
                <a:cs typeface="Verdana"/>
                <a:sym typeface="Verdana"/>
              </a:rPr>
              <a:t>Spermatogonium</a:t>
            </a:r>
            <a:endParaRPr sz="2100">
              <a:solidFill>
                <a:schemeClr val="dk1"/>
              </a:solidFill>
              <a:latin typeface="Verdana"/>
              <a:ea typeface="Verdana"/>
              <a:cs typeface="Verdana"/>
              <a:sym typeface="Verdana"/>
            </a:endParaRPr>
          </a:p>
          <a:p>
            <a:pPr indent="-361950" lvl="0" marL="457200" rtl="0" algn="l">
              <a:spcBef>
                <a:spcPts val="0"/>
              </a:spcBef>
              <a:spcAft>
                <a:spcPts val="0"/>
              </a:spcAft>
              <a:buClr>
                <a:schemeClr val="dk1"/>
              </a:buClr>
              <a:buSzPts val="2100"/>
              <a:buFont typeface="Verdana"/>
              <a:buAutoNum type="alphaUcPeriod"/>
            </a:pPr>
            <a:r>
              <a:rPr lang="en-CA" sz="2100">
                <a:solidFill>
                  <a:schemeClr val="dk1"/>
                </a:solidFill>
                <a:latin typeface="Verdana"/>
                <a:ea typeface="Verdana"/>
                <a:cs typeface="Verdana"/>
                <a:sym typeface="Verdana"/>
              </a:rPr>
              <a:t>Interstitial cell</a:t>
            </a:r>
            <a:endParaRPr sz="21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8"/>
          <p:cNvSpPr txBox="1"/>
          <p:nvPr>
            <p:ph type="title"/>
          </p:nvPr>
        </p:nvSpPr>
        <p:spPr>
          <a:xfrm>
            <a:off x="503900" y="870575"/>
            <a:ext cx="5556000" cy="532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CA" sz="2800"/>
              <a:t>Male Sex Hormones</a:t>
            </a:r>
            <a:endParaRPr/>
          </a:p>
        </p:txBody>
      </p:sp>
      <p:sp>
        <p:nvSpPr>
          <p:cNvPr id="409" name="Google Shape;409;p28"/>
          <p:cNvSpPr txBox="1"/>
          <p:nvPr/>
        </p:nvSpPr>
        <p:spPr>
          <a:xfrm>
            <a:off x="565066" y="1572172"/>
            <a:ext cx="67689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500"/>
              <a:buFont typeface="Verdana"/>
              <a:buNone/>
            </a:pPr>
            <a:r>
              <a:rPr b="0" i="0" lang="en-CA" sz="2000" u="none" cap="none" strike="noStrike">
                <a:solidFill>
                  <a:schemeClr val="accent1"/>
                </a:solidFill>
                <a:latin typeface="Verdana"/>
                <a:ea typeface="Verdana"/>
                <a:cs typeface="Verdana"/>
                <a:sym typeface="Verdana"/>
              </a:rPr>
              <a:t>Male sex hormones are known as </a:t>
            </a:r>
            <a:r>
              <a:rPr b="1" i="1" lang="en-CA" sz="2000" u="none" cap="none" strike="noStrike">
                <a:solidFill>
                  <a:schemeClr val="accent1"/>
                </a:solidFill>
                <a:latin typeface="Verdana"/>
                <a:ea typeface="Verdana"/>
                <a:cs typeface="Verdana"/>
                <a:sym typeface="Verdana"/>
              </a:rPr>
              <a:t>androgens</a:t>
            </a:r>
            <a:r>
              <a:rPr b="0" i="1" lang="en-CA" sz="2000" u="none" cap="none" strike="noStrike">
                <a:solidFill>
                  <a:schemeClr val="accent1"/>
                </a:solidFill>
                <a:latin typeface="Verdana"/>
                <a:ea typeface="Verdana"/>
                <a:cs typeface="Verdana"/>
                <a:sym typeface="Verdana"/>
              </a:rPr>
              <a:t>. </a:t>
            </a:r>
            <a:r>
              <a:rPr lang="en-CA" sz="2000">
                <a:solidFill>
                  <a:schemeClr val="accent1"/>
                </a:solidFill>
                <a:latin typeface="Verdana"/>
                <a:ea typeface="Verdana"/>
                <a:cs typeface="Verdana"/>
                <a:sym typeface="Verdana"/>
              </a:rPr>
              <a:t>While </a:t>
            </a:r>
            <a:r>
              <a:rPr b="1" lang="en-CA" sz="2000">
                <a:solidFill>
                  <a:schemeClr val="accent1"/>
                </a:solidFill>
                <a:latin typeface="Verdana"/>
                <a:ea typeface="Verdana"/>
                <a:cs typeface="Verdana"/>
                <a:sym typeface="Verdana"/>
              </a:rPr>
              <a:t>testosterone</a:t>
            </a:r>
            <a:r>
              <a:rPr b="0" i="0" lang="en-CA" sz="2000" u="none" cap="none" strike="noStrike">
                <a:solidFill>
                  <a:schemeClr val="accent1"/>
                </a:solidFill>
                <a:latin typeface="Verdana"/>
                <a:ea typeface="Verdana"/>
                <a:cs typeface="Verdana"/>
                <a:sym typeface="Verdana"/>
              </a:rPr>
              <a:t> is the primary male sex hormone</a:t>
            </a:r>
            <a:r>
              <a:rPr lang="en-CA" sz="2000">
                <a:solidFill>
                  <a:schemeClr val="accent1"/>
                </a:solidFill>
                <a:latin typeface="Verdana"/>
                <a:ea typeface="Verdana"/>
                <a:cs typeface="Verdana"/>
                <a:sym typeface="Verdana"/>
              </a:rPr>
              <a:t>, a series of other hormones are required for spermatogenesis.</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accent1"/>
              </a:solidFill>
              <a:latin typeface="Verdana"/>
              <a:ea typeface="Verdana"/>
              <a:cs typeface="Verdana"/>
              <a:sym typeface="Verdana"/>
            </a:endParaRPr>
          </a:p>
        </p:txBody>
      </p:sp>
      <p:sp>
        <p:nvSpPr>
          <p:cNvPr id="410" name="Google Shape;410;p28"/>
          <p:cNvSpPr/>
          <p:nvPr/>
        </p:nvSpPr>
        <p:spPr>
          <a:xfrm>
            <a:off x="503900" y="3145150"/>
            <a:ext cx="3871800" cy="3139200"/>
          </a:xfrm>
          <a:prstGeom prst="rect">
            <a:avLst/>
          </a:prstGeom>
          <a:noFill/>
          <a:ln>
            <a:noFill/>
          </a:ln>
        </p:spPr>
        <p:txBody>
          <a:bodyPr anchorCtr="0" anchor="t" bIns="45700" lIns="91425" spcFirstLastPara="1" rIns="91425" wrap="square" tIns="45700">
            <a:noAutofit/>
          </a:bodyPr>
          <a:lstStyle/>
          <a:p>
            <a:pPr indent="-273050" lvl="0" marL="285750" marR="0" rtl="0" algn="l">
              <a:lnSpc>
                <a:spcPct val="100000"/>
              </a:lnSpc>
              <a:spcBef>
                <a:spcPts val="0"/>
              </a:spcBef>
              <a:spcAft>
                <a:spcPts val="0"/>
              </a:spcAft>
              <a:buClr>
                <a:schemeClr val="accent1"/>
              </a:buClr>
              <a:buSzPts val="1600"/>
              <a:buFont typeface="Courier New"/>
              <a:buChar char="o"/>
            </a:pPr>
            <a:r>
              <a:rPr b="1" lang="en-CA" sz="1600">
                <a:solidFill>
                  <a:schemeClr val="accent1"/>
                </a:solidFill>
                <a:latin typeface="Verdana"/>
                <a:ea typeface="Verdana"/>
                <a:cs typeface="Verdana"/>
                <a:sym typeface="Verdana"/>
              </a:rPr>
              <a:t>T</a:t>
            </a:r>
            <a:r>
              <a:rPr b="1" i="0" lang="en-CA" sz="1600" u="none" cap="none" strike="noStrike">
                <a:solidFill>
                  <a:schemeClr val="accent1"/>
                </a:solidFill>
                <a:latin typeface="Verdana"/>
                <a:ea typeface="Verdana"/>
                <a:cs typeface="Verdana"/>
                <a:sym typeface="Verdana"/>
              </a:rPr>
              <a:t>estosterone</a:t>
            </a:r>
            <a:r>
              <a:rPr b="0" i="0" lang="en-CA" sz="1600" u="none" cap="none" strike="noStrike">
                <a:solidFill>
                  <a:schemeClr val="accent1"/>
                </a:solidFill>
                <a:latin typeface="Verdana"/>
                <a:ea typeface="Verdana"/>
                <a:cs typeface="Verdana"/>
                <a:sym typeface="Verdana"/>
              </a:rPr>
              <a:t> is the hormone that initiates the development of male sex organs and ducts</a:t>
            </a:r>
            <a:endParaRPr sz="1600"/>
          </a:p>
          <a:p>
            <a:pPr indent="-273050" lvl="0" marL="28575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When a male reaches puberty, testosterone levels increase, leading to the development of secondary sex characteristics</a:t>
            </a:r>
            <a:endParaRPr sz="1600"/>
          </a:p>
          <a:p>
            <a:pPr indent="-273050" lvl="0" marL="285750" marR="0" rtl="0" algn="l">
              <a:lnSpc>
                <a:spcPct val="100000"/>
              </a:lnSpc>
              <a:spcBef>
                <a:spcPts val="100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Testosterone also plays a central role in spermatogenesis</a:t>
            </a:r>
            <a:endParaRPr sz="1600"/>
          </a:p>
        </p:txBody>
      </p:sp>
      <p:pic>
        <p:nvPicPr>
          <p:cNvPr descr="http://i.livescience.com/images/i/000/055/884/iFF/testosterone-chalkboard.jpg?1376694620" id="411" name="Google Shape;411;p28"/>
          <p:cNvPicPr preferRelativeResize="0"/>
          <p:nvPr/>
        </p:nvPicPr>
        <p:blipFill rotWithShape="1">
          <a:blip r:embed="rId3">
            <a:alphaModFix/>
          </a:blip>
          <a:srcRect b="0" l="0" r="0" t="0"/>
          <a:stretch/>
        </p:blipFill>
        <p:spPr>
          <a:xfrm>
            <a:off x="6599372" y="3"/>
            <a:ext cx="2544625" cy="1696425"/>
          </a:xfrm>
          <a:prstGeom prst="rect">
            <a:avLst/>
          </a:prstGeom>
          <a:noFill/>
          <a:ln>
            <a:noFill/>
          </a:ln>
        </p:spPr>
      </p:pic>
      <p:pic>
        <p:nvPicPr>
          <p:cNvPr id="412" name="Google Shape;412;p28"/>
          <p:cNvPicPr preferRelativeResize="0"/>
          <p:nvPr/>
        </p:nvPicPr>
        <p:blipFill>
          <a:blip r:embed="rId4">
            <a:alphaModFix/>
          </a:blip>
          <a:stretch>
            <a:fillRect/>
          </a:stretch>
        </p:blipFill>
        <p:spPr>
          <a:xfrm>
            <a:off x="4525350" y="3459675"/>
            <a:ext cx="4454275" cy="2447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9"/>
          <p:cNvSpPr txBox="1"/>
          <p:nvPr/>
        </p:nvSpPr>
        <p:spPr>
          <a:xfrm>
            <a:off x="420125" y="406200"/>
            <a:ext cx="4142100" cy="1295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CA" sz="2400">
                <a:solidFill>
                  <a:schemeClr val="accent1"/>
                </a:solidFill>
                <a:latin typeface="Verdana"/>
                <a:ea typeface="Verdana"/>
                <a:cs typeface="Verdana"/>
                <a:sym typeface="Verdana"/>
              </a:rPr>
              <a:t>Puberty and </a:t>
            </a:r>
            <a:endParaRPr b="1" sz="2400">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600"/>
              <a:buFont typeface="Verdana"/>
              <a:buNone/>
            </a:pPr>
            <a:r>
              <a:rPr b="1" lang="en-CA" sz="2400">
                <a:solidFill>
                  <a:schemeClr val="accent1"/>
                </a:solidFill>
                <a:latin typeface="Verdana"/>
                <a:ea typeface="Verdana"/>
                <a:cs typeface="Verdana"/>
                <a:sym typeface="Verdana"/>
              </a:rPr>
              <a:t>Hormonal Regulation of Spermatogenesis</a:t>
            </a:r>
            <a:endParaRPr/>
          </a:p>
        </p:txBody>
      </p:sp>
      <p:sp>
        <p:nvSpPr>
          <p:cNvPr id="418" name="Google Shape;418;p29"/>
          <p:cNvSpPr txBox="1"/>
          <p:nvPr/>
        </p:nvSpPr>
        <p:spPr>
          <a:xfrm>
            <a:off x="469300" y="1656750"/>
            <a:ext cx="4344600" cy="4932600"/>
          </a:xfrm>
          <a:prstGeom prst="rect">
            <a:avLst/>
          </a:prstGeom>
          <a:noFill/>
          <a:ln>
            <a:noFill/>
          </a:ln>
        </p:spPr>
        <p:txBody>
          <a:bodyPr anchorCtr="0" anchor="t" bIns="45700" lIns="91425" spcFirstLastPara="1" rIns="91425" wrap="square" tIns="45700">
            <a:noAutofit/>
          </a:bodyPr>
          <a:lstStyle/>
          <a:p>
            <a:pPr indent="-273050" lvl="0" marL="285750" marR="0" rtl="0" algn="l">
              <a:lnSpc>
                <a:spcPct val="100000"/>
              </a:lnSpc>
              <a:spcBef>
                <a:spcPts val="0"/>
              </a:spcBef>
              <a:spcAft>
                <a:spcPts val="0"/>
              </a:spcAft>
              <a:buClr>
                <a:schemeClr val="accent1"/>
              </a:buClr>
              <a:buSzPts val="1400"/>
              <a:buFont typeface="Courier New"/>
              <a:buChar char="o"/>
            </a:pPr>
            <a:r>
              <a:rPr b="0" i="0" lang="en-CA" sz="1400" u="none" cap="none" strike="noStrike">
                <a:solidFill>
                  <a:schemeClr val="accent1"/>
                </a:solidFill>
                <a:latin typeface="Verdana"/>
                <a:ea typeface="Verdana"/>
                <a:cs typeface="Verdana"/>
                <a:sym typeface="Verdana"/>
              </a:rPr>
              <a:t>At puberty, the hypothalamus produces </a:t>
            </a:r>
            <a:r>
              <a:rPr b="1" i="1" lang="en-CA" sz="1400" u="none" cap="none" strike="noStrike">
                <a:solidFill>
                  <a:schemeClr val="accent1"/>
                </a:solidFill>
                <a:latin typeface="Verdana"/>
                <a:ea typeface="Verdana"/>
                <a:cs typeface="Verdana"/>
                <a:sym typeface="Verdana"/>
              </a:rPr>
              <a:t>Gonadotropin Releasing Hormone (GnRH)</a:t>
            </a:r>
            <a:r>
              <a:rPr b="0" i="0" lang="en-CA" sz="1400" u="none" cap="none" strike="noStrike">
                <a:solidFill>
                  <a:schemeClr val="accent1"/>
                </a:solidFill>
                <a:latin typeface="Verdana"/>
                <a:ea typeface="Verdana"/>
                <a:cs typeface="Verdana"/>
                <a:sym typeface="Verdana"/>
              </a:rPr>
              <a:t>, which stimulates the anterior pituitary to release two hormones:</a:t>
            </a:r>
            <a:r>
              <a:rPr b="1" i="1" lang="en-CA" sz="1400" u="none" cap="none" strike="noStrike">
                <a:solidFill>
                  <a:schemeClr val="accent1"/>
                </a:solidFill>
                <a:latin typeface="Verdana"/>
                <a:ea typeface="Verdana"/>
                <a:cs typeface="Verdana"/>
                <a:sym typeface="Verdana"/>
              </a:rPr>
              <a:t>Follicle </a:t>
            </a:r>
            <a:r>
              <a:rPr b="1" i="1" lang="en-CA">
                <a:solidFill>
                  <a:schemeClr val="accent1"/>
                </a:solidFill>
                <a:latin typeface="Verdana"/>
                <a:ea typeface="Verdana"/>
                <a:cs typeface="Verdana"/>
                <a:sym typeface="Verdana"/>
              </a:rPr>
              <a:t>Stimulating Hormone</a:t>
            </a:r>
            <a:r>
              <a:rPr lang="en-CA">
                <a:solidFill>
                  <a:schemeClr val="accent1"/>
                </a:solidFill>
                <a:latin typeface="Verdana"/>
                <a:ea typeface="Verdana"/>
                <a:cs typeface="Verdana"/>
                <a:sym typeface="Verdana"/>
              </a:rPr>
              <a:t> (</a:t>
            </a:r>
            <a:r>
              <a:rPr b="1" i="1" lang="en-CA" sz="1400" u="none" cap="none" strike="noStrike">
                <a:solidFill>
                  <a:schemeClr val="accent1"/>
                </a:solidFill>
                <a:latin typeface="Verdana"/>
                <a:ea typeface="Verdana"/>
                <a:cs typeface="Verdana"/>
                <a:sym typeface="Verdana"/>
              </a:rPr>
              <a:t>FSH)</a:t>
            </a:r>
            <a:r>
              <a:rPr b="0" i="0" lang="en-CA" sz="1400" u="none" cap="none" strike="noStrike">
                <a:solidFill>
                  <a:schemeClr val="accent1"/>
                </a:solidFill>
                <a:latin typeface="Verdana"/>
                <a:ea typeface="Verdana"/>
                <a:cs typeface="Verdana"/>
                <a:sym typeface="Verdana"/>
              </a:rPr>
              <a:t> and </a:t>
            </a:r>
            <a:r>
              <a:rPr b="1" i="1" lang="en-CA" sz="1400" u="none" cap="none" strike="noStrike">
                <a:solidFill>
                  <a:schemeClr val="accent1"/>
                </a:solidFill>
                <a:latin typeface="Verdana"/>
                <a:ea typeface="Verdana"/>
                <a:cs typeface="Verdana"/>
                <a:sym typeface="Verdana"/>
              </a:rPr>
              <a:t>L</a:t>
            </a:r>
            <a:r>
              <a:rPr b="1" i="1" lang="en-CA">
                <a:solidFill>
                  <a:schemeClr val="accent1"/>
                </a:solidFill>
                <a:latin typeface="Verdana"/>
                <a:ea typeface="Verdana"/>
                <a:cs typeface="Verdana"/>
                <a:sym typeface="Verdana"/>
              </a:rPr>
              <a:t>ut</a:t>
            </a:r>
            <a:r>
              <a:rPr b="1" i="1" lang="en-CA" sz="1400" u="none" cap="none" strike="noStrike">
                <a:solidFill>
                  <a:schemeClr val="accent1"/>
                </a:solidFill>
                <a:latin typeface="Verdana"/>
                <a:ea typeface="Verdana"/>
                <a:cs typeface="Verdana"/>
                <a:sym typeface="Verdana"/>
              </a:rPr>
              <a:t>einizing Hormone</a:t>
            </a:r>
            <a:r>
              <a:rPr b="1" i="1" lang="en-CA">
                <a:solidFill>
                  <a:schemeClr val="accent1"/>
                </a:solidFill>
                <a:latin typeface="Verdana"/>
                <a:ea typeface="Verdana"/>
                <a:cs typeface="Verdana"/>
                <a:sym typeface="Verdana"/>
              </a:rPr>
              <a:t> (LH)</a:t>
            </a:r>
            <a:endParaRPr b="1" i="1"/>
          </a:p>
          <a:p>
            <a:pPr indent="-273050" lvl="0" marL="285750" marR="0" rtl="0" algn="l">
              <a:lnSpc>
                <a:spcPct val="100000"/>
              </a:lnSpc>
              <a:spcBef>
                <a:spcPts val="1000"/>
              </a:spcBef>
              <a:spcAft>
                <a:spcPts val="0"/>
              </a:spcAft>
              <a:buClr>
                <a:schemeClr val="accent1"/>
              </a:buClr>
              <a:buSzPts val="1400"/>
              <a:buFont typeface="Courier New"/>
              <a:buChar char="o"/>
            </a:pPr>
            <a:r>
              <a:rPr b="0" i="0" lang="en-CA" sz="1400" u="none" cap="none" strike="noStrike">
                <a:solidFill>
                  <a:schemeClr val="accent1"/>
                </a:solidFill>
                <a:latin typeface="Verdana"/>
                <a:ea typeface="Verdana"/>
                <a:cs typeface="Verdana"/>
                <a:sym typeface="Verdana"/>
              </a:rPr>
              <a:t>FSH stimulates </a:t>
            </a:r>
            <a:r>
              <a:rPr lang="en-CA">
                <a:solidFill>
                  <a:schemeClr val="accent1"/>
                </a:solidFill>
                <a:latin typeface="Verdana"/>
                <a:ea typeface="Verdana"/>
                <a:cs typeface="Verdana"/>
                <a:sym typeface="Verdana"/>
              </a:rPr>
              <a:t>S</a:t>
            </a:r>
            <a:r>
              <a:rPr b="0" i="0" lang="en-CA" sz="1400" u="none" cap="none" strike="noStrike">
                <a:solidFill>
                  <a:schemeClr val="accent1"/>
                </a:solidFill>
                <a:latin typeface="Verdana"/>
                <a:ea typeface="Verdana"/>
                <a:cs typeface="Verdana"/>
                <a:sym typeface="Verdana"/>
              </a:rPr>
              <a:t>ertoli cells within the </a:t>
            </a:r>
            <a:r>
              <a:rPr b="1" i="1" lang="en-CA" sz="1400" u="none" cap="none" strike="noStrike">
                <a:solidFill>
                  <a:schemeClr val="accent1"/>
                </a:solidFill>
                <a:latin typeface="Verdana"/>
                <a:ea typeface="Verdana"/>
                <a:cs typeface="Verdana"/>
                <a:sym typeface="Verdana"/>
              </a:rPr>
              <a:t>seminiferous tubules</a:t>
            </a:r>
            <a:r>
              <a:rPr b="0" i="0" lang="en-CA" sz="1400" u="none" cap="none" strike="noStrike">
                <a:solidFill>
                  <a:schemeClr val="accent1"/>
                </a:solidFill>
                <a:latin typeface="Verdana"/>
                <a:ea typeface="Verdana"/>
                <a:cs typeface="Verdana"/>
                <a:sym typeface="Verdana"/>
              </a:rPr>
              <a:t> </a:t>
            </a:r>
            <a:r>
              <a:rPr lang="en-CA">
                <a:solidFill>
                  <a:schemeClr val="accent1"/>
                </a:solidFill>
                <a:latin typeface="Verdana"/>
                <a:ea typeface="Verdana"/>
                <a:cs typeface="Verdana"/>
                <a:sym typeface="Verdana"/>
              </a:rPr>
              <a:t>of</a:t>
            </a:r>
            <a:r>
              <a:rPr b="0" i="0" lang="en-CA" sz="1400" u="none" cap="none" strike="noStrike">
                <a:solidFill>
                  <a:schemeClr val="accent1"/>
                </a:solidFill>
                <a:latin typeface="Verdana"/>
                <a:ea typeface="Verdana"/>
                <a:cs typeface="Verdana"/>
                <a:sym typeface="Verdana"/>
              </a:rPr>
              <a:t> the test</a:t>
            </a:r>
            <a:r>
              <a:rPr lang="en-CA">
                <a:solidFill>
                  <a:schemeClr val="accent1"/>
                </a:solidFill>
                <a:latin typeface="Verdana"/>
                <a:ea typeface="Verdana"/>
                <a:cs typeface="Verdana"/>
                <a:sym typeface="Verdana"/>
              </a:rPr>
              <a:t>e</a:t>
            </a:r>
            <a:r>
              <a:rPr b="0" i="0" lang="en-CA" sz="1400" u="none" cap="none" strike="noStrike">
                <a:solidFill>
                  <a:schemeClr val="accent1"/>
                </a:solidFill>
                <a:latin typeface="Verdana"/>
                <a:ea typeface="Verdana"/>
                <a:cs typeface="Verdana"/>
                <a:sym typeface="Verdana"/>
              </a:rPr>
              <a:t>s to start producing sperm</a:t>
            </a:r>
            <a:endParaRPr/>
          </a:p>
          <a:p>
            <a:pPr indent="-273050" lvl="0" marL="285750" marR="0" rtl="0" algn="l">
              <a:lnSpc>
                <a:spcPct val="100000"/>
              </a:lnSpc>
              <a:spcBef>
                <a:spcPts val="1000"/>
              </a:spcBef>
              <a:spcAft>
                <a:spcPts val="0"/>
              </a:spcAft>
              <a:buClr>
                <a:schemeClr val="accent1"/>
              </a:buClr>
              <a:buSzPts val="1400"/>
              <a:buFont typeface="Courier New"/>
              <a:buChar char="o"/>
            </a:pPr>
            <a:r>
              <a:rPr b="0" i="0" lang="en-CA" sz="1400" u="none" cap="none" strike="noStrike">
                <a:solidFill>
                  <a:schemeClr val="accent1"/>
                </a:solidFill>
                <a:latin typeface="Verdana"/>
                <a:ea typeface="Verdana"/>
                <a:cs typeface="Verdana"/>
                <a:sym typeface="Verdana"/>
              </a:rPr>
              <a:t>LH stimulates the </a:t>
            </a:r>
            <a:r>
              <a:rPr b="1" i="1" lang="en-CA" sz="1400" u="none" cap="none" strike="noStrike">
                <a:solidFill>
                  <a:schemeClr val="accent1"/>
                </a:solidFill>
                <a:latin typeface="Verdana"/>
                <a:ea typeface="Verdana"/>
                <a:cs typeface="Verdana"/>
                <a:sym typeface="Verdana"/>
              </a:rPr>
              <a:t>interstitial cells</a:t>
            </a:r>
            <a:r>
              <a:rPr b="0" i="0" lang="en-CA" sz="1400" u="none" cap="none" strike="noStrike">
                <a:solidFill>
                  <a:schemeClr val="accent1"/>
                </a:solidFill>
                <a:latin typeface="Verdana"/>
                <a:ea typeface="Verdana"/>
                <a:cs typeface="Verdana"/>
                <a:sym typeface="Verdana"/>
              </a:rPr>
              <a:t> within the test</a:t>
            </a:r>
            <a:r>
              <a:rPr lang="en-CA">
                <a:solidFill>
                  <a:schemeClr val="accent1"/>
                </a:solidFill>
                <a:latin typeface="Verdana"/>
                <a:ea typeface="Verdana"/>
                <a:cs typeface="Verdana"/>
                <a:sym typeface="Verdana"/>
              </a:rPr>
              <a:t>e</a:t>
            </a:r>
            <a:r>
              <a:rPr b="0" i="0" lang="en-CA" sz="1400" u="none" cap="none" strike="noStrike">
                <a:solidFill>
                  <a:schemeClr val="accent1"/>
                </a:solidFill>
                <a:latin typeface="Verdana"/>
                <a:ea typeface="Verdana"/>
                <a:cs typeface="Verdana"/>
                <a:sym typeface="Verdana"/>
              </a:rPr>
              <a:t>s to start producing testosterone</a:t>
            </a:r>
            <a:endParaRPr/>
          </a:p>
          <a:p>
            <a:pPr indent="0" lvl="0" marL="285750" marR="0" rtl="0" algn="l">
              <a:lnSpc>
                <a:spcPct val="100000"/>
              </a:lnSpc>
              <a:spcBef>
                <a:spcPts val="1000"/>
              </a:spcBef>
              <a:spcAft>
                <a:spcPts val="0"/>
              </a:spcAft>
              <a:buNone/>
            </a:pPr>
            <a:r>
              <a:t/>
            </a:r>
            <a:endParaRPr/>
          </a:p>
        </p:txBody>
      </p:sp>
      <p:pic>
        <p:nvPicPr>
          <p:cNvPr id="419" name="Google Shape;419;p29"/>
          <p:cNvPicPr preferRelativeResize="0"/>
          <p:nvPr/>
        </p:nvPicPr>
        <p:blipFill>
          <a:blip r:embed="rId3">
            <a:alphaModFix/>
          </a:blip>
          <a:stretch>
            <a:fillRect/>
          </a:stretch>
        </p:blipFill>
        <p:spPr>
          <a:xfrm>
            <a:off x="4748350" y="125250"/>
            <a:ext cx="4344495" cy="6607500"/>
          </a:xfrm>
          <a:prstGeom prst="rect">
            <a:avLst/>
          </a:prstGeom>
          <a:noFill/>
          <a:ln>
            <a:noFill/>
          </a:ln>
        </p:spPr>
      </p:pic>
      <p:sp>
        <p:nvSpPr>
          <p:cNvPr id="420" name="Google Shape;420;p29"/>
          <p:cNvSpPr txBox="1"/>
          <p:nvPr/>
        </p:nvSpPr>
        <p:spPr>
          <a:xfrm>
            <a:off x="5147700" y="5484100"/>
            <a:ext cx="10413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don’t need to remember this hormone name</a:t>
            </a:r>
            <a:endParaRPr sz="800">
              <a:solidFill>
                <a:schemeClr val="dk2"/>
              </a:solidFill>
              <a:latin typeface="Verdana"/>
              <a:ea typeface="Verdana"/>
              <a:cs typeface="Verdana"/>
              <a:sym typeface="Verdana"/>
            </a:endParaRPr>
          </a:p>
        </p:txBody>
      </p:sp>
      <p:grpSp>
        <p:nvGrpSpPr>
          <p:cNvPr id="421" name="Google Shape;421;p29"/>
          <p:cNvGrpSpPr/>
          <p:nvPr/>
        </p:nvGrpSpPr>
        <p:grpSpPr>
          <a:xfrm>
            <a:off x="1370225" y="4286975"/>
            <a:ext cx="2437950" cy="2423875"/>
            <a:chOff x="1370225" y="4286975"/>
            <a:chExt cx="2437950" cy="2423875"/>
          </a:xfrm>
        </p:grpSpPr>
        <p:pic>
          <p:nvPicPr>
            <p:cNvPr id="422" name="Google Shape;422;p29"/>
            <p:cNvPicPr preferRelativeResize="0"/>
            <p:nvPr/>
          </p:nvPicPr>
          <p:blipFill rotWithShape="1">
            <a:blip r:embed="rId4">
              <a:alphaModFix/>
            </a:blip>
            <a:srcRect b="0" l="0" r="43675" t="0"/>
            <a:stretch/>
          </p:blipFill>
          <p:spPr>
            <a:xfrm>
              <a:off x="1370225" y="4286975"/>
              <a:ext cx="2437950" cy="2423875"/>
            </a:xfrm>
            <a:prstGeom prst="rect">
              <a:avLst/>
            </a:prstGeom>
            <a:noFill/>
            <a:ln>
              <a:noFill/>
            </a:ln>
          </p:spPr>
        </p:pic>
        <p:sp>
          <p:nvSpPr>
            <p:cNvPr id="423" name="Google Shape;423;p29"/>
            <p:cNvSpPr txBox="1"/>
            <p:nvPr/>
          </p:nvSpPr>
          <p:spPr>
            <a:xfrm>
              <a:off x="1463650" y="5555050"/>
              <a:ext cx="421500" cy="66300"/>
            </a:xfrm>
            <a:prstGeom prst="rect">
              <a:avLst/>
            </a:prstGeom>
            <a:solidFill>
              <a:srgbClr val="FEFEFE"/>
            </a:solidFill>
            <a:ln>
              <a:noFill/>
            </a:ln>
          </p:spPr>
          <p:txBody>
            <a:bodyPr anchorCtr="0" anchor="t" bIns="0" lIns="0" spcFirstLastPara="1" rIns="0" wrap="square" tIns="0">
              <a:noAutofit/>
            </a:bodyPr>
            <a:lstStyle/>
            <a:p>
              <a:pPr indent="0" lvl="0" marL="0" rtl="0" algn="l">
                <a:spcBef>
                  <a:spcPts val="0"/>
                </a:spcBef>
                <a:spcAft>
                  <a:spcPts val="0"/>
                </a:spcAft>
                <a:buNone/>
              </a:pPr>
              <a:r>
                <a:rPr b="1" lang="en-CA" sz="400">
                  <a:solidFill>
                    <a:schemeClr val="dk2"/>
                  </a:solidFill>
                  <a:latin typeface="Verdana"/>
                  <a:ea typeface="Verdana"/>
                  <a:cs typeface="Verdana"/>
                  <a:sym typeface="Verdana"/>
                </a:rPr>
                <a:t>Interstitial cells</a:t>
              </a:r>
              <a:endParaRPr b="1" sz="400">
                <a:solidFill>
                  <a:schemeClr val="dk2"/>
                </a:solidFill>
                <a:latin typeface="Verdana"/>
                <a:ea typeface="Verdana"/>
                <a:cs typeface="Verdana"/>
                <a:sym typeface="Verdan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0"/>
          <p:cNvSpPr txBox="1"/>
          <p:nvPr/>
        </p:nvSpPr>
        <p:spPr>
          <a:xfrm>
            <a:off x="420125" y="406200"/>
            <a:ext cx="4142100" cy="1295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CA" sz="2400">
                <a:solidFill>
                  <a:schemeClr val="accent1"/>
                </a:solidFill>
                <a:latin typeface="Verdana"/>
                <a:ea typeface="Verdana"/>
                <a:cs typeface="Verdana"/>
                <a:sym typeface="Verdana"/>
              </a:rPr>
              <a:t>Puberty and </a:t>
            </a:r>
            <a:endParaRPr b="1" sz="2400">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600"/>
              <a:buFont typeface="Verdana"/>
              <a:buNone/>
            </a:pPr>
            <a:r>
              <a:rPr b="1" lang="en-CA" sz="2400">
                <a:solidFill>
                  <a:schemeClr val="accent1"/>
                </a:solidFill>
                <a:latin typeface="Verdana"/>
                <a:ea typeface="Verdana"/>
                <a:cs typeface="Verdana"/>
                <a:sym typeface="Verdana"/>
              </a:rPr>
              <a:t>Hormonal Regulation of Spermatogenesis</a:t>
            </a:r>
            <a:endParaRPr/>
          </a:p>
        </p:txBody>
      </p:sp>
      <p:sp>
        <p:nvSpPr>
          <p:cNvPr id="429" name="Google Shape;429;p30"/>
          <p:cNvSpPr txBox="1"/>
          <p:nvPr/>
        </p:nvSpPr>
        <p:spPr>
          <a:xfrm>
            <a:off x="647350" y="1654025"/>
            <a:ext cx="3830100" cy="250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a:p>
          <a:p>
            <a:pPr indent="-273050" lvl="0" marL="285750" marR="0" rtl="0" algn="l">
              <a:lnSpc>
                <a:spcPct val="100000"/>
              </a:lnSpc>
              <a:spcBef>
                <a:spcPts val="1000"/>
              </a:spcBef>
              <a:spcAft>
                <a:spcPts val="0"/>
              </a:spcAft>
              <a:buClr>
                <a:schemeClr val="accent1"/>
              </a:buClr>
              <a:buSzPts val="1400"/>
              <a:buFont typeface="Courier New"/>
              <a:buChar char="o"/>
            </a:pPr>
            <a:r>
              <a:rPr lang="en-CA">
                <a:solidFill>
                  <a:schemeClr val="accent1"/>
                </a:solidFill>
                <a:latin typeface="Verdana"/>
                <a:ea typeface="Verdana"/>
                <a:cs typeface="Verdana"/>
                <a:sym typeface="Verdana"/>
              </a:rPr>
              <a:t>Testosterone contributes to sperm production and also causes s</a:t>
            </a:r>
            <a:r>
              <a:rPr b="0" i="0" lang="en-CA" sz="1400" u="none" cap="none" strike="noStrike">
                <a:solidFill>
                  <a:schemeClr val="accent1"/>
                </a:solidFill>
                <a:latin typeface="Verdana"/>
                <a:ea typeface="Verdana"/>
                <a:cs typeface="Verdana"/>
                <a:sym typeface="Verdana"/>
              </a:rPr>
              <a:t>econdary sex characteristics </a:t>
            </a:r>
            <a:r>
              <a:rPr lang="en-CA">
                <a:solidFill>
                  <a:schemeClr val="accent1"/>
                </a:solidFill>
                <a:latin typeface="Verdana"/>
                <a:ea typeface="Verdana"/>
                <a:cs typeface="Verdana"/>
                <a:sym typeface="Verdana"/>
              </a:rPr>
              <a:t>to begin </a:t>
            </a:r>
            <a:r>
              <a:rPr b="0" i="0" lang="en-CA" sz="1400" u="none" cap="none" strike="noStrike">
                <a:solidFill>
                  <a:schemeClr val="accent1"/>
                </a:solidFill>
                <a:latin typeface="Verdana"/>
                <a:ea typeface="Verdana"/>
                <a:cs typeface="Verdana"/>
                <a:sym typeface="Verdana"/>
              </a:rPr>
              <a:t>to develop: deepening of voice, facial hair, etc. </a:t>
            </a:r>
            <a:endParaRPr/>
          </a:p>
          <a:p>
            <a:pPr indent="-273050" lvl="0" marL="285750" marR="0" rtl="0" algn="l">
              <a:lnSpc>
                <a:spcPct val="100000"/>
              </a:lnSpc>
              <a:spcBef>
                <a:spcPts val="1000"/>
              </a:spcBef>
              <a:spcAft>
                <a:spcPts val="0"/>
              </a:spcAft>
              <a:buClr>
                <a:schemeClr val="accent1"/>
              </a:buClr>
              <a:buSzPts val="1400"/>
              <a:buFont typeface="Courier New"/>
              <a:buChar char="o"/>
            </a:pPr>
            <a:r>
              <a:rPr b="0" i="0" lang="en-CA" sz="1400" u="none" cap="none" strike="noStrike">
                <a:solidFill>
                  <a:schemeClr val="accent1"/>
                </a:solidFill>
                <a:latin typeface="Verdana"/>
                <a:ea typeface="Verdana"/>
                <a:cs typeface="Verdana"/>
                <a:sym typeface="Verdana"/>
              </a:rPr>
              <a:t>Hormone levels are regulated through negative feedback</a:t>
            </a:r>
            <a:endParaRPr/>
          </a:p>
        </p:txBody>
      </p:sp>
      <p:pic>
        <p:nvPicPr>
          <p:cNvPr id="430" name="Google Shape;430;p30"/>
          <p:cNvPicPr preferRelativeResize="0"/>
          <p:nvPr/>
        </p:nvPicPr>
        <p:blipFill>
          <a:blip r:embed="rId3">
            <a:alphaModFix/>
          </a:blip>
          <a:stretch>
            <a:fillRect/>
          </a:stretch>
        </p:blipFill>
        <p:spPr>
          <a:xfrm>
            <a:off x="4748350" y="125250"/>
            <a:ext cx="4344495" cy="6607500"/>
          </a:xfrm>
          <a:prstGeom prst="rect">
            <a:avLst/>
          </a:prstGeom>
          <a:noFill/>
          <a:ln>
            <a:noFill/>
          </a:ln>
        </p:spPr>
      </p:pic>
      <p:sp>
        <p:nvSpPr>
          <p:cNvPr id="431" name="Google Shape;431;p30"/>
          <p:cNvSpPr txBox="1"/>
          <p:nvPr/>
        </p:nvSpPr>
        <p:spPr>
          <a:xfrm>
            <a:off x="5147700" y="5484100"/>
            <a:ext cx="10413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don’t need to remember this hormone name</a:t>
            </a:r>
            <a:endParaRPr sz="800">
              <a:solidFill>
                <a:schemeClr val="dk2"/>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1"/>
          <p:cNvSpPr txBox="1"/>
          <p:nvPr>
            <p:ph type="title"/>
          </p:nvPr>
        </p:nvSpPr>
        <p:spPr>
          <a:xfrm>
            <a:off x="1043490" y="1205879"/>
            <a:ext cx="7024744"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40"/>
              <a:buFont typeface="Verdana"/>
              <a:buNone/>
            </a:pPr>
            <a:r>
              <a:rPr b="0" i="0" lang="en-CA" sz="2160" u="none" cap="none" strike="noStrike">
                <a:solidFill>
                  <a:schemeClr val="accent1"/>
                </a:solidFill>
                <a:latin typeface="Verdana"/>
                <a:ea typeface="Verdana"/>
                <a:cs typeface="Verdana"/>
                <a:sym typeface="Verdana"/>
              </a:rPr>
              <a:t>Although testosterone is especially important during puberty, it is required throughout a man’s lifespan to maintain reproductive functioning and secondary sex characteristics…</a:t>
            </a:r>
            <a:endParaRPr/>
          </a:p>
        </p:txBody>
      </p:sp>
      <p:pic>
        <p:nvPicPr>
          <p:cNvPr descr="http://scm-l3.technorati.com/glosslip/2009/02/aroddugout.jpg" id="437" name="Google Shape;437;p31"/>
          <p:cNvPicPr preferRelativeResize="0"/>
          <p:nvPr/>
        </p:nvPicPr>
        <p:blipFill rotWithShape="1">
          <a:blip r:embed="rId3">
            <a:alphaModFix/>
          </a:blip>
          <a:srcRect b="0" l="0" r="0" t="0"/>
          <a:stretch/>
        </p:blipFill>
        <p:spPr>
          <a:xfrm>
            <a:off x="4271764" y="2780927"/>
            <a:ext cx="3684610" cy="2448273"/>
          </a:xfrm>
          <a:prstGeom prst="rect">
            <a:avLst/>
          </a:prstGeom>
          <a:noFill/>
          <a:ln>
            <a:noFill/>
          </a:ln>
        </p:spPr>
      </p:pic>
      <p:sp>
        <p:nvSpPr>
          <p:cNvPr id="438" name="Google Shape;438;p31"/>
          <p:cNvSpPr txBox="1"/>
          <p:nvPr/>
        </p:nvSpPr>
        <p:spPr>
          <a:xfrm>
            <a:off x="1115616" y="2727791"/>
            <a:ext cx="2880320" cy="2554544"/>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Steroids, such as hGH, can disrupt reproductive hormone feedback systems</a:t>
            </a:r>
            <a:endParaRPr/>
          </a:p>
          <a:p>
            <a:pPr indent="-285750" lvl="0" marL="285750" marR="0" rtl="0" algn="l">
              <a:lnSpc>
                <a:spcPct val="100000"/>
              </a:lnSpc>
              <a:spcBef>
                <a:spcPts val="100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Side effects in men include shrinking testicles, low sperm count, loss of body hair, and the development of breasts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2"/>
          <p:cNvSpPr txBox="1"/>
          <p:nvPr>
            <p:ph type="title"/>
          </p:nvPr>
        </p:nvSpPr>
        <p:spPr>
          <a:xfrm>
            <a:off x="1043600" y="3573051"/>
            <a:ext cx="7024800" cy="1786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30"/>
              <a:buFont typeface="Verdana"/>
              <a:buNone/>
            </a:pPr>
            <a:r>
              <a:rPr b="0" i="0" lang="en-CA" sz="2520" u="none" cap="none" strike="noStrike">
                <a:solidFill>
                  <a:schemeClr val="accent1"/>
                </a:solidFill>
                <a:latin typeface="Verdana"/>
                <a:ea typeface="Verdana"/>
                <a:cs typeface="Verdana"/>
                <a:sym typeface="Verdana"/>
              </a:rPr>
              <a:t>Over time, m</a:t>
            </a:r>
            <a:r>
              <a:rPr lang="en-CA" sz="2520"/>
              <a:t>any</a:t>
            </a:r>
            <a:r>
              <a:rPr b="0" i="0" lang="en-CA" sz="2520" u="none" cap="none" strike="noStrike">
                <a:solidFill>
                  <a:schemeClr val="accent1"/>
                </a:solidFill>
                <a:latin typeface="Verdana"/>
                <a:ea typeface="Verdana"/>
                <a:cs typeface="Verdana"/>
                <a:sym typeface="Verdana"/>
              </a:rPr>
              <a:t> men experience a gradual decline in testosterone levels. This condition is known as </a:t>
            </a:r>
            <a:r>
              <a:rPr b="1" i="1" lang="en-CA" sz="2520" u="none" cap="none" strike="noStrike">
                <a:solidFill>
                  <a:schemeClr val="accent1"/>
                </a:solidFill>
              </a:rPr>
              <a:t>andropause</a:t>
            </a:r>
            <a:r>
              <a:rPr b="0" i="0" lang="en-CA" sz="2520" u="none" cap="none" strike="noStrike">
                <a:solidFill>
                  <a:schemeClr val="accent1"/>
                </a:solidFill>
                <a:latin typeface="Verdana"/>
                <a:ea typeface="Verdana"/>
                <a:cs typeface="Verdana"/>
                <a:sym typeface="Verdana"/>
              </a:rPr>
              <a:t>. </a:t>
            </a:r>
            <a:br>
              <a:rPr b="0" i="0" lang="en-CA" sz="2520" u="none" cap="none" strike="noStrike">
                <a:solidFill>
                  <a:schemeClr val="accent1"/>
                </a:solidFill>
                <a:latin typeface="Verdana"/>
                <a:ea typeface="Verdana"/>
                <a:cs typeface="Verdana"/>
                <a:sym typeface="Verdana"/>
              </a:rPr>
            </a:br>
            <a:endParaRPr b="0" i="0" sz="2520" u="none" cap="none" strike="noStrike">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630"/>
              <a:buFont typeface="Verdana"/>
              <a:buNone/>
            </a:pPr>
            <a:br>
              <a:rPr b="0" i="0" lang="en-CA" sz="2520" u="none" cap="none" strike="noStrike">
                <a:solidFill>
                  <a:schemeClr val="accent1"/>
                </a:solidFill>
                <a:latin typeface="Verdana"/>
                <a:ea typeface="Verdana"/>
                <a:cs typeface="Verdana"/>
                <a:sym typeface="Verdana"/>
              </a:rPr>
            </a:br>
            <a:br>
              <a:rPr b="0" i="0" lang="en-CA" sz="2520" u="none" cap="none" strike="noStrike">
                <a:solidFill>
                  <a:schemeClr val="accent1"/>
                </a:solidFill>
                <a:latin typeface="Verdana"/>
                <a:ea typeface="Verdana"/>
                <a:cs typeface="Verdana"/>
                <a:sym typeface="Verdana"/>
              </a:rPr>
            </a:br>
            <a:r>
              <a:rPr b="1" i="0" lang="en-CA" sz="1800" u="none" cap="none" strike="noStrike">
                <a:solidFill>
                  <a:schemeClr val="accent1"/>
                </a:solidFill>
                <a:latin typeface="Verdana"/>
                <a:ea typeface="Verdana"/>
                <a:cs typeface="Verdana"/>
                <a:sym typeface="Verdana"/>
              </a:rPr>
              <a:t>SYMPTOMS INCLUDE:</a:t>
            </a:r>
            <a:br>
              <a:rPr b="1" i="0" lang="en-CA" sz="1800" u="none" cap="none" strike="noStrike">
                <a:solidFill>
                  <a:schemeClr val="accent1"/>
                </a:solidFill>
                <a:latin typeface="Verdana"/>
                <a:ea typeface="Verdana"/>
                <a:cs typeface="Verdana"/>
                <a:sym typeface="Verdana"/>
              </a:rPr>
            </a:br>
            <a:br>
              <a:rPr b="1" i="0" lang="en-CA" sz="1800" u="none" cap="none" strike="noStrike">
                <a:solidFill>
                  <a:schemeClr val="accent1"/>
                </a:solidFill>
                <a:latin typeface="Verdana"/>
                <a:ea typeface="Verdana"/>
                <a:cs typeface="Verdana"/>
                <a:sym typeface="Verdana"/>
              </a:rPr>
            </a:br>
            <a:endParaRPr/>
          </a:p>
        </p:txBody>
      </p:sp>
      <p:sp>
        <p:nvSpPr>
          <p:cNvPr id="444" name="Google Shape;444;p32"/>
          <p:cNvSpPr txBox="1"/>
          <p:nvPr/>
        </p:nvSpPr>
        <p:spPr>
          <a:xfrm>
            <a:off x="2333508" y="4608964"/>
            <a:ext cx="4104600" cy="12003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Fatigue</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Depression</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Loss of muscle and bone mass</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Decreased sperm production</a:t>
            </a:r>
            <a:endParaRPr/>
          </a:p>
        </p:txBody>
      </p:sp>
      <p:sp>
        <p:nvSpPr>
          <p:cNvPr id="445" name="Google Shape;445;p32"/>
          <p:cNvSpPr/>
          <p:nvPr/>
        </p:nvSpPr>
        <p:spPr>
          <a:xfrm>
            <a:off x="1907700" y="3786775"/>
            <a:ext cx="5328600" cy="239580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46" name="Google Shape;446;p32"/>
          <p:cNvSpPr/>
          <p:nvPr/>
        </p:nvSpPr>
        <p:spPr>
          <a:xfrm>
            <a:off x="2051725" y="3918374"/>
            <a:ext cx="5040600" cy="2120100"/>
          </a:xfrm>
          <a:prstGeom prst="rect">
            <a:avLst/>
          </a:prstGeom>
          <a:noFill/>
          <a:ln cap="flat" cmpd="sng" w="762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Human reproduction is complicated an important, and it's going to take a four part series for us to cover it. Today, we're kicking that off with the female reproductive system, starting with how sex hormones affect oogenesis and ovulation, continuing through how the ovarian and menstrual cycles mature and release oocytes, and create a comfy uterine environment for a fertilized egg.&#10;&#10;CC Anatomy &amp; Physiology Poster http://store.dftba.com/products/crashcourse-anatomy-and-physiology-poster&#10;&#10;Table of Contents&#10;Female Reproductive Anatomy 1:58&#10;Sex Hormones Affect Oogenesis and Ovulation 3:15&#10;Ovarian and Menstrual Cycles Mature and Release Oocytes 4:05&#10;Uterine Environments and Fertilized Eggs 7:10&#10;&#10;***&#10;&#10;Crash Course is on Patreon! You can support us directly by signing up at http://www.patreon.com/crashcourse&#10;&#10;Thanks to the following Patrons for their generous monthly contributions that help keep Crash Course free for everyone forever:&#10;&#10;Fatima Iqbal, Penelope Flagg, Eugenia Karlson, Alex S, Jirat, Tim Curwick, Christy Huddleston, Eric Kitchen, Moritz Schmidt, Today I Found Out, Avi Yashchin, Chris Peters, Eric Knight, Jacob Ash, Simun Niclasen, Jan Schmid, Elliot Beter, Sandra Aft, SR Foxley, Ian Dundore, Daniel Baulig, Jason A Saslow, Robert Kunz, Jessica Wode, Steve Marshall, Anna-Ester Volozh, Christian, Caleb Weeks, Jeffrey Thompson, James Craver, and Markus Persson&#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452" name="Google Shape;452;p33" title="Reproductive System, part 1 - Female Reproductive System: Crash Course A&amp;P #40">
            <a:hlinkClick r:id="rId3"/>
          </p:cNvPr>
          <p:cNvPicPr preferRelativeResize="0"/>
          <p:nvPr/>
        </p:nvPicPr>
        <p:blipFill>
          <a:blip r:embed="rId4">
            <a:alphaModFix/>
          </a:blip>
          <a:stretch>
            <a:fillRect/>
          </a:stretch>
        </p:blipFill>
        <p:spPr>
          <a:xfrm>
            <a:off x="2199550" y="2389650"/>
            <a:ext cx="4807500" cy="3605625"/>
          </a:xfrm>
          <a:prstGeom prst="rect">
            <a:avLst/>
          </a:prstGeom>
          <a:noFill/>
          <a:ln>
            <a:noFill/>
          </a:ln>
        </p:spPr>
      </p:pic>
      <p:sp>
        <p:nvSpPr>
          <p:cNvPr id="453" name="Google Shape;453;p33"/>
          <p:cNvSpPr txBox="1"/>
          <p:nvPr>
            <p:ph type="title"/>
          </p:nvPr>
        </p:nvSpPr>
        <p:spPr>
          <a:xfrm>
            <a:off x="1059590" y="997562"/>
            <a:ext cx="70248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The Female Reproductive System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4"/>
          <p:cNvSpPr txBox="1"/>
          <p:nvPr>
            <p:ph type="title"/>
          </p:nvPr>
        </p:nvSpPr>
        <p:spPr>
          <a:xfrm>
            <a:off x="1043500" y="643250"/>
            <a:ext cx="7024800" cy="1378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The Female Reproductive System </a:t>
            </a:r>
            <a:endParaRPr i="1" sz="1900"/>
          </a:p>
        </p:txBody>
      </p:sp>
      <p:pic>
        <p:nvPicPr>
          <p:cNvPr id="459" name="Google Shape;459;p34"/>
          <p:cNvPicPr preferRelativeResize="0"/>
          <p:nvPr/>
        </p:nvPicPr>
        <p:blipFill rotWithShape="1">
          <a:blip r:embed="rId3">
            <a:alphaModFix/>
          </a:blip>
          <a:srcRect b="0" l="0" r="0" t="0"/>
          <a:stretch/>
        </p:blipFill>
        <p:spPr>
          <a:xfrm>
            <a:off x="617674" y="2354549"/>
            <a:ext cx="7784131" cy="3649275"/>
          </a:xfrm>
          <a:prstGeom prst="rect">
            <a:avLst/>
          </a:prstGeom>
          <a:noFill/>
          <a:ln>
            <a:noFill/>
          </a:ln>
        </p:spPr>
      </p:pic>
      <p:sp>
        <p:nvSpPr>
          <p:cNvPr id="460" name="Google Shape;460;p34"/>
          <p:cNvSpPr txBox="1"/>
          <p:nvPr/>
        </p:nvSpPr>
        <p:spPr>
          <a:xfrm>
            <a:off x="3692350" y="2432100"/>
            <a:ext cx="1727100" cy="279000"/>
          </a:xfrm>
          <a:prstGeom prst="rect">
            <a:avLst/>
          </a:prstGeom>
          <a:solidFill>
            <a:srgbClr val="FEFEFE"/>
          </a:solidFill>
          <a:ln>
            <a:noFill/>
          </a:ln>
        </p:spPr>
        <p:txBody>
          <a:bodyPr anchorCtr="0" anchor="t" bIns="91425" lIns="91425" spcFirstLastPara="1" rIns="91425" wrap="square" tIns="0">
            <a:noAutofit/>
          </a:bodyPr>
          <a:lstStyle/>
          <a:p>
            <a:pPr indent="0" lvl="0" marL="0" rtl="0" algn="l">
              <a:spcBef>
                <a:spcPts val="0"/>
              </a:spcBef>
              <a:spcAft>
                <a:spcPts val="0"/>
              </a:spcAft>
              <a:buNone/>
            </a:pPr>
            <a:r>
              <a:rPr lang="en-CA" sz="700">
                <a:solidFill>
                  <a:schemeClr val="dk2"/>
                </a:solidFill>
                <a:latin typeface="Verdana"/>
                <a:ea typeface="Verdana"/>
                <a:cs typeface="Verdana"/>
                <a:sym typeface="Verdana"/>
              </a:rPr>
              <a:t>Connects ovaries to the uterus - normal site of </a:t>
            </a:r>
            <a:r>
              <a:rPr lang="en-CA" sz="700">
                <a:solidFill>
                  <a:schemeClr val="dk2"/>
                </a:solidFill>
                <a:latin typeface="Verdana"/>
                <a:ea typeface="Verdana"/>
                <a:cs typeface="Verdana"/>
                <a:sym typeface="Verdana"/>
              </a:rPr>
              <a:t>fertilization</a:t>
            </a:r>
            <a:endParaRPr b="1" sz="700">
              <a:solidFill>
                <a:schemeClr val="dk2"/>
              </a:solidFill>
              <a:latin typeface="Verdana"/>
              <a:ea typeface="Verdana"/>
              <a:cs typeface="Verdana"/>
              <a:sym typeface="Verdana"/>
            </a:endParaRPr>
          </a:p>
        </p:txBody>
      </p:sp>
      <p:sp>
        <p:nvSpPr>
          <p:cNvPr id="461" name="Google Shape;461;p34"/>
          <p:cNvSpPr txBox="1"/>
          <p:nvPr/>
        </p:nvSpPr>
        <p:spPr>
          <a:xfrm>
            <a:off x="609925" y="6342775"/>
            <a:ext cx="2400600" cy="240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CA" sz="1500">
                <a:solidFill>
                  <a:schemeClr val="dk2"/>
                </a:solidFill>
                <a:latin typeface="Verdana"/>
                <a:ea typeface="Verdana"/>
                <a:cs typeface="Verdana"/>
                <a:sym typeface="Verdana"/>
              </a:rPr>
              <a:t>*will not be tested</a:t>
            </a:r>
            <a:endParaRPr sz="1500">
              <a:solidFill>
                <a:schemeClr val="dk2"/>
              </a:solidFill>
              <a:latin typeface="Verdana"/>
              <a:ea typeface="Verdana"/>
              <a:cs typeface="Verdana"/>
              <a:sym typeface="Verdana"/>
            </a:endParaRPr>
          </a:p>
        </p:txBody>
      </p:sp>
      <p:sp>
        <p:nvSpPr>
          <p:cNvPr id="462" name="Google Shape;462;p34"/>
          <p:cNvSpPr txBox="1"/>
          <p:nvPr/>
        </p:nvSpPr>
        <p:spPr>
          <a:xfrm>
            <a:off x="1362150" y="4655675"/>
            <a:ext cx="3366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a:t>
            </a:r>
            <a:endParaRPr sz="800">
              <a:solidFill>
                <a:schemeClr val="dk2"/>
              </a:solidFill>
              <a:latin typeface="Verdana"/>
              <a:ea typeface="Verdana"/>
              <a:cs typeface="Verdana"/>
              <a:sym typeface="Verdana"/>
            </a:endParaRPr>
          </a:p>
        </p:txBody>
      </p:sp>
      <p:sp>
        <p:nvSpPr>
          <p:cNvPr id="463" name="Google Shape;463;p34"/>
          <p:cNvSpPr txBox="1"/>
          <p:nvPr/>
        </p:nvSpPr>
        <p:spPr>
          <a:xfrm>
            <a:off x="2269575" y="4934675"/>
            <a:ext cx="3366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a:t>
            </a:r>
            <a:endParaRPr sz="800">
              <a:solidFill>
                <a:schemeClr val="dk2"/>
              </a:solidFill>
              <a:latin typeface="Verdana"/>
              <a:ea typeface="Verdana"/>
              <a:cs typeface="Verdana"/>
              <a:sym typeface="Verdana"/>
            </a:endParaRPr>
          </a:p>
        </p:txBody>
      </p:sp>
      <p:sp>
        <p:nvSpPr>
          <p:cNvPr id="464" name="Google Shape;464;p34"/>
          <p:cNvSpPr txBox="1"/>
          <p:nvPr/>
        </p:nvSpPr>
        <p:spPr>
          <a:xfrm>
            <a:off x="2841400" y="5213675"/>
            <a:ext cx="3366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a:t>
            </a:r>
            <a:endParaRPr sz="800">
              <a:solidFill>
                <a:schemeClr val="dk2"/>
              </a:solidFill>
              <a:latin typeface="Verdana"/>
              <a:ea typeface="Verdana"/>
              <a:cs typeface="Verdana"/>
              <a:sym typeface="Verdana"/>
            </a:endParaRPr>
          </a:p>
        </p:txBody>
      </p:sp>
      <p:sp>
        <p:nvSpPr>
          <p:cNvPr id="465" name="Google Shape;465;p34"/>
          <p:cNvSpPr txBox="1"/>
          <p:nvPr/>
        </p:nvSpPr>
        <p:spPr>
          <a:xfrm>
            <a:off x="1782625" y="5492675"/>
            <a:ext cx="3366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a:t>
            </a:r>
            <a:endParaRPr sz="800">
              <a:solidFill>
                <a:schemeClr val="dk2"/>
              </a:solidFill>
              <a:latin typeface="Verdana"/>
              <a:ea typeface="Verdana"/>
              <a:cs typeface="Verdana"/>
              <a:sym typeface="Verdana"/>
            </a:endParaRPr>
          </a:p>
        </p:txBody>
      </p:sp>
      <p:sp>
        <p:nvSpPr>
          <p:cNvPr id="466" name="Google Shape;466;p34"/>
          <p:cNvSpPr txBox="1"/>
          <p:nvPr/>
        </p:nvSpPr>
        <p:spPr>
          <a:xfrm>
            <a:off x="3010525" y="5771675"/>
            <a:ext cx="3366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800">
                <a:solidFill>
                  <a:schemeClr val="dk2"/>
                </a:solidFill>
                <a:latin typeface="Verdana"/>
                <a:ea typeface="Verdana"/>
                <a:cs typeface="Verdana"/>
                <a:sym typeface="Verdana"/>
              </a:rPr>
              <a:t>* </a:t>
            </a:r>
            <a:endParaRPr sz="800">
              <a:solidFill>
                <a:schemeClr val="dk2"/>
              </a:solidFill>
              <a:latin typeface="Verdana"/>
              <a:ea typeface="Verdana"/>
              <a:cs typeface="Verdana"/>
              <a:sym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5"/>
          <p:cNvSpPr txBox="1"/>
          <p:nvPr>
            <p:ph type="title"/>
          </p:nvPr>
        </p:nvSpPr>
        <p:spPr>
          <a:xfrm>
            <a:off x="1043500" y="1248847"/>
            <a:ext cx="7024800" cy="498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The </a:t>
            </a:r>
            <a:r>
              <a:rPr b="1" lang="en-CA" sz="3200"/>
              <a:t>Ovaries</a:t>
            </a:r>
            <a:endParaRPr/>
          </a:p>
        </p:txBody>
      </p:sp>
      <p:sp>
        <p:nvSpPr>
          <p:cNvPr id="472" name="Google Shape;472;p35"/>
          <p:cNvSpPr txBox="1"/>
          <p:nvPr/>
        </p:nvSpPr>
        <p:spPr>
          <a:xfrm>
            <a:off x="4804841" y="2058626"/>
            <a:ext cx="3816300" cy="37857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Each month, a single mature egg (or “</a:t>
            </a:r>
            <a:r>
              <a:rPr b="1" i="1" lang="en-CA" sz="1600" u="none" cap="none" strike="noStrike">
                <a:solidFill>
                  <a:schemeClr val="accent1"/>
                </a:solidFill>
                <a:latin typeface="Verdana"/>
                <a:ea typeface="Verdana"/>
                <a:cs typeface="Verdana"/>
                <a:sym typeface="Verdana"/>
              </a:rPr>
              <a:t>ovum</a:t>
            </a:r>
            <a:r>
              <a:rPr b="0" i="0" lang="en-CA" sz="1600" u="none" cap="none" strike="noStrike">
                <a:solidFill>
                  <a:schemeClr val="accent1"/>
                </a:solidFill>
                <a:latin typeface="Verdana"/>
                <a:ea typeface="Verdana"/>
                <a:cs typeface="Verdana"/>
                <a:sym typeface="Verdana"/>
              </a:rPr>
              <a:t>”) is released from the ovary, allowing for potential </a:t>
            </a:r>
            <a:r>
              <a:rPr lang="en-CA" sz="1600">
                <a:solidFill>
                  <a:schemeClr val="accent1"/>
                </a:solidFill>
                <a:latin typeface="Verdana"/>
                <a:ea typeface="Verdana"/>
                <a:cs typeface="Verdana"/>
                <a:sym typeface="Verdana"/>
              </a:rPr>
              <a:t>fertilization</a:t>
            </a:r>
            <a:r>
              <a:rPr b="0" i="0" lang="en-CA" sz="1600" u="none" cap="none" strike="noStrike">
                <a:solidFill>
                  <a:schemeClr val="accent1"/>
                </a:solidFill>
                <a:latin typeface="Verdana"/>
                <a:ea typeface="Verdana"/>
                <a:cs typeface="Verdana"/>
                <a:sym typeface="Verdana"/>
              </a:rPr>
              <a:t>. This process is known as </a:t>
            </a:r>
            <a:r>
              <a:rPr b="1" i="1" lang="en-CA" sz="1600" u="none" cap="none" strike="noStrike">
                <a:solidFill>
                  <a:schemeClr val="accent1"/>
                </a:solidFill>
                <a:latin typeface="Verdana"/>
                <a:ea typeface="Verdana"/>
                <a:cs typeface="Verdana"/>
                <a:sym typeface="Verdana"/>
              </a:rPr>
              <a:t>ovulation</a:t>
            </a:r>
            <a:r>
              <a:rPr b="0" i="0" lang="en-CA" sz="1600" u="none" cap="none" strike="noStrike">
                <a:solidFill>
                  <a:schemeClr val="accent1"/>
                </a:solidFill>
                <a:latin typeface="Verdana"/>
                <a:ea typeface="Verdana"/>
                <a:cs typeface="Verdana"/>
                <a:sym typeface="Verdana"/>
              </a:rPr>
              <a:t>. </a:t>
            </a:r>
            <a:endParaRPr sz="1600"/>
          </a:p>
          <a:p>
            <a:pPr indent="-285750" lvl="0" marL="28575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During this period, the </a:t>
            </a:r>
            <a:r>
              <a:rPr b="1" i="1" lang="en-CA" sz="1600" u="none" cap="none" strike="noStrike">
                <a:solidFill>
                  <a:schemeClr val="accent1"/>
                </a:solidFill>
                <a:latin typeface="Verdana"/>
                <a:ea typeface="Verdana"/>
                <a:cs typeface="Verdana"/>
                <a:sym typeface="Verdana"/>
              </a:rPr>
              <a:t>endometrial lining</a:t>
            </a:r>
            <a:r>
              <a:rPr b="0" i="0" lang="en-CA" sz="1600" u="none" cap="none" strike="noStrike">
                <a:solidFill>
                  <a:schemeClr val="accent1"/>
                </a:solidFill>
                <a:latin typeface="Verdana"/>
                <a:ea typeface="Verdana"/>
                <a:cs typeface="Verdana"/>
                <a:sym typeface="Verdana"/>
              </a:rPr>
              <a:t> of the uterus thickens in preparation for pregnancy.</a:t>
            </a:r>
            <a:endParaRPr sz="1600"/>
          </a:p>
          <a:p>
            <a:pPr indent="-285750" lvl="0" marL="285750" marR="0" rtl="0" algn="l">
              <a:lnSpc>
                <a:spcPct val="100000"/>
              </a:lnSpc>
              <a:spcBef>
                <a:spcPts val="100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The ovum can survive in the </a:t>
            </a:r>
            <a:r>
              <a:rPr b="1" i="1" lang="en-CA" sz="1600" u="none" cap="none" strike="noStrike">
                <a:solidFill>
                  <a:schemeClr val="accent1"/>
                </a:solidFill>
                <a:latin typeface="Verdana"/>
                <a:ea typeface="Verdana"/>
                <a:cs typeface="Verdana"/>
                <a:sym typeface="Verdana"/>
              </a:rPr>
              <a:t>oviduct</a:t>
            </a:r>
            <a:r>
              <a:rPr b="0" i="0" lang="en-CA" sz="1600" u="none" cap="none" strike="noStrike">
                <a:solidFill>
                  <a:schemeClr val="accent1"/>
                </a:solidFill>
                <a:latin typeface="Verdana"/>
                <a:ea typeface="Verdana"/>
                <a:cs typeface="Verdana"/>
                <a:sym typeface="Verdana"/>
              </a:rPr>
              <a:t> for a period of 24 hours; if fertilization does not occur, the endometrial lining will then be shed. This process is known as </a:t>
            </a:r>
            <a:r>
              <a:rPr b="1" i="1" lang="en-CA" sz="1600" u="none" cap="none" strike="noStrike">
                <a:solidFill>
                  <a:schemeClr val="accent1"/>
                </a:solidFill>
                <a:latin typeface="Verdana"/>
                <a:ea typeface="Verdana"/>
                <a:cs typeface="Verdana"/>
                <a:sym typeface="Verdana"/>
              </a:rPr>
              <a:t>menstruation</a:t>
            </a:r>
            <a:r>
              <a:rPr b="0" i="0" lang="en-CA" sz="1600" u="none" cap="none" strike="noStrike">
                <a:solidFill>
                  <a:schemeClr val="accent1"/>
                </a:solidFill>
                <a:latin typeface="Verdana"/>
                <a:ea typeface="Verdana"/>
                <a:cs typeface="Verdana"/>
                <a:sym typeface="Verdana"/>
              </a:rPr>
              <a:t>.</a:t>
            </a:r>
            <a:endParaRPr sz="1600"/>
          </a:p>
        </p:txBody>
      </p:sp>
      <p:pic>
        <p:nvPicPr>
          <p:cNvPr id="473" name="Google Shape;473;p35"/>
          <p:cNvPicPr preferRelativeResize="0"/>
          <p:nvPr/>
        </p:nvPicPr>
        <p:blipFill rotWithShape="1">
          <a:blip r:embed="rId3">
            <a:alphaModFix/>
          </a:blip>
          <a:srcRect b="0" l="0" r="0" t="0"/>
          <a:stretch/>
        </p:blipFill>
        <p:spPr>
          <a:xfrm>
            <a:off x="703629" y="2840492"/>
            <a:ext cx="3901200" cy="2470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36"/>
          <p:cNvPicPr preferRelativeResize="0"/>
          <p:nvPr/>
        </p:nvPicPr>
        <p:blipFill rotWithShape="1">
          <a:blip r:embed="rId3">
            <a:alphaModFix/>
          </a:blip>
          <a:srcRect b="0" l="0" r="0" t="0"/>
          <a:stretch/>
        </p:blipFill>
        <p:spPr>
          <a:xfrm>
            <a:off x="745200" y="0"/>
            <a:ext cx="7875300" cy="4335405"/>
          </a:xfrm>
          <a:prstGeom prst="rect">
            <a:avLst/>
          </a:prstGeom>
          <a:noFill/>
          <a:ln>
            <a:noFill/>
          </a:ln>
        </p:spPr>
      </p:pic>
      <p:sp>
        <p:nvSpPr>
          <p:cNvPr id="479" name="Google Shape;479;p36"/>
          <p:cNvSpPr txBox="1"/>
          <p:nvPr>
            <p:ph type="title"/>
          </p:nvPr>
        </p:nvSpPr>
        <p:spPr>
          <a:xfrm>
            <a:off x="3872894" y="503316"/>
            <a:ext cx="3600300" cy="541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OOGENESIS</a:t>
            </a:r>
            <a:endParaRPr/>
          </a:p>
        </p:txBody>
      </p:sp>
      <p:sp>
        <p:nvSpPr>
          <p:cNvPr id="480" name="Google Shape;480;p36"/>
          <p:cNvSpPr txBox="1"/>
          <p:nvPr/>
        </p:nvSpPr>
        <p:spPr>
          <a:xfrm>
            <a:off x="587900" y="1656825"/>
            <a:ext cx="3408000" cy="26844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Occurs within the </a:t>
            </a:r>
            <a:r>
              <a:rPr b="1" i="1" lang="en-CA" sz="1600" u="none" cap="none" strike="noStrike">
                <a:solidFill>
                  <a:schemeClr val="accent1"/>
                </a:solidFill>
                <a:latin typeface="Verdana"/>
                <a:ea typeface="Verdana"/>
                <a:cs typeface="Verdana"/>
                <a:sym typeface="Verdana"/>
              </a:rPr>
              <a:t>follicle cells </a:t>
            </a:r>
            <a:r>
              <a:rPr b="0" i="0" lang="en-CA" sz="1600" u="none" cap="none" strike="noStrike">
                <a:solidFill>
                  <a:schemeClr val="accent1"/>
                </a:solidFill>
                <a:latin typeface="Verdana"/>
                <a:ea typeface="Verdana"/>
                <a:cs typeface="Verdana"/>
                <a:sym typeface="Verdana"/>
              </a:rPr>
              <a:t>of the ovaries; follicle cells provide nutrients necessary for the ovum’s development</a:t>
            </a:r>
            <a:endParaRPr b="0" i="0" sz="1600" u="none" cap="none" strike="noStrike">
              <a:solidFill>
                <a:schemeClr val="accent1"/>
              </a:solidFill>
              <a:latin typeface="Verdana"/>
              <a:ea typeface="Verdana"/>
              <a:cs typeface="Verdana"/>
              <a:sym typeface="Verdana"/>
            </a:endParaRPr>
          </a:p>
          <a:p>
            <a:pPr indent="-330200" lvl="1" marL="914400" marR="0" rtl="0" algn="l">
              <a:lnSpc>
                <a:spcPct val="100000"/>
              </a:lnSpc>
              <a:spcBef>
                <a:spcPts val="1000"/>
              </a:spcBef>
              <a:spcAft>
                <a:spcPts val="0"/>
              </a:spcAft>
              <a:buClr>
                <a:schemeClr val="accent1"/>
              </a:buClr>
              <a:buSzPts val="1600"/>
              <a:buFont typeface="Verdana"/>
              <a:buChar char="○"/>
            </a:pPr>
            <a:r>
              <a:rPr lang="en-CA" sz="1600">
                <a:solidFill>
                  <a:schemeClr val="accent1"/>
                </a:solidFill>
                <a:latin typeface="Verdana"/>
                <a:ea typeface="Verdana"/>
                <a:cs typeface="Verdana"/>
                <a:sym typeface="Verdana"/>
              </a:rPr>
              <a:t>The maturing follicle releases increasing amounts of </a:t>
            </a:r>
            <a:r>
              <a:rPr b="1" lang="en-CA" sz="1600">
                <a:solidFill>
                  <a:schemeClr val="accent1"/>
                </a:solidFill>
                <a:latin typeface="Verdana"/>
                <a:ea typeface="Verdana"/>
                <a:cs typeface="Verdana"/>
                <a:sym typeface="Verdana"/>
              </a:rPr>
              <a:t>estrogen </a:t>
            </a:r>
            <a:r>
              <a:rPr lang="en-CA" sz="1600">
                <a:solidFill>
                  <a:schemeClr val="accent1"/>
                </a:solidFill>
                <a:latin typeface="Verdana"/>
                <a:ea typeface="Verdana"/>
                <a:cs typeface="Verdana"/>
                <a:sym typeface="Verdana"/>
              </a:rPr>
              <a:t>which helps </a:t>
            </a:r>
            <a:r>
              <a:rPr b="1" lang="en-CA" sz="1600">
                <a:solidFill>
                  <a:schemeClr val="accent1"/>
                </a:solidFill>
                <a:latin typeface="Verdana"/>
                <a:ea typeface="Verdana"/>
                <a:cs typeface="Verdana"/>
                <a:sym typeface="Verdana"/>
              </a:rPr>
              <a:t>build the endometrial lining</a:t>
            </a:r>
            <a:endParaRPr b="1" sz="1600">
              <a:solidFill>
                <a:schemeClr val="accent1"/>
              </a:solidFill>
              <a:latin typeface="Verdana"/>
              <a:ea typeface="Verdana"/>
              <a:cs typeface="Verdana"/>
              <a:sym typeface="Verdana"/>
            </a:endParaRPr>
          </a:p>
          <a:p>
            <a:pPr indent="0" lvl="0" marL="0" marR="0" rtl="0" algn="l">
              <a:lnSpc>
                <a:spcPct val="100000"/>
              </a:lnSpc>
              <a:spcBef>
                <a:spcPts val="1000"/>
              </a:spcBef>
              <a:spcAft>
                <a:spcPts val="1000"/>
              </a:spcAft>
              <a:buNone/>
            </a:pPr>
            <a:r>
              <a:t/>
            </a:r>
            <a:endParaRPr/>
          </a:p>
        </p:txBody>
      </p:sp>
      <p:sp>
        <p:nvSpPr>
          <p:cNvPr id="481" name="Google Shape;481;p36"/>
          <p:cNvSpPr txBox="1"/>
          <p:nvPr/>
        </p:nvSpPr>
        <p:spPr>
          <a:xfrm>
            <a:off x="634350" y="4341225"/>
            <a:ext cx="7875300" cy="1919100"/>
          </a:xfrm>
          <a:prstGeom prst="rect">
            <a:avLst/>
          </a:prstGeom>
          <a:noFill/>
          <a:ln>
            <a:noFill/>
          </a:ln>
        </p:spPr>
        <p:txBody>
          <a:bodyPr anchorCtr="0" anchor="t" bIns="91425" lIns="91425" spcFirstLastPara="1" rIns="91425" wrap="square" tIns="91425">
            <a:noAutofit/>
          </a:bodyPr>
          <a:lstStyle/>
          <a:p>
            <a:pPr indent="-285750" lvl="0" marL="285750" rtl="0" algn="l">
              <a:spcBef>
                <a:spcPts val="0"/>
              </a:spcBef>
              <a:spcAft>
                <a:spcPts val="0"/>
              </a:spcAft>
              <a:buClr>
                <a:schemeClr val="accent1"/>
              </a:buClr>
              <a:buSzPts val="1600"/>
              <a:buFont typeface="Courier New"/>
              <a:buChar char="o"/>
            </a:pPr>
            <a:r>
              <a:rPr lang="en-CA" sz="1600">
                <a:solidFill>
                  <a:schemeClr val="accent1"/>
                </a:solidFill>
                <a:latin typeface="Verdana"/>
                <a:ea typeface="Verdana"/>
                <a:cs typeface="Verdana"/>
                <a:sym typeface="Verdana"/>
              </a:rPr>
              <a:t>Once the ovum is released, surrounding follicle cells form the </a:t>
            </a:r>
            <a:r>
              <a:rPr b="1" i="1" lang="en-CA" sz="1600">
                <a:solidFill>
                  <a:schemeClr val="accent1"/>
                </a:solidFill>
                <a:latin typeface="Verdana"/>
                <a:ea typeface="Verdana"/>
                <a:cs typeface="Verdana"/>
                <a:sym typeface="Verdana"/>
              </a:rPr>
              <a:t>corpus luteum</a:t>
            </a:r>
            <a:endParaRPr sz="1600">
              <a:solidFill>
                <a:schemeClr val="accent1"/>
              </a:solidFill>
              <a:latin typeface="Verdana"/>
              <a:ea typeface="Verdana"/>
              <a:cs typeface="Verdana"/>
              <a:sym typeface="Verdana"/>
            </a:endParaRPr>
          </a:p>
          <a:p>
            <a:pPr indent="-330200" lvl="1" marL="914400" rtl="0" algn="l">
              <a:spcBef>
                <a:spcPts val="1000"/>
              </a:spcBef>
              <a:spcAft>
                <a:spcPts val="0"/>
              </a:spcAft>
              <a:buClr>
                <a:schemeClr val="accent1"/>
              </a:buClr>
              <a:buSzPts val="1600"/>
              <a:buFont typeface="Verdana"/>
              <a:buChar char="○"/>
            </a:pPr>
            <a:r>
              <a:rPr lang="en-CA" sz="1600">
                <a:solidFill>
                  <a:schemeClr val="accent1"/>
                </a:solidFill>
                <a:latin typeface="Verdana"/>
                <a:ea typeface="Verdana"/>
                <a:cs typeface="Verdana"/>
                <a:sym typeface="Verdana"/>
              </a:rPr>
              <a:t>The corpus luteum releases </a:t>
            </a:r>
            <a:r>
              <a:rPr b="1" lang="en-CA" sz="1600">
                <a:solidFill>
                  <a:schemeClr val="accent1"/>
                </a:solidFill>
                <a:latin typeface="Verdana"/>
                <a:ea typeface="Verdana"/>
                <a:cs typeface="Verdana"/>
                <a:sym typeface="Verdana"/>
              </a:rPr>
              <a:t>some estrogen</a:t>
            </a:r>
            <a:r>
              <a:rPr lang="en-CA" sz="1600">
                <a:solidFill>
                  <a:schemeClr val="accent1"/>
                </a:solidFill>
                <a:latin typeface="Verdana"/>
                <a:ea typeface="Verdana"/>
                <a:cs typeface="Verdana"/>
                <a:sym typeface="Verdana"/>
              </a:rPr>
              <a:t>, but </a:t>
            </a:r>
            <a:r>
              <a:rPr b="1" lang="en-CA" sz="1600">
                <a:solidFill>
                  <a:schemeClr val="accent1"/>
                </a:solidFill>
                <a:latin typeface="Verdana"/>
                <a:ea typeface="Verdana"/>
                <a:cs typeface="Verdana"/>
                <a:sym typeface="Verdana"/>
              </a:rPr>
              <a:t>mostly progesterone</a:t>
            </a:r>
            <a:r>
              <a:rPr lang="en-CA" sz="1600">
                <a:solidFill>
                  <a:schemeClr val="accent1"/>
                </a:solidFill>
                <a:latin typeface="Verdana"/>
                <a:ea typeface="Verdana"/>
                <a:cs typeface="Verdana"/>
                <a:sym typeface="Verdana"/>
              </a:rPr>
              <a:t> which helps </a:t>
            </a:r>
            <a:r>
              <a:rPr b="1" lang="en-CA" sz="1600">
                <a:solidFill>
                  <a:schemeClr val="accent1"/>
                </a:solidFill>
                <a:latin typeface="Verdana"/>
                <a:ea typeface="Verdana"/>
                <a:cs typeface="Verdana"/>
                <a:sym typeface="Verdana"/>
              </a:rPr>
              <a:t>maintain the endometrial lining</a:t>
            </a:r>
            <a:r>
              <a:rPr lang="en-CA" sz="1600">
                <a:solidFill>
                  <a:schemeClr val="accent1"/>
                </a:solidFill>
                <a:latin typeface="Verdana"/>
                <a:ea typeface="Verdana"/>
                <a:cs typeface="Verdana"/>
                <a:sym typeface="Verdana"/>
              </a:rPr>
              <a:t> in case fertilization occurs and implantation expected</a:t>
            </a:r>
            <a:endParaRPr sz="1600">
              <a:solidFill>
                <a:schemeClr val="accent1"/>
              </a:solidFill>
              <a:latin typeface="Verdana"/>
              <a:ea typeface="Verdana"/>
              <a:cs typeface="Verdana"/>
              <a:sym typeface="Verdana"/>
            </a:endParaRPr>
          </a:p>
          <a:p>
            <a:pPr indent="-330200" lvl="1" marL="914400" rtl="0" algn="l">
              <a:spcBef>
                <a:spcPts val="1000"/>
              </a:spcBef>
              <a:spcAft>
                <a:spcPts val="0"/>
              </a:spcAft>
              <a:buClr>
                <a:schemeClr val="accent1"/>
              </a:buClr>
              <a:buSzPts val="1600"/>
              <a:buFont typeface="Verdana"/>
              <a:buChar char="○"/>
            </a:pPr>
            <a:r>
              <a:rPr lang="en-CA" sz="1600">
                <a:solidFill>
                  <a:schemeClr val="accent1"/>
                </a:solidFill>
                <a:latin typeface="Verdana"/>
                <a:ea typeface="Verdana"/>
                <a:cs typeface="Verdana"/>
                <a:sym typeface="Verdana"/>
              </a:rPr>
              <a:t>If no fertilization occurs, the corpus luteum will degenerate in about 14 days</a:t>
            </a:r>
            <a:endParaRPr sz="1600">
              <a:solidFill>
                <a:schemeClr val="accent1"/>
              </a:solidFill>
              <a:latin typeface="Verdana"/>
              <a:ea typeface="Verdana"/>
              <a:cs typeface="Verdana"/>
              <a:sym typeface="Verdana"/>
            </a:endParaRPr>
          </a:p>
          <a:p>
            <a:pPr indent="0" lvl="0" marL="0" rtl="0" algn="l">
              <a:spcBef>
                <a:spcPts val="100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7"/>
          <p:cNvSpPr txBox="1"/>
          <p:nvPr>
            <p:ph type="title"/>
          </p:nvPr>
        </p:nvSpPr>
        <p:spPr>
          <a:xfrm>
            <a:off x="4000000" y="1755250"/>
            <a:ext cx="4289400" cy="501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CA" sz="2800"/>
              <a:t>A mature ovum:</a:t>
            </a:r>
            <a:endParaRPr/>
          </a:p>
        </p:txBody>
      </p:sp>
      <p:pic>
        <p:nvPicPr>
          <p:cNvPr descr="http://ibbio.pbworks.com/f/1317538698/oocyte.jpg" id="487" name="Google Shape;487;p37"/>
          <p:cNvPicPr preferRelativeResize="0"/>
          <p:nvPr/>
        </p:nvPicPr>
        <p:blipFill rotWithShape="1">
          <a:blip r:embed="rId3">
            <a:alphaModFix/>
          </a:blip>
          <a:srcRect b="0" l="0" r="0" t="0"/>
          <a:stretch/>
        </p:blipFill>
        <p:spPr>
          <a:xfrm>
            <a:off x="4537898" y="2686425"/>
            <a:ext cx="3213600" cy="2401101"/>
          </a:xfrm>
          <a:prstGeom prst="rect">
            <a:avLst/>
          </a:prstGeom>
          <a:noFill/>
          <a:ln>
            <a:noFill/>
          </a:ln>
        </p:spPr>
      </p:pic>
      <p:sp>
        <p:nvSpPr>
          <p:cNvPr id="488" name="Google Shape;488;p37"/>
          <p:cNvSpPr txBox="1"/>
          <p:nvPr/>
        </p:nvSpPr>
        <p:spPr>
          <a:xfrm>
            <a:off x="649025" y="1138675"/>
            <a:ext cx="3036900" cy="30471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Females are born with a finite amount of </a:t>
            </a:r>
            <a:r>
              <a:rPr b="1" i="1" lang="en-CA" sz="1600" u="none" cap="none" strike="noStrike">
                <a:solidFill>
                  <a:schemeClr val="accent1"/>
                </a:solidFill>
                <a:latin typeface="Verdana"/>
                <a:ea typeface="Verdana"/>
                <a:cs typeface="Verdana"/>
                <a:sym typeface="Verdana"/>
              </a:rPr>
              <a:t>oocytes</a:t>
            </a:r>
            <a:r>
              <a:rPr b="0" i="0" lang="en-CA" sz="1600" u="none" cap="none" strike="noStrike">
                <a:solidFill>
                  <a:schemeClr val="accent1"/>
                </a:solidFill>
                <a:latin typeface="Verdana"/>
                <a:ea typeface="Verdana"/>
                <a:cs typeface="Verdana"/>
                <a:sym typeface="Verdana"/>
              </a:rPr>
              <a:t>; after a certain age, then, women no can longer ovulate (menopause)</a:t>
            </a:r>
            <a:endParaRPr/>
          </a:p>
          <a:p>
            <a:pPr indent="-285750" lvl="0" marL="28575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Surrounded by two key layers</a:t>
            </a:r>
            <a:r>
              <a:rPr lang="en-CA" sz="1600">
                <a:solidFill>
                  <a:schemeClr val="accent1"/>
                </a:solidFill>
                <a:latin typeface="Verdana"/>
                <a:ea typeface="Verdana"/>
                <a:cs typeface="Verdana"/>
                <a:sym typeface="Verdana"/>
              </a:rPr>
              <a:t> (do not need to know)</a:t>
            </a:r>
            <a:endParaRPr b="0" i="0" sz="1600" u="none" cap="none" strike="noStrike">
              <a:solidFill>
                <a:schemeClr val="accent1"/>
              </a:solidFill>
              <a:latin typeface="Verdana"/>
              <a:ea typeface="Verdana"/>
              <a:cs typeface="Verdana"/>
              <a:sym typeface="Verdana"/>
            </a:endParaRPr>
          </a:p>
          <a:p>
            <a:pPr indent="-330200" lvl="0" marL="457200" marR="0" rtl="0" algn="l">
              <a:lnSpc>
                <a:spcPct val="100000"/>
              </a:lnSpc>
              <a:spcBef>
                <a:spcPts val="1000"/>
              </a:spcBef>
              <a:spcAft>
                <a:spcPts val="0"/>
              </a:spcAft>
              <a:buClr>
                <a:schemeClr val="accent1"/>
              </a:buClr>
              <a:buSzPts val="1600"/>
              <a:buFont typeface="Verdana"/>
              <a:buAutoNum type="arabicPeriod"/>
            </a:pPr>
            <a:r>
              <a:rPr lang="en-CA" sz="1600">
                <a:solidFill>
                  <a:schemeClr val="accent1"/>
                </a:solidFill>
                <a:latin typeface="Verdana"/>
                <a:ea typeface="Verdana"/>
                <a:cs typeface="Verdana"/>
                <a:sym typeface="Verdana"/>
              </a:rPr>
              <a:t>the </a:t>
            </a:r>
            <a:r>
              <a:rPr b="1" i="1" lang="en-CA" sz="1600">
                <a:solidFill>
                  <a:schemeClr val="accent1"/>
                </a:solidFill>
                <a:latin typeface="Verdana"/>
                <a:ea typeface="Verdana"/>
                <a:cs typeface="Verdana"/>
                <a:sym typeface="Verdana"/>
              </a:rPr>
              <a:t>corona radiata</a:t>
            </a:r>
            <a:r>
              <a:rPr lang="en-CA" sz="1600">
                <a:solidFill>
                  <a:schemeClr val="accent1"/>
                </a:solidFill>
                <a:latin typeface="Verdana"/>
                <a:ea typeface="Verdana"/>
                <a:cs typeface="Verdana"/>
                <a:sym typeface="Verdana"/>
              </a:rPr>
              <a:t>, which supplies vital proteins to the cell</a:t>
            </a:r>
            <a:endParaRPr sz="1600">
              <a:solidFill>
                <a:schemeClr val="accent1"/>
              </a:solidFill>
              <a:latin typeface="Verdana"/>
              <a:ea typeface="Verdana"/>
              <a:cs typeface="Verdana"/>
              <a:sym typeface="Verdana"/>
            </a:endParaRPr>
          </a:p>
          <a:p>
            <a:pPr indent="-330200" lvl="0" marL="457200" marR="0" rtl="0" algn="l">
              <a:lnSpc>
                <a:spcPct val="100000"/>
              </a:lnSpc>
              <a:spcBef>
                <a:spcPts val="1000"/>
              </a:spcBef>
              <a:spcAft>
                <a:spcPts val="0"/>
              </a:spcAft>
              <a:buClr>
                <a:schemeClr val="accent1"/>
              </a:buClr>
              <a:buSzPts val="1600"/>
              <a:buFont typeface="Verdana"/>
              <a:buAutoNum type="arabicPeriod"/>
            </a:pPr>
            <a:r>
              <a:rPr b="0" i="0" lang="en-CA" sz="1600" u="none" cap="none" strike="noStrike">
                <a:solidFill>
                  <a:schemeClr val="accent1"/>
                </a:solidFill>
                <a:latin typeface="Verdana"/>
                <a:ea typeface="Verdana"/>
                <a:cs typeface="Verdana"/>
                <a:sym typeface="Verdana"/>
              </a:rPr>
              <a:t>a specialized coating</a:t>
            </a:r>
            <a:r>
              <a:rPr lang="en-CA" sz="1600">
                <a:solidFill>
                  <a:schemeClr val="accent1"/>
                </a:solidFill>
                <a:latin typeface="Verdana"/>
                <a:ea typeface="Verdana"/>
                <a:cs typeface="Verdana"/>
                <a:sym typeface="Verdana"/>
              </a:rPr>
              <a:t> </a:t>
            </a:r>
            <a:r>
              <a:rPr b="0" i="0" lang="en-CA" sz="1600" u="none" cap="none" strike="noStrike">
                <a:solidFill>
                  <a:schemeClr val="accent1"/>
                </a:solidFill>
                <a:latin typeface="Verdana"/>
                <a:ea typeface="Verdana"/>
                <a:cs typeface="Verdana"/>
                <a:sym typeface="Verdana"/>
              </a:rPr>
              <a:t>called the </a:t>
            </a:r>
            <a:r>
              <a:rPr b="1" i="1" lang="en-CA" sz="1600" u="none" cap="none" strike="noStrike">
                <a:solidFill>
                  <a:schemeClr val="accent1"/>
                </a:solidFill>
                <a:latin typeface="Verdana"/>
                <a:ea typeface="Verdana"/>
                <a:cs typeface="Verdana"/>
                <a:sym typeface="Verdana"/>
              </a:rPr>
              <a:t>zona pellucida</a:t>
            </a:r>
            <a:r>
              <a:rPr b="0" i="0" lang="en-CA" sz="1600" u="none" cap="none" strike="noStrike">
                <a:solidFill>
                  <a:schemeClr val="accent1"/>
                </a:solidFill>
                <a:latin typeface="Verdana"/>
                <a:ea typeface="Verdana"/>
                <a:cs typeface="Verdana"/>
                <a:sym typeface="Verdana"/>
              </a:rPr>
              <a:t>, which can only be penetrated by a single sperm</a:t>
            </a:r>
            <a:endParaRPr b="0" i="0" sz="1600" u="none" cap="none" strike="noStrike">
              <a:solidFill>
                <a:schemeClr val="accent1"/>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600">
              <a:solidFill>
                <a:schemeClr val="accent1"/>
              </a:solidFill>
              <a:latin typeface="Verdana"/>
              <a:ea typeface="Verdana"/>
              <a:cs typeface="Verdana"/>
              <a:sym typeface="Verdana"/>
            </a:endParaRPr>
          </a:p>
          <a:p>
            <a:pPr indent="-285750" lvl="0" marL="285750" marR="0" rtl="0" algn="l">
              <a:lnSpc>
                <a:spcPct val="100000"/>
              </a:lnSpc>
              <a:spcBef>
                <a:spcPts val="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Non-motile</a:t>
            </a:r>
            <a:endParaRPr/>
          </a:p>
        </p:txBody>
      </p:sp>
      <p:sp>
        <p:nvSpPr>
          <p:cNvPr id="489" name="Google Shape;489;p37"/>
          <p:cNvSpPr/>
          <p:nvPr/>
        </p:nvSpPr>
        <p:spPr>
          <a:xfrm>
            <a:off x="3984400" y="2571249"/>
            <a:ext cx="4320600" cy="2716500"/>
          </a:xfrm>
          <a:prstGeom prst="rect">
            <a:avLst/>
          </a:prstGeom>
          <a:noFill/>
          <a:ln cap="flat" cmpd="sng" w="762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38"/>
          <p:cNvPicPr preferRelativeResize="0"/>
          <p:nvPr/>
        </p:nvPicPr>
        <p:blipFill>
          <a:blip r:embed="rId3">
            <a:alphaModFix/>
          </a:blip>
          <a:stretch>
            <a:fillRect/>
          </a:stretch>
        </p:blipFill>
        <p:spPr>
          <a:xfrm>
            <a:off x="1544075" y="2256600"/>
            <a:ext cx="4611200" cy="3458400"/>
          </a:xfrm>
          <a:prstGeom prst="rect">
            <a:avLst/>
          </a:prstGeom>
          <a:noFill/>
          <a:ln cap="flat" cmpd="sng" w="9525">
            <a:solidFill>
              <a:srgbClr val="434343"/>
            </a:solidFill>
            <a:prstDash val="solid"/>
            <a:round/>
            <a:headEnd len="sm" w="sm" type="none"/>
            <a:tailEnd len="sm" w="sm" type="none"/>
          </a:ln>
        </p:spPr>
      </p:pic>
      <p:sp>
        <p:nvSpPr>
          <p:cNvPr id="496" name="Google Shape;496;p38"/>
          <p:cNvSpPr txBox="1"/>
          <p:nvPr>
            <p:ph type="title"/>
          </p:nvPr>
        </p:nvSpPr>
        <p:spPr>
          <a:xfrm>
            <a:off x="843900" y="1097825"/>
            <a:ext cx="7456200" cy="6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lang="en-CA" sz="2000"/>
              <a:t>An immature oocyte developing within a follicle:</a:t>
            </a:r>
            <a:endParaRPr sz="2000"/>
          </a:p>
        </p:txBody>
      </p:sp>
      <p:cxnSp>
        <p:nvCxnSpPr>
          <p:cNvPr id="497" name="Google Shape;497;p38"/>
          <p:cNvCxnSpPr/>
          <p:nvPr/>
        </p:nvCxnSpPr>
        <p:spPr>
          <a:xfrm flipH="1" rot="10800000">
            <a:off x="5203050" y="2389125"/>
            <a:ext cx="1805400" cy="551700"/>
          </a:xfrm>
          <a:prstGeom prst="straightConnector1">
            <a:avLst/>
          </a:prstGeom>
          <a:noFill/>
          <a:ln cap="flat" cmpd="sng" w="19050">
            <a:solidFill>
              <a:srgbClr val="000000"/>
            </a:solidFill>
            <a:prstDash val="solid"/>
            <a:round/>
            <a:headEnd len="med" w="med" type="none"/>
            <a:tailEnd len="med" w="med" type="none"/>
          </a:ln>
        </p:spPr>
      </p:cxnSp>
      <p:cxnSp>
        <p:nvCxnSpPr>
          <p:cNvPr id="498" name="Google Shape;498;p38"/>
          <p:cNvCxnSpPr/>
          <p:nvPr/>
        </p:nvCxnSpPr>
        <p:spPr>
          <a:xfrm flipH="1" rot="10800000">
            <a:off x="5428725" y="3429875"/>
            <a:ext cx="1617300" cy="50100"/>
          </a:xfrm>
          <a:prstGeom prst="straightConnector1">
            <a:avLst/>
          </a:prstGeom>
          <a:noFill/>
          <a:ln cap="flat" cmpd="sng" w="19050">
            <a:solidFill>
              <a:srgbClr val="000000"/>
            </a:solidFill>
            <a:prstDash val="solid"/>
            <a:round/>
            <a:headEnd len="med" w="med" type="none"/>
            <a:tailEnd len="med" w="med" type="none"/>
          </a:ln>
        </p:spPr>
      </p:cxnSp>
      <p:cxnSp>
        <p:nvCxnSpPr>
          <p:cNvPr id="499" name="Google Shape;499;p38"/>
          <p:cNvCxnSpPr/>
          <p:nvPr/>
        </p:nvCxnSpPr>
        <p:spPr>
          <a:xfrm>
            <a:off x="5140375" y="3818425"/>
            <a:ext cx="1454400" cy="1241100"/>
          </a:xfrm>
          <a:prstGeom prst="straightConnector1">
            <a:avLst/>
          </a:prstGeom>
          <a:noFill/>
          <a:ln cap="flat" cmpd="sng" w="19050">
            <a:solidFill>
              <a:srgbClr val="000000"/>
            </a:solidFill>
            <a:prstDash val="solid"/>
            <a:round/>
            <a:headEnd len="med" w="med" type="none"/>
            <a:tailEnd len="med" w="med" type="none"/>
          </a:ln>
        </p:spPr>
      </p:cxnSp>
      <p:cxnSp>
        <p:nvCxnSpPr>
          <p:cNvPr id="500" name="Google Shape;500;p38"/>
          <p:cNvCxnSpPr/>
          <p:nvPr/>
        </p:nvCxnSpPr>
        <p:spPr>
          <a:xfrm>
            <a:off x="5366050" y="3630375"/>
            <a:ext cx="1680000" cy="677100"/>
          </a:xfrm>
          <a:prstGeom prst="straightConnector1">
            <a:avLst/>
          </a:prstGeom>
          <a:noFill/>
          <a:ln cap="flat" cmpd="sng" w="19050">
            <a:solidFill>
              <a:srgbClr val="000000"/>
            </a:solidFill>
            <a:prstDash val="solid"/>
            <a:round/>
            <a:headEnd len="med" w="med" type="none"/>
            <a:tailEnd len="med" w="med" type="none"/>
          </a:ln>
        </p:spPr>
      </p:cxnSp>
      <p:sp>
        <p:nvSpPr>
          <p:cNvPr id="501" name="Google Shape;501;p38"/>
          <p:cNvSpPr txBox="1"/>
          <p:nvPr/>
        </p:nvSpPr>
        <p:spPr>
          <a:xfrm>
            <a:off x="7046025" y="2176050"/>
            <a:ext cx="915300" cy="4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latin typeface="Verdana"/>
                <a:ea typeface="Verdana"/>
                <a:cs typeface="Verdana"/>
                <a:sym typeface="Verdana"/>
              </a:rPr>
              <a:t>follicles</a:t>
            </a:r>
            <a:endParaRPr>
              <a:latin typeface="Verdana"/>
              <a:ea typeface="Verdana"/>
              <a:cs typeface="Verdana"/>
              <a:sym typeface="Verdana"/>
            </a:endParaRPr>
          </a:p>
        </p:txBody>
      </p:sp>
      <p:sp>
        <p:nvSpPr>
          <p:cNvPr id="502" name="Google Shape;502;p38"/>
          <p:cNvSpPr txBox="1"/>
          <p:nvPr/>
        </p:nvSpPr>
        <p:spPr>
          <a:xfrm>
            <a:off x="7123200" y="3229325"/>
            <a:ext cx="1276800" cy="4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latin typeface="Verdana"/>
                <a:ea typeface="Verdana"/>
                <a:cs typeface="Verdana"/>
                <a:sym typeface="Verdana"/>
              </a:rPr>
              <a:t>zona pellucida</a:t>
            </a:r>
            <a:endParaRPr>
              <a:latin typeface="Verdana"/>
              <a:ea typeface="Verdana"/>
              <a:cs typeface="Verdana"/>
              <a:sym typeface="Verdana"/>
            </a:endParaRPr>
          </a:p>
        </p:txBody>
      </p:sp>
      <p:sp>
        <p:nvSpPr>
          <p:cNvPr id="503" name="Google Shape;503;p38"/>
          <p:cNvSpPr txBox="1"/>
          <p:nvPr/>
        </p:nvSpPr>
        <p:spPr>
          <a:xfrm>
            <a:off x="7046025" y="4148325"/>
            <a:ext cx="915300" cy="4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latin typeface="Verdana"/>
                <a:ea typeface="Verdana"/>
                <a:cs typeface="Verdana"/>
                <a:sym typeface="Verdana"/>
              </a:rPr>
              <a:t>oocyte</a:t>
            </a:r>
            <a:endParaRPr>
              <a:latin typeface="Verdana"/>
              <a:ea typeface="Verdana"/>
              <a:cs typeface="Verdana"/>
              <a:sym typeface="Verdana"/>
            </a:endParaRPr>
          </a:p>
        </p:txBody>
      </p:sp>
      <p:sp>
        <p:nvSpPr>
          <p:cNvPr id="504" name="Google Shape;504;p38"/>
          <p:cNvSpPr txBox="1"/>
          <p:nvPr/>
        </p:nvSpPr>
        <p:spPr>
          <a:xfrm>
            <a:off x="6594775" y="4864925"/>
            <a:ext cx="915300" cy="4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latin typeface="Verdana"/>
                <a:ea typeface="Verdana"/>
                <a:cs typeface="Verdana"/>
                <a:sym typeface="Verdana"/>
              </a:rPr>
              <a:t>corona radiata</a:t>
            </a:r>
            <a:endParaRPr>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9"/>
          <p:cNvSpPr txBox="1"/>
          <p:nvPr>
            <p:ph type="title"/>
          </p:nvPr>
        </p:nvSpPr>
        <p:spPr>
          <a:xfrm>
            <a:off x="1043500" y="939147"/>
            <a:ext cx="7024800" cy="5157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CA" sz="2800"/>
              <a:t>Female Sex Hormones</a:t>
            </a:r>
            <a:endParaRPr/>
          </a:p>
        </p:txBody>
      </p:sp>
      <p:sp>
        <p:nvSpPr>
          <p:cNvPr id="510" name="Google Shape;510;p39"/>
          <p:cNvSpPr txBox="1"/>
          <p:nvPr/>
        </p:nvSpPr>
        <p:spPr>
          <a:xfrm>
            <a:off x="549475" y="1535825"/>
            <a:ext cx="82179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450"/>
              <a:buFont typeface="Verdana"/>
              <a:buNone/>
            </a:pPr>
            <a:r>
              <a:rPr b="0" i="0" lang="en-CA" sz="1800" u="none" cap="none" strike="noStrike">
                <a:solidFill>
                  <a:schemeClr val="accent1"/>
                </a:solidFill>
                <a:latin typeface="Verdana"/>
                <a:ea typeface="Verdana"/>
                <a:cs typeface="Verdana"/>
                <a:sym typeface="Verdana"/>
              </a:rPr>
              <a:t>Like in males, puberty begins when the hypothalamus triggers the release of LH and FSH from the pituitary. However, in females…</a:t>
            </a:r>
            <a:endParaRPr/>
          </a:p>
        </p:txBody>
      </p:sp>
      <p:sp>
        <p:nvSpPr>
          <p:cNvPr id="511" name="Google Shape;511;p39"/>
          <p:cNvSpPr txBox="1"/>
          <p:nvPr/>
        </p:nvSpPr>
        <p:spPr>
          <a:xfrm>
            <a:off x="943150" y="2768950"/>
            <a:ext cx="3140700" cy="2031300"/>
          </a:xfrm>
          <a:prstGeom prst="rect">
            <a:avLst/>
          </a:prstGeom>
          <a:noFill/>
          <a:ln>
            <a:noFill/>
          </a:ln>
        </p:spPr>
        <p:txBody>
          <a:bodyPr anchorCtr="0" anchor="t" bIns="45700" lIns="91425" spcFirstLastPara="1" rIns="91425" wrap="square" tIns="45700">
            <a:noAutofit/>
          </a:bodyPr>
          <a:lstStyle/>
          <a:p>
            <a:pPr indent="-266700" lvl="0" marL="285750" marR="0" rtl="0" algn="l">
              <a:lnSpc>
                <a:spcPct val="100000"/>
              </a:lnSpc>
              <a:spcBef>
                <a:spcPts val="0"/>
              </a:spcBef>
              <a:spcAft>
                <a:spcPts val="0"/>
              </a:spcAft>
              <a:buClr>
                <a:schemeClr val="accent1"/>
              </a:buClr>
              <a:buSzPts val="1500"/>
              <a:buFont typeface="Courier New"/>
              <a:buChar char="o"/>
            </a:pPr>
            <a:r>
              <a:rPr b="1" i="0" lang="en-CA" sz="1500" u="none" cap="none" strike="noStrike">
                <a:solidFill>
                  <a:schemeClr val="accent1"/>
                </a:solidFill>
                <a:latin typeface="Verdana"/>
                <a:ea typeface="Verdana"/>
                <a:cs typeface="Verdana"/>
                <a:sym typeface="Verdana"/>
              </a:rPr>
              <a:t>FSH</a:t>
            </a:r>
            <a:r>
              <a:rPr b="0" i="0" lang="en-CA" sz="1500" u="none" cap="none" strike="noStrike">
                <a:solidFill>
                  <a:schemeClr val="accent1"/>
                </a:solidFill>
                <a:latin typeface="Verdana"/>
                <a:ea typeface="Verdana"/>
                <a:cs typeface="Verdana"/>
                <a:sym typeface="Verdana"/>
              </a:rPr>
              <a:t> stimulates the development of female sex organs as well as follicle development within the ovaries. As the follicle develops, it releases </a:t>
            </a:r>
            <a:r>
              <a:rPr b="1" i="0" lang="en-CA" sz="1500" u="none" cap="none" strike="noStrike">
                <a:solidFill>
                  <a:schemeClr val="accent1"/>
                </a:solidFill>
                <a:latin typeface="Verdana"/>
                <a:ea typeface="Verdana"/>
                <a:cs typeface="Verdana"/>
                <a:sym typeface="Verdana"/>
              </a:rPr>
              <a:t>estrogen</a:t>
            </a:r>
            <a:r>
              <a:rPr b="0" i="0" lang="en-CA" sz="1500" u="none" cap="none" strike="noStrike">
                <a:solidFill>
                  <a:schemeClr val="accent1"/>
                </a:solidFill>
                <a:latin typeface="Verdana"/>
                <a:ea typeface="Verdana"/>
                <a:cs typeface="Verdana"/>
                <a:sym typeface="Verdana"/>
              </a:rPr>
              <a:t>.</a:t>
            </a:r>
            <a:endParaRPr sz="1500"/>
          </a:p>
          <a:p>
            <a:pPr indent="-266700" lvl="0" marL="285750" marR="0" rtl="0" algn="l">
              <a:lnSpc>
                <a:spcPct val="100000"/>
              </a:lnSpc>
              <a:spcBef>
                <a:spcPts val="1000"/>
              </a:spcBef>
              <a:spcAft>
                <a:spcPts val="1000"/>
              </a:spcAft>
              <a:buClr>
                <a:schemeClr val="accent1"/>
              </a:buClr>
              <a:buSzPts val="1500"/>
              <a:buFont typeface="Courier New"/>
              <a:buChar char="o"/>
            </a:pPr>
            <a:r>
              <a:rPr b="1" i="0" lang="en-CA" sz="1500" u="none" cap="none" strike="noStrike">
                <a:solidFill>
                  <a:schemeClr val="accent1"/>
                </a:solidFill>
                <a:latin typeface="Verdana"/>
                <a:ea typeface="Verdana"/>
                <a:cs typeface="Verdana"/>
                <a:sym typeface="Verdana"/>
              </a:rPr>
              <a:t>LH </a:t>
            </a:r>
            <a:r>
              <a:rPr b="0" i="0" lang="en-CA" sz="1500" u="none" cap="none" strike="noStrike">
                <a:solidFill>
                  <a:schemeClr val="accent1"/>
                </a:solidFill>
                <a:latin typeface="Verdana"/>
                <a:ea typeface="Verdana"/>
                <a:cs typeface="Verdana"/>
                <a:sym typeface="Verdana"/>
              </a:rPr>
              <a:t>triggers ovulation</a:t>
            </a:r>
            <a:r>
              <a:rPr lang="en-CA" sz="1500">
                <a:solidFill>
                  <a:schemeClr val="accent1"/>
                </a:solidFill>
                <a:latin typeface="Verdana"/>
                <a:ea typeface="Verdana"/>
                <a:cs typeface="Verdana"/>
                <a:sym typeface="Verdana"/>
              </a:rPr>
              <a:t> (signals egg maturation)</a:t>
            </a:r>
            <a:endParaRPr sz="1500"/>
          </a:p>
        </p:txBody>
      </p:sp>
      <p:sp>
        <p:nvSpPr>
          <p:cNvPr id="512" name="Google Shape;512;p39"/>
          <p:cNvSpPr txBox="1"/>
          <p:nvPr/>
        </p:nvSpPr>
        <p:spPr>
          <a:xfrm>
            <a:off x="1007604" y="5377605"/>
            <a:ext cx="71289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450"/>
              <a:buFont typeface="Verdana"/>
              <a:buNone/>
            </a:pPr>
            <a:r>
              <a:rPr b="0" i="0" lang="en-CA" sz="1800" u="none" cap="none" strike="noStrike">
                <a:solidFill>
                  <a:schemeClr val="accent1"/>
                </a:solidFill>
                <a:latin typeface="Verdana"/>
                <a:ea typeface="Verdana"/>
                <a:cs typeface="Verdana"/>
                <a:sym typeface="Verdana"/>
              </a:rPr>
              <a:t>This marks the beginning of a young woman’s reproductive years; associated hormones also stimulate the development of secondary sex characteristics. </a:t>
            </a:r>
            <a:endParaRPr/>
          </a:p>
        </p:txBody>
      </p:sp>
      <p:pic>
        <p:nvPicPr>
          <p:cNvPr descr="http://ukashe.files.wordpress.com/2012/02/ovary10x.gif" id="513" name="Google Shape;513;p39"/>
          <p:cNvPicPr preferRelativeResize="0"/>
          <p:nvPr/>
        </p:nvPicPr>
        <p:blipFill rotWithShape="1">
          <a:blip r:embed="rId3">
            <a:alphaModFix/>
          </a:blip>
          <a:srcRect b="0" l="0" r="0" t="0"/>
          <a:stretch/>
        </p:blipFill>
        <p:spPr>
          <a:xfrm>
            <a:off x="4854689" y="2768942"/>
            <a:ext cx="2885662" cy="225069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descr="This 3D animation explains the hormonal changes during the menstrual cycle.  The menstrual cycle begins with menstrual bleeding, marking the follicular phase’s first day. When the follicular phase begins, levels of estrogen and progesterone are low. As a result, the top layers of the uterus’s thickened lining break down and are shed, and menstrual bleeding occurs. &#10;&#10;About this time, the pituitary gland starts sending follicle-stimulating hormone to your ovaries, stimulating the development of 5 to 20 follicles in the ovaries. Each follicle contains an immature egg and produces estrogen. One follicle will soon begin to grow faster than others. This is called the dominant follicle. As the follicle grows, the levels of estrogen in the blood rise significantly. This increase in estrogen begins to inhibit the secretion of the follicle-stimulating hormone. The fall in follicle-stimulating hormone allows smaller follicles to die off. They are, in effect, &quot;starved&quot; of follicle-stimulating hormone.&#10;&#10;The increasing amount of estrogen in your body also ensures that the lining of your womb thickens with nutrients and blood. This is so that if you do get pregnant, the fertilized egg will have everything it needs to grow. &#10;&#10;The ovulatory phase begins with a rise in the levels of luteinizing hormone and follicle-stimulating hormone. The surge in the luteinizing hormone triggers one of the most prominent follicles to pop open and release its egg, which heads into the fallopian tube and starts its journey toward the uterus. Ovulation usually occurs 16 to 32 hours after the beginning of the surge, around day 14 of the menstrual cycle. &#10;&#10;During the luteal phase, the levels of the luteinizing hormone and follicle-stimulating hormone decrease. The ruptured follicle closes after releasing the egg and forms a corpus luteum, which produces estrogen and progesterone, which cause the lining of the uterus to thicken even more. If an egg is fertilized, progesterone supports early pregnancy. But if no fertilization occurs, the corpus luteum will break down between 9 and 11 days after ovulation. This results in a drop in estrogen and progesterone levels, bringing us back to the first stage of menstruation if no pregnancy has occurred.&#10;&#10;&#10;Timecodes:&#10;0:00 Menstrual Bleeding&#10;0:07 Follicular Phase&#10;0:36 Dominant Follicle&#10;1:12 Ovulation&#10;1:37 Luteal Phase&#10;1:46 Corpus Luteum&#10;0:54 Implantation&#10;1:04 Next video&#10;&#10;#Menstruation #Menstrualcycle #animation" id="519" name="Google Shape;519;p40" title="The Menstrual Cycle | 3D Animation (2/2)">
            <a:hlinkClick r:id="rId3"/>
          </p:cNvPr>
          <p:cNvPicPr preferRelativeResize="0"/>
          <p:nvPr/>
        </p:nvPicPr>
        <p:blipFill>
          <a:blip r:embed="rId4">
            <a:alphaModFix/>
          </a:blip>
          <a:stretch>
            <a:fillRect/>
          </a:stretch>
        </p:blipFill>
        <p:spPr>
          <a:xfrm>
            <a:off x="2726737" y="1942150"/>
            <a:ext cx="3811425" cy="2143925"/>
          </a:xfrm>
          <a:prstGeom prst="rect">
            <a:avLst/>
          </a:prstGeom>
          <a:noFill/>
          <a:ln>
            <a:noFill/>
          </a:ln>
        </p:spPr>
      </p:pic>
      <p:pic>
        <p:nvPicPr>
          <p:cNvPr descr="Support me: &#10;🖼️ Buy PDFs: http://armandoh.org/shop &#10;💵 Patreon: http://www.patreon.com/armando&#10;👕 Buy shirts: https://teespring.com/stores/ah-7&#10;&#10;Social media: &#10;📷 Instagram: http://instagram.com/armandohasudungan&#10;🐦 Twitter: https://twitter.com/armandohasudung&#10;📔 Facebook: https://www.facebook.com/ArmandoHasudungan&#10;&#10;Resources:&#10;📕 Books: http://armandoh.org/resource&#10;🎞️ Equipment: armandoh.org/armando-faigl&#10;&#10;You can send me mail:&#10;📫 PO BOX 166, Randwick NSW 2031, Australia" id="520" name="Google Shape;520;p40" title="Female Reproductive System - Menstrual Cycle, Hormones and Regulation">
            <a:hlinkClick r:id="rId5"/>
          </p:cNvPr>
          <p:cNvPicPr preferRelativeResize="0"/>
          <p:nvPr/>
        </p:nvPicPr>
        <p:blipFill>
          <a:blip r:embed="rId6">
            <a:alphaModFix/>
          </a:blip>
          <a:stretch>
            <a:fillRect/>
          </a:stretch>
        </p:blipFill>
        <p:spPr>
          <a:xfrm>
            <a:off x="2522275" y="4133600"/>
            <a:ext cx="4220350" cy="2373950"/>
          </a:xfrm>
          <a:prstGeom prst="rect">
            <a:avLst/>
          </a:prstGeom>
          <a:noFill/>
          <a:ln>
            <a:noFill/>
          </a:ln>
        </p:spPr>
      </p:pic>
      <p:sp>
        <p:nvSpPr>
          <p:cNvPr id="521" name="Google Shape;521;p40"/>
          <p:cNvSpPr txBox="1"/>
          <p:nvPr/>
        </p:nvSpPr>
        <p:spPr>
          <a:xfrm>
            <a:off x="812700" y="723550"/>
            <a:ext cx="75186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chemeClr val="dk2"/>
                </a:solidFill>
                <a:latin typeface="Verdana"/>
                <a:ea typeface="Verdana"/>
                <a:cs typeface="Verdana"/>
                <a:sym typeface="Verdana"/>
              </a:rPr>
              <a:t>Hormonal regulation of the female menstrual cycle is complex. Watch both videos to get an increasing in-depth understanding of it. There are </a:t>
            </a:r>
            <a:r>
              <a:rPr lang="en-CA" sz="1700">
                <a:solidFill>
                  <a:schemeClr val="dk2"/>
                </a:solidFill>
                <a:latin typeface="Verdana"/>
                <a:ea typeface="Verdana"/>
                <a:cs typeface="Verdana"/>
                <a:sym typeface="Verdana"/>
              </a:rPr>
              <a:t>summary</a:t>
            </a:r>
            <a:r>
              <a:rPr lang="en-CA" sz="1700">
                <a:solidFill>
                  <a:schemeClr val="dk2"/>
                </a:solidFill>
                <a:latin typeface="Verdana"/>
                <a:ea typeface="Verdana"/>
                <a:cs typeface="Verdana"/>
                <a:sym typeface="Verdana"/>
              </a:rPr>
              <a:t> notes on the next pages and a diagram, but that will not give you the whole picture. </a:t>
            </a:r>
            <a:endParaRPr sz="1700">
              <a:solidFill>
                <a:schemeClr val="dk2"/>
              </a:solidFill>
              <a:latin typeface="Verdana"/>
              <a:ea typeface="Verdana"/>
              <a:cs typeface="Verdana"/>
              <a:sym typeface="Verdana"/>
            </a:endParaRPr>
          </a:p>
        </p:txBody>
      </p:sp>
      <p:sp>
        <p:nvSpPr>
          <p:cNvPr id="522" name="Google Shape;522;p40"/>
          <p:cNvSpPr txBox="1"/>
          <p:nvPr/>
        </p:nvSpPr>
        <p:spPr>
          <a:xfrm>
            <a:off x="949275" y="2443275"/>
            <a:ext cx="1473000" cy="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400">
                <a:solidFill>
                  <a:schemeClr val="dk2"/>
                </a:solidFill>
                <a:latin typeface="Verdana"/>
                <a:ea typeface="Verdana"/>
                <a:cs typeface="Verdana"/>
                <a:sym typeface="Verdana"/>
              </a:rPr>
              <a:t>Watch first</a:t>
            </a:r>
            <a:endParaRPr sz="2400">
              <a:solidFill>
                <a:schemeClr val="dk2"/>
              </a:solidFill>
              <a:latin typeface="Verdana"/>
              <a:ea typeface="Verdana"/>
              <a:cs typeface="Verdana"/>
              <a:sym typeface="Verdana"/>
            </a:endParaRPr>
          </a:p>
        </p:txBody>
      </p:sp>
      <p:sp>
        <p:nvSpPr>
          <p:cNvPr id="523" name="Google Shape;523;p40"/>
          <p:cNvSpPr txBox="1"/>
          <p:nvPr/>
        </p:nvSpPr>
        <p:spPr>
          <a:xfrm>
            <a:off x="1017800" y="4738475"/>
            <a:ext cx="1877100" cy="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400">
                <a:solidFill>
                  <a:schemeClr val="dk2"/>
                </a:solidFill>
                <a:latin typeface="Verdana"/>
                <a:ea typeface="Verdana"/>
                <a:cs typeface="Verdana"/>
                <a:sym typeface="Verdana"/>
              </a:rPr>
              <a:t>Watch second</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1"/>
          <p:cNvSpPr txBox="1"/>
          <p:nvPr>
            <p:ph type="title"/>
          </p:nvPr>
        </p:nvSpPr>
        <p:spPr>
          <a:xfrm>
            <a:off x="1756700" y="173250"/>
            <a:ext cx="5777400" cy="469800"/>
          </a:xfrm>
          <a:prstGeom prst="rect">
            <a:avLst/>
          </a:prstGeom>
          <a:solidFill>
            <a:srgbClr val="FEFEFE"/>
          </a:solid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highlight>
                  <a:srgbClr val="CCCCCC"/>
                </a:highlight>
                <a:latin typeface="Verdana"/>
                <a:ea typeface="Verdana"/>
                <a:cs typeface="Verdana"/>
                <a:sym typeface="Verdana"/>
              </a:rPr>
              <a:t>THE MENSTRUAL CYCLE</a:t>
            </a:r>
            <a:endParaRPr>
              <a:highlight>
                <a:srgbClr val="CCCCCC"/>
              </a:highlight>
            </a:endParaRPr>
          </a:p>
        </p:txBody>
      </p:sp>
      <p:sp>
        <p:nvSpPr>
          <p:cNvPr id="530" name="Google Shape;530;p41"/>
          <p:cNvSpPr txBox="1"/>
          <p:nvPr/>
        </p:nvSpPr>
        <p:spPr>
          <a:xfrm>
            <a:off x="596150" y="1950425"/>
            <a:ext cx="3755700" cy="3870900"/>
          </a:xfrm>
          <a:prstGeom prst="rect">
            <a:avLst/>
          </a:prstGeom>
          <a:noFill/>
          <a:ln>
            <a:noFill/>
          </a:ln>
        </p:spPr>
        <p:txBody>
          <a:bodyPr anchorCtr="0" anchor="t" bIns="45700" lIns="91425" spcFirstLastPara="1" rIns="91425" wrap="square" tIns="45700">
            <a:noAutofit/>
          </a:bodyPr>
          <a:lstStyle/>
          <a:p>
            <a:pPr indent="-444500" lvl="0" marL="457200" marR="0" rtl="0" algn="l">
              <a:lnSpc>
                <a:spcPct val="100000"/>
              </a:lnSpc>
              <a:spcBef>
                <a:spcPts val="0"/>
              </a:spcBef>
              <a:spcAft>
                <a:spcPts val="0"/>
              </a:spcAft>
              <a:buClr>
                <a:schemeClr val="accent1"/>
              </a:buClr>
              <a:buSzPts val="1600"/>
              <a:buFont typeface="Verdana"/>
              <a:buAutoNum type="arabicPeriod"/>
            </a:pPr>
            <a:r>
              <a:rPr b="1" i="0" lang="en-CA" sz="1600" u="sng" cap="none" strike="noStrike">
                <a:solidFill>
                  <a:schemeClr val="accent1"/>
                </a:solidFill>
                <a:latin typeface="Verdana"/>
                <a:ea typeface="Verdana"/>
                <a:cs typeface="Verdana"/>
                <a:sym typeface="Verdana"/>
              </a:rPr>
              <a:t>Flow phase (days 0-7)</a:t>
            </a:r>
            <a:endParaRPr sz="1200" u="sng"/>
          </a:p>
          <a:p>
            <a:pPr indent="-279400" lvl="1" marL="742950" marR="0" rtl="0" algn="l">
              <a:lnSpc>
                <a:spcPct val="100000"/>
              </a:lnSpc>
              <a:spcBef>
                <a:spcPts val="1000"/>
              </a:spcBef>
              <a:spcAft>
                <a:spcPts val="0"/>
              </a:spcAft>
              <a:buClr>
                <a:schemeClr val="accent1"/>
              </a:buClr>
              <a:buSzPts val="1500"/>
              <a:buFont typeface="Courier New"/>
              <a:buChar char="o"/>
            </a:pPr>
            <a:r>
              <a:rPr lang="en-CA" sz="1500">
                <a:solidFill>
                  <a:schemeClr val="accent1"/>
                </a:solidFill>
                <a:latin typeface="Verdana"/>
                <a:ea typeface="Verdana"/>
                <a:cs typeface="Verdana"/>
                <a:sym typeface="Verdana"/>
              </a:rPr>
              <a:t>A.k.a. Menstruation</a:t>
            </a:r>
            <a:endParaRPr sz="1500">
              <a:solidFill>
                <a:schemeClr val="accent1"/>
              </a:solidFill>
              <a:latin typeface="Verdana"/>
              <a:ea typeface="Verdana"/>
              <a:cs typeface="Verdana"/>
              <a:sym typeface="Verdana"/>
            </a:endParaRPr>
          </a:p>
          <a:p>
            <a:pPr indent="-279400" lvl="1" marL="742950" marR="0" rtl="0" algn="l">
              <a:lnSpc>
                <a:spcPct val="100000"/>
              </a:lnSpc>
              <a:spcBef>
                <a:spcPts val="1000"/>
              </a:spcBef>
              <a:spcAft>
                <a:spcPts val="0"/>
              </a:spcAft>
              <a:buClr>
                <a:schemeClr val="accent1"/>
              </a:buClr>
              <a:buSzPts val="1500"/>
              <a:buFont typeface="Courier New"/>
              <a:buChar char="o"/>
            </a:pPr>
            <a:r>
              <a:rPr b="0" i="0" lang="en-CA" sz="1500" u="none" cap="none" strike="noStrike">
                <a:solidFill>
                  <a:schemeClr val="accent1"/>
                </a:solidFill>
                <a:latin typeface="Verdana"/>
                <a:ea typeface="Verdana"/>
                <a:cs typeface="Verdana"/>
                <a:sym typeface="Verdana"/>
              </a:rPr>
              <a:t>Marks the beginning of the cycle</a:t>
            </a:r>
            <a:endParaRPr sz="1300"/>
          </a:p>
          <a:p>
            <a:pPr indent="-279400" lvl="1" marL="742950" marR="0" rtl="0" algn="l">
              <a:lnSpc>
                <a:spcPct val="100000"/>
              </a:lnSpc>
              <a:spcBef>
                <a:spcPts val="1000"/>
              </a:spcBef>
              <a:spcAft>
                <a:spcPts val="0"/>
              </a:spcAft>
              <a:buClr>
                <a:schemeClr val="accent1"/>
              </a:buClr>
              <a:buSzPts val="1500"/>
              <a:buFont typeface="Courier New"/>
              <a:buChar char="o"/>
            </a:pPr>
            <a:r>
              <a:rPr b="0" i="0" lang="en-CA" sz="1500" u="none" cap="none" strike="noStrike">
                <a:solidFill>
                  <a:schemeClr val="accent1"/>
                </a:solidFill>
                <a:latin typeface="Verdana"/>
                <a:ea typeface="Verdana"/>
                <a:cs typeface="Verdana"/>
                <a:sym typeface="Verdana"/>
              </a:rPr>
              <a:t>Characterized by shedding of the endometrium</a:t>
            </a:r>
            <a:endParaRPr sz="1300"/>
          </a:p>
          <a:p>
            <a:pPr indent="-279400" lvl="1" marL="742950" marR="0" rtl="0" algn="l">
              <a:lnSpc>
                <a:spcPct val="100000"/>
              </a:lnSpc>
              <a:spcBef>
                <a:spcPts val="1000"/>
              </a:spcBef>
              <a:spcAft>
                <a:spcPts val="0"/>
              </a:spcAft>
              <a:buClr>
                <a:schemeClr val="accent1"/>
              </a:buClr>
              <a:buSzPts val="1500"/>
              <a:buFont typeface="Courier New"/>
              <a:buChar char="o"/>
            </a:pPr>
            <a:r>
              <a:rPr lang="en-CA" sz="1500">
                <a:solidFill>
                  <a:schemeClr val="accent1"/>
                </a:solidFill>
                <a:latin typeface="Verdana"/>
                <a:ea typeface="Verdana"/>
                <a:cs typeface="Verdana"/>
                <a:sym typeface="Verdana"/>
              </a:rPr>
              <a:t>Estrogen/progesterone</a:t>
            </a:r>
            <a:r>
              <a:rPr b="0" i="0" lang="en-CA" sz="1500" u="none" cap="none" strike="noStrike">
                <a:solidFill>
                  <a:schemeClr val="accent1"/>
                </a:solidFill>
                <a:latin typeface="Verdana"/>
                <a:ea typeface="Verdana"/>
                <a:cs typeface="Verdana"/>
                <a:sym typeface="Verdana"/>
              </a:rPr>
              <a:t> levels are at their lowest</a:t>
            </a:r>
            <a:endParaRPr sz="1300"/>
          </a:p>
          <a:p>
            <a:pPr indent="0" lvl="1" marL="457200" marR="0" rtl="0" algn="l">
              <a:lnSpc>
                <a:spcPct val="100000"/>
              </a:lnSpc>
              <a:spcBef>
                <a:spcPts val="1000"/>
              </a:spcBef>
              <a:spcAft>
                <a:spcPts val="0"/>
              </a:spcAft>
              <a:buClr>
                <a:srgbClr val="000000"/>
              </a:buClr>
              <a:buSzPts val="1600"/>
              <a:buFont typeface="Arial"/>
              <a:buNone/>
            </a:pPr>
            <a:r>
              <a:t/>
            </a:r>
            <a:endParaRPr b="1" i="0" sz="1500" u="none" cap="none" strike="noStrike">
              <a:solidFill>
                <a:schemeClr val="accent1"/>
              </a:solidFill>
              <a:latin typeface="Verdana"/>
              <a:ea typeface="Verdana"/>
              <a:cs typeface="Verdana"/>
              <a:sym typeface="Verdana"/>
            </a:endParaRPr>
          </a:p>
          <a:p>
            <a:pPr indent="0" lvl="1" marL="457200" marR="0" rtl="0" algn="l">
              <a:lnSpc>
                <a:spcPct val="100000"/>
              </a:lnSpc>
              <a:spcBef>
                <a:spcPts val="0"/>
              </a:spcBef>
              <a:spcAft>
                <a:spcPts val="0"/>
              </a:spcAft>
              <a:buClr>
                <a:srgbClr val="000000"/>
              </a:buClr>
              <a:buSzPts val="1600"/>
              <a:buFont typeface="Arial"/>
              <a:buNone/>
            </a:pPr>
            <a:r>
              <a:t/>
            </a:r>
            <a:endParaRPr b="0" i="0" sz="1500" u="none" cap="none" strike="noStrike">
              <a:solidFill>
                <a:schemeClr val="accent1"/>
              </a:solidFill>
              <a:latin typeface="Verdana"/>
              <a:ea typeface="Verdana"/>
              <a:cs typeface="Verdana"/>
              <a:sym typeface="Verdana"/>
            </a:endParaRPr>
          </a:p>
          <a:p>
            <a:pPr indent="0" lvl="1" marL="457200" marR="0" rtl="0" algn="l">
              <a:lnSpc>
                <a:spcPct val="100000"/>
              </a:lnSpc>
              <a:spcBef>
                <a:spcPts val="0"/>
              </a:spcBef>
              <a:spcAft>
                <a:spcPts val="0"/>
              </a:spcAft>
              <a:buClr>
                <a:schemeClr val="accent1"/>
              </a:buClr>
              <a:buSzPts val="400"/>
              <a:buFont typeface="Verdana"/>
              <a:buNone/>
            </a:pPr>
            <a:r>
              <a:rPr b="0" i="0" lang="en-CA" sz="1500" u="none" cap="none" strike="noStrike">
                <a:solidFill>
                  <a:schemeClr val="accent1"/>
                </a:solidFill>
                <a:latin typeface="Verdana"/>
                <a:ea typeface="Verdana"/>
                <a:cs typeface="Verdana"/>
                <a:sym typeface="Verdana"/>
              </a:rPr>
              <a:t> </a:t>
            </a:r>
            <a:endParaRPr sz="1300"/>
          </a:p>
          <a:p>
            <a:pPr indent="0" lvl="1" marL="457200" marR="0" rtl="0" algn="l">
              <a:lnSpc>
                <a:spcPct val="100000"/>
              </a:lnSpc>
              <a:spcBef>
                <a:spcPts val="0"/>
              </a:spcBef>
              <a:spcAft>
                <a:spcPts val="0"/>
              </a:spcAft>
              <a:buClr>
                <a:schemeClr val="accent1"/>
              </a:buClr>
              <a:buSzPts val="400"/>
              <a:buFont typeface="Verdana"/>
              <a:buNone/>
            </a:pPr>
            <a:r>
              <a:rPr b="0" i="0" lang="en-CA" sz="1500" u="none" cap="none" strike="noStrike">
                <a:solidFill>
                  <a:schemeClr val="accent1"/>
                </a:solidFill>
                <a:latin typeface="Verdana"/>
                <a:ea typeface="Verdana"/>
                <a:cs typeface="Verdana"/>
                <a:sym typeface="Verdana"/>
              </a:rPr>
              <a:t> </a:t>
            </a:r>
            <a:endParaRPr sz="1300"/>
          </a:p>
          <a:p>
            <a:pPr indent="0" lvl="1" marL="457200" marR="0" rtl="0" algn="l">
              <a:lnSpc>
                <a:spcPct val="100000"/>
              </a:lnSpc>
              <a:spcBef>
                <a:spcPts val="0"/>
              </a:spcBef>
              <a:spcAft>
                <a:spcPts val="0"/>
              </a:spcAft>
              <a:buClr>
                <a:srgbClr val="000000"/>
              </a:buClr>
              <a:buSzPts val="1800"/>
              <a:buFont typeface="Arial"/>
              <a:buNone/>
            </a:pPr>
            <a:r>
              <a:t/>
            </a:r>
            <a:endParaRPr b="0" i="0" sz="1700" u="none" cap="none" strike="noStrike">
              <a:solidFill>
                <a:schemeClr val="accent1"/>
              </a:solidFill>
              <a:latin typeface="Verdana"/>
              <a:ea typeface="Verdana"/>
              <a:cs typeface="Verdana"/>
              <a:sym typeface="Verdana"/>
            </a:endParaRPr>
          </a:p>
        </p:txBody>
      </p:sp>
      <p:sp>
        <p:nvSpPr>
          <p:cNvPr id="531" name="Google Shape;531;p41"/>
          <p:cNvSpPr txBox="1"/>
          <p:nvPr/>
        </p:nvSpPr>
        <p:spPr>
          <a:xfrm>
            <a:off x="1850850" y="643050"/>
            <a:ext cx="54423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accent1"/>
              </a:buClr>
              <a:buSzPts val="500"/>
              <a:buFont typeface="Verdana"/>
              <a:buNone/>
            </a:pPr>
            <a:r>
              <a:rPr lang="en-CA" sz="1900">
                <a:solidFill>
                  <a:schemeClr val="accent1"/>
                </a:solidFill>
                <a:latin typeface="Verdana"/>
                <a:ea typeface="Verdana"/>
                <a:cs typeface="Verdana"/>
                <a:sym typeface="Verdana"/>
              </a:rPr>
              <a:t>Divided into four phases…</a:t>
            </a:r>
            <a:endParaRPr sz="2400">
              <a:solidFill>
                <a:schemeClr val="dk2"/>
              </a:solidFill>
              <a:latin typeface="Verdana"/>
              <a:ea typeface="Verdana"/>
              <a:cs typeface="Verdana"/>
              <a:sym typeface="Verdana"/>
            </a:endParaRPr>
          </a:p>
        </p:txBody>
      </p:sp>
      <p:pic>
        <p:nvPicPr>
          <p:cNvPr id="532" name="Google Shape;532;p41"/>
          <p:cNvPicPr preferRelativeResize="0"/>
          <p:nvPr/>
        </p:nvPicPr>
        <p:blipFill rotWithShape="1">
          <a:blip r:embed="rId3">
            <a:alphaModFix/>
          </a:blip>
          <a:srcRect b="0" l="0" r="0" t="0"/>
          <a:stretch/>
        </p:blipFill>
        <p:spPr>
          <a:xfrm>
            <a:off x="4497800" y="1322650"/>
            <a:ext cx="4646200" cy="5535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2"/>
          <p:cNvSpPr txBox="1"/>
          <p:nvPr>
            <p:ph type="title"/>
          </p:nvPr>
        </p:nvSpPr>
        <p:spPr>
          <a:xfrm>
            <a:off x="1756700" y="173250"/>
            <a:ext cx="5777400" cy="469800"/>
          </a:xfrm>
          <a:prstGeom prst="rect">
            <a:avLst/>
          </a:prstGeom>
          <a:solidFill>
            <a:srgbClr val="FEFEFE"/>
          </a:solid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highlight>
                  <a:srgbClr val="CCCCCC"/>
                </a:highlight>
                <a:latin typeface="Verdana"/>
                <a:ea typeface="Verdana"/>
                <a:cs typeface="Verdana"/>
                <a:sym typeface="Verdana"/>
              </a:rPr>
              <a:t>THE MENSTRUAL CYCLE</a:t>
            </a:r>
            <a:endParaRPr>
              <a:highlight>
                <a:srgbClr val="CCCCCC"/>
              </a:highlight>
            </a:endParaRPr>
          </a:p>
        </p:txBody>
      </p:sp>
      <p:sp>
        <p:nvSpPr>
          <p:cNvPr id="539" name="Google Shape;539;p42"/>
          <p:cNvSpPr txBox="1"/>
          <p:nvPr/>
        </p:nvSpPr>
        <p:spPr>
          <a:xfrm>
            <a:off x="564800" y="1112850"/>
            <a:ext cx="4017600" cy="44358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t/>
            </a:r>
            <a:endParaRPr sz="1300"/>
          </a:p>
          <a:p>
            <a:pPr indent="0" lvl="1" marL="457200" marR="0" rtl="0" algn="l">
              <a:lnSpc>
                <a:spcPct val="100000"/>
              </a:lnSpc>
              <a:spcBef>
                <a:spcPts val="1000"/>
              </a:spcBef>
              <a:spcAft>
                <a:spcPts val="0"/>
              </a:spcAft>
              <a:buClr>
                <a:srgbClr val="000000"/>
              </a:buClr>
              <a:buSzPts val="1600"/>
              <a:buFont typeface="Arial"/>
              <a:buNone/>
            </a:pPr>
            <a:r>
              <a:t/>
            </a:r>
            <a:endParaRPr b="1" i="0" sz="1500" u="none" cap="none" strike="noStrike">
              <a:solidFill>
                <a:schemeClr val="accent1"/>
              </a:solidFill>
              <a:latin typeface="Verdana"/>
              <a:ea typeface="Verdana"/>
              <a:cs typeface="Verdana"/>
              <a:sym typeface="Verdana"/>
            </a:endParaRPr>
          </a:p>
          <a:p>
            <a:pPr indent="-444500" lvl="0" marL="457200" marR="0" rtl="0" algn="l">
              <a:lnSpc>
                <a:spcPct val="100000"/>
              </a:lnSpc>
              <a:spcBef>
                <a:spcPts val="0"/>
              </a:spcBef>
              <a:spcAft>
                <a:spcPts val="0"/>
              </a:spcAft>
              <a:buClr>
                <a:schemeClr val="accent1"/>
              </a:buClr>
              <a:buSzPts val="1600"/>
              <a:buFont typeface="Verdana"/>
              <a:buAutoNum type="arabicPeriod" startAt="2"/>
            </a:pPr>
            <a:r>
              <a:rPr b="1" i="0" lang="en-CA" sz="1600" u="sng" cap="none" strike="noStrike">
                <a:solidFill>
                  <a:schemeClr val="accent1"/>
                </a:solidFill>
                <a:latin typeface="Verdana"/>
                <a:ea typeface="Verdana"/>
                <a:cs typeface="Verdana"/>
                <a:sym typeface="Verdana"/>
              </a:rPr>
              <a:t>Follicular phase (days 7-14)</a:t>
            </a:r>
            <a:endParaRPr sz="1200" u="sng"/>
          </a:p>
          <a:p>
            <a:pPr indent="-279400" lvl="1" marL="742950" marR="0" rtl="0" algn="l">
              <a:lnSpc>
                <a:spcPct val="100000"/>
              </a:lnSpc>
              <a:spcBef>
                <a:spcPts val="1000"/>
              </a:spcBef>
              <a:spcAft>
                <a:spcPts val="0"/>
              </a:spcAft>
              <a:buClr>
                <a:schemeClr val="accent1"/>
              </a:buClr>
              <a:buSzPts val="1500"/>
              <a:buFont typeface="Courier New"/>
              <a:buChar char="o"/>
            </a:pPr>
            <a:r>
              <a:rPr lang="en-CA" sz="1500">
                <a:solidFill>
                  <a:schemeClr val="accent1"/>
                </a:solidFill>
                <a:latin typeface="Verdana"/>
                <a:ea typeface="Verdana"/>
                <a:cs typeface="Verdana"/>
                <a:sym typeface="Verdana"/>
              </a:rPr>
              <a:t>GnRH stimulates the release of FSH from the pituitary, which causes a follicle cell within the ovary to mature. </a:t>
            </a:r>
            <a:endParaRPr sz="1300"/>
          </a:p>
          <a:p>
            <a:pPr indent="-279400" lvl="1" marL="742950" marR="0" rtl="0" algn="l">
              <a:lnSpc>
                <a:spcPct val="100000"/>
              </a:lnSpc>
              <a:spcBef>
                <a:spcPts val="1000"/>
              </a:spcBef>
              <a:spcAft>
                <a:spcPts val="0"/>
              </a:spcAft>
              <a:buClr>
                <a:schemeClr val="accent1"/>
              </a:buClr>
              <a:buSzPts val="1500"/>
              <a:buFont typeface="Courier New"/>
              <a:buChar char="o"/>
            </a:pPr>
            <a:r>
              <a:rPr b="0" i="0" lang="en-CA" sz="1500" u="none" cap="none" strike="noStrike">
                <a:solidFill>
                  <a:schemeClr val="accent1"/>
                </a:solidFill>
                <a:latin typeface="Verdana"/>
                <a:ea typeface="Verdana"/>
                <a:cs typeface="Verdana"/>
                <a:sym typeface="Verdana"/>
              </a:rPr>
              <a:t>As </a:t>
            </a:r>
            <a:r>
              <a:rPr lang="en-CA" sz="1500">
                <a:solidFill>
                  <a:schemeClr val="accent1"/>
                </a:solidFill>
                <a:latin typeface="Verdana"/>
                <a:ea typeface="Verdana"/>
                <a:cs typeface="Verdana"/>
                <a:sym typeface="Verdana"/>
              </a:rPr>
              <a:t>the follicle develops,</a:t>
            </a:r>
            <a:r>
              <a:rPr b="0" i="0" lang="en-CA" sz="1500" u="none" cap="none" strike="noStrike">
                <a:solidFill>
                  <a:schemeClr val="accent1"/>
                </a:solidFill>
                <a:latin typeface="Verdana"/>
                <a:ea typeface="Verdana"/>
                <a:cs typeface="Verdana"/>
                <a:sym typeface="Verdana"/>
              </a:rPr>
              <a:t> estrogen</a:t>
            </a:r>
            <a:r>
              <a:rPr lang="en-CA" sz="1500">
                <a:solidFill>
                  <a:schemeClr val="accent1"/>
                </a:solidFill>
                <a:latin typeface="Verdana"/>
                <a:ea typeface="Verdana"/>
                <a:cs typeface="Verdana"/>
                <a:sym typeface="Verdana"/>
              </a:rPr>
              <a:t> </a:t>
            </a:r>
            <a:r>
              <a:rPr b="0" i="0" lang="en-CA" sz="1500" u="none" cap="none" strike="noStrike">
                <a:solidFill>
                  <a:schemeClr val="accent1"/>
                </a:solidFill>
                <a:latin typeface="Verdana"/>
                <a:ea typeface="Verdana"/>
                <a:cs typeface="Verdana"/>
                <a:sym typeface="Verdana"/>
              </a:rPr>
              <a:t>is secreted, </a:t>
            </a:r>
            <a:r>
              <a:rPr lang="en-CA" sz="1500">
                <a:solidFill>
                  <a:schemeClr val="accent1"/>
                </a:solidFill>
                <a:latin typeface="Verdana"/>
                <a:ea typeface="Verdana"/>
                <a:cs typeface="Verdana"/>
                <a:sym typeface="Verdana"/>
              </a:rPr>
              <a:t>promoting the development of the endometrium</a:t>
            </a:r>
            <a:endParaRPr sz="1500">
              <a:solidFill>
                <a:schemeClr val="accent1"/>
              </a:solidFill>
              <a:latin typeface="Verdana"/>
              <a:ea typeface="Verdana"/>
              <a:cs typeface="Verdana"/>
              <a:sym typeface="Verdana"/>
            </a:endParaRPr>
          </a:p>
          <a:p>
            <a:pPr indent="-279400" lvl="1" marL="742950" marR="0" rtl="0" algn="l">
              <a:lnSpc>
                <a:spcPct val="100000"/>
              </a:lnSpc>
              <a:spcBef>
                <a:spcPts val="1000"/>
              </a:spcBef>
              <a:spcAft>
                <a:spcPts val="0"/>
              </a:spcAft>
              <a:buClr>
                <a:schemeClr val="accent1"/>
              </a:buClr>
              <a:buSzPts val="1500"/>
              <a:buFont typeface="Verdana"/>
              <a:buChar char="o"/>
            </a:pPr>
            <a:r>
              <a:rPr lang="en-CA" sz="1500">
                <a:solidFill>
                  <a:schemeClr val="accent1"/>
                </a:solidFill>
                <a:latin typeface="Verdana"/>
                <a:ea typeface="Verdana"/>
                <a:cs typeface="Verdana"/>
                <a:sym typeface="Verdana"/>
              </a:rPr>
              <a:t>Rising levels of estrogen then inhibit the release of FSH from        the pituitary</a:t>
            </a:r>
            <a:endParaRPr sz="1500">
              <a:solidFill>
                <a:schemeClr val="accent1"/>
              </a:solidFill>
              <a:latin typeface="Verdana"/>
              <a:ea typeface="Verdana"/>
              <a:cs typeface="Verdana"/>
              <a:sym typeface="Verdana"/>
            </a:endParaRPr>
          </a:p>
          <a:p>
            <a:pPr indent="0" lvl="1" marL="457200" marR="0" rtl="0" algn="l">
              <a:lnSpc>
                <a:spcPct val="100000"/>
              </a:lnSpc>
              <a:spcBef>
                <a:spcPts val="1000"/>
              </a:spcBef>
              <a:spcAft>
                <a:spcPts val="0"/>
              </a:spcAft>
              <a:buClr>
                <a:srgbClr val="000000"/>
              </a:buClr>
              <a:buSzPts val="1600"/>
              <a:buFont typeface="Arial"/>
              <a:buNone/>
            </a:pPr>
            <a:r>
              <a:t/>
            </a:r>
            <a:endParaRPr b="0" i="0" sz="1500" u="none" cap="none" strike="noStrike">
              <a:solidFill>
                <a:schemeClr val="accent1"/>
              </a:solidFill>
              <a:latin typeface="Verdana"/>
              <a:ea typeface="Verdana"/>
              <a:cs typeface="Verdana"/>
              <a:sym typeface="Verdana"/>
            </a:endParaRPr>
          </a:p>
          <a:p>
            <a:pPr indent="0" lvl="1" marL="457200" marR="0" rtl="0" algn="l">
              <a:lnSpc>
                <a:spcPct val="100000"/>
              </a:lnSpc>
              <a:spcBef>
                <a:spcPts val="0"/>
              </a:spcBef>
              <a:spcAft>
                <a:spcPts val="0"/>
              </a:spcAft>
              <a:buClr>
                <a:schemeClr val="accent1"/>
              </a:buClr>
              <a:buSzPts val="400"/>
              <a:buFont typeface="Verdana"/>
              <a:buNone/>
            </a:pPr>
            <a:r>
              <a:rPr b="0" i="0" lang="en-CA" sz="1500" u="none" cap="none" strike="noStrike">
                <a:solidFill>
                  <a:schemeClr val="accent1"/>
                </a:solidFill>
                <a:latin typeface="Verdana"/>
                <a:ea typeface="Verdana"/>
                <a:cs typeface="Verdana"/>
                <a:sym typeface="Verdana"/>
              </a:rPr>
              <a:t> </a:t>
            </a:r>
            <a:endParaRPr sz="1300"/>
          </a:p>
          <a:p>
            <a:pPr indent="0" lvl="1" marL="457200" marR="0" rtl="0" algn="l">
              <a:lnSpc>
                <a:spcPct val="100000"/>
              </a:lnSpc>
              <a:spcBef>
                <a:spcPts val="0"/>
              </a:spcBef>
              <a:spcAft>
                <a:spcPts val="0"/>
              </a:spcAft>
              <a:buClr>
                <a:schemeClr val="accent1"/>
              </a:buClr>
              <a:buSzPts val="400"/>
              <a:buFont typeface="Verdana"/>
              <a:buNone/>
            </a:pPr>
            <a:r>
              <a:rPr b="0" i="0" lang="en-CA" sz="1500" u="none" cap="none" strike="noStrike">
                <a:solidFill>
                  <a:schemeClr val="accent1"/>
                </a:solidFill>
                <a:latin typeface="Verdana"/>
                <a:ea typeface="Verdana"/>
                <a:cs typeface="Verdana"/>
                <a:sym typeface="Verdana"/>
              </a:rPr>
              <a:t> </a:t>
            </a:r>
            <a:endParaRPr sz="1300"/>
          </a:p>
          <a:p>
            <a:pPr indent="0" lvl="1" marL="457200" marR="0" rtl="0" algn="l">
              <a:lnSpc>
                <a:spcPct val="100000"/>
              </a:lnSpc>
              <a:spcBef>
                <a:spcPts val="0"/>
              </a:spcBef>
              <a:spcAft>
                <a:spcPts val="0"/>
              </a:spcAft>
              <a:buClr>
                <a:srgbClr val="000000"/>
              </a:buClr>
              <a:buSzPts val="1800"/>
              <a:buFont typeface="Arial"/>
              <a:buNone/>
            </a:pPr>
            <a:r>
              <a:t/>
            </a:r>
            <a:endParaRPr b="0" i="0" sz="1700" u="none" cap="none" strike="noStrike">
              <a:solidFill>
                <a:schemeClr val="accent1"/>
              </a:solidFill>
              <a:latin typeface="Verdana"/>
              <a:ea typeface="Verdana"/>
              <a:cs typeface="Verdana"/>
              <a:sym typeface="Verdana"/>
            </a:endParaRPr>
          </a:p>
        </p:txBody>
      </p:sp>
      <p:sp>
        <p:nvSpPr>
          <p:cNvPr id="540" name="Google Shape;540;p42"/>
          <p:cNvSpPr txBox="1"/>
          <p:nvPr/>
        </p:nvSpPr>
        <p:spPr>
          <a:xfrm>
            <a:off x="1850850" y="643050"/>
            <a:ext cx="5442300" cy="46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CA" sz="1900">
                <a:solidFill>
                  <a:schemeClr val="accent1"/>
                </a:solidFill>
                <a:latin typeface="Verdana"/>
                <a:ea typeface="Verdana"/>
                <a:cs typeface="Verdana"/>
                <a:sym typeface="Verdana"/>
              </a:rPr>
              <a:t>Divided into four phases…</a:t>
            </a:r>
            <a:endParaRPr sz="2400">
              <a:solidFill>
                <a:schemeClr val="dk2"/>
              </a:solidFill>
              <a:latin typeface="Verdana"/>
              <a:ea typeface="Verdana"/>
              <a:cs typeface="Verdana"/>
              <a:sym typeface="Verdana"/>
            </a:endParaRPr>
          </a:p>
        </p:txBody>
      </p:sp>
      <p:pic>
        <p:nvPicPr>
          <p:cNvPr id="541" name="Google Shape;541;p42"/>
          <p:cNvPicPr preferRelativeResize="0"/>
          <p:nvPr/>
        </p:nvPicPr>
        <p:blipFill rotWithShape="1">
          <a:blip r:embed="rId3">
            <a:alphaModFix/>
          </a:blip>
          <a:srcRect b="0" l="0" r="0" t="0"/>
          <a:stretch/>
        </p:blipFill>
        <p:spPr>
          <a:xfrm>
            <a:off x="4497800" y="835325"/>
            <a:ext cx="4646200" cy="5535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3"/>
          <p:cNvSpPr/>
          <p:nvPr/>
        </p:nvSpPr>
        <p:spPr>
          <a:xfrm>
            <a:off x="695550" y="744525"/>
            <a:ext cx="3729600" cy="556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a:p>
            <a:pPr indent="-457200" lvl="0" marL="457200" marR="0" rtl="0" algn="l">
              <a:lnSpc>
                <a:spcPct val="100000"/>
              </a:lnSpc>
              <a:spcBef>
                <a:spcPts val="0"/>
              </a:spcBef>
              <a:spcAft>
                <a:spcPts val="0"/>
              </a:spcAft>
              <a:buClr>
                <a:schemeClr val="dk1"/>
              </a:buClr>
              <a:buSzPts val="1800"/>
              <a:buFont typeface="Verdana"/>
              <a:buNone/>
            </a:pPr>
            <a:r>
              <a:t/>
            </a:r>
            <a:endParaRPr b="0" i="0" sz="1800" u="none" cap="none" strike="noStrike">
              <a:solidFill>
                <a:schemeClr val="accent1"/>
              </a:solidFill>
              <a:latin typeface="Verdana"/>
              <a:ea typeface="Verdana"/>
              <a:cs typeface="Verdana"/>
              <a:sym typeface="Verdana"/>
            </a:endParaRPr>
          </a:p>
          <a:p>
            <a:pPr indent="-444500" lvl="0" marL="457200" marR="0" rtl="0" algn="l">
              <a:lnSpc>
                <a:spcPct val="100000"/>
              </a:lnSpc>
              <a:spcBef>
                <a:spcPts val="0"/>
              </a:spcBef>
              <a:spcAft>
                <a:spcPts val="0"/>
              </a:spcAft>
              <a:buClr>
                <a:schemeClr val="accent1"/>
              </a:buClr>
              <a:buSzPts val="1600"/>
              <a:buFont typeface="Verdana"/>
              <a:buAutoNum type="arabicPeriod" startAt="3"/>
            </a:pPr>
            <a:r>
              <a:rPr b="1" i="0" lang="en-CA" sz="1600" u="sng" cap="none" strike="noStrike">
                <a:solidFill>
                  <a:schemeClr val="accent1"/>
                </a:solidFill>
                <a:latin typeface="Verdana"/>
                <a:ea typeface="Verdana"/>
                <a:cs typeface="Verdana"/>
                <a:sym typeface="Verdana"/>
              </a:rPr>
              <a:t>Ovulatory phase (day 14)</a:t>
            </a:r>
            <a:endParaRPr sz="1200" u="sng"/>
          </a:p>
          <a:p>
            <a:pPr indent="-342900" lvl="1" marL="800100" marR="0" rtl="0" algn="l">
              <a:lnSpc>
                <a:spcPct val="100000"/>
              </a:lnSpc>
              <a:spcBef>
                <a:spcPts val="1000"/>
              </a:spcBef>
              <a:spcAft>
                <a:spcPts val="0"/>
              </a:spcAft>
              <a:buClr>
                <a:schemeClr val="accent1"/>
              </a:buClr>
              <a:buSzPts val="1600"/>
              <a:buFont typeface="Courier New"/>
              <a:buChar char="o"/>
            </a:pPr>
            <a:r>
              <a:rPr lang="en-CA" sz="1600">
                <a:solidFill>
                  <a:schemeClr val="accent1"/>
                </a:solidFill>
                <a:latin typeface="Verdana"/>
                <a:ea typeface="Verdana"/>
                <a:cs typeface="Verdana"/>
                <a:sym typeface="Verdana"/>
              </a:rPr>
              <a:t>Estrogen also triggers a sharp increase in LH production, which signals the release of the mature ovum from the follicle</a:t>
            </a:r>
            <a:endParaRPr/>
          </a:p>
          <a:p>
            <a:pPr indent="-342900" lvl="1" marL="80010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Once this occurs</a:t>
            </a:r>
            <a:r>
              <a:rPr lang="en-CA" sz="1600">
                <a:solidFill>
                  <a:schemeClr val="accent1"/>
                </a:solidFill>
                <a:latin typeface="Verdana"/>
                <a:ea typeface="Verdana"/>
                <a:cs typeface="Verdana"/>
                <a:sym typeface="Verdana"/>
              </a:rPr>
              <a:t> </a:t>
            </a:r>
            <a:r>
              <a:rPr b="0" i="0" lang="en-CA" sz="1600" u="none" cap="none" strike="noStrike">
                <a:solidFill>
                  <a:schemeClr val="accent1"/>
                </a:solidFill>
                <a:latin typeface="Verdana"/>
                <a:ea typeface="Verdana"/>
                <a:cs typeface="Verdana"/>
                <a:sym typeface="Verdana"/>
              </a:rPr>
              <a:t>the f</a:t>
            </a:r>
            <a:r>
              <a:rPr lang="en-CA" sz="1600">
                <a:solidFill>
                  <a:schemeClr val="accent1"/>
                </a:solidFill>
                <a:latin typeface="Verdana"/>
                <a:ea typeface="Verdana"/>
                <a:cs typeface="Verdana"/>
                <a:sym typeface="Verdana"/>
              </a:rPr>
              <a:t>ollicle begins to form the corpus luteum</a:t>
            </a:r>
            <a:endParaRPr sz="1600">
              <a:solidFill>
                <a:schemeClr val="accent1"/>
              </a:solidFill>
              <a:latin typeface="Verdana"/>
              <a:ea typeface="Verdana"/>
              <a:cs typeface="Verdana"/>
              <a:sym typeface="Verdana"/>
            </a:endParaRPr>
          </a:p>
          <a:p>
            <a:pPr indent="0" lvl="0" marL="800100" marR="0" rtl="0" algn="l">
              <a:lnSpc>
                <a:spcPct val="100000"/>
              </a:lnSpc>
              <a:spcBef>
                <a:spcPts val="0"/>
              </a:spcBef>
              <a:spcAft>
                <a:spcPts val="0"/>
              </a:spcAft>
              <a:buNone/>
            </a:pPr>
            <a:r>
              <a:t/>
            </a:r>
            <a:endParaRPr sz="1100">
              <a:solidFill>
                <a:schemeClr val="accent1"/>
              </a:solidFill>
              <a:latin typeface="Verdana"/>
              <a:ea typeface="Verdana"/>
              <a:cs typeface="Verdana"/>
              <a:sym typeface="Verdana"/>
            </a:endParaRPr>
          </a:p>
          <a:p>
            <a:pPr indent="-342900" lvl="1" marL="800100" marR="0" rtl="0" algn="l">
              <a:lnSpc>
                <a:spcPct val="100000"/>
              </a:lnSpc>
              <a:spcBef>
                <a:spcPts val="0"/>
              </a:spcBef>
              <a:spcAft>
                <a:spcPts val="0"/>
              </a:spcAft>
              <a:buClr>
                <a:schemeClr val="accent1"/>
              </a:buClr>
              <a:buSzPts val="1600"/>
              <a:buFont typeface="Verdana"/>
              <a:buChar char="o"/>
            </a:pPr>
            <a:r>
              <a:rPr lang="en-CA" sz="1600">
                <a:solidFill>
                  <a:schemeClr val="accent1"/>
                </a:solidFill>
                <a:latin typeface="Verdana"/>
                <a:ea typeface="Verdana"/>
                <a:cs typeface="Verdana"/>
                <a:sym typeface="Verdana"/>
              </a:rPr>
              <a:t>Since there no no more follicle to release estrogen, we see a temporary decrease in estrogen levels</a:t>
            </a:r>
            <a:endParaRPr sz="1600">
              <a:solidFill>
                <a:schemeClr val="accent1"/>
              </a:solidFill>
              <a:latin typeface="Verdana"/>
              <a:ea typeface="Verdana"/>
              <a:cs typeface="Verdana"/>
              <a:sym typeface="Verdana"/>
            </a:endParaRPr>
          </a:p>
          <a:p>
            <a:pPr indent="0" lvl="1"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1800"/>
              <a:buFont typeface="Courier New"/>
              <a:buNone/>
            </a:pPr>
            <a:r>
              <a:t/>
            </a:r>
            <a:endParaRPr b="0" i="0" sz="1800" u="none" cap="none" strike="noStrike">
              <a:solidFill>
                <a:schemeClr val="accent1"/>
              </a:solidFill>
              <a:latin typeface="Verdana"/>
              <a:ea typeface="Verdana"/>
              <a:cs typeface="Verdana"/>
              <a:sym typeface="Verdana"/>
            </a:endParaRPr>
          </a:p>
        </p:txBody>
      </p:sp>
      <p:pic>
        <p:nvPicPr>
          <p:cNvPr id="547" name="Google Shape;547;p43"/>
          <p:cNvPicPr preferRelativeResize="0"/>
          <p:nvPr/>
        </p:nvPicPr>
        <p:blipFill rotWithShape="1">
          <a:blip r:embed="rId3">
            <a:alphaModFix/>
          </a:blip>
          <a:srcRect b="0" l="0" r="0" t="0"/>
          <a:stretch/>
        </p:blipFill>
        <p:spPr>
          <a:xfrm>
            <a:off x="4497800" y="835325"/>
            <a:ext cx="4646200" cy="5535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4"/>
          <p:cNvSpPr/>
          <p:nvPr/>
        </p:nvSpPr>
        <p:spPr>
          <a:xfrm>
            <a:off x="492850" y="178275"/>
            <a:ext cx="4435800" cy="538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a:p>
            <a:pPr indent="-444500" lvl="0" marL="457200" marR="0" rtl="0" algn="l">
              <a:lnSpc>
                <a:spcPct val="100000"/>
              </a:lnSpc>
              <a:spcBef>
                <a:spcPts val="0"/>
              </a:spcBef>
              <a:spcAft>
                <a:spcPts val="0"/>
              </a:spcAft>
              <a:buClr>
                <a:schemeClr val="accent1"/>
              </a:buClr>
              <a:buSzPts val="1600"/>
              <a:buFont typeface="Verdana"/>
              <a:buAutoNum type="arabicPeriod" startAt="4"/>
            </a:pPr>
            <a:r>
              <a:rPr b="1" i="0" lang="en-CA" sz="1600" u="sng" cap="none" strike="noStrike">
                <a:solidFill>
                  <a:schemeClr val="accent1"/>
                </a:solidFill>
                <a:latin typeface="Verdana"/>
                <a:ea typeface="Verdana"/>
                <a:cs typeface="Verdana"/>
                <a:sym typeface="Verdana"/>
              </a:rPr>
              <a:t>Luteal phase (days 14-28)</a:t>
            </a:r>
            <a:endParaRPr sz="1200" u="sng"/>
          </a:p>
          <a:p>
            <a:pPr indent="-285750" lvl="1" marL="742950" marR="0" rtl="0" algn="l">
              <a:lnSpc>
                <a:spcPct val="100000"/>
              </a:lnSpc>
              <a:spcBef>
                <a:spcPts val="1000"/>
              </a:spcBef>
              <a:spcAft>
                <a:spcPts val="0"/>
              </a:spcAft>
              <a:buClr>
                <a:schemeClr val="accent1"/>
              </a:buClr>
              <a:buSzPts val="1600"/>
              <a:buFont typeface="Courier New"/>
              <a:buChar char="o"/>
            </a:pPr>
            <a:r>
              <a:rPr lang="en-CA" sz="1600">
                <a:solidFill>
                  <a:schemeClr val="accent1"/>
                </a:solidFill>
                <a:latin typeface="Verdana"/>
                <a:ea typeface="Verdana"/>
                <a:cs typeface="Verdana"/>
                <a:sym typeface="Verdana"/>
              </a:rPr>
              <a:t>Once the </a:t>
            </a:r>
            <a:r>
              <a:rPr b="0" i="0" lang="en-CA" sz="1600" u="none" cap="none" strike="noStrike">
                <a:solidFill>
                  <a:schemeClr val="accent1"/>
                </a:solidFill>
                <a:latin typeface="Verdana"/>
                <a:ea typeface="Verdana"/>
                <a:cs typeface="Verdana"/>
                <a:sym typeface="Verdana"/>
              </a:rPr>
              <a:t>corpus luteum forms</a:t>
            </a:r>
            <a:r>
              <a:rPr lang="en-CA" sz="1600">
                <a:solidFill>
                  <a:schemeClr val="accent1"/>
                </a:solidFill>
                <a:latin typeface="Verdana"/>
                <a:ea typeface="Verdana"/>
                <a:cs typeface="Verdana"/>
                <a:sym typeface="Verdana"/>
              </a:rPr>
              <a:t> it</a:t>
            </a:r>
            <a:r>
              <a:rPr b="0" i="0" lang="en-CA" sz="1600" u="none" cap="none" strike="noStrike">
                <a:solidFill>
                  <a:schemeClr val="accent1"/>
                </a:solidFill>
                <a:latin typeface="Verdana"/>
                <a:ea typeface="Verdana"/>
                <a:cs typeface="Verdana"/>
                <a:sym typeface="Verdana"/>
              </a:rPr>
              <a:t> </a:t>
            </a:r>
            <a:r>
              <a:rPr lang="en-CA" sz="1600">
                <a:solidFill>
                  <a:schemeClr val="accent1"/>
                </a:solidFill>
                <a:latin typeface="Verdana"/>
                <a:ea typeface="Verdana"/>
                <a:cs typeface="Verdana"/>
                <a:sym typeface="Verdana"/>
              </a:rPr>
              <a:t>begins to secrete</a:t>
            </a:r>
            <a:r>
              <a:rPr b="0" i="0" lang="en-CA" sz="1600" u="none" cap="none" strike="noStrike">
                <a:solidFill>
                  <a:schemeClr val="accent1"/>
                </a:solidFill>
                <a:latin typeface="Verdana"/>
                <a:ea typeface="Verdana"/>
                <a:cs typeface="Verdana"/>
                <a:sym typeface="Verdana"/>
              </a:rPr>
              <a:t> estrogen and progesterone</a:t>
            </a:r>
            <a:r>
              <a:rPr lang="en-CA" sz="1600">
                <a:solidFill>
                  <a:schemeClr val="accent1"/>
                </a:solidFill>
                <a:latin typeface="Verdana"/>
                <a:ea typeface="Verdana"/>
                <a:cs typeface="Verdana"/>
                <a:sym typeface="Verdana"/>
              </a:rPr>
              <a:t>. Estrogen continues to promote the development of the endometrial lining. </a:t>
            </a:r>
            <a:endParaRPr/>
          </a:p>
          <a:p>
            <a:pPr indent="-285750" lvl="1" marL="74295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Progesterone plays an important role in preparing the uterus for an embryo</a:t>
            </a:r>
            <a:r>
              <a:rPr lang="en-CA" sz="1600">
                <a:solidFill>
                  <a:schemeClr val="accent1"/>
                </a:solidFill>
                <a:latin typeface="Verdana"/>
                <a:ea typeface="Verdana"/>
                <a:cs typeface="Verdana"/>
                <a:sym typeface="Verdana"/>
              </a:rPr>
              <a:t>. Progesterone helps maintain the endometrial lining. It also inhibits LH, preventing</a:t>
            </a:r>
            <a:r>
              <a:rPr b="0" i="0" lang="en-CA" sz="1600" u="none" cap="none" strike="noStrike">
                <a:solidFill>
                  <a:schemeClr val="accent1"/>
                </a:solidFill>
                <a:latin typeface="Verdana"/>
                <a:ea typeface="Verdana"/>
                <a:cs typeface="Verdana"/>
                <a:sym typeface="Verdana"/>
              </a:rPr>
              <a:t> further ovulation and firming the cervix.  </a:t>
            </a:r>
            <a:endParaRPr/>
          </a:p>
          <a:p>
            <a:pPr indent="-285750" lvl="1" marL="742950" marR="0" rtl="0" algn="l">
              <a:lnSpc>
                <a:spcPct val="100000"/>
              </a:lnSpc>
              <a:spcBef>
                <a:spcPts val="1000"/>
              </a:spcBef>
              <a:spcAft>
                <a:spcPts val="0"/>
              </a:spcAft>
              <a:buClr>
                <a:schemeClr val="accent1"/>
              </a:buClr>
              <a:buSzPts val="1600"/>
              <a:buFont typeface="Courier New"/>
              <a:buChar char="o"/>
            </a:pPr>
            <a:r>
              <a:rPr lang="en-CA" sz="1600">
                <a:solidFill>
                  <a:schemeClr val="accent1"/>
                </a:solidFill>
                <a:latin typeface="Verdana"/>
                <a:ea typeface="Verdana"/>
                <a:cs typeface="Verdana"/>
                <a:sym typeface="Verdana"/>
              </a:rPr>
              <a:t>If fertilization does not occur, the corpus luteum degenerates, and hormone secretion stops, causing the endometrial lining to be shed (beginning of flow phase)</a:t>
            </a:r>
            <a:endParaRPr b="0" i="0" sz="20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1000"/>
              </a:spcBef>
              <a:spcAft>
                <a:spcPts val="0"/>
              </a:spcAft>
              <a:buClr>
                <a:schemeClr val="dk1"/>
              </a:buClr>
              <a:buSzPts val="1800"/>
              <a:buFont typeface="Courier New"/>
              <a:buNone/>
            </a:pPr>
            <a:r>
              <a:t/>
            </a:r>
            <a:endParaRPr b="0" i="0" sz="1800" u="none" cap="none" strike="noStrike">
              <a:solidFill>
                <a:schemeClr val="accent1"/>
              </a:solidFill>
              <a:latin typeface="Verdana"/>
              <a:ea typeface="Verdana"/>
              <a:cs typeface="Verdana"/>
              <a:sym typeface="Verdana"/>
            </a:endParaRPr>
          </a:p>
        </p:txBody>
      </p:sp>
      <p:sp>
        <p:nvSpPr>
          <p:cNvPr id="553" name="Google Shape;553;p44"/>
          <p:cNvSpPr txBox="1"/>
          <p:nvPr/>
        </p:nvSpPr>
        <p:spPr>
          <a:xfrm>
            <a:off x="807100" y="5851300"/>
            <a:ext cx="7613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CA" sz="1500">
                <a:solidFill>
                  <a:schemeClr val="accent1"/>
                </a:solidFill>
                <a:latin typeface="Verdana"/>
                <a:ea typeface="Verdana"/>
                <a:cs typeface="Verdana"/>
                <a:sym typeface="Verdana"/>
              </a:rPr>
              <a:t>Note: some sources only consider two separate phases, where 0-14 is follicular phase and 14-28 is luteal phase)</a:t>
            </a:r>
            <a:endParaRPr i="1" sz="900"/>
          </a:p>
        </p:txBody>
      </p:sp>
      <p:pic>
        <p:nvPicPr>
          <p:cNvPr id="554" name="Google Shape;554;p44"/>
          <p:cNvPicPr preferRelativeResize="0"/>
          <p:nvPr/>
        </p:nvPicPr>
        <p:blipFill rotWithShape="1">
          <a:blip r:embed="rId3">
            <a:alphaModFix/>
          </a:blip>
          <a:srcRect b="0" l="0" r="0" t="0"/>
          <a:stretch/>
        </p:blipFill>
        <p:spPr>
          <a:xfrm>
            <a:off x="4854500" y="835325"/>
            <a:ext cx="4289500" cy="5110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pic>
        <p:nvPicPr>
          <p:cNvPr id="559" name="Google Shape;559;p45"/>
          <p:cNvPicPr preferRelativeResize="0"/>
          <p:nvPr/>
        </p:nvPicPr>
        <p:blipFill rotWithShape="1">
          <a:blip r:embed="rId3">
            <a:alphaModFix/>
          </a:blip>
          <a:srcRect b="0" l="0" r="0" t="0"/>
          <a:stretch/>
        </p:blipFill>
        <p:spPr>
          <a:xfrm>
            <a:off x="3291213" y="908720"/>
            <a:ext cx="5371207" cy="5535354"/>
          </a:xfrm>
          <a:prstGeom prst="rect">
            <a:avLst/>
          </a:prstGeom>
          <a:noFill/>
          <a:ln>
            <a:noFill/>
          </a:ln>
        </p:spPr>
      </p:pic>
      <p:sp>
        <p:nvSpPr>
          <p:cNvPr id="560" name="Google Shape;560;p45"/>
          <p:cNvSpPr txBox="1"/>
          <p:nvPr/>
        </p:nvSpPr>
        <p:spPr>
          <a:xfrm>
            <a:off x="912275" y="1457600"/>
            <a:ext cx="2128800" cy="6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400">
                <a:solidFill>
                  <a:schemeClr val="dk2"/>
                </a:solidFill>
                <a:latin typeface="Verdana"/>
                <a:ea typeface="Verdana"/>
                <a:cs typeface="Verdana"/>
                <a:sym typeface="Verdana"/>
              </a:rPr>
              <a:t>Pause here and try to describe all of the changes that occur during the menstrual cycle, and all causes and effects.</a:t>
            </a:r>
            <a:endParaRPr sz="2400">
              <a:solidFill>
                <a:schemeClr val="dk2"/>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6"/>
          <p:cNvSpPr txBox="1"/>
          <p:nvPr>
            <p:ph type="title"/>
          </p:nvPr>
        </p:nvSpPr>
        <p:spPr>
          <a:xfrm>
            <a:off x="1043490" y="1565920"/>
            <a:ext cx="7024744"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30"/>
              <a:buFont typeface="Verdana"/>
              <a:buNone/>
            </a:pPr>
            <a:r>
              <a:rPr b="0" i="0" lang="en-CA" sz="2520" u="none" cap="none" strike="noStrike">
                <a:solidFill>
                  <a:schemeClr val="accent1"/>
                </a:solidFill>
                <a:latin typeface="Verdana"/>
                <a:ea typeface="Verdana"/>
                <a:cs typeface="Verdana"/>
                <a:sym typeface="Verdana"/>
              </a:rPr>
              <a:t>Eventually, women stop producing eggs. Hormone levels decline, leading to a condition known as </a:t>
            </a:r>
            <a:r>
              <a:rPr b="1" i="1" lang="en-CA" sz="2520" u="none" cap="none" strike="noStrike">
                <a:solidFill>
                  <a:schemeClr val="accent1"/>
                </a:solidFill>
              </a:rPr>
              <a:t>menopause</a:t>
            </a:r>
            <a:r>
              <a:rPr b="0" i="0" lang="en-CA" sz="2520" u="none" cap="none" strike="noStrike">
                <a:solidFill>
                  <a:schemeClr val="accent1"/>
                </a:solidFill>
                <a:latin typeface="Verdana"/>
                <a:ea typeface="Verdana"/>
                <a:cs typeface="Verdana"/>
                <a:sym typeface="Verdana"/>
              </a:rPr>
              <a:t>. </a:t>
            </a:r>
            <a:endParaRPr/>
          </a:p>
        </p:txBody>
      </p:sp>
      <p:sp>
        <p:nvSpPr>
          <p:cNvPr id="566" name="Google Shape;566;p46"/>
          <p:cNvSpPr txBox="1"/>
          <p:nvPr/>
        </p:nvSpPr>
        <p:spPr>
          <a:xfrm>
            <a:off x="3563887" y="2924943"/>
            <a:ext cx="1944216" cy="4001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500"/>
              <a:buFont typeface="Verdana"/>
              <a:buNone/>
            </a:pPr>
            <a:r>
              <a:rPr b="1" i="0" lang="en-CA" sz="2000" u="none" cap="none" strike="noStrike">
                <a:solidFill>
                  <a:schemeClr val="accent1"/>
                </a:solidFill>
                <a:latin typeface="Verdana"/>
                <a:ea typeface="Verdana"/>
                <a:cs typeface="Verdana"/>
                <a:sym typeface="Verdana"/>
              </a:rPr>
              <a:t>SYMPTOMS:</a:t>
            </a:r>
            <a:endParaRPr/>
          </a:p>
        </p:txBody>
      </p:sp>
      <p:sp>
        <p:nvSpPr>
          <p:cNvPr id="567" name="Google Shape;567;p46"/>
          <p:cNvSpPr txBox="1"/>
          <p:nvPr/>
        </p:nvSpPr>
        <p:spPr>
          <a:xfrm>
            <a:off x="3059832" y="3717032"/>
            <a:ext cx="3528391"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“hot flashes” </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High cholesterol</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Diminished bone mass</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Changes in mood</a:t>
            </a:r>
            <a:endParaRPr/>
          </a:p>
        </p:txBody>
      </p:sp>
      <p:sp>
        <p:nvSpPr>
          <p:cNvPr id="568" name="Google Shape;568;p46"/>
          <p:cNvSpPr/>
          <p:nvPr/>
        </p:nvSpPr>
        <p:spPr>
          <a:xfrm>
            <a:off x="2411759" y="3573016"/>
            <a:ext cx="4392488" cy="1512167"/>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569" name="Google Shape;569;p46"/>
          <p:cNvSpPr/>
          <p:nvPr/>
        </p:nvSpPr>
        <p:spPr>
          <a:xfrm>
            <a:off x="2339751" y="3501007"/>
            <a:ext cx="4608512" cy="1656183"/>
          </a:xfrm>
          <a:prstGeom prst="rect">
            <a:avLst/>
          </a:prstGeom>
          <a:noFill/>
          <a:ln cap="flat" cmpd="sng" w="762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descr="http://a57.foxnews.com/global.fncstatic.com/static/managed/img/Health/660/371/birth%20control.jpg?ve=1&amp;tl=1" id="574" name="Google Shape;574;p47"/>
          <p:cNvPicPr preferRelativeResize="0"/>
          <p:nvPr/>
        </p:nvPicPr>
        <p:blipFill rotWithShape="1">
          <a:blip r:embed="rId3">
            <a:alphaModFix/>
          </a:blip>
          <a:srcRect b="0" l="0" r="22583" t="0"/>
          <a:stretch/>
        </p:blipFill>
        <p:spPr>
          <a:xfrm>
            <a:off x="413016" y="457840"/>
            <a:ext cx="4561857" cy="3312367"/>
          </a:xfrm>
          <a:prstGeom prst="rect">
            <a:avLst/>
          </a:prstGeom>
          <a:noFill/>
          <a:ln>
            <a:noFill/>
          </a:ln>
        </p:spPr>
      </p:pic>
      <p:sp>
        <p:nvSpPr>
          <p:cNvPr id="575" name="Google Shape;575;p47"/>
          <p:cNvSpPr txBox="1"/>
          <p:nvPr>
            <p:ph type="title"/>
          </p:nvPr>
        </p:nvSpPr>
        <p:spPr>
          <a:xfrm>
            <a:off x="4544600" y="1462450"/>
            <a:ext cx="41484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202023"/>
              </a:buClr>
              <a:buSzPts val="700"/>
              <a:buFont typeface="Verdana"/>
              <a:buNone/>
            </a:pPr>
            <a:r>
              <a:rPr b="1" i="1" lang="en-CA" sz="2800" u="none" cap="none" strike="noStrike">
                <a:solidFill>
                  <a:srgbClr val="202023"/>
                </a:solidFill>
                <a:latin typeface="Verdana"/>
                <a:ea typeface="Verdana"/>
                <a:cs typeface="Verdana"/>
                <a:sym typeface="Verdana"/>
              </a:rPr>
              <a:t>How</a:t>
            </a:r>
            <a:r>
              <a:rPr b="1" i="1" lang="en-CA" sz="2800">
                <a:solidFill>
                  <a:srgbClr val="202023"/>
                </a:solidFill>
              </a:rPr>
              <a:t> </a:t>
            </a:r>
            <a:r>
              <a:rPr b="1" i="1" lang="en-CA" sz="2800" u="none" cap="none" strike="noStrike">
                <a:solidFill>
                  <a:srgbClr val="202023"/>
                </a:solidFill>
                <a:latin typeface="Verdana"/>
                <a:ea typeface="Verdana"/>
                <a:cs typeface="Verdana"/>
                <a:sym typeface="Verdana"/>
              </a:rPr>
              <a:t>do birth control pills prevent pregnancy? </a:t>
            </a:r>
            <a:endParaRPr/>
          </a:p>
        </p:txBody>
      </p:sp>
      <p:pic>
        <p:nvPicPr>
          <p:cNvPr descr="(USMLE topics, gynecology) Mechanism of action of the Pill. This video is available for instant download licensing here : https://www.alilamedicalmedia.com/-/galleries/narrated-videos-by-topics/common-ob-gyn-problems/-/medias/c728f8db-c831-41e9-996b-d301aeb41af3-birth-control-pill-mechanism-of-action-narrated-animation&#10;©Alila Medical Media. All rights reserved.&#10;Voice by: Ashley Fleming&#10;All images/videos by Alila Medical Media are for information purposes ONLY and are NOT intended to replace professional medical advice, diagnosis or treatment. Always seek the advice of a qualified healthcare provider with any questions you may have regarding a medical condition.&#10;Contribute to our videos and get FREE downloads and other GREAT REWARDS: patreon.com/AlilaMedicalMedia&#10;Birth control pills are medications used to prevent pregnancy. They contain hormones that suppress ovulation. The most effective type is the combination pill which contains both estrogen and progestin - a synthetic form of progesterone. These 2 hormones interfere with the normal menstrual cycle to prevent ovulation.&#10;The menstrual cycle refers to the monthly events that occur within a woman’s body in preparation for the possibility of pregnancy. Each month, an egg is released from an ovary in a process called ovulation. At the same time, the lining of the uterus thickens, ready for pregnancy. If fertilization does not take place, the lining of the uterus is shed in menstrual bleeding and the cycle starts over. The menstrual cycle is under control of multiple hormones secreted by the hypothalamus, pituitary gland, and ovaries. Basically, the hypothalamus produces gonadotropin-releasing hormone, GnRH; the pituitary secretes follicle-stimulating hormone, FSH, and luteinizing hormone, LH; while the ovaries produce estrogen and progesterone. These hormones are involved in a REGULATORY network that results in monthly cyclic changes responsible for ovulation and preparation for pregnancy.&#10;The 2 hormones that are required for ovulation are: FSH, which starts the cycle by stimulating immature follicles to grow and produce a mature egg; and LH, which is responsible for the release of the egg from the ovary - the ovulation event itself. Two other hormones, estrogen and progesterone, are at high levels after ovulation, in the second half of the cycle. They suppress FSH and LH during this time, preventing the ovaries from releasing more eggs. If fertilization occurs, estrogen and progesterone levels REMAIN HIGH throughout pregnancy, providing a continuous suppression of ovulation. On the other hand, in the absence of pregnancy, their levels FALL, causing menstrual bleeding.&#10;The levels of estrogen and progesterone in the combination pills mimic the hormonal state after ovulation, tricking the ovaries into thinking that ovulation has already occurred; FSH and LH are constantly suppressed, no egg is matured or released. &#10;The pills are taken every day for three weeks, followed by one week of placebo pills containing no hormones.  During the week of placebos, estrogen and progesterone levels fall, triggering a so-called withdrawal bleeding, or fake periods. The bleeding serves as a convenient indication that fertilization did not happen, but it is not required for birth control. In fact, there exist continuous-use contraceptive pills with less or no placebos, resulting in less or no menstrual periods. These pills are particularly beneficial for women who suffer from menstrual disorders such as excessive menstrual bleeding, painful menstruation and endometriosis.&#10;For lactating women, or those who cannot tolerate estrogen, there are mini-pills that contain only progestin. These are not as effective as combination pills at preventing ovulation. Their effect relies more on the ability of progestin to promote secretion of a thick cervical mucus to obstruct sperm entry." id="576" name="Google Shape;576;p47" title="How Birth Control Pills Work, Animation">
            <a:hlinkClick r:id="rId4"/>
          </p:cNvPr>
          <p:cNvPicPr preferRelativeResize="0"/>
          <p:nvPr/>
        </p:nvPicPr>
        <p:blipFill>
          <a:blip r:embed="rId5">
            <a:alphaModFix/>
          </a:blip>
          <a:stretch>
            <a:fillRect/>
          </a:stretch>
        </p:blipFill>
        <p:spPr>
          <a:xfrm>
            <a:off x="571850" y="4068673"/>
            <a:ext cx="4037400" cy="2271025"/>
          </a:xfrm>
          <a:prstGeom prst="rect">
            <a:avLst/>
          </a:prstGeom>
          <a:noFill/>
          <a:ln>
            <a:noFill/>
          </a:ln>
        </p:spPr>
      </p:pic>
      <p:sp>
        <p:nvSpPr>
          <p:cNvPr id="577" name="Google Shape;577;p47"/>
          <p:cNvSpPr txBox="1"/>
          <p:nvPr/>
        </p:nvSpPr>
        <p:spPr>
          <a:xfrm>
            <a:off x="4865625" y="2925650"/>
            <a:ext cx="3701400" cy="322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Verdana"/>
              <a:buChar char="➢"/>
            </a:pPr>
            <a:r>
              <a:rPr lang="en-CA" sz="1800">
                <a:solidFill>
                  <a:schemeClr val="dk1"/>
                </a:solidFill>
                <a:latin typeface="Verdana"/>
                <a:ea typeface="Verdana"/>
                <a:cs typeface="Verdana"/>
                <a:sym typeface="Verdana"/>
              </a:rPr>
              <a:t>Birth control pills typically contain </a:t>
            </a:r>
            <a:r>
              <a:rPr b="1" lang="en-CA" sz="1800">
                <a:solidFill>
                  <a:schemeClr val="dk1"/>
                </a:solidFill>
                <a:latin typeface="Verdana"/>
                <a:ea typeface="Verdana"/>
                <a:cs typeface="Verdana"/>
                <a:sym typeface="Verdana"/>
              </a:rPr>
              <a:t>high doses of </a:t>
            </a:r>
            <a:r>
              <a:rPr b="1" lang="en-CA" sz="1800">
                <a:solidFill>
                  <a:schemeClr val="dk1"/>
                </a:solidFill>
                <a:latin typeface="Verdana"/>
                <a:ea typeface="Verdana"/>
                <a:cs typeface="Verdana"/>
                <a:sym typeface="Verdana"/>
              </a:rPr>
              <a:t>progesterone</a:t>
            </a:r>
            <a:r>
              <a:rPr b="1" lang="en-CA" sz="1800">
                <a:solidFill>
                  <a:schemeClr val="dk1"/>
                </a:solidFill>
                <a:latin typeface="Verdana"/>
                <a:ea typeface="Verdana"/>
                <a:cs typeface="Verdana"/>
                <a:sym typeface="Verdana"/>
              </a:rPr>
              <a:t> and estrogen</a:t>
            </a:r>
            <a:r>
              <a:rPr lang="en-CA" sz="1800">
                <a:solidFill>
                  <a:schemeClr val="dk1"/>
                </a:solidFill>
                <a:latin typeface="Verdana"/>
                <a:ea typeface="Verdana"/>
                <a:cs typeface="Verdana"/>
                <a:sym typeface="Verdana"/>
              </a:rPr>
              <a:t>, which </a:t>
            </a:r>
            <a:r>
              <a:rPr b="1" lang="en-CA" sz="1800">
                <a:solidFill>
                  <a:schemeClr val="dk1"/>
                </a:solidFill>
                <a:latin typeface="Verdana"/>
                <a:ea typeface="Verdana"/>
                <a:cs typeface="Verdana"/>
                <a:sym typeface="Verdana"/>
              </a:rPr>
              <a:t>inhibit release of FSH and LH through negative feedback</a:t>
            </a:r>
            <a:r>
              <a:rPr lang="en-CA" sz="1800">
                <a:solidFill>
                  <a:schemeClr val="dk1"/>
                </a:solidFill>
                <a:latin typeface="Verdana"/>
                <a:ea typeface="Verdana"/>
                <a:cs typeface="Verdana"/>
                <a:sym typeface="Verdana"/>
              </a:rPr>
              <a:t>.  Without FSH and LH, a follicle is unlikely to mature and </a:t>
            </a:r>
            <a:r>
              <a:rPr b="1" lang="en-CA" sz="1800">
                <a:solidFill>
                  <a:schemeClr val="dk1"/>
                </a:solidFill>
                <a:latin typeface="Verdana"/>
                <a:ea typeface="Verdana"/>
                <a:cs typeface="Verdana"/>
                <a:sym typeface="Verdana"/>
              </a:rPr>
              <a:t>ovulation will not occur</a:t>
            </a:r>
            <a:r>
              <a:rPr lang="en-CA" sz="1800">
                <a:solidFill>
                  <a:schemeClr val="dk1"/>
                </a:solidFill>
                <a:latin typeface="Verdana"/>
                <a:ea typeface="Verdana"/>
                <a:cs typeface="Verdana"/>
                <a:sym typeface="Verdana"/>
              </a:rPr>
              <a:t>.</a:t>
            </a:r>
            <a:endParaRPr sz="18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