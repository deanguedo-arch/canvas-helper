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embeddedFontLst>
    <p:embeddedFont>
      <p:font typeface="Average"/>
      <p:regular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DAA78E-1271-4725-9A1C-28E2E569F632}">
  <a:tblStyle styleId="{97DAA78E-1271-4725-9A1C-28E2E569F632}" styleName="Table_0">
    <a:wholeTbl>
      <a:tcTxStyle>
        <a:font>
          <a:latin typeface="Arial"/>
          <a:ea typeface="Arial"/>
          <a:cs typeface="Arial"/>
        </a:font>
        <a:schemeClr val="tx1"/>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5198A41-FCAB-4F54-8418-CBA23FF8E92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font" Target="fonts/Average-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lvl1pPr>
            <a:lvl2pPr indent="-228600" lvl="1" marL="914400" marR="0" rtl="0" algn="l">
              <a:spcBef>
                <a:spcPts val="0"/>
              </a:spcBef>
              <a:spcAft>
                <a:spcPts val="0"/>
              </a:spcAft>
              <a:buSzPts val="1400"/>
              <a:buNone/>
              <a:defRPr b="0" i="0" sz="1100" u="none" cap="none" strike="noStrike"/>
            </a:lvl2pPr>
            <a:lvl3pPr indent="-228600" lvl="2" marL="1371600" marR="0" rtl="0" algn="l">
              <a:spcBef>
                <a:spcPts val="0"/>
              </a:spcBef>
              <a:spcAft>
                <a:spcPts val="0"/>
              </a:spcAft>
              <a:buSzPts val="1400"/>
              <a:buNone/>
              <a:defRPr b="0" i="0" sz="1100" u="none" cap="none" strike="noStrike"/>
            </a:lvl3pPr>
            <a:lvl4pPr indent="-228600" lvl="3" marL="1828800" marR="0" rtl="0" algn="l">
              <a:spcBef>
                <a:spcPts val="0"/>
              </a:spcBef>
              <a:spcAft>
                <a:spcPts val="0"/>
              </a:spcAft>
              <a:buSzPts val="1400"/>
              <a:buNone/>
              <a:defRPr b="0" i="0" sz="1100" u="none" cap="none" strike="noStrike"/>
            </a:lvl4pPr>
            <a:lvl5pPr indent="-228600" lvl="4" marL="2286000" marR="0" rtl="0" algn="l">
              <a:spcBef>
                <a:spcPts val="0"/>
              </a:spcBef>
              <a:spcAft>
                <a:spcPts val="0"/>
              </a:spcAft>
              <a:buSzPts val="1400"/>
              <a:buNone/>
              <a:defRPr b="0" i="0" sz="1100" u="none" cap="none" strike="noStrike"/>
            </a:lvl5pPr>
            <a:lvl6pPr indent="-228600" lvl="5" marL="2743200" marR="0" rtl="0" algn="l">
              <a:spcBef>
                <a:spcPts val="0"/>
              </a:spcBef>
              <a:spcAft>
                <a:spcPts val="0"/>
              </a:spcAft>
              <a:buSzPts val="1400"/>
              <a:buNone/>
              <a:defRPr b="0" i="0" sz="1100" u="none" cap="none" strike="noStrike"/>
            </a:lvl6pPr>
            <a:lvl7pPr indent="-228600" lvl="6" marL="3200400" marR="0" rtl="0" algn="l">
              <a:spcBef>
                <a:spcPts val="0"/>
              </a:spcBef>
              <a:spcAft>
                <a:spcPts val="0"/>
              </a:spcAft>
              <a:buSzPts val="1400"/>
              <a:buNone/>
              <a:defRPr b="0" i="0" sz="1100" u="none" cap="none" strike="noStrike"/>
            </a:lvl7pPr>
            <a:lvl8pPr indent="-228600" lvl="7" marL="3657600" marR="0" rtl="0" algn="l">
              <a:spcBef>
                <a:spcPts val="0"/>
              </a:spcBef>
              <a:spcAft>
                <a:spcPts val="0"/>
              </a:spcAft>
              <a:buSzPts val="1400"/>
              <a:buNone/>
              <a:defRPr b="0" i="0" sz="1100" u="none" cap="none" strike="noStrike"/>
            </a:lvl8pPr>
            <a:lvl9pPr indent="-228600" lvl="8" marL="4114800" marR="0" rtl="0" algn="l">
              <a:spcBef>
                <a:spcPts val="0"/>
              </a:spcBef>
              <a:spcAft>
                <a:spcPts val="0"/>
              </a:spcAft>
              <a:buSzPts val="1400"/>
              <a:buNone/>
              <a:defRPr b="0" i="0" sz="11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47127fb06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47127fb06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47127fb06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47127fb06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8b585e8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8b585e8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47127fb06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47127fb06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152e5fe5f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152e5fe5f7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152e5fe5f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3152e5fe5f7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9f9a4b1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9f9a4b1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a3488466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a3488466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481b90d3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481b90d3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47391364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47391364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a38ee052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a38ee052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480f61d6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480f61d6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473bd8d22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473bd8d22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47391364d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47391364d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15f97a61b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15f97a61b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4741afa31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4741afa31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4741afa3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4741afa3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15f97a61b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15f97a61b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15f97a61b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15f97a61b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58678b4587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58678b4587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47391364d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47391364d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47391364d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47391364d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15f97a61b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15f97a61b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473bd8d2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473bd8d2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15f97a61b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15f97a61b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2" name="Google Shape;58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480f61d64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480f61d64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4" name="Google Shape;59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2" name="Google Shape;60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15f97a61b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3" name="Google Shape;613;g315f97a61bb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6" name="Google Shape;63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b17e79b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b17e79b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b17e79bf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b17e79bf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1634acb731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5" name="Google Shape;675;g31634acb731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1634acb731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1634acb731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1634acb731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1634acb731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1634acb731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1634acb731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1634acb731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1634acb731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6" name="Google Shape;72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167e4c65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167e4c65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7" name="Google Shape;74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1634acb731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8" name="Google Shape;758;g31634acb731_1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3" name="Shape 53"/>
        <p:cNvGrpSpPr/>
        <p:nvPr/>
      </p:nvGrpSpPr>
      <p:grpSpPr>
        <a:xfrm>
          <a:off x="0" y="0"/>
          <a:ext cx="0" cy="0"/>
          <a:chOff x="0" y="0"/>
          <a:chExt cx="0" cy="0"/>
        </a:xfrm>
      </p:grpSpPr>
      <p:grpSp>
        <p:nvGrpSpPr>
          <p:cNvPr id="54" name="Google Shape;54;p2"/>
          <p:cNvGrpSpPr/>
          <p:nvPr/>
        </p:nvGrpSpPr>
        <p:grpSpPr>
          <a:xfrm>
            <a:off x="-645041" y="0"/>
            <a:ext cx="10458613" cy="5337692"/>
            <a:chOff x="-645041" y="0"/>
            <a:chExt cx="10458613" cy="7116923"/>
          </a:xfrm>
        </p:grpSpPr>
        <p:grpSp>
          <p:nvGrpSpPr>
            <p:cNvPr id="55" name="Google Shape;55;p2"/>
            <p:cNvGrpSpPr/>
            <p:nvPr/>
          </p:nvGrpSpPr>
          <p:grpSpPr>
            <a:xfrm>
              <a:off x="0" y="0"/>
              <a:ext cx="9144000" cy="6858000"/>
              <a:chOff x="0" y="0"/>
              <a:chExt cx="9144000" cy="6858000"/>
            </a:xfrm>
          </p:grpSpPr>
          <p:grpSp>
            <p:nvGrpSpPr>
              <p:cNvPr id="56" name="Google Shape;56;p2"/>
              <p:cNvGrpSpPr/>
              <p:nvPr/>
            </p:nvGrpSpPr>
            <p:grpSpPr>
              <a:xfrm>
                <a:off x="0" y="0"/>
                <a:ext cx="2514600" cy="6858000"/>
                <a:chOff x="0" y="0"/>
                <a:chExt cx="2514600" cy="6858000"/>
              </a:xfrm>
            </p:grpSpPr>
            <p:sp>
              <p:nvSpPr>
                <p:cNvPr id="57" name="Google Shape;57;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8" name="Google Shape;58;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9" name="Google Shape;59;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0" name="Google Shape;60;p2"/>
              <p:cNvGrpSpPr/>
              <p:nvPr/>
            </p:nvGrpSpPr>
            <p:grpSpPr>
              <a:xfrm>
                <a:off x="422910" y="0"/>
                <a:ext cx="2514600" cy="6858000"/>
                <a:chOff x="0" y="0"/>
                <a:chExt cx="2514600" cy="6858000"/>
              </a:xfrm>
            </p:grpSpPr>
            <p:sp>
              <p:nvSpPr>
                <p:cNvPr id="61" name="Google Shape;61;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2" name="Google Shape;62;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3" name="Google Shape;63;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4" name="Google Shape;64;p2"/>
              <p:cNvGrpSpPr/>
              <p:nvPr/>
            </p:nvGrpSpPr>
            <p:grpSpPr>
              <a:xfrm rot="10800000">
                <a:off x="6629400" y="0"/>
                <a:ext cx="2514600" cy="6858000"/>
                <a:chOff x="0" y="0"/>
                <a:chExt cx="2514600" cy="6858000"/>
              </a:xfrm>
            </p:grpSpPr>
            <p:sp>
              <p:nvSpPr>
                <p:cNvPr id="65" name="Google Shape;65;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6" name="Google Shape;66;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7" name="Google Shape;67;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68" name="Google Shape;68;p2"/>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9" name="Google Shape;69;p2"/>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0" name="Google Shape;70;p2"/>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1" name="Google Shape;71;p2"/>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2" name="Google Shape;72;p2"/>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3" name="Google Shape;73;p2"/>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4" name="Google Shape;74;p2"/>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5" name="Google Shape;75;p2"/>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6" name="Google Shape;76;p2"/>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7" name="Google Shape;77;p2"/>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8" name="Google Shape;78;p2"/>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9" name="Google Shape;79;p2"/>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0" name="Google Shape;80;p2"/>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1" name="Google Shape;81;p2"/>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2" name="Google Shape;82;p2"/>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3" name="Google Shape;83;p2"/>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4" name="Google Shape;84;p2"/>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5" name="Google Shape;85;p2"/>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6" name="Google Shape;86;p2"/>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7" name="Google Shape;87;p2"/>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8" name="Google Shape;88;p2"/>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9" name="Google Shape;89;p2"/>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0" name="Google Shape;90;p2"/>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1" name="Google Shape;91;p2"/>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2" name="Google Shape;92;p2"/>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93" name="Google Shape;93;p2"/>
          <p:cNvSpPr/>
          <p:nvPr/>
        </p:nvSpPr>
        <p:spPr>
          <a:xfrm>
            <a:off x="4561242" y="-16133"/>
            <a:ext cx="3679200" cy="47037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4" name="Google Shape;94;p2"/>
          <p:cNvSpPr/>
          <p:nvPr/>
        </p:nvSpPr>
        <p:spPr>
          <a:xfrm>
            <a:off x="4649096" y="-16133"/>
            <a:ext cx="3505200" cy="17349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5" name="Google Shape;95;p2"/>
          <p:cNvSpPr txBox="1"/>
          <p:nvPr>
            <p:ph type="ctrTitle"/>
          </p:nvPr>
        </p:nvSpPr>
        <p:spPr>
          <a:xfrm>
            <a:off x="4733365" y="2031357"/>
            <a:ext cx="3313500" cy="12765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3600"/>
              <a:buFont typeface="Verdana"/>
              <a:buNone/>
              <a:defRPr b="0" i="0" sz="36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96" name="Google Shape;96;p2"/>
          <p:cNvSpPr txBox="1"/>
          <p:nvPr>
            <p:ph idx="1" type="subTitle"/>
          </p:nvPr>
        </p:nvSpPr>
        <p:spPr>
          <a:xfrm>
            <a:off x="4733365" y="3315810"/>
            <a:ext cx="3309900" cy="945600"/>
          </a:xfrm>
          <a:prstGeom prst="rect">
            <a:avLst/>
          </a:prstGeom>
          <a:noFill/>
          <a:ln>
            <a:noFill/>
          </a:ln>
        </p:spPr>
        <p:txBody>
          <a:bodyPr anchorCtr="0" anchor="t" bIns="91425" lIns="91425" spcFirstLastPara="1" rIns="91425" wrap="square" tIns="91425">
            <a:noAutofit/>
          </a:bodyPr>
          <a:lstStyle>
            <a:lvl1pPr lvl="0" marR="0" rtl="0" algn="l">
              <a:spcBef>
                <a:spcPts val="360"/>
              </a:spcBef>
              <a:spcAft>
                <a:spcPts val="0"/>
              </a:spcAft>
              <a:buClr>
                <a:schemeClr val="accent1"/>
              </a:buClr>
              <a:buSzPts val="1368"/>
              <a:buFont typeface="Noto Sans Symbols"/>
              <a:buNone/>
              <a:defRPr b="0" i="0" sz="1800" u="none" cap="none" strike="noStrike">
                <a:solidFill>
                  <a:srgbClr val="424242"/>
                </a:solidFill>
                <a:latin typeface="Verdana"/>
                <a:ea typeface="Verdana"/>
                <a:cs typeface="Verdana"/>
                <a:sym typeface="Verdana"/>
              </a:defRPr>
            </a:lvl1pPr>
            <a:lvl2pPr lvl="1" marR="0" rtl="0" algn="ctr">
              <a:spcBef>
                <a:spcPts val="440"/>
              </a:spcBef>
              <a:spcAft>
                <a:spcPts val="0"/>
              </a:spcAft>
              <a:buClr>
                <a:schemeClr val="accent1"/>
              </a:buClr>
              <a:buSzPts val="1672"/>
              <a:buFont typeface="Noto Sans Symbols"/>
              <a:buNone/>
              <a:defRPr b="0" i="0" sz="2200" u="none" cap="none" strike="noStrike">
                <a:solidFill>
                  <a:srgbClr val="888888"/>
                </a:solidFill>
                <a:latin typeface="Verdana"/>
                <a:ea typeface="Verdana"/>
                <a:cs typeface="Verdana"/>
                <a:sym typeface="Verdana"/>
              </a:defRPr>
            </a:lvl2pPr>
            <a:lvl3pPr lvl="2" marR="0" rtl="0" algn="ctr">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3pPr>
            <a:lvl4pPr lvl="3" marR="0" rtl="0" algn="ctr">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4pPr>
            <a:lvl5pPr lvl="4" marR="0" rtl="0" algn="ctr">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5pPr>
            <a:lvl6pPr lvl="5"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lvl="6"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lvl="7"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lvl="8"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97" name="Google Shape;97;p2"/>
          <p:cNvSpPr txBox="1"/>
          <p:nvPr>
            <p:ph idx="10" type="dt"/>
          </p:nvPr>
        </p:nvSpPr>
        <p:spPr>
          <a:xfrm>
            <a:off x="4738744" y="1137621"/>
            <a:ext cx="2133600" cy="5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24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98" name="Google Shape;98;p2"/>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9" name="Google Shape;99;p2"/>
          <p:cNvSpPr txBox="1"/>
          <p:nvPr>
            <p:ph idx="11" type="ftr"/>
          </p:nvPr>
        </p:nvSpPr>
        <p:spPr>
          <a:xfrm>
            <a:off x="5303520" y="4289975"/>
            <a:ext cx="28317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0" name="Google Shape;100;p2"/>
          <p:cNvSpPr txBox="1"/>
          <p:nvPr>
            <p:ph idx="12" type="sldNum"/>
          </p:nvPr>
        </p:nvSpPr>
        <p:spPr>
          <a:xfrm>
            <a:off x="4649096" y="4289975"/>
            <a:ext cx="6438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chemeClr val="accent1"/>
                </a:solidFill>
                <a:latin typeface="Verdana"/>
                <a:ea typeface="Verdana"/>
                <a:cs typeface="Verdana"/>
                <a:sym typeface="Verdana"/>
              </a:defRPr>
            </a:lvl1pPr>
            <a:lvl2pPr indent="0" lvl="1" marL="0" marR="0" rtl="0" algn="l">
              <a:spcBef>
                <a:spcPts val="0"/>
              </a:spcBef>
              <a:buNone/>
              <a:defRPr b="0" i="0" sz="1200" u="none" cap="none" strike="noStrike">
                <a:solidFill>
                  <a:schemeClr val="accent1"/>
                </a:solidFill>
                <a:latin typeface="Verdana"/>
                <a:ea typeface="Verdana"/>
                <a:cs typeface="Verdana"/>
                <a:sym typeface="Verdana"/>
              </a:defRPr>
            </a:lvl2pPr>
            <a:lvl3pPr indent="0" lvl="2" marL="0" marR="0" rtl="0" algn="l">
              <a:spcBef>
                <a:spcPts val="0"/>
              </a:spcBef>
              <a:buNone/>
              <a:defRPr b="0" i="0" sz="1200" u="none" cap="none" strike="noStrike">
                <a:solidFill>
                  <a:schemeClr val="accent1"/>
                </a:solidFill>
                <a:latin typeface="Verdana"/>
                <a:ea typeface="Verdana"/>
                <a:cs typeface="Verdana"/>
                <a:sym typeface="Verdana"/>
              </a:defRPr>
            </a:lvl3pPr>
            <a:lvl4pPr indent="0" lvl="3" marL="0" marR="0" rtl="0" algn="l">
              <a:spcBef>
                <a:spcPts val="0"/>
              </a:spcBef>
              <a:buNone/>
              <a:defRPr b="0" i="0" sz="1200" u="none" cap="none" strike="noStrike">
                <a:solidFill>
                  <a:schemeClr val="accent1"/>
                </a:solidFill>
                <a:latin typeface="Verdana"/>
                <a:ea typeface="Verdana"/>
                <a:cs typeface="Verdana"/>
                <a:sym typeface="Verdana"/>
              </a:defRPr>
            </a:lvl4pPr>
            <a:lvl5pPr indent="0" lvl="4" marL="0" marR="0" rtl="0" algn="l">
              <a:spcBef>
                <a:spcPts val="0"/>
              </a:spcBef>
              <a:buNone/>
              <a:defRPr b="0" i="0" sz="1200" u="none" cap="none" strike="noStrike">
                <a:solidFill>
                  <a:schemeClr val="accent1"/>
                </a:solidFill>
                <a:latin typeface="Verdana"/>
                <a:ea typeface="Verdana"/>
                <a:cs typeface="Verdana"/>
                <a:sym typeface="Verdana"/>
              </a:defRPr>
            </a:lvl5pPr>
            <a:lvl6pPr indent="0" lvl="5" marL="0" marR="0" rtl="0" algn="l">
              <a:spcBef>
                <a:spcPts val="0"/>
              </a:spcBef>
              <a:buNone/>
              <a:defRPr b="0" i="0" sz="1200" u="none" cap="none" strike="noStrike">
                <a:solidFill>
                  <a:schemeClr val="accent1"/>
                </a:solidFill>
                <a:latin typeface="Verdana"/>
                <a:ea typeface="Verdana"/>
                <a:cs typeface="Verdana"/>
                <a:sym typeface="Verdana"/>
              </a:defRPr>
            </a:lvl6pPr>
            <a:lvl7pPr indent="0" lvl="6" marL="0" marR="0" rtl="0" algn="l">
              <a:spcBef>
                <a:spcPts val="0"/>
              </a:spcBef>
              <a:buNone/>
              <a:defRPr b="0" i="0" sz="1200" u="none" cap="none" strike="noStrike">
                <a:solidFill>
                  <a:schemeClr val="accent1"/>
                </a:solidFill>
                <a:latin typeface="Verdana"/>
                <a:ea typeface="Verdana"/>
                <a:cs typeface="Verdana"/>
                <a:sym typeface="Verdana"/>
              </a:defRPr>
            </a:lvl7pPr>
            <a:lvl8pPr indent="0" lvl="7" marL="0" marR="0" rtl="0" algn="l">
              <a:spcBef>
                <a:spcPts val="0"/>
              </a:spcBef>
              <a:buNone/>
              <a:defRPr b="0" i="0" sz="1200" u="none" cap="none" strike="noStrike">
                <a:solidFill>
                  <a:schemeClr val="accent1"/>
                </a:solidFill>
                <a:latin typeface="Verdana"/>
                <a:ea typeface="Verdana"/>
                <a:cs typeface="Verdana"/>
                <a:sym typeface="Verdana"/>
              </a:defRPr>
            </a:lvl8pPr>
            <a:lvl9pPr indent="0" lvl="8" marL="0" marR="0" rtl="0" algn="l">
              <a:spcBef>
                <a:spcPts val="0"/>
              </a:spcBef>
              <a:buNone/>
              <a:defRPr b="0" i="0" sz="1200" u="none" cap="none" strike="noStrike">
                <a:solidFill>
                  <a:schemeClr val="accent1"/>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01" name="Google Shape;101;p2"/>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3"/>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4" name="Google Shape;104;p3"/>
          <p:cNvSpPr txBox="1"/>
          <p:nvPr>
            <p:ph idx="1" type="body"/>
          </p:nvPr>
        </p:nvSpPr>
        <p:spPr>
          <a:xfrm>
            <a:off x="1043492" y="1742739"/>
            <a:ext cx="6777300" cy="2631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05" name="Google Shape;105;p3"/>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6" name="Google Shape;106;p3"/>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7" name="Google Shape;107;p3"/>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p4"/>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0" name="Google Shape;110;p4"/>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1" name="Google Shape;111;p4"/>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p5"/>
          <p:cNvSpPr txBox="1"/>
          <p:nvPr>
            <p:ph type="title"/>
          </p:nvPr>
        </p:nvSpPr>
        <p:spPr>
          <a:xfrm>
            <a:off x="1258645" y="2175622"/>
            <a:ext cx="6637500" cy="10215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4" name="Google Shape;114;p5"/>
          <p:cNvSpPr txBox="1"/>
          <p:nvPr>
            <p:ph idx="1" type="body"/>
          </p:nvPr>
        </p:nvSpPr>
        <p:spPr>
          <a:xfrm>
            <a:off x="1258645" y="3200400"/>
            <a:ext cx="6637500" cy="11403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1pPr>
            <a:lvl2pPr indent="-228600" lvl="1" marL="914400" marR="0" rtl="0" algn="l">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2pPr>
            <a:lvl3pPr indent="-228600" lvl="2" marL="1371600" marR="0" rtl="0" algn="l">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3pPr>
            <a:lvl4pPr indent="-228600" lvl="3" marL="1828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4pPr>
            <a:lvl5pPr indent="-228600" lvl="4" marL="22860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5pPr>
            <a:lvl6pPr indent="-228600" lvl="5" marL="27432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indent="-228600" lvl="6" marL="32004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indent="-228600" lvl="7" marL="36576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indent="-228600" lvl="8" marL="4114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15" name="Google Shape;115;p5"/>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6" name="Google Shape;116;p5"/>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7" name="Google Shape;117;p5"/>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8" name="Shape 118"/>
        <p:cNvGrpSpPr/>
        <p:nvPr/>
      </p:nvGrpSpPr>
      <p:grpSpPr>
        <a:xfrm>
          <a:off x="0" y="0"/>
          <a:ext cx="0" cy="0"/>
          <a:chOff x="0" y="0"/>
          <a:chExt cx="0" cy="0"/>
        </a:xfrm>
      </p:grpSpPr>
      <p:sp>
        <p:nvSpPr>
          <p:cNvPr id="119" name="Google Shape;119;p6"/>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0" name="Google Shape;120;p6"/>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1" name="Google Shape;121;p6"/>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2" name="Google Shape;122;p6"/>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23" name="Google Shape;123;p6"/>
          <p:cNvSpPr txBox="1"/>
          <p:nvPr>
            <p:ph idx="1" type="body"/>
          </p:nvPr>
        </p:nvSpPr>
        <p:spPr>
          <a:xfrm>
            <a:off x="1042416" y="1735074"/>
            <a:ext cx="3420000" cy="26196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24" name="Google Shape;124;p6"/>
          <p:cNvSpPr txBox="1"/>
          <p:nvPr>
            <p:ph idx="2" type="body"/>
          </p:nvPr>
        </p:nvSpPr>
        <p:spPr>
          <a:xfrm>
            <a:off x="4645152" y="1735073"/>
            <a:ext cx="3420000" cy="26196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p7"/>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7" name="Google Shape;127;p7"/>
          <p:cNvSpPr txBox="1"/>
          <p:nvPr>
            <p:ph idx="1" type="body"/>
          </p:nvPr>
        </p:nvSpPr>
        <p:spPr>
          <a:xfrm>
            <a:off x="1412111" y="1737007"/>
            <a:ext cx="3057000" cy="4800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28" name="Google Shape;128;p7"/>
          <p:cNvSpPr txBox="1"/>
          <p:nvPr>
            <p:ph idx="2" type="body"/>
          </p:nvPr>
        </p:nvSpPr>
        <p:spPr>
          <a:xfrm>
            <a:off x="1041721" y="2231020"/>
            <a:ext cx="3420000" cy="21270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29" name="Google Shape;129;p7"/>
          <p:cNvSpPr txBox="1"/>
          <p:nvPr>
            <p:ph idx="3" type="body"/>
          </p:nvPr>
        </p:nvSpPr>
        <p:spPr>
          <a:xfrm>
            <a:off x="5011837" y="1737007"/>
            <a:ext cx="3055800" cy="4800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0" name="Google Shape;130;p7"/>
          <p:cNvSpPr txBox="1"/>
          <p:nvPr>
            <p:ph idx="4" type="body"/>
          </p:nvPr>
        </p:nvSpPr>
        <p:spPr>
          <a:xfrm>
            <a:off x="4645152" y="2231020"/>
            <a:ext cx="3420000" cy="21270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1" name="Google Shape;131;p7"/>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2" name="Google Shape;132;p7"/>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3" name="Google Shape;133;p7"/>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8"/>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36" name="Google Shape;136;p8"/>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7" name="Google Shape;137;p8"/>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8" name="Google Shape;138;p8"/>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39" name="Shape 139"/>
        <p:cNvGrpSpPr/>
        <p:nvPr/>
      </p:nvGrpSpPr>
      <p:grpSpPr>
        <a:xfrm>
          <a:off x="0" y="0"/>
          <a:ext cx="0" cy="0"/>
          <a:chOff x="0" y="0"/>
          <a:chExt cx="0" cy="0"/>
        </a:xfrm>
      </p:grpSpPr>
      <p:grpSp>
        <p:nvGrpSpPr>
          <p:cNvPr id="140" name="Google Shape;140;p9"/>
          <p:cNvGrpSpPr/>
          <p:nvPr/>
        </p:nvGrpSpPr>
        <p:grpSpPr>
          <a:xfrm>
            <a:off x="-645041" y="0"/>
            <a:ext cx="10458613" cy="5337692"/>
            <a:chOff x="-645041" y="0"/>
            <a:chExt cx="10458613" cy="7116923"/>
          </a:xfrm>
        </p:grpSpPr>
        <p:grpSp>
          <p:nvGrpSpPr>
            <p:cNvPr id="141" name="Google Shape;141;p9"/>
            <p:cNvGrpSpPr/>
            <p:nvPr/>
          </p:nvGrpSpPr>
          <p:grpSpPr>
            <a:xfrm>
              <a:off x="0" y="0"/>
              <a:ext cx="9144000" cy="6858000"/>
              <a:chOff x="0" y="0"/>
              <a:chExt cx="9144000" cy="6858000"/>
            </a:xfrm>
          </p:grpSpPr>
          <p:grpSp>
            <p:nvGrpSpPr>
              <p:cNvPr id="142" name="Google Shape;142;p9"/>
              <p:cNvGrpSpPr/>
              <p:nvPr/>
            </p:nvGrpSpPr>
            <p:grpSpPr>
              <a:xfrm>
                <a:off x="0" y="0"/>
                <a:ext cx="2514600" cy="6858000"/>
                <a:chOff x="0" y="0"/>
                <a:chExt cx="2514600" cy="6858000"/>
              </a:xfrm>
            </p:grpSpPr>
            <p:sp>
              <p:nvSpPr>
                <p:cNvPr id="143" name="Google Shape;143;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4" name="Google Shape;144;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5" name="Google Shape;145;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46" name="Google Shape;146;p9"/>
              <p:cNvGrpSpPr/>
              <p:nvPr/>
            </p:nvGrpSpPr>
            <p:grpSpPr>
              <a:xfrm>
                <a:off x="422910" y="0"/>
                <a:ext cx="2514600" cy="6858000"/>
                <a:chOff x="0" y="0"/>
                <a:chExt cx="2514600" cy="6858000"/>
              </a:xfrm>
            </p:grpSpPr>
            <p:sp>
              <p:nvSpPr>
                <p:cNvPr id="147" name="Google Shape;147;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8" name="Google Shape;148;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9" name="Google Shape;149;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0" name="Google Shape;150;p9"/>
              <p:cNvGrpSpPr/>
              <p:nvPr/>
            </p:nvGrpSpPr>
            <p:grpSpPr>
              <a:xfrm rot="10800000">
                <a:off x="6629400" y="0"/>
                <a:ext cx="2514600" cy="6858000"/>
                <a:chOff x="0" y="0"/>
                <a:chExt cx="2514600" cy="6858000"/>
              </a:xfrm>
            </p:grpSpPr>
            <p:sp>
              <p:nvSpPr>
                <p:cNvPr id="151" name="Google Shape;151;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2" name="Google Shape;152;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3" name="Google Shape;153;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4" name="Google Shape;154;p9"/>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5" name="Google Shape;155;p9"/>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6" name="Google Shape;156;p9"/>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7" name="Google Shape;157;p9"/>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58" name="Google Shape;158;p9"/>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59" name="Google Shape;159;p9"/>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0" name="Google Shape;160;p9"/>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1" name="Google Shape;161;p9"/>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2" name="Google Shape;162;p9"/>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3" name="Google Shape;163;p9"/>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4" name="Google Shape;164;p9"/>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5" name="Google Shape;165;p9"/>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6" name="Google Shape;166;p9"/>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7" name="Google Shape;167;p9"/>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8" name="Google Shape;168;p9"/>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9" name="Google Shape;169;p9"/>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0" name="Google Shape;170;p9"/>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1" name="Google Shape;171;p9"/>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2" name="Google Shape;172;p9"/>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3" name="Google Shape;173;p9"/>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4" name="Google Shape;174;p9"/>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5" name="Google Shape;175;p9"/>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6" name="Google Shape;176;p9"/>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7" name="Google Shape;177;p9"/>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8" name="Google Shape;178;p9"/>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79" name="Google Shape;179;p9"/>
          <p:cNvSpPr/>
          <p:nvPr/>
        </p:nvSpPr>
        <p:spPr>
          <a:xfrm>
            <a:off x="4561242" y="-16133"/>
            <a:ext cx="3679200" cy="47037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0" name="Google Shape;180;p9"/>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1" name="Google Shape;181;p9"/>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2" name="Google Shape;182;p9"/>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83" name="Google Shape;183;p9"/>
          <p:cNvSpPr/>
          <p:nvPr/>
        </p:nvSpPr>
        <p:spPr>
          <a:xfrm>
            <a:off x="905571" y="451412"/>
            <a:ext cx="3562200" cy="4236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4" name="Google Shape;184;p9"/>
          <p:cNvSpPr txBox="1"/>
          <p:nvPr>
            <p:ph idx="1" type="body"/>
          </p:nvPr>
        </p:nvSpPr>
        <p:spPr>
          <a:xfrm>
            <a:off x="1145894" y="642395"/>
            <a:ext cx="3090300" cy="3863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25120" lvl="5" marL="27432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6pPr>
            <a:lvl7pPr indent="-325120" lvl="6" marL="3200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7pPr>
            <a:lvl8pPr indent="-325120" lvl="7" marL="3657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8pPr>
            <a:lvl9pPr indent="-325120" lvl="8" marL="41148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9pPr>
          </a:lstStyle>
          <a:p/>
        </p:txBody>
      </p:sp>
      <p:sp>
        <p:nvSpPr>
          <p:cNvPr id="185" name="Google Shape;185;p9"/>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6" name="Google Shape;186;p9"/>
          <p:cNvSpPr txBox="1"/>
          <p:nvPr>
            <p:ph idx="11" type="ftr"/>
          </p:nvPr>
        </p:nvSpPr>
        <p:spPr>
          <a:xfrm>
            <a:off x="4641448" y="4293626"/>
            <a:ext cx="34938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7" name="Google Shape;187;p9"/>
          <p:cNvSpPr txBox="1"/>
          <p:nvPr>
            <p:ph type="title"/>
          </p:nvPr>
        </p:nvSpPr>
        <p:spPr>
          <a:xfrm>
            <a:off x="4739833" y="1993075"/>
            <a:ext cx="3304500" cy="109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8" name="Google Shape;188;p9"/>
          <p:cNvSpPr txBox="1"/>
          <p:nvPr>
            <p:ph idx="2" type="body"/>
          </p:nvPr>
        </p:nvSpPr>
        <p:spPr>
          <a:xfrm>
            <a:off x="4736592" y="3102746"/>
            <a:ext cx="3298800" cy="11385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89" name="Shape 189"/>
        <p:cNvGrpSpPr/>
        <p:nvPr/>
      </p:nvGrpSpPr>
      <p:grpSpPr>
        <a:xfrm>
          <a:off x="0" y="0"/>
          <a:ext cx="0" cy="0"/>
          <a:chOff x="0" y="0"/>
          <a:chExt cx="0" cy="0"/>
        </a:xfrm>
      </p:grpSpPr>
      <p:grpSp>
        <p:nvGrpSpPr>
          <p:cNvPr id="190" name="Google Shape;190;p10"/>
          <p:cNvGrpSpPr/>
          <p:nvPr/>
        </p:nvGrpSpPr>
        <p:grpSpPr>
          <a:xfrm>
            <a:off x="-645041" y="0"/>
            <a:ext cx="10458613" cy="5337692"/>
            <a:chOff x="-645041" y="0"/>
            <a:chExt cx="10458613" cy="7116923"/>
          </a:xfrm>
        </p:grpSpPr>
        <p:grpSp>
          <p:nvGrpSpPr>
            <p:cNvPr id="191" name="Google Shape;191;p10"/>
            <p:cNvGrpSpPr/>
            <p:nvPr/>
          </p:nvGrpSpPr>
          <p:grpSpPr>
            <a:xfrm>
              <a:off x="0" y="0"/>
              <a:ext cx="9144000" cy="6858000"/>
              <a:chOff x="0" y="0"/>
              <a:chExt cx="9144000" cy="6858000"/>
            </a:xfrm>
          </p:grpSpPr>
          <p:grpSp>
            <p:nvGrpSpPr>
              <p:cNvPr id="192" name="Google Shape;192;p10"/>
              <p:cNvGrpSpPr/>
              <p:nvPr/>
            </p:nvGrpSpPr>
            <p:grpSpPr>
              <a:xfrm>
                <a:off x="0" y="0"/>
                <a:ext cx="2514600" cy="6858000"/>
                <a:chOff x="0" y="0"/>
                <a:chExt cx="2514600" cy="6858000"/>
              </a:xfrm>
            </p:grpSpPr>
            <p:sp>
              <p:nvSpPr>
                <p:cNvPr id="193" name="Google Shape;193;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4" name="Google Shape;194;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5" name="Google Shape;195;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96" name="Google Shape;196;p10"/>
              <p:cNvGrpSpPr/>
              <p:nvPr/>
            </p:nvGrpSpPr>
            <p:grpSpPr>
              <a:xfrm>
                <a:off x="422910" y="0"/>
                <a:ext cx="2514600" cy="6858000"/>
                <a:chOff x="0" y="0"/>
                <a:chExt cx="2514600" cy="6858000"/>
              </a:xfrm>
            </p:grpSpPr>
            <p:sp>
              <p:nvSpPr>
                <p:cNvPr id="197" name="Google Shape;197;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8" name="Google Shape;198;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9" name="Google Shape;199;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0" name="Google Shape;200;p10"/>
              <p:cNvGrpSpPr/>
              <p:nvPr/>
            </p:nvGrpSpPr>
            <p:grpSpPr>
              <a:xfrm rot="10800000">
                <a:off x="6629400" y="0"/>
                <a:ext cx="2514600" cy="6858000"/>
                <a:chOff x="0" y="0"/>
                <a:chExt cx="2514600" cy="6858000"/>
              </a:xfrm>
            </p:grpSpPr>
            <p:sp>
              <p:nvSpPr>
                <p:cNvPr id="201" name="Google Shape;201;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2" name="Google Shape;202;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3" name="Google Shape;203;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4" name="Google Shape;204;p10"/>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5" name="Google Shape;205;p10"/>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6" name="Google Shape;206;p10"/>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7" name="Google Shape;207;p10"/>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8" name="Google Shape;208;p10"/>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9" name="Google Shape;209;p10"/>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0" name="Google Shape;210;p10"/>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1" name="Google Shape;211;p10"/>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2" name="Google Shape;212;p10"/>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3" name="Google Shape;213;p10"/>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4" name="Google Shape;214;p10"/>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5" name="Google Shape;215;p10"/>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6" name="Google Shape;216;p10"/>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7" name="Google Shape;217;p10"/>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8" name="Google Shape;218;p10"/>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9" name="Google Shape;219;p10"/>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0" name="Google Shape;220;p10"/>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1" name="Google Shape;221;p10"/>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2" name="Google Shape;222;p10"/>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3" name="Google Shape;223;p10"/>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4" name="Google Shape;224;p10"/>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5" name="Google Shape;225;p10"/>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6" name="Google Shape;226;p10"/>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7" name="Google Shape;227;p10"/>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8" name="Google Shape;228;p10"/>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29" name="Google Shape;229;p10"/>
          <p:cNvSpPr/>
          <p:nvPr/>
        </p:nvSpPr>
        <p:spPr>
          <a:xfrm>
            <a:off x="4561242" y="-16133"/>
            <a:ext cx="3679200" cy="47037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0" name="Google Shape;230;p10"/>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1" name="Google Shape;231;p10"/>
          <p:cNvSpPr/>
          <p:nvPr/>
        </p:nvSpPr>
        <p:spPr>
          <a:xfrm>
            <a:off x="905571" y="451412"/>
            <a:ext cx="3562200" cy="4236300"/>
          </a:xfrm>
          <a:prstGeom prst="rect">
            <a:avLst/>
          </a:prstGeom>
          <a:solidFill>
            <a:srgbClr val="FFFFFF"/>
          </a:solidFill>
          <a:ln cap="flat" cmpd="sng" w="952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2" name="Google Shape;232;p10"/>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3" name="Google Shape;233;p10"/>
          <p:cNvSpPr txBox="1"/>
          <p:nvPr>
            <p:ph type="title"/>
          </p:nvPr>
        </p:nvSpPr>
        <p:spPr>
          <a:xfrm>
            <a:off x="4734424" y="1995678"/>
            <a:ext cx="3300900" cy="109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34" name="Google Shape;234;p10"/>
          <p:cNvSpPr/>
          <p:nvPr>
            <p:ph idx="2" type="pic"/>
          </p:nvPr>
        </p:nvSpPr>
        <p:spPr>
          <a:xfrm>
            <a:off x="1005208" y="520346"/>
            <a:ext cx="3359700" cy="4101000"/>
          </a:xfrm>
          <a:prstGeom prst="rect">
            <a:avLst/>
          </a:prstGeom>
          <a:noFill/>
          <a:ln>
            <a:noFill/>
          </a:ln>
        </p:spPr>
        <p:txBody>
          <a:bodyPr anchorCtr="0" anchor="t" bIns="91425" lIns="91425" spcFirstLastPara="1" rIns="91425" wrap="square" tIns="91425">
            <a:noAutofit/>
          </a:bodyPr>
          <a:lstStyle>
            <a:lvl1pPr lvl="0" marR="0" rtl="0" algn="l">
              <a:spcBef>
                <a:spcPts val="640"/>
              </a:spcBef>
              <a:spcAft>
                <a:spcPts val="0"/>
              </a:spcAft>
              <a:buClr>
                <a:schemeClr val="accent1"/>
              </a:buClr>
              <a:buSzPts val="2432"/>
              <a:buFont typeface="Noto Sans Symbols"/>
              <a:buNone/>
              <a:defRPr b="0" i="0" sz="3200" u="none" cap="none" strike="noStrike">
                <a:solidFill>
                  <a:schemeClr val="accent1"/>
                </a:solidFill>
                <a:latin typeface="Verdana"/>
                <a:ea typeface="Verdana"/>
                <a:cs typeface="Verdana"/>
                <a:sym typeface="Verdana"/>
              </a:defRPr>
            </a:lvl1pPr>
            <a:lvl2pPr lvl="1" marR="0" rtl="0" algn="l">
              <a:spcBef>
                <a:spcPts val="560"/>
              </a:spcBef>
              <a:spcAft>
                <a:spcPts val="0"/>
              </a:spcAft>
              <a:buClr>
                <a:schemeClr val="accent1"/>
              </a:buClr>
              <a:buSzPts val="2128"/>
              <a:buFont typeface="Noto Sans Symbols"/>
              <a:buNone/>
              <a:defRPr b="0" i="0" sz="2800" u="none" cap="none" strike="noStrike">
                <a:solidFill>
                  <a:schemeClr val="dk2"/>
                </a:solidFill>
                <a:latin typeface="Verdana"/>
                <a:ea typeface="Verdana"/>
                <a:cs typeface="Verdana"/>
                <a:sym typeface="Verdana"/>
              </a:defRPr>
            </a:lvl2pPr>
            <a:lvl3pPr lvl="2" marR="0" rtl="0" algn="l">
              <a:spcBef>
                <a:spcPts val="480"/>
              </a:spcBef>
              <a:spcAft>
                <a:spcPts val="0"/>
              </a:spcAft>
              <a:buClr>
                <a:schemeClr val="accent1"/>
              </a:buClr>
              <a:buSzPts val="1824"/>
              <a:buFont typeface="Noto Sans Symbols"/>
              <a:buNone/>
              <a:defRPr b="0" i="0" sz="2400" u="none" cap="none" strike="noStrike">
                <a:solidFill>
                  <a:schemeClr val="dk2"/>
                </a:solidFill>
                <a:latin typeface="Verdana"/>
                <a:ea typeface="Verdana"/>
                <a:cs typeface="Verdana"/>
                <a:sym typeface="Verdana"/>
              </a:defRPr>
            </a:lvl3pPr>
            <a:lvl4pPr lvl="3"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4pPr>
            <a:lvl5pPr lvl="4"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5pPr>
            <a:lvl6pPr lvl="5"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6pPr>
            <a:lvl7pPr lvl="6"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7pPr>
            <a:lvl8pPr lvl="7"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8pPr>
            <a:lvl9pPr lvl="8"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9pPr>
          </a:lstStyle>
          <a:p/>
        </p:txBody>
      </p:sp>
      <p:sp>
        <p:nvSpPr>
          <p:cNvPr id="235" name="Google Shape;235;p10"/>
          <p:cNvSpPr txBox="1"/>
          <p:nvPr>
            <p:ph idx="1" type="body"/>
          </p:nvPr>
        </p:nvSpPr>
        <p:spPr>
          <a:xfrm>
            <a:off x="4734630" y="3099816"/>
            <a:ext cx="3300600" cy="11397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
        <p:nvSpPr>
          <p:cNvPr id="236" name="Google Shape;236;p10"/>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37" name="Google Shape;237;p10"/>
          <p:cNvSpPr txBox="1"/>
          <p:nvPr>
            <p:ph idx="11" type="ftr"/>
          </p:nvPr>
        </p:nvSpPr>
        <p:spPr>
          <a:xfrm>
            <a:off x="4641448" y="4293626"/>
            <a:ext cx="34938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38" name="Google Shape;238;p10"/>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9" name="Shape 239"/>
        <p:cNvGrpSpPr/>
        <p:nvPr/>
      </p:nvGrpSpPr>
      <p:grpSpPr>
        <a:xfrm>
          <a:off x="0" y="0"/>
          <a:ext cx="0" cy="0"/>
          <a:chOff x="0" y="0"/>
          <a:chExt cx="0" cy="0"/>
        </a:xfrm>
      </p:grpSpPr>
      <p:sp>
        <p:nvSpPr>
          <p:cNvPr id="240" name="Google Shape;240;p11"/>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1" name="Google Shape;241;p11"/>
          <p:cNvSpPr txBox="1"/>
          <p:nvPr>
            <p:ph idx="1" type="body"/>
          </p:nvPr>
        </p:nvSpPr>
        <p:spPr>
          <a:xfrm rot="5400000">
            <a:off x="3116209" y="-329961"/>
            <a:ext cx="2631900" cy="67773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2" name="Google Shape;242;p11"/>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3" name="Google Shape;243;p11"/>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4" name="Google Shape;244;p11"/>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5" name="Shape 245"/>
        <p:cNvGrpSpPr/>
        <p:nvPr/>
      </p:nvGrpSpPr>
      <p:grpSpPr>
        <a:xfrm>
          <a:off x="0" y="0"/>
          <a:ext cx="0" cy="0"/>
          <a:chOff x="0" y="0"/>
          <a:chExt cx="0" cy="0"/>
        </a:xfrm>
      </p:grpSpPr>
      <p:sp>
        <p:nvSpPr>
          <p:cNvPr id="246" name="Google Shape;246;p12"/>
          <p:cNvSpPr txBox="1"/>
          <p:nvPr>
            <p:ph type="title"/>
          </p:nvPr>
        </p:nvSpPr>
        <p:spPr>
          <a:xfrm rot="5400000">
            <a:off x="5579153" y="1822910"/>
            <a:ext cx="3585000" cy="1484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7" name="Google Shape;247;p12"/>
          <p:cNvSpPr txBox="1"/>
          <p:nvPr>
            <p:ph idx="1" type="body"/>
          </p:nvPr>
        </p:nvSpPr>
        <p:spPr>
          <a:xfrm rot="5400000">
            <a:off x="1972650" y="-146740"/>
            <a:ext cx="3585000" cy="5423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8" name="Google Shape;248;p12"/>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9" name="Google Shape;249;p12"/>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0" name="Google Shape;250;p12"/>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F616A"/>
            </a:gs>
            <a:gs pos="62000">
              <a:srgbClr val="505258"/>
            </a:gs>
            <a:gs pos="100000">
              <a:srgbClr val="4A4C4F"/>
            </a:gs>
          </a:gsLst>
          <a:lin ang="5400000" scaled="0"/>
        </a:gradFill>
      </p:bgPr>
    </p:bg>
    <p:spTree>
      <p:nvGrpSpPr>
        <p:cNvPr id="5" name="Shape 5"/>
        <p:cNvGrpSpPr/>
        <p:nvPr/>
      </p:nvGrpSpPr>
      <p:grpSpPr>
        <a:xfrm>
          <a:off x="0" y="0"/>
          <a:ext cx="0" cy="0"/>
          <a:chOff x="0" y="0"/>
          <a:chExt cx="0" cy="0"/>
        </a:xfrm>
      </p:grpSpPr>
      <p:grpSp>
        <p:nvGrpSpPr>
          <p:cNvPr id="6" name="Google Shape;6;p1"/>
          <p:cNvGrpSpPr/>
          <p:nvPr/>
        </p:nvGrpSpPr>
        <p:grpSpPr>
          <a:xfrm>
            <a:off x="-567437" y="0"/>
            <a:ext cx="10458613" cy="5337692"/>
            <a:chOff x="-645041" y="0"/>
            <a:chExt cx="10458613" cy="7116923"/>
          </a:xfrm>
        </p:grpSpPr>
        <p:grpSp>
          <p:nvGrpSpPr>
            <p:cNvPr id="7" name="Google Shape;7;p1"/>
            <p:cNvGrpSpPr/>
            <p:nvPr/>
          </p:nvGrpSpPr>
          <p:grpSpPr>
            <a:xfrm>
              <a:off x="0" y="0"/>
              <a:ext cx="9144000" cy="6858000"/>
              <a:chOff x="0" y="0"/>
              <a:chExt cx="9144000" cy="6858000"/>
            </a:xfrm>
          </p:grpSpPr>
          <p:grpSp>
            <p:nvGrpSpPr>
              <p:cNvPr id="8" name="Google Shape;8;p1"/>
              <p:cNvGrpSpPr/>
              <p:nvPr/>
            </p:nvGrpSpPr>
            <p:grpSpPr>
              <a:xfrm>
                <a:off x="0" y="0"/>
                <a:ext cx="2514600" cy="6858000"/>
                <a:chOff x="0" y="0"/>
                <a:chExt cx="2514600" cy="6858000"/>
              </a:xfrm>
            </p:grpSpPr>
            <p:sp>
              <p:nvSpPr>
                <p:cNvPr id="9" name="Google Shape;9;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0" name="Google Shape;10;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1" name="Google Shape;11;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2" name="Google Shape;12;p1"/>
              <p:cNvGrpSpPr/>
              <p:nvPr/>
            </p:nvGrpSpPr>
            <p:grpSpPr>
              <a:xfrm>
                <a:off x="422910" y="0"/>
                <a:ext cx="2514600" cy="6858000"/>
                <a:chOff x="0" y="0"/>
                <a:chExt cx="2514600" cy="6858000"/>
              </a:xfrm>
            </p:grpSpPr>
            <p:sp>
              <p:nvSpPr>
                <p:cNvPr id="13" name="Google Shape;13;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4" name="Google Shape;14;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5" name="Google Shape;15;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6" name="Google Shape;16;p1"/>
              <p:cNvGrpSpPr/>
              <p:nvPr/>
            </p:nvGrpSpPr>
            <p:grpSpPr>
              <a:xfrm rot="10800000">
                <a:off x="6629400" y="0"/>
                <a:ext cx="2514600" cy="6858000"/>
                <a:chOff x="0" y="0"/>
                <a:chExt cx="2514600" cy="6858000"/>
              </a:xfrm>
            </p:grpSpPr>
            <p:sp>
              <p:nvSpPr>
                <p:cNvPr id="17" name="Google Shape;17;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8" name="Google Shape;18;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9" name="Google Shape;19;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0" name="Google Shape;20;p1"/>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1" name="Google Shape;21;p1"/>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2" name="Google Shape;22;p1"/>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3" name="Google Shape;23;p1"/>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1"/>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1"/>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6" name="Google Shape;26;p1"/>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7" name="Google Shape;27;p1"/>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 name="Google Shape;28;p1"/>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9" name="Google Shape;29;p1"/>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0" name="Google Shape;30;p1"/>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1" name="Google Shape;31;p1"/>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2" name="Google Shape;32;p1"/>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3" name="Google Shape;33;p1"/>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4" name="Google Shape;34;p1"/>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5" name="Google Shape;35;p1"/>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6" name="Google Shape;36;p1"/>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7" name="Google Shape;37;p1"/>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8" name="Google Shape;38;p1"/>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9" name="Google Shape;39;p1"/>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0" name="Google Shape;40;p1"/>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1" name="Google Shape;41;p1"/>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2" name="Google Shape;42;p1"/>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3" name="Google Shape;43;p1"/>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4" name="Google Shape;44;p1"/>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45" name="Google Shape;45;p1"/>
          <p:cNvSpPr/>
          <p:nvPr/>
        </p:nvSpPr>
        <p:spPr>
          <a:xfrm>
            <a:off x="457200" y="250115"/>
            <a:ext cx="8229600" cy="4639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6" name="Google Shape;46;p1"/>
          <p:cNvSpPr/>
          <p:nvPr/>
        </p:nvSpPr>
        <p:spPr>
          <a:xfrm>
            <a:off x="4561242" y="-16133"/>
            <a:ext cx="3679200" cy="5244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7" name="Google Shape;47;p1"/>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8" name="Google Shape;48;p1"/>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49" name="Google Shape;49;p1"/>
          <p:cNvSpPr txBox="1"/>
          <p:nvPr>
            <p:ph idx="1" type="body"/>
          </p:nvPr>
        </p:nvSpPr>
        <p:spPr>
          <a:xfrm>
            <a:off x="1043492" y="1742739"/>
            <a:ext cx="6777300" cy="2631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50" name="Google Shape;50;p1"/>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1" name="Google Shape;51;p1"/>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2" name="Google Shape;52;p1"/>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ZtSfFqqhEIY" TargetMode="Externa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hyperlink" Target="http://www.youtube.com/watch?v=IV53GZGr11g" TargetMode="External"/><Relationship Id="rId5"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hyperlink" Target="https://www.sciencehistory.org/historical-profile/james-watson-francis-crick-maurice-wilkins-and-rosalind-franklin" TargetMode="External"/><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hyperlink" Target="http://www.youtube.com/watch?v=BIP0lYrdirI" TargetMode="External"/><Relationship Id="rId8"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75uOHWQmFmU" TargetMode="External"/><Relationship Id="rId4"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4gdWOWjioBE" TargetMode="External"/><Relationship Id="rId4"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www.youtube.com/watch?v=5qSrmeiWsuc" TargetMode="External"/><Relationship Id="rId4" Type="http://schemas.openxmlformats.org/officeDocument/2006/relationships/image" Target="../media/image29.jpg"/><Relationship Id="rId5" Type="http://schemas.openxmlformats.org/officeDocument/2006/relationships/hyperlink" Target="http://www.youtube.com/watch?v=TNKWgcFPHqw" TargetMode="External"/><Relationship Id="rId6"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www.youtube.com/watch?v=75uOHWQmFmU" TargetMode="External"/><Relationship Id="rId4"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www.youtube.com/watch?v=oefAI2x2CQM" TargetMode="External"/><Relationship Id="rId4" Type="http://schemas.openxmlformats.org/officeDocument/2006/relationships/image" Target="../media/image22.jpg"/><Relationship Id="rId5" Type="http://schemas.openxmlformats.org/officeDocument/2006/relationships/hyperlink" Target="http://www.youtube.com/watch?v=gG7uCskUOrA" TargetMode="External"/><Relationship Id="rId6"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www.youtube.com/watch?v=Ikq9AcBcohA" TargetMode="External"/><Relationship Id="rId4" Type="http://schemas.openxmlformats.org/officeDocument/2006/relationships/image" Target="../media/image44.jpg"/><Relationship Id="rId5" Type="http://schemas.openxmlformats.org/officeDocument/2006/relationships/image" Target="../media/image46.gif"/><Relationship Id="rId6" Type="http://schemas.openxmlformats.org/officeDocument/2006/relationships/hyperlink" Target="http://www.youtube.com/watch?v=qIwrhUrvX-k" TargetMode="External"/><Relationship Id="rId7" Type="http://schemas.openxmlformats.org/officeDocument/2006/relationships/image" Target="../media/image3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8.png"/><Relationship Id="rId4" Type="http://schemas.openxmlformats.org/officeDocument/2006/relationships/image" Target="../media/image43.png"/><Relationship Id="rId5" Type="http://schemas.openxmlformats.org/officeDocument/2006/relationships/image" Target="../media/image5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www.youtube.com/watch?v=ylYnUQRBMIk" TargetMode="External"/><Relationship Id="rId4" Type="http://schemas.openxmlformats.org/officeDocument/2006/relationships/image" Target="../media/image4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www.youtube.com/watch?v=wrTXvrKBlbc" TargetMode="External"/><Relationship Id="rId4" Type="http://schemas.openxmlformats.org/officeDocument/2006/relationships/image" Target="../media/image45.jpg"/><Relationship Id="rId5" Type="http://schemas.openxmlformats.org/officeDocument/2006/relationships/hyperlink" Target="http://www.youtube.com/watch?v=vl6Vlf2thvI" TargetMode="External"/><Relationship Id="rId6" Type="http://schemas.openxmlformats.org/officeDocument/2006/relationships/image" Target="../media/image35.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www.youtube.com/watch?v=FGnS-Xk0ZqU" TargetMode="External"/><Relationship Id="rId4" Type="http://schemas.openxmlformats.org/officeDocument/2006/relationships/image" Target="../media/image42.jpg"/><Relationship Id="rId5" Type="http://schemas.openxmlformats.org/officeDocument/2006/relationships/image" Target="../media/image47.png"/><Relationship Id="rId6" Type="http://schemas.openxmlformats.org/officeDocument/2006/relationships/image" Target="../media/image5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9.png"/><Relationship Id="rId4" Type="http://schemas.openxmlformats.org/officeDocument/2006/relationships/hyperlink" Target="http://www.youtube.com/watch?v=SdqJFA6mOkI" TargetMode="External"/><Relationship Id="rId5" Type="http://schemas.openxmlformats.org/officeDocument/2006/relationships/image" Target="../media/image52.jpg"/><Relationship Id="rId6" Type="http://schemas.openxmlformats.org/officeDocument/2006/relationships/hyperlink" Target="http://www.youtube.com/watch?v=CDw4WPng2iE" TargetMode="External"/><Relationship Id="rId7" Type="http://schemas.openxmlformats.org/officeDocument/2006/relationships/image" Target="../media/image6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8.png"/><Relationship Id="rId4" Type="http://schemas.openxmlformats.org/officeDocument/2006/relationships/image" Target="../media/image5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www.youtube.com/watch?v=DIM38NlkWEo" TargetMode="External"/><Relationship Id="rId4" Type="http://schemas.openxmlformats.org/officeDocument/2006/relationships/image" Target="../media/image60.jpg"/><Relationship Id="rId5"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www.youtube.com/watch?v=7TmcXYp8xu4" TargetMode="External"/><Relationship Id="rId4" Type="http://schemas.openxmlformats.org/officeDocument/2006/relationships/image" Target="../media/image51.jpg"/><Relationship Id="rId5" Type="http://schemas.openxmlformats.org/officeDocument/2006/relationships/hyperlink" Target="http://www.youtube.com/watch?v=jAhjPd4uNFY" TargetMode="External"/><Relationship Id="rId6" Type="http://schemas.openxmlformats.org/officeDocument/2006/relationships/image" Target="../media/image57.jpg"/><Relationship Id="rId7" Type="http://schemas.openxmlformats.org/officeDocument/2006/relationships/hyperlink" Target="http://www.youtube.com/watch?v=6tw_JVz_IEc" TargetMode="External"/><Relationship Id="rId8" Type="http://schemas.openxmlformats.org/officeDocument/2006/relationships/image" Target="../media/image6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66.png"/><Relationship Id="rId4" Type="http://schemas.openxmlformats.org/officeDocument/2006/relationships/hyperlink" Target="http://www.youtube.com/watch?v=ZDZUAleWX78" TargetMode="External"/><Relationship Id="rId5" Type="http://schemas.openxmlformats.org/officeDocument/2006/relationships/image" Target="../media/image64.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68.png"/><Relationship Id="rId4" Type="http://schemas.openxmlformats.org/officeDocument/2006/relationships/image" Target="../media/image6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6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6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70.png"/><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3"/>
          <p:cNvSpPr txBox="1"/>
          <p:nvPr/>
        </p:nvSpPr>
        <p:spPr>
          <a:xfrm>
            <a:off x="4801475" y="1111650"/>
            <a:ext cx="3000000" cy="256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 sz="1800">
                <a:solidFill>
                  <a:srgbClr val="38393E"/>
                </a:solidFill>
                <a:latin typeface="Verdana"/>
                <a:ea typeface="Verdana"/>
                <a:cs typeface="Verdana"/>
                <a:sym typeface="Verdana"/>
              </a:rPr>
              <a:t>BIOLOGY 30</a:t>
            </a:r>
            <a:endParaRPr b="1" sz="1800">
              <a:solidFill>
                <a:srgbClr val="38393E"/>
              </a:solidFill>
              <a:latin typeface="Verdana"/>
              <a:ea typeface="Verdana"/>
              <a:cs typeface="Verdana"/>
              <a:sym typeface="Verdana"/>
            </a:endParaRPr>
          </a:p>
        </p:txBody>
      </p:sp>
      <p:sp>
        <p:nvSpPr>
          <p:cNvPr id="256" name="Google Shape;256;p13"/>
          <p:cNvSpPr txBox="1"/>
          <p:nvPr/>
        </p:nvSpPr>
        <p:spPr>
          <a:xfrm>
            <a:off x="4801475" y="2201700"/>
            <a:ext cx="3000000" cy="19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100">
                <a:solidFill>
                  <a:srgbClr val="38393E"/>
                </a:solidFill>
                <a:latin typeface="Verdana"/>
                <a:ea typeface="Verdana"/>
                <a:cs typeface="Verdana"/>
                <a:sym typeface="Verdana"/>
              </a:rPr>
              <a:t>UNIT C </a:t>
            </a:r>
            <a:endParaRPr b="1" sz="3100">
              <a:solidFill>
                <a:srgbClr val="38393E"/>
              </a:solidFill>
              <a:latin typeface="Verdana"/>
              <a:ea typeface="Verdana"/>
              <a:cs typeface="Verdana"/>
              <a:sym typeface="Verdana"/>
            </a:endParaRPr>
          </a:p>
          <a:p>
            <a:pPr indent="0" lvl="0" marL="0" rtl="0" algn="l">
              <a:spcBef>
                <a:spcPts val="1000"/>
              </a:spcBef>
              <a:spcAft>
                <a:spcPts val="0"/>
              </a:spcAft>
              <a:buNone/>
            </a:pPr>
            <a:r>
              <a:rPr b="1" lang="en" sz="3100">
                <a:solidFill>
                  <a:srgbClr val="38393E"/>
                </a:solidFill>
                <a:latin typeface="Verdana"/>
                <a:ea typeface="Verdana"/>
                <a:cs typeface="Verdana"/>
                <a:sym typeface="Verdana"/>
              </a:rPr>
              <a:t>Chapter 18</a:t>
            </a:r>
            <a:endParaRPr b="1" sz="3100">
              <a:solidFill>
                <a:srgbClr val="38393E"/>
              </a:solidFill>
              <a:latin typeface="Verdana"/>
              <a:ea typeface="Verdana"/>
              <a:cs typeface="Verdana"/>
              <a:sym typeface="Verdana"/>
            </a:endParaRPr>
          </a:p>
          <a:p>
            <a:pPr indent="0" lvl="0" marL="0" rtl="0" algn="l">
              <a:spcBef>
                <a:spcPts val="1000"/>
              </a:spcBef>
              <a:spcAft>
                <a:spcPts val="1000"/>
              </a:spcAft>
              <a:buNone/>
            </a:pPr>
            <a:r>
              <a:rPr lang="en" sz="3100">
                <a:solidFill>
                  <a:srgbClr val="38393E"/>
                </a:solidFill>
                <a:latin typeface="Verdana"/>
                <a:ea typeface="Verdana"/>
                <a:cs typeface="Verdana"/>
                <a:sym typeface="Verdana"/>
              </a:rPr>
              <a:t>Molecular Genetics</a:t>
            </a:r>
            <a:endParaRPr sz="3100">
              <a:solidFill>
                <a:srgbClr val="38393E"/>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4"/>
          <p:cNvSpPr txBox="1"/>
          <p:nvPr/>
        </p:nvSpPr>
        <p:spPr>
          <a:xfrm>
            <a:off x="776250" y="2067250"/>
            <a:ext cx="7476000" cy="3309900"/>
          </a:xfrm>
          <a:prstGeom prst="rect">
            <a:avLst/>
          </a:prstGeom>
          <a:noFill/>
          <a:ln>
            <a:noFill/>
          </a:ln>
        </p:spPr>
        <p:txBody>
          <a:bodyPr anchorCtr="0" anchor="t" bIns="45700" lIns="91425" spcFirstLastPara="1" rIns="91425" wrap="square" tIns="45700">
            <a:noAutofit/>
          </a:bodyPr>
          <a:lstStyle/>
          <a:p>
            <a:pPr indent="-281073" lvl="0" marL="342900" rtl="0" algn="l">
              <a:lnSpc>
                <a:spcPct val="115000"/>
              </a:lnSpc>
              <a:spcBef>
                <a:spcPts val="40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Griffith’s transformation experiment</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The Hershey-Chase experiment</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DNA structure</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Semiconservative replication</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Steps &amp; enzymes involved in DNA replication</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The Meselson-Stahl experiment</a:t>
            </a:r>
            <a:endParaRPr sz="1600">
              <a:solidFill>
                <a:srgbClr val="38393E"/>
              </a:solidFill>
              <a:latin typeface="Verdana"/>
              <a:ea typeface="Verdana"/>
              <a:cs typeface="Verdana"/>
              <a:sym typeface="Verdana"/>
            </a:endParaRPr>
          </a:p>
          <a:p>
            <a:pPr indent="0" lvl="0" marL="0" rtl="0" algn="l">
              <a:lnSpc>
                <a:spcPct val="115000"/>
              </a:lnSpc>
              <a:spcBef>
                <a:spcPts val="800"/>
              </a:spcBef>
              <a:spcAft>
                <a:spcPts val="0"/>
              </a:spcAft>
              <a:buNone/>
            </a:pPr>
            <a:r>
              <a:t/>
            </a:r>
            <a:endParaRPr sz="700">
              <a:solidFill>
                <a:srgbClr val="3F3F3F"/>
              </a:solidFill>
              <a:latin typeface="Verdana"/>
              <a:ea typeface="Verdana"/>
              <a:cs typeface="Verdana"/>
              <a:sym typeface="Verdana"/>
            </a:endParaRPr>
          </a:p>
          <a:p>
            <a:pPr indent="0" lvl="0" marL="342900" rtl="0" algn="ctr">
              <a:lnSpc>
                <a:spcPct val="115000"/>
              </a:lnSpc>
              <a:spcBef>
                <a:spcPts val="800"/>
              </a:spcBef>
              <a:spcAft>
                <a:spcPts val="0"/>
              </a:spcAft>
              <a:buNone/>
            </a:pPr>
            <a:r>
              <a:rPr b="1" i="1" lang="en" sz="2000">
                <a:solidFill>
                  <a:srgbClr val="3F3F3F"/>
                </a:solidFill>
                <a:latin typeface="Verdana"/>
                <a:ea typeface="Verdana"/>
                <a:cs typeface="Verdana"/>
                <a:sym typeface="Verdana"/>
              </a:rPr>
              <a:t>Textbook pgs. 622-635</a:t>
            </a:r>
            <a:endParaRPr b="1" i="1"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l">
              <a:spcBef>
                <a:spcPts val="1407"/>
              </a:spcBef>
              <a:spcAft>
                <a:spcPts val="0"/>
              </a:spcAft>
              <a:buNone/>
            </a:pPr>
            <a:r>
              <a:t/>
            </a:r>
            <a:endParaRPr sz="2400">
              <a:solidFill>
                <a:srgbClr val="676A73"/>
              </a:solidFill>
              <a:latin typeface="Verdana"/>
              <a:ea typeface="Verdana"/>
              <a:cs typeface="Verdana"/>
              <a:sym typeface="Verdana"/>
            </a:endParaRPr>
          </a:p>
        </p:txBody>
      </p:sp>
      <p:sp>
        <p:nvSpPr>
          <p:cNvPr id="262" name="Google Shape;262;p14"/>
          <p:cNvSpPr txBox="1"/>
          <p:nvPr/>
        </p:nvSpPr>
        <p:spPr>
          <a:xfrm>
            <a:off x="1289275" y="1194902"/>
            <a:ext cx="6552600" cy="66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 sz="2400">
                <a:solidFill>
                  <a:srgbClr val="4D4F55"/>
                </a:solidFill>
                <a:latin typeface="Verdana"/>
                <a:ea typeface="Verdana"/>
                <a:cs typeface="Verdana"/>
                <a:sym typeface="Verdana"/>
              </a:rPr>
              <a:t>TOPIC 1: DNA STRUCTURE &amp; REPLICATION</a:t>
            </a:r>
            <a:endParaRPr sz="2400">
              <a:solidFill>
                <a:srgbClr val="4D4F55"/>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15"/>
          <p:cNvPicPr preferRelativeResize="0"/>
          <p:nvPr/>
        </p:nvPicPr>
        <p:blipFill>
          <a:blip r:embed="rId3">
            <a:alphaModFix/>
          </a:blip>
          <a:stretch>
            <a:fillRect/>
          </a:stretch>
        </p:blipFill>
        <p:spPr>
          <a:xfrm>
            <a:off x="756000" y="2383026"/>
            <a:ext cx="3788525" cy="2246200"/>
          </a:xfrm>
          <a:prstGeom prst="rect">
            <a:avLst/>
          </a:prstGeom>
          <a:noFill/>
          <a:ln>
            <a:noFill/>
          </a:ln>
        </p:spPr>
      </p:pic>
      <p:sp>
        <p:nvSpPr>
          <p:cNvPr id="268" name="Google Shape;268;p15"/>
          <p:cNvSpPr txBox="1"/>
          <p:nvPr/>
        </p:nvSpPr>
        <p:spPr>
          <a:xfrm>
            <a:off x="756000" y="805000"/>
            <a:ext cx="76320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600">
                <a:solidFill>
                  <a:srgbClr val="393B3F"/>
                </a:solidFill>
                <a:latin typeface="Verdana"/>
                <a:ea typeface="Verdana"/>
                <a:cs typeface="Verdana"/>
                <a:sym typeface="Verdana"/>
              </a:rPr>
              <a:t>The “Transforming Principle” </a:t>
            </a:r>
            <a:endParaRPr sz="2600"/>
          </a:p>
        </p:txBody>
      </p:sp>
      <p:sp>
        <p:nvSpPr>
          <p:cNvPr id="269" name="Google Shape;269;p15"/>
          <p:cNvSpPr txBox="1"/>
          <p:nvPr/>
        </p:nvSpPr>
        <p:spPr>
          <a:xfrm>
            <a:off x="756000" y="1328200"/>
            <a:ext cx="76320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lang="en" sz="1800">
                <a:solidFill>
                  <a:srgbClr val="393B3F"/>
                </a:solidFill>
                <a:latin typeface="Verdana"/>
                <a:ea typeface="Verdana"/>
                <a:cs typeface="Verdana"/>
                <a:sym typeface="Verdana"/>
              </a:rPr>
              <a:t>In 1928, an experiment was conducted by Frederick </a:t>
            </a:r>
            <a:r>
              <a:rPr b="1" lang="en" sz="1800">
                <a:solidFill>
                  <a:srgbClr val="393B3F"/>
                </a:solidFill>
                <a:latin typeface="Verdana"/>
                <a:ea typeface="Verdana"/>
                <a:cs typeface="Verdana"/>
                <a:sym typeface="Verdana"/>
              </a:rPr>
              <a:t>Griffith</a:t>
            </a:r>
            <a:r>
              <a:rPr lang="en" sz="1800">
                <a:solidFill>
                  <a:srgbClr val="393B3F"/>
                </a:solidFill>
                <a:latin typeface="Verdana"/>
                <a:ea typeface="Verdana"/>
                <a:cs typeface="Verdana"/>
                <a:sym typeface="Verdana"/>
              </a:rPr>
              <a:t> which demonstrated that bacteria can be re-programmed through a process called </a:t>
            </a:r>
            <a:r>
              <a:rPr b="1" lang="en" sz="1800">
                <a:solidFill>
                  <a:srgbClr val="393B3F"/>
                </a:solidFill>
                <a:latin typeface="Verdana"/>
                <a:ea typeface="Verdana"/>
                <a:cs typeface="Verdana"/>
                <a:sym typeface="Verdana"/>
              </a:rPr>
              <a:t>transformation</a:t>
            </a:r>
            <a:r>
              <a:rPr lang="en" sz="1800">
                <a:solidFill>
                  <a:srgbClr val="393B3F"/>
                </a:solidFill>
                <a:latin typeface="Verdana"/>
                <a:ea typeface="Verdana"/>
                <a:cs typeface="Verdana"/>
                <a:sym typeface="Verdana"/>
              </a:rPr>
              <a:t>… </a:t>
            </a:r>
            <a:endParaRPr sz="1800"/>
          </a:p>
        </p:txBody>
      </p:sp>
      <p:sp>
        <p:nvSpPr>
          <p:cNvPr id="270" name="Google Shape;270;p15"/>
          <p:cNvSpPr txBox="1"/>
          <p:nvPr/>
        </p:nvSpPr>
        <p:spPr>
          <a:xfrm>
            <a:off x="4802250" y="2521513"/>
            <a:ext cx="3252900" cy="19692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100000"/>
              </a:lnSpc>
              <a:spcBef>
                <a:spcPts val="0"/>
              </a:spcBef>
              <a:spcAft>
                <a:spcPts val="0"/>
              </a:spcAft>
              <a:buClr>
                <a:srgbClr val="393B3F"/>
              </a:buClr>
              <a:buSzPts val="1200"/>
              <a:buFont typeface="Courier New"/>
              <a:buChar char="o"/>
            </a:pPr>
            <a:r>
              <a:rPr lang="en" sz="1200">
                <a:solidFill>
                  <a:srgbClr val="393B3F"/>
                </a:solidFill>
                <a:latin typeface="Verdana"/>
                <a:ea typeface="Verdana"/>
                <a:cs typeface="Verdana"/>
                <a:sym typeface="Verdana"/>
              </a:rPr>
              <a:t>Griffith’s experiment suggested that something inside the cell must be responsible for its programming, and that this molecule could be transferred from cell to cell.</a:t>
            </a:r>
            <a:endParaRPr sz="1200">
              <a:solidFill>
                <a:srgbClr val="393B3F"/>
              </a:solidFill>
              <a:latin typeface="Verdana"/>
              <a:ea typeface="Verdana"/>
              <a:cs typeface="Verdana"/>
              <a:sym typeface="Verdana"/>
            </a:endParaRPr>
          </a:p>
          <a:p>
            <a:pPr indent="-406400" lvl="0" marL="457200" marR="0" rtl="0" algn="l">
              <a:lnSpc>
                <a:spcPct val="100000"/>
              </a:lnSpc>
              <a:spcBef>
                <a:spcPts val="1000"/>
              </a:spcBef>
              <a:spcAft>
                <a:spcPts val="0"/>
              </a:spcAft>
              <a:buClr>
                <a:srgbClr val="393B3F"/>
              </a:buClr>
              <a:buSzPts val="1200"/>
              <a:buFont typeface="Courier New"/>
              <a:buChar char="o"/>
            </a:pPr>
            <a:r>
              <a:rPr lang="en" sz="1200">
                <a:solidFill>
                  <a:srgbClr val="393B3F"/>
                </a:solidFill>
                <a:latin typeface="Verdana"/>
                <a:ea typeface="Verdana"/>
                <a:cs typeface="Verdana"/>
                <a:sym typeface="Verdana"/>
              </a:rPr>
              <a:t>The molecule that was responsible for the cell’s programming (aka the hereditary material) was still up for debate… </a:t>
            </a:r>
            <a:endParaRPr sz="1200"/>
          </a:p>
        </p:txBody>
      </p:sp>
      <p:sp>
        <p:nvSpPr>
          <p:cNvPr id="271" name="Google Shape;271;p15"/>
          <p:cNvSpPr txBox="1"/>
          <p:nvPr/>
        </p:nvSpPr>
        <p:spPr>
          <a:xfrm>
            <a:off x="201000" y="165100"/>
            <a:ext cx="8742000" cy="639900"/>
          </a:xfrm>
          <a:prstGeom prst="rect">
            <a:avLst/>
          </a:prstGeom>
          <a:solidFill>
            <a:schemeClr val="accent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Verdana"/>
                <a:ea typeface="Verdana"/>
                <a:cs typeface="Verdana"/>
                <a:sym typeface="Verdana"/>
              </a:rPr>
              <a:t>Note: We have to know some names of scientists and their contributions to our understanding of genetics and heredity. (i.e. testable)</a:t>
            </a:r>
            <a:endParaRPr sz="1200">
              <a:solidFill>
                <a:schemeClr val="dk2"/>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6"/>
          <p:cNvSpPr txBox="1"/>
          <p:nvPr/>
        </p:nvSpPr>
        <p:spPr>
          <a:xfrm>
            <a:off x="624300" y="846525"/>
            <a:ext cx="78954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200">
                <a:solidFill>
                  <a:srgbClr val="393B3F"/>
                </a:solidFill>
                <a:latin typeface="Verdana"/>
                <a:ea typeface="Verdana"/>
                <a:cs typeface="Verdana"/>
                <a:sym typeface="Verdana"/>
              </a:rPr>
              <a:t>A Case for DNA as the “Transforming Principle” </a:t>
            </a:r>
            <a:endParaRPr sz="2200"/>
          </a:p>
        </p:txBody>
      </p:sp>
      <p:pic>
        <p:nvPicPr>
          <p:cNvPr id="277" name="Google Shape;277;p16"/>
          <p:cNvPicPr preferRelativeResize="0"/>
          <p:nvPr/>
        </p:nvPicPr>
        <p:blipFill rotWithShape="1">
          <a:blip r:embed="rId3">
            <a:alphaModFix/>
          </a:blip>
          <a:srcRect b="53691" l="0" r="0" t="0"/>
          <a:stretch/>
        </p:blipFill>
        <p:spPr>
          <a:xfrm>
            <a:off x="1201413" y="1429300"/>
            <a:ext cx="6741174" cy="1882775"/>
          </a:xfrm>
          <a:prstGeom prst="rect">
            <a:avLst/>
          </a:prstGeom>
          <a:noFill/>
          <a:ln>
            <a:noFill/>
          </a:ln>
        </p:spPr>
      </p:pic>
      <p:sp>
        <p:nvSpPr>
          <p:cNvPr id="278" name="Google Shape;278;p16"/>
          <p:cNvSpPr txBox="1"/>
          <p:nvPr/>
        </p:nvSpPr>
        <p:spPr>
          <a:xfrm>
            <a:off x="418500" y="3436325"/>
            <a:ext cx="8220600" cy="1348800"/>
          </a:xfrm>
          <a:prstGeom prst="rect">
            <a:avLst/>
          </a:prstGeom>
          <a:noFill/>
          <a:ln>
            <a:noFill/>
          </a:ln>
        </p:spPr>
        <p:txBody>
          <a:bodyPr anchorCtr="0" anchor="t" bIns="45700" lIns="91425" spcFirstLastPara="1" rIns="91425" wrap="square" tIns="45700">
            <a:noAutofit/>
          </a:bodyPr>
          <a:lstStyle/>
          <a:p>
            <a:pPr indent="-419100" lvl="0" marL="457200" marR="0" rtl="0" algn="l">
              <a:lnSpc>
                <a:spcPct val="100000"/>
              </a:lnSpc>
              <a:spcBef>
                <a:spcPts val="0"/>
              </a:spcBef>
              <a:spcAft>
                <a:spcPts val="0"/>
              </a:spcAft>
              <a:buClr>
                <a:srgbClr val="393B3F"/>
              </a:buClr>
              <a:buSzPts val="1400"/>
              <a:buFont typeface="Courier New"/>
              <a:buChar char="o"/>
            </a:pPr>
            <a:r>
              <a:rPr lang="en">
                <a:solidFill>
                  <a:srgbClr val="393B3F"/>
                </a:solidFill>
                <a:latin typeface="Verdana"/>
                <a:ea typeface="Verdana"/>
                <a:cs typeface="Verdana"/>
                <a:sym typeface="Verdana"/>
              </a:rPr>
              <a:t>In 1952, Alfred </a:t>
            </a:r>
            <a:r>
              <a:rPr b="1" lang="en">
                <a:solidFill>
                  <a:srgbClr val="393B3F"/>
                </a:solidFill>
                <a:latin typeface="Verdana"/>
                <a:ea typeface="Verdana"/>
                <a:cs typeface="Verdana"/>
                <a:sym typeface="Verdana"/>
              </a:rPr>
              <a:t>Hershey </a:t>
            </a:r>
            <a:r>
              <a:rPr lang="en">
                <a:solidFill>
                  <a:srgbClr val="393B3F"/>
                </a:solidFill>
                <a:latin typeface="Verdana"/>
                <a:ea typeface="Verdana"/>
                <a:cs typeface="Verdana"/>
                <a:sym typeface="Verdana"/>
              </a:rPr>
              <a:t>and Martha </a:t>
            </a:r>
            <a:r>
              <a:rPr b="1" lang="en">
                <a:solidFill>
                  <a:srgbClr val="393B3F"/>
                </a:solidFill>
                <a:latin typeface="Verdana"/>
                <a:ea typeface="Verdana"/>
                <a:cs typeface="Verdana"/>
                <a:sym typeface="Verdana"/>
              </a:rPr>
              <a:t>Chase</a:t>
            </a:r>
            <a:r>
              <a:rPr lang="en">
                <a:solidFill>
                  <a:srgbClr val="393B3F"/>
                </a:solidFill>
                <a:latin typeface="Verdana"/>
                <a:ea typeface="Verdana"/>
                <a:cs typeface="Verdana"/>
                <a:sym typeface="Verdana"/>
              </a:rPr>
              <a:t> conducted a series of experiments to </a:t>
            </a:r>
            <a:r>
              <a:rPr b="1" lang="en">
                <a:solidFill>
                  <a:srgbClr val="393B3F"/>
                </a:solidFill>
                <a:latin typeface="Verdana"/>
                <a:ea typeface="Verdana"/>
                <a:cs typeface="Verdana"/>
                <a:sym typeface="Verdana"/>
              </a:rPr>
              <a:t>prove that DNA</a:t>
            </a:r>
            <a:r>
              <a:rPr lang="en">
                <a:solidFill>
                  <a:srgbClr val="393B3F"/>
                </a:solidFill>
                <a:latin typeface="Verdana"/>
                <a:ea typeface="Verdana"/>
                <a:cs typeface="Verdana"/>
                <a:sym typeface="Verdana"/>
              </a:rPr>
              <a:t>, and not protein, </a:t>
            </a:r>
            <a:r>
              <a:rPr b="1" lang="en">
                <a:solidFill>
                  <a:srgbClr val="393B3F"/>
                </a:solidFill>
                <a:latin typeface="Verdana"/>
                <a:ea typeface="Verdana"/>
                <a:cs typeface="Verdana"/>
                <a:sym typeface="Verdana"/>
              </a:rPr>
              <a:t>was the hereditary material.</a:t>
            </a:r>
            <a:endParaRPr b="1">
              <a:solidFill>
                <a:srgbClr val="393B3F"/>
              </a:solidFill>
              <a:latin typeface="Verdana"/>
              <a:ea typeface="Verdana"/>
              <a:cs typeface="Verdana"/>
              <a:sym typeface="Verdana"/>
            </a:endParaRPr>
          </a:p>
          <a:p>
            <a:pPr indent="-419100" lvl="0" marL="457200" marR="0" rtl="0" algn="l">
              <a:lnSpc>
                <a:spcPct val="100000"/>
              </a:lnSpc>
              <a:spcBef>
                <a:spcPts val="1000"/>
              </a:spcBef>
              <a:spcAft>
                <a:spcPts val="0"/>
              </a:spcAft>
              <a:buClr>
                <a:srgbClr val="393B3F"/>
              </a:buClr>
              <a:buSzPts val="1400"/>
              <a:buFont typeface="Verdana"/>
              <a:buChar char="o"/>
            </a:pPr>
            <a:r>
              <a:rPr lang="en">
                <a:solidFill>
                  <a:srgbClr val="393B3F"/>
                </a:solidFill>
                <a:latin typeface="Verdana"/>
                <a:ea typeface="Verdana"/>
                <a:cs typeface="Verdana"/>
                <a:sym typeface="Verdana"/>
              </a:rPr>
              <a:t>This involved radio-labelling the proteins and DNA associated with a particular virus and allowing it to infect a bacterium to see which factor would be “injected” to transform the bacterium.</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1000"/>
              </a:spcAft>
              <a:buNone/>
            </a:pPr>
            <a:r>
              <a:t/>
            </a:r>
            <a:endParaRPr>
              <a:solidFill>
                <a:srgbClr val="393B3F"/>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7"/>
          <p:cNvSpPr txBox="1"/>
          <p:nvPr/>
        </p:nvSpPr>
        <p:spPr>
          <a:xfrm>
            <a:off x="624300" y="846525"/>
            <a:ext cx="78954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200">
                <a:solidFill>
                  <a:srgbClr val="393B3F"/>
                </a:solidFill>
                <a:latin typeface="Verdana"/>
                <a:ea typeface="Verdana"/>
                <a:cs typeface="Verdana"/>
                <a:sym typeface="Verdana"/>
              </a:rPr>
              <a:t>The Hershey-Chase Experiment:</a:t>
            </a:r>
            <a:endParaRPr sz="2200"/>
          </a:p>
        </p:txBody>
      </p:sp>
      <p:pic>
        <p:nvPicPr>
          <p:cNvPr descr="The Hershey-Chase experiment provided proof that DNA is the material inherited from one generation to the next. Check out the video to watch the elegant, yet simple experiment Dr. Hershey and Dr. Chase used back in 1952 to lay the foundation for modern day genetics.&#10;&#10;This video was first released as part of the Explorer’s Guide to Biology. If you enjoyed watching this, go to https://explorebiology.org/videos to see more Youreka Science videos and educational content!" id="284" name="Google Shape;284;p17" title="The Hershey and Chase Experiment | Discovery of DNA as the genetic material">
            <a:hlinkClick r:id="rId3"/>
          </p:cNvPr>
          <p:cNvPicPr preferRelativeResize="0"/>
          <p:nvPr/>
        </p:nvPicPr>
        <p:blipFill>
          <a:blip r:embed="rId4">
            <a:alphaModFix/>
          </a:blip>
          <a:stretch>
            <a:fillRect/>
          </a:stretch>
        </p:blipFill>
        <p:spPr>
          <a:xfrm>
            <a:off x="2739537" y="1455100"/>
            <a:ext cx="3664925" cy="274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8"/>
          <p:cNvSpPr txBox="1"/>
          <p:nvPr/>
        </p:nvSpPr>
        <p:spPr>
          <a:xfrm>
            <a:off x="1331640" y="747936"/>
            <a:ext cx="6480600" cy="52319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 sz="2800" u="none" cap="none" strike="noStrike">
                <a:solidFill>
                  <a:srgbClr val="393B3F"/>
                </a:solidFill>
                <a:latin typeface="Verdana"/>
                <a:ea typeface="Verdana"/>
                <a:cs typeface="Verdana"/>
                <a:sym typeface="Verdana"/>
              </a:rPr>
              <a:t>DNA: The Hereditary Material</a:t>
            </a:r>
            <a:endParaRPr/>
          </a:p>
        </p:txBody>
      </p:sp>
      <p:sp>
        <p:nvSpPr>
          <p:cNvPr id="290" name="Google Shape;290;p18"/>
          <p:cNvSpPr txBox="1"/>
          <p:nvPr/>
        </p:nvSpPr>
        <p:spPr>
          <a:xfrm>
            <a:off x="971600" y="1328191"/>
            <a:ext cx="71289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 sz="2000" u="none" cap="none" strike="noStrike">
                <a:solidFill>
                  <a:srgbClr val="393B3F"/>
                </a:solidFill>
                <a:latin typeface="Verdana"/>
                <a:ea typeface="Verdana"/>
                <a:cs typeface="Verdana"/>
                <a:sym typeface="Verdana"/>
              </a:rPr>
              <a:t>DNA is the nucleic acid molecule that governs the processes of heredity in all plant and animal cells. </a:t>
            </a:r>
            <a:endParaRPr/>
          </a:p>
        </p:txBody>
      </p:sp>
      <p:sp>
        <p:nvSpPr>
          <p:cNvPr id="291" name="Google Shape;291;p18"/>
          <p:cNvSpPr txBox="1"/>
          <p:nvPr/>
        </p:nvSpPr>
        <p:spPr>
          <a:xfrm>
            <a:off x="4218075" y="2386550"/>
            <a:ext cx="4431900" cy="2070900"/>
          </a:xfrm>
          <a:prstGeom prst="rect">
            <a:avLst/>
          </a:prstGeom>
          <a:noFill/>
          <a:ln>
            <a:noFill/>
          </a:ln>
        </p:spPr>
        <p:txBody>
          <a:bodyPr anchorCtr="0" anchor="t" bIns="45700" lIns="91425" spcFirstLastPara="1" rIns="91425" wrap="square" tIns="45700">
            <a:noAutofit/>
          </a:bodyPr>
          <a:lstStyle/>
          <a:p>
            <a:pPr indent="-431800" lvl="0" marL="457200" marR="0" rtl="0" algn="l">
              <a:lnSpc>
                <a:spcPct val="100000"/>
              </a:lnSpc>
              <a:spcBef>
                <a:spcPts val="0"/>
              </a:spcBef>
              <a:spcAft>
                <a:spcPts val="0"/>
              </a:spcAft>
              <a:buClr>
                <a:srgbClr val="393B3F"/>
              </a:buClr>
              <a:buSzPts val="1600"/>
              <a:buFont typeface="Courier New"/>
              <a:buChar char="o"/>
            </a:pPr>
            <a:r>
              <a:rPr b="0" i="0" lang="en" sz="1600" u="none" cap="none" strike="noStrike">
                <a:solidFill>
                  <a:srgbClr val="393B3F"/>
                </a:solidFill>
                <a:latin typeface="Verdana"/>
                <a:ea typeface="Verdana"/>
                <a:cs typeface="Verdana"/>
                <a:sym typeface="Verdana"/>
              </a:rPr>
              <a:t>Every cell in your body (with the exception of your gametes) contains the same DNA within its nucleus</a:t>
            </a:r>
            <a:endParaRPr/>
          </a:p>
          <a:p>
            <a:pPr indent="-431800" lvl="0" marL="457200" marR="0" rtl="0" algn="l">
              <a:lnSpc>
                <a:spcPct val="100000"/>
              </a:lnSpc>
              <a:spcBef>
                <a:spcPts val="1000"/>
              </a:spcBef>
              <a:spcAft>
                <a:spcPts val="0"/>
              </a:spcAft>
              <a:buClr>
                <a:srgbClr val="393B3F"/>
              </a:buClr>
              <a:buSzPts val="1600"/>
              <a:buFont typeface="Verdana"/>
              <a:buChar char="o"/>
            </a:pPr>
            <a:r>
              <a:rPr b="0" i="0" lang="en" sz="1600" u="none" cap="none" strike="noStrike">
                <a:solidFill>
                  <a:srgbClr val="393B3F"/>
                </a:solidFill>
                <a:latin typeface="Verdana"/>
                <a:ea typeface="Verdana"/>
                <a:cs typeface="Verdana"/>
                <a:sym typeface="Verdana"/>
              </a:rPr>
              <a:t>The way that DNA is </a:t>
            </a:r>
            <a:r>
              <a:rPr b="1" i="0" lang="en" sz="1600" u="none" cap="none" strike="noStrike">
                <a:solidFill>
                  <a:srgbClr val="393B3F"/>
                </a:solidFill>
                <a:latin typeface="Verdana"/>
                <a:ea typeface="Verdana"/>
                <a:cs typeface="Verdana"/>
                <a:sym typeface="Verdana"/>
              </a:rPr>
              <a:t>expressed</a:t>
            </a:r>
            <a:r>
              <a:rPr b="0" i="0" lang="en" sz="1600" u="none" cap="none" strike="noStrike">
                <a:solidFill>
                  <a:srgbClr val="393B3F"/>
                </a:solidFill>
                <a:latin typeface="Verdana"/>
                <a:ea typeface="Verdana"/>
                <a:cs typeface="Verdana"/>
                <a:sym typeface="Verdana"/>
              </a:rPr>
              <a:t>, however, differs from cell to cell</a:t>
            </a:r>
            <a:endParaRPr b="0" i="0" sz="1600" u="none" cap="none" strike="noStrike">
              <a:solidFill>
                <a:srgbClr val="393B3F"/>
              </a:solidFill>
              <a:latin typeface="Verdana"/>
              <a:ea typeface="Verdana"/>
              <a:cs typeface="Verdana"/>
              <a:sym typeface="Verdana"/>
            </a:endParaRPr>
          </a:p>
          <a:p>
            <a:pPr indent="-330200" lvl="1" marL="914400" marR="0" rtl="0" algn="l">
              <a:lnSpc>
                <a:spcPct val="100000"/>
              </a:lnSpc>
              <a:spcBef>
                <a:spcPts val="1000"/>
              </a:spcBef>
              <a:spcAft>
                <a:spcPts val="0"/>
              </a:spcAft>
              <a:buClr>
                <a:srgbClr val="393B3F"/>
              </a:buClr>
              <a:buSzPts val="1600"/>
              <a:buFont typeface="Verdana"/>
              <a:buChar char="○"/>
            </a:pPr>
            <a:r>
              <a:rPr lang="en" sz="1600">
                <a:solidFill>
                  <a:srgbClr val="393B3F"/>
                </a:solidFill>
                <a:latin typeface="Verdana"/>
                <a:ea typeface="Verdana"/>
                <a:cs typeface="Verdana"/>
                <a:sym typeface="Verdana"/>
              </a:rPr>
              <a:t>I.e. not every gene is turned on in every cell</a:t>
            </a:r>
            <a:endParaRPr sz="1600">
              <a:solidFill>
                <a:srgbClr val="393B3F"/>
              </a:solidFill>
              <a:latin typeface="Verdana"/>
              <a:ea typeface="Verdana"/>
              <a:cs typeface="Verdana"/>
              <a:sym typeface="Verdana"/>
            </a:endParaRPr>
          </a:p>
        </p:txBody>
      </p:sp>
      <p:pic>
        <p:nvPicPr>
          <p:cNvPr id="292" name="Google Shape;292;p18"/>
          <p:cNvPicPr preferRelativeResize="0"/>
          <p:nvPr/>
        </p:nvPicPr>
        <p:blipFill rotWithShape="1">
          <a:blip r:embed="rId3">
            <a:alphaModFix/>
          </a:blip>
          <a:srcRect b="0" l="0" r="0" t="0"/>
          <a:stretch/>
        </p:blipFill>
        <p:spPr>
          <a:xfrm>
            <a:off x="908900" y="2386545"/>
            <a:ext cx="3170874" cy="2070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9"/>
          <p:cNvSpPr txBox="1"/>
          <p:nvPr/>
        </p:nvSpPr>
        <p:spPr>
          <a:xfrm>
            <a:off x="1331690" y="450911"/>
            <a:ext cx="64806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800">
                <a:solidFill>
                  <a:srgbClr val="393B3F"/>
                </a:solidFill>
                <a:latin typeface="Verdana"/>
                <a:ea typeface="Verdana"/>
                <a:cs typeface="Verdana"/>
                <a:sym typeface="Verdana"/>
              </a:rPr>
              <a:t>The DNA Nucleotide</a:t>
            </a:r>
            <a:endParaRPr/>
          </a:p>
        </p:txBody>
      </p:sp>
      <p:sp>
        <p:nvSpPr>
          <p:cNvPr id="298" name="Google Shape;298;p19"/>
          <p:cNvSpPr txBox="1"/>
          <p:nvPr/>
        </p:nvSpPr>
        <p:spPr>
          <a:xfrm>
            <a:off x="476450" y="1087825"/>
            <a:ext cx="5121900" cy="831000"/>
          </a:xfrm>
          <a:prstGeom prst="rect">
            <a:avLst/>
          </a:prstGeom>
          <a:noFill/>
          <a:ln>
            <a:noFill/>
          </a:ln>
        </p:spPr>
        <p:txBody>
          <a:bodyPr anchorCtr="0" anchor="t" bIns="45700" lIns="91425" spcFirstLastPara="1" rIns="91425" wrap="square" tIns="45700">
            <a:noAutofit/>
          </a:bodyPr>
          <a:lstStyle/>
          <a:p>
            <a:pPr indent="-292100" lvl="0" marL="457200" marR="0" rtl="0" algn="l">
              <a:lnSpc>
                <a:spcPct val="100000"/>
              </a:lnSpc>
              <a:spcBef>
                <a:spcPts val="0"/>
              </a:spcBef>
              <a:spcAft>
                <a:spcPts val="0"/>
              </a:spcAft>
              <a:buSzPts val="1000"/>
              <a:buChar char="●"/>
            </a:pPr>
            <a:r>
              <a:rPr lang="en" sz="1600">
                <a:solidFill>
                  <a:srgbClr val="393B3F"/>
                </a:solidFill>
                <a:latin typeface="Verdana"/>
                <a:ea typeface="Verdana"/>
                <a:cs typeface="Verdana"/>
                <a:sym typeface="Verdana"/>
              </a:rPr>
              <a:t>Dna is made up of long chains of individual units (monomers) called nucleotides. Each nucleotide consists of:</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330200" lvl="1" marL="914400" marR="0" rtl="0" algn="l">
              <a:lnSpc>
                <a:spcPct val="100000"/>
              </a:lnSpc>
              <a:spcBef>
                <a:spcPts val="0"/>
              </a:spcBef>
              <a:spcAft>
                <a:spcPts val="0"/>
              </a:spcAft>
              <a:buClr>
                <a:srgbClr val="393B3F"/>
              </a:buClr>
              <a:buSzPts val="1600"/>
              <a:buFont typeface="Verdana"/>
              <a:buChar char="○"/>
            </a:pPr>
            <a:r>
              <a:rPr lang="en" sz="1600">
                <a:solidFill>
                  <a:srgbClr val="393B3F"/>
                </a:solidFill>
                <a:latin typeface="Verdana"/>
                <a:ea typeface="Verdana"/>
                <a:cs typeface="Verdana"/>
                <a:sym typeface="Verdana"/>
              </a:rPr>
              <a:t>A five-carbon sugar</a:t>
            </a:r>
            <a:endParaRPr sz="1600">
              <a:solidFill>
                <a:srgbClr val="393B3F"/>
              </a:solidFill>
              <a:latin typeface="Verdana"/>
              <a:ea typeface="Verdana"/>
              <a:cs typeface="Verdana"/>
              <a:sym typeface="Verdana"/>
            </a:endParaRPr>
          </a:p>
          <a:p>
            <a:pPr indent="-330200" lvl="1" marL="914400" marR="0" rtl="0" algn="l">
              <a:lnSpc>
                <a:spcPct val="100000"/>
              </a:lnSpc>
              <a:spcBef>
                <a:spcPts val="0"/>
              </a:spcBef>
              <a:spcAft>
                <a:spcPts val="0"/>
              </a:spcAft>
              <a:buClr>
                <a:srgbClr val="393B3F"/>
              </a:buClr>
              <a:buSzPts val="1600"/>
              <a:buFont typeface="Verdana"/>
              <a:buChar char="○"/>
            </a:pPr>
            <a:r>
              <a:rPr lang="en" sz="1600">
                <a:solidFill>
                  <a:srgbClr val="393B3F"/>
                </a:solidFill>
                <a:latin typeface="Verdana"/>
                <a:ea typeface="Verdana"/>
                <a:cs typeface="Verdana"/>
                <a:sym typeface="Verdana"/>
              </a:rPr>
              <a:t>A phosphate group</a:t>
            </a:r>
            <a:endParaRPr sz="1600">
              <a:solidFill>
                <a:srgbClr val="393B3F"/>
              </a:solidFill>
              <a:latin typeface="Verdana"/>
              <a:ea typeface="Verdana"/>
              <a:cs typeface="Verdana"/>
              <a:sym typeface="Verdana"/>
            </a:endParaRPr>
          </a:p>
          <a:p>
            <a:pPr indent="-330200" lvl="1" marL="914400" marR="0" rtl="0" algn="l">
              <a:lnSpc>
                <a:spcPct val="100000"/>
              </a:lnSpc>
              <a:spcBef>
                <a:spcPts val="0"/>
              </a:spcBef>
              <a:spcAft>
                <a:spcPts val="0"/>
              </a:spcAft>
              <a:buClr>
                <a:srgbClr val="393B3F"/>
              </a:buClr>
              <a:buSzPts val="1600"/>
              <a:buFont typeface="Verdana"/>
              <a:buChar char="○"/>
            </a:pPr>
            <a:r>
              <a:rPr lang="en" sz="1600">
                <a:solidFill>
                  <a:srgbClr val="393B3F"/>
                </a:solidFill>
                <a:latin typeface="Verdana"/>
                <a:ea typeface="Verdana"/>
                <a:cs typeface="Verdana"/>
                <a:sym typeface="Verdana"/>
              </a:rPr>
              <a:t>One of four nitrogenous bases: </a:t>
            </a:r>
            <a:endParaRPr sz="1600">
              <a:solidFill>
                <a:srgbClr val="393B3F"/>
              </a:solidFill>
              <a:latin typeface="Verdana"/>
              <a:ea typeface="Verdana"/>
              <a:cs typeface="Verdana"/>
              <a:sym typeface="Verdana"/>
            </a:endParaRPr>
          </a:p>
          <a:p>
            <a:pPr indent="-330200" lvl="2" marL="1371600" marR="0" rtl="0" algn="l">
              <a:lnSpc>
                <a:spcPct val="100000"/>
              </a:lnSpc>
              <a:spcBef>
                <a:spcPts val="0"/>
              </a:spcBef>
              <a:spcAft>
                <a:spcPts val="0"/>
              </a:spcAft>
              <a:buClr>
                <a:srgbClr val="393B3F"/>
              </a:buClr>
              <a:buSzPts val="1600"/>
              <a:buFont typeface="Verdana"/>
              <a:buChar char="■"/>
            </a:pPr>
            <a:r>
              <a:rPr lang="en" sz="1600">
                <a:solidFill>
                  <a:srgbClr val="393B3F"/>
                </a:solidFill>
                <a:latin typeface="Verdana"/>
                <a:ea typeface="Verdana"/>
                <a:cs typeface="Verdana"/>
                <a:sym typeface="Verdana"/>
              </a:rPr>
              <a:t>Adenine (A) </a:t>
            </a:r>
            <a:endParaRPr sz="1600">
              <a:solidFill>
                <a:srgbClr val="393B3F"/>
              </a:solidFill>
              <a:latin typeface="Verdana"/>
              <a:ea typeface="Verdana"/>
              <a:cs typeface="Verdana"/>
              <a:sym typeface="Verdana"/>
            </a:endParaRPr>
          </a:p>
          <a:p>
            <a:pPr indent="-330200" lvl="2" marL="1371600" marR="0" rtl="0" algn="l">
              <a:lnSpc>
                <a:spcPct val="100000"/>
              </a:lnSpc>
              <a:spcBef>
                <a:spcPts val="0"/>
              </a:spcBef>
              <a:spcAft>
                <a:spcPts val="0"/>
              </a:spcAft>
              <a:buClr>
                <a:srgbClr val="393B3F"/>
              </a:buClr>
              <a:buSzPts val="1600"/>
              <a:buFont typeface="Verdana"/>
              <a:buChar char="■"/>
            </a:pPr>
            <a:r>
              <a:rPr lang="en" sz="1600">
                <a:solidFill>
                  <a:srgbClr val="393B3F"/>
                </a:solidFill>
                <a:latin typeface="Verdana"/>
                <a:ea typeface="Verdana"/>
                <a:cs typeface="Verdana"/>
                <a:sym typeface="Verdana"/>
              </a:rPr>
              <a:t>Guanine (G)</a:t>
            </a:r>
            <a:endParaRPr sz="1600">
              <a:solidFill>
                <a:srgbClr val="393B3F"/>
              </a:solidFill>
              <a:latin typeface="Verdana"/>
              <a:ea typeface="Verdana"/>
              <a:cs typeface="Verdana"/>
              <a:sym typeface="Verdana"/>
            </a:endParaRPr>
          </a:p>
          <a:p>
            <a:pPr indent="-330200" lvl="2" marL="1371600" marR="0" rtl="0" algn="l">
              <a:lnSpc>
                <a:spcPct val="100000"/>
              </a:lnSpc>
              <a:spcBef>
                <a:spcPts val="0"/>
              </a:spcBef>
              <a:spcAft>
                <a:spcPts val="0"/>
              </a:spcAft>
              <a:buClr>
                <a:srgbClr val="393B3F"/>
              </a:buClr>
              <a:buSzPts val="1600"/>
              <a:buFont typeface="Verdana"/>
              <a:buChar char="■"/>
            </a:pPr>
            <a:r>
              <a:rPr lang="en" sz="1600">
                <a:solidFill>
                  <a:srgbClr val="393B3F"/>
                </a:solidFill>
                <a:latin typeface="Verdana"/>
                <a:ea typeface="Verdana"/>
                <a:cs typeface="Verdana"/>
                <a:sym typeface="Verdana"/>
              </a:rPr>
              <a:t>Cytosine </a:t>
            </a:r>
            <a:r>
              <a:rPr lang="en" sz="1600">
                <a:solidFill>
                  <a:srgbClr val="393B3F"/>
                </a:solidFill>
                <a:latin typeface="Verdana"/>
                <a:ea typeface="Verdana"/>
                <a:cs typeface="Verdana"/>
                <a:sym typeface="Verdana"/>
              </a:rPr>
              <a:t>(C)</a:t>
            </a:r>
            <a:endParaRPr sz="1600">
              <a:solidFill>
                <a:srgbClr val="393B3F"/>
              </a:solidFill>
              <a:latin typeface="Verdana"/>
              <a:ea typeface="Verdana"/>
              <a:cs typeface="Verdana"/>
              <a:sym typeface="Verdana"/>
            </a:endParaRPr>
          </a:p>
          <a:p>
            <a:pPr indent="-330200" lvl="2" marL="1371600" marR="0" rtl="0" algn="l">
              <a:lnSpc>
                <a:spcPct val="100000"/>
              </a:lnSpc>
              <a:spcBef>
                <a:spcPts val="0"/>
              </a:spcBef>
              <a:spcAft>
                <a:spcPts val="0"/>
              </a:spcAft>
              <a:buClr>
                <a:srgbClr val="393B3F"/>
              </a:buClr>
              <a:buSzPts val="1600"/>
              <a:buFont typeface="Verdana"/>
              <a:buChar char="■"/>
            </a:pPr>
            <a:r>
              <a:rPr lang="en" sz="1600">
                <a:solidFill>
                  <a:srgbClr val="393B3F"/>
                </a:solidFill>
                <a:latin typeface="Verdana"/>
                <a:ea typeface="Verdana"/>
                <a:cs typeface="Verdana"/>
                <a:sym typeface="Verdana"/>
              </a:rPr>
              <a:t>Thymine (T)</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9144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p:txBody>
      </p:sp>
      <p:pic>
        <p:nvPicPr>
          <p:cNvPr id="299" name="Google Shape;299;p19"/>
          <p:cNvPicPr preferRelativeResize="0"/>
          <p:nvPr/>
        </p:nvPicPr>
        <p:blipFill>
          <a:blip r:embed="rId3">
            <a:alphaModFix/>
          </a:blip>
          <a:stretch>
            <a:fillRect/>
          </a:stretch>
        </p:blipFill>
        <p:spPr>
          <a:xfrm>
            <a:off x="5748800" y="974100"/>
            <a:ext cx="3290373" cy="2194650"/>
          </a:xfrm>
          <a:prstGeom prst="rect">
            <a:avLst/>
          </a:prstGeom>
          <a:noFill/>
          <a:ln>
            <a:noFill/>
          </a:ln>
        </p:spPr>
      </p:pic>
      <p:pic>
        <p:nvPicPr>
          <p:cNvPr id="300" name="Google Shape;300;p19"/>
          <p:cNvPicPr preferRelativeResize="0"/>
          <p:nvPr/>
        </p:nvPicPr>
        <p:blipFill>
          <a:blip r:embed="rId4">
            <a:alphaModFix/>
          </a:blip>
          <a:stretch>
            <a:fillRect/>
          </a:stretch>
        </p:blipFill>
        <p:spPr>
          <a:xfrm>
            <a:off x="5598350" y="3214925"/>
            <a:ext cx="3102726" cy="1830125"/>
          </a:xfrm>
          <a:prstGeom prst="rect">
            <a:avLst/>
          </a:prstGeom>
          <a:noFill/>
          <a:ln>
            <a:noFill/>
          </a:ln>
        </p:spPr>
      </p:pic>
      <p:sp>
        <p:nvSpPr>
          <p:cNvPr id="301" name="Google Shape;301;p19"/>
          <p:cNvSpPr txBox="1"/>
          <p:nvPr/>
        </p:nvSpPr>
        <p:spPr>
          <a:xfrm>
            <a:off x="521025" y="4033025"/>
            <a:ext cx="5121900" cy="831000"/>
          </a:xfrm>
          <a:prstGeom prst="rect">
            <a:avLst/>
          </a:prstGeom>
          <a:noFill/>
          <a:ln>
            <a:noFill/>
          </a:ln>
        </p:spPr>
        <p:txBody>
          <a:bodyPr anchorCtr="0" anchor="t" bIns="45700" lIns="91425" spcFirstLastPara="1" rIns="91425" wrap="square" tIns="45700">
            <a:noAutofit/>
          </a:bodyPr>
          <a:lstStyle/>
          <a:p>
            <a:pPr indent="-292100" lvl="0" marL="457200" marR="0" rtl="0" algn="l">
              <a:lnSpc>
                <a:spcPct val="100000"/>
              </a:lnSpc>
              <a:spcBef>
                <a:spcPts val="0"/>
              </a:spcBef>
              <a:spcAft>
                <a:spcPts val="0"/>
              </a:spcAft>
              <a:buSzPts val="1000"/>
              <a:buChar char="●"/>
            </a:pPr>
            <a:r>
              <a:rPr b="1" lang="en" sz="1600">
                <a:solidFill>
                  <a:srgbClr val="393B3F"/>
                </a:solidFill>
                <a:latin typeface="Verdana"/>
                <a:ea typeface="Verdana"/>
                <a:cs typeface="Verdana"/>
                <a:sym typeface="Verdana"/>
              </a:rPr>
              <a:t>Purines </a:t>
            </a:r>
            <a:r>
              <a:rPr lang="en" sz="1600">
                <a:solidFill>
                  <a:srgbClr val="393B3F"/>
                </a:solidFill>
                <a:latin typeface="Verdana"/>
                <a:ea typeface="Verdana"/>
                <a:cs typeface="Verdana"/>
                <a:sym typeface="Verdana"/>
              </a:rPr>
              <a:t>have a double ring (adenine and guanine), whereas </a:t>
            </a:r>
            <a:r>
              <a:rPr b="1" lang="en" sz="1600">
                <a:solidFill>
                  <a:srgbClr val="393B3F"/>
                </a:solidFill>
                <a:latin typeface="Verdana"/>
                <a:ea typeface="Verdana"/>
                <a:cs typeface="Verdana"/>
                <a:sym typeface="Verdana"/>
              </a:rPr>
              <a:t>pyrimidines</a:t>
            </a:r>
            <a:r>
              <a:rPr lang="en" sz="1600">
                <a:solidFill>
                  <a:srgbClr val="393B3F"/>
                </a:solidFill>
                <a:latin typeface="Verdana"/>
                <a:ea typeface="Verdana"/>
                <a:cs typeface="Verdana"/>
                <a:sym typeface="Verdana"/>
              </a:rPr>
              <a:t> have a single ring (thymine and cytosine)</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9144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p:txBody>
      </p:sp>
      <p:sp>
        <p:nvSpPr>
          <p:cNvPr id="302" name="Google Shape;302;p19"/>
          <p:cNvSpPr txBox="1"/>
          <p:nvPr/>
        </p:nvSpPr>
        <p:spPr>
          <a:xfrm>
            <a:off x="6648375" y="4480325"/>
            <a:ext cx="873300" cy="383700"/>
          </a:xfrm>
          <a:prstGeom prst="rect">
            <a:avLst/>
          </a:prstGeom>
          <a:solidFill>
            <a:srgbClr val="FFFFFF">
              <a:alpha val="3962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latin typeface="Verdana"/>
                <a:ea typeface="Verdana"/>
                <a:cs typeface="Verdana"/>
                <a:sym typeface="Verdana"/>
              </a:rPr>
              <a:t>More on uracil later</a:t>
            </a:r>
            <a:endParaRPr b="1" sz="800">
              <a:solidFill>
                <a:schemeClr val="dk2"/>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20"/>
          <p:cNvPicPr preferRelativeResize="0"/>
          <p:nvPr/>
        </p:nvPicPr>
        <p:blipFill rotWithShape="1">
          <a:blip r:embed="rId3">
            <a:alphaModFix/>
          </a:blip>
          <a:srcRect b="4571" l="0" r="0" t="0"/>
          <a:stretch/>
        </p:blipFill>
        <p:spPr>
          <a:xfrm>
            <a:off x="731475" y="1658325"/>
            <a:ext cx="1785140" cy="1765096"/>
          </a:xfrm>
          <a:prstGeom prst="rect">
            <a:avLst/>
          </a:prstGeom>
          <a:noFill/>
          <a:ln cap="flat" cmpd="sng" w="9525">
            <a:solidFill>
              <a:srgbClr val="999999"/>
            </a:solidFill>
            <a:prstDash val="solid"/>
            <a:round/>
            <a:headEnd len="sm" w="sm" type="none"/>
            <a:tailEnd len="sm" w="sm" type="none"/>
          </a:ln>
        </p:spPr>
      </p:pic>
      <p:pic>
        <p:nvPicPr>
          <p:cNvPr id="308" name="Google Shape;308;p20"/>
          <p:cNvPicPr preferRelativeResize="0"/>
          <p:nvPr/>
        </p:nvPicPr>
        <p:blipFill rotWithShape="1">
          <a:blip r:embed="rId4">
            <a:alphaModFix/>
          </a:blip>
          <a:srcRect b="0" l="0" r="0" t="0"/>
          <a:stretch/>
        </p:blipFill>
        <p:spPr>
          <a:xfrm>
            <a:off x="2788634" y="2493186"/>
            <a:ext cx="2013540" cy="1521240"/>
          </a:xfrm>
          <a:prstGeom prst="rect">
            <a:avLst/>
          </a:prstGeom>
          <a:noFill/>
          <a:ln cap="flat" cmpd="sng" w="9525">
            <a:solidFill>
              <a:srgbClr val="999999"/>
            </a:solidFill>
            <a:prstDash val="solid"/>
            <a:round/>
            <a:headEnd len="sm" w="sm" type="none"/>
            <a:tailEnd len="sm" w="sm" type="none"/>
          </a:ln>
        </p:spPr>
      </p:pic>
      <p:sp>
        <p:nvSpPr>
          <p:cNvPr id="309" name="Google Shape;309;p20"/>
          <p:cNvSpPr txBox="1"/>
          <p:nvPr/>
        </p:nvSpPr>
        <p:spPr>
          <a:xfrm>
            <a:off x="1449265" y="747936"/>
            <a:ext cx="6480600" cy="52319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 sz="2800" u="none" cap="none" strike="noStrike">
                <a:solidFill>
                  <a:srgbClr val="393B3F"/>
                </a:solidFill>
                <a:latin typeface="Verdana"/>
                <a:ea typeface="Verdana"/>
                <a:cs typeface="Verdana"/>
                <a:sym typeface="Verdana"/>
              </a:rPr>
              <a:t>The Structure of DNA</a:t>
            </a:r>
            <a:endParaRPr/>
          </a:p>
        </p:txBody>
      </p:sp>
      <p:sp>
        <p:nvSpPr>
          <p:cNvPr id="310" name="Google Shape;310;p20"/>
          <p:cNvSpPr/>
          <p:nvPr/>
        </p:nvSpPr>
        <p:spPr>
          <a:xfrm rot="2102140">
            <a:off x="2301247" y="2921265"/>
            <a:ext cx="612974" cy="247664"/>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0"/>
          <p:cNvSpPr txBox="1"/>
          <p:nvPr/>
        </p:nvSpPr>
        <p:spPr>
          <a:xfrm>
            <a:off x="2788625" y="1466650"/>
            <a:ext cx="58830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00"/>
              <a:buFont typeface="Verdana"/>
              <a:buNone/>
            </a:pPr>
            <a:r>
              <a:rPr b="0" i="0" lang="en" u="none" cap="none" strike="noStrike">
                <a:solidFill>
                  <a:srgbClr val="393B3F"/>
                </a:solidFill>
                <a:latin typeface="Verdana"/>
                <a:ea typeface="Verdana"/>
                <a:cs typeface="Verdana"/>
                <a:sym typeface="Verdana"/>
              </a:rPr>
              <a:t>DNA molecules form a </a:t>
            </a:r>
            <a:r>
              <a:rPr b="1" i="1" lang="en" u="none" cap="none" strike="noStrike">
                <a:solidFill>
                  <a:srgbClr val="393B3F"/>
                </a:solidFill>
                <a:latin typeface="Verdana"/>
                <a:ea typeface="Verdana"/>
                <a:cs typeface="Verdana"/>
                <a:sym typeface="Verdana"/>
              </a:rPr>
              <a:t>double helix</a:t>
            </a:r>
            <a:r>
              <a:rPr b="0" i="0" lang="en" u="none" cap="none" strike="noStrike">
                <a:solidFill>
                  <a:srgbClr val="393B3F"/>
                </a:solidFill>
                <a:latin typeface="Verdana"/>
                <a:ea typeface="Verdana"/>
                <a:cs typeface="Verdana"/>
                <a:sym typeface="Verdana"/>
              </a:rPr>
              <a:t>, with a sugar-phosphate backbone held together by </a:t>
            </a:r>
            <a:r>
              <a:rPr b="1" i="1" lang="en" u="none" cap="none" strike="noStrike">
                <a:solidFill>
                  <a:srgbClr val="393B3F"/>
                </a:solidFill>
                <a:latin typeface="Verdana"/>
                <a:ea typeface="Verdana"/>
                <a:cs typeface="Verdana"/>
                <a:sym typeface="Verdana"/>
              </a:rPr>
              <a:t>complementary</a:t>
            </a:r>
            <a:r>
              <a:rPr b="0" i="1" lang="en" u="none" cap="none" strike="noStrike">
                <a:solidFill>
                  <a:srgbClr val="393B3F"/>
                </a:solidFill>
                <a:latin typeface="Verdana"/>
                <a:ea typeface="Verdana"/>
                <a:cs typeface="Verdana"/>
                <a:sym typeface="Verdana"/>
              </a:rPr>
              <a:t> </a:t>
            </a:r>
            <a:r>
              <a:rPr b="0" i="0" lang="en" u="none" cap="none" strike="noStrike">
                <a:solidFill>
                  <a:srgbClr val="393B3F"/>
                </a:solidFill>
                <a:latin typeface="Verdana"/>
                <a:ea typeface="Verdana"/>
                <a:cs typeface="Verdana"/>
                <a:sym typeface="Verdana"/>
              </a:rPr>
              <a:t>nitrogenous base pairs. The </a:t>
            </a:r>
            <a:r>
              <a:rPr lang="en">
                <a:solidFill>
                  <a:srgbClr val="393B3F"/>
                </a:solidFill>
                <a:latin typeface="Verdana"/>
                <a:ea typeface="Verdana"/>
                <a:cs typeface="Verdana"/>
                <a:sym typeface="Verdana"/>
              </a:rPr>
              <a:t>“rules” for each DNA molecule include… </a:t>
            </a:r>
            <a:endParaRPr/>
          </a:p>
        </p:txBody>
      </p:sp>
      <p:sp>
        <p:nvSpPr>
          <p:cNvPr id="312" name="Google Shape;312;p20"/>
          <p:cNvSpPr txBox="1"/>
          <p:nvPr/>
        </p:nvSpPr>
        <p:spPr>
          <a:xfrm>
            <a:off x="4935900" y="2353000"/>
            <a:ext cx="3534600" cy="2287500"/>
          </a:xfrm>
          <a:prstGeom prst="rect">
            <a:avLst/>
          </a:prstGeom>
          <a:noFill/>
          <a:ln>
            <a:noFill/>
          </a:ln>
        </p:spPr>
        <p:txBody>
          <a:bodyPr anchorCtr="0" anchor="t" bIns="45700" lIns="91425" spcFirstLastPara="1" rIns="91425" wrap="square" tIns="45700">
            <a:noAutofit/>
          </a:bodyPr>
          <a:lstStyle/>
          <a:p>
            <a:pPr indent="-292100" lvl="0" marL="457200" marR="0" rtl="0" algn="l">
              <a:lnSpc>
                <a:spcPct val="100000"/>
              </a:lnSpc>
              <a:spcBef>
                <a:spcPts val="0"/>
              </a:spcBef>
              <a:spcAft>
                <a:spcPts val="0"/>
              </a:spcAft>
              <a:buClr>
                <a:srgbClr val="393B3F"/>
              </a:buClr>
              <a:buSzPts val="1000"/>
              <a:buFont typeface="Verdana"/>
              <a:buAutoNum type="arabicPeriod"/>
            </a:pPr>
            <a:r>
              <a:rPr b="1" i="0" lang="en" sz="1000" u="none" cap="none" strike="noStrike">
                <a:solidFill>
                  <a:srgbClr val="393B3F"/>
                </a:solidFill>
                <a:latin typeface="Verdana"/>
                <a:ea typeface="Verdana"/>
                <a:cs typeface="Verdana"/>
                <a:sym typeface="Verdana"/>
              </a:rPr>
              <a:t>Hydrogen bonds</a:t>
            </a:r>
            <a:r>
              <a:rPr b="0" i="0" lang="en" sz="1000" u="none" cap="none" strike="noStrike">
                <a:solidFill>
                  <a:srgbClr val="393B3F"/>
                </a:solidFill>
                <a:latin typeface="Verdana"/>
                <a:ea typeface="Verdana"/>
                <a:cs typeface="Verdana"/>
                <a:sym typeface="Verdana"/>
              </a:rPr>
              <a:t> form between nitrogenous base pairs</a:t>
            </a:r>
            <a:endParaRPr/>
          </a:p>
          <a:p>
            <a:pPr indent="-292100" lvl="0" marL="457200" marR="0" rtl="0" algn="l">
              <a:lnSpc>
                <a:spcPct val="100000"/>
              </a:lnSpc>
              <a:spcBef>
                <a:spcPts val="1000"/>
              </a:spcBef>
              <a:spcAft>
                <a:spcPts val="0"/>
              </a:spcAft>
              <a:buClr>
                <a:srgbClr val="393B3F"/>
              </a:buClr>
              <a:buSzPts val="1000"/>
              <a:buFont typeface="Verdana"/>
              <a:buAutoNum type="arabicPeriod"/>
            </a:pPr>
            <a:r>
              <a:rPr b="0" i="0" lang="en" sz="1000" u="none" cap="none" strike="noStrike">
                <a:solidFill>
                  <a:srgbClr val="393B3F"/>
                </a:solidFill>
                <a:latin typeface="Verdana"/>
                <a:ea typeface="Verdana"/>
                <a:cs typeface="Verdana"/>
                <a:sym typeface="Verdana"/>
              </a:rPr>
              <a:t>Adenine (A) always pairs with Thymine (T)</a:t>
            </a:r>
            <a:endParaRPr/>
          </a:p>
          <a:p>
            <a:pPr indent="-292100" lvl="0" marL="457200" marR="0" rtl="0" algn="l">
              <a:lnSpc>
                <a:spcPct val="100000"/>
              </a:lnSpc>
              <a:spcBef>
                <a:spcPts val="1000"/>
              </a:spcBef>
              <a:spcAft>
                <a:spcPts val="0"/>
              </a:spcAft>
              <a:buClr>
                <a:srgbClr val="393B3F"/>
              </a:buClr>
              <a:buSzPts val="1000"/>
              <a:buFont typeface="Verdana"/>
              <a:buAutoNum type="arabicPeriod"/>
            </a:pPr>
            <a:r>
              <a:rPr b="0" i="0" lang="en" sz="1000" u="none" cap="none" strike="noStrike">
                <a:solidFill>
                  <a:srgbClr val="393B3F"/>
                </a:solidFill>
                <a:latin typeface="Verdana"/>
                <a:ea typeface="Verdana"/>
                <a:cs typeface="Verdana"/>
                <a:sym typeface="Verdana"/>
              </a:rPr>
              <a:t>Cytosine (C) always pairs with Guanine (G)</a:t>
            </a:r>
            <a:endParaRPr b="0" i="0" sz="1000" u="none" cap="none" strike="noStrike">
              <a:solidFill>
                <a:srgbClr val="393B3F"/>
              </a:solidFill>
              <a:latin typeface="Verdana"/>
              <a:ea typeface="Verdana"/>
              <a:cs typeface="Verdana"/>
              <a:sym typeface="Verdana"/>
            </a:endParaRPr>
          </a:p>
          <a:p>
            <a:pPr indent="-292100" lvl="0" marL="457200" marR="0" rtl="0" algn="l">
              <a:lnSpc>
                <a:spcPct val="100000"/>
              </a:lnSpc>
              <a:spcBef>
                <a:spcPts val="1000"/>
              </a:spcBef>
              <a:spcAft>
                <a:spcPts val="0"/>
              </a:spcAft>
              <a:buClr>
                <a:srgbClr val="393B3F"/>
              </a:buClr>
              <a:buSzPts val="1000"/>
              <a:buFont typeface="Verdana"/>
              <a:buAutoNum type="arabicPeriod"/>
            </a:pPr>
            <a:r>
              <a:rPr lang="en" sz="1000">
                <a:solidFill>
                  <a:srgbClr val="393B3F"/>
                </a:solidFill>
                <a:latin typeface="Verdana"/>
                <a:ea typeface="Verdana"/>
                <a:cs typeface="Verdana"/>
                <a:sym typeface="Verdana"/>
              </a:rPr>
              <a:t>Each base is bonded to a sugar group.</a:t>
            </a:r>
            <a:endParaRPr sz="1000">
              <a:solidFill>
                <a:srgbClr val="393B3F"/>
              </a:solidFill>
              <a:latin typeface="Verdana"/>
              <a:ea typeface="Verdana"/>
              <a:cs typeface="Verdana"/>
              <a:sym typeface="Verdana"/>
            </a:endParaRPr>
          </a:p>
          <a:p>
            <a:pPr indent="-292100" lvl="0" marL="457200" marR="0" rtl="0" algn="l">
              <a:lnSpc>
                <a:spcPct val="100000"/>
              </a:lnSpc>
              <a:spcBef>
                <a:spcPts val="1000"/>
              </a:spcBef>
              <a:spcAft>
                <a:spcPts val="0"/>
              </a:spcAft>
              <a:buClr>
                <a:srgbClr val="393B3F"/>
              </a:buClr>
              <a:buSzPts val="1000"/>
              <a:buFont typeface="Verdana"/>
              <a:buAutoNum type="arabicPeriod"/>
            </a:pPr>
            <a:r>
              <a:rPr lang="en" sz="1000">
                <a:solidFill>
                  <a:srgbClr val="393B3F"/>
                </a:solidFill>
                <a:latin typeface="Verdana"/>
                <a:ea typeface="Verdana"/>
                <a:cs typeface="Verdana"/>
                <a:sym typeface="Verdana"/>
              </a:rPr>
              <a:t>Sugar groups are bonded to phosphates.</a:t>
            </a:r>
            <a:endParaRPr sz="1000">
              <a:solidFill>
                <a:srgbClr val="393B3F"/>
              </a:solidFill>
              <a:latin typeface="Verdana"/>
              <a:ea typeface="Verdana"/>
              <a:cs typeface="Verdana"/>
              <a:sym typeface="Verdana"/>
            </a:endParaRPr>
          </a:p>
          <a:p>
            <a:pPr indent="-292100" lvl="0" marL="457200" marR="0" rtl="0" algn="l">
              <a:lnSpc>
                <a:spcPct val="100000"/>
              </a:lnSpc>
              <a:spcBef>
                <a:spcPts val="1000"/>
              </a:spcBef>
              <a:spcAft>
                <a:spcPts val="0"/>
              </a:spcAft>
              <a:buClr>
                <a:srgbClr val="393B3F"/>
              </a:buClr>
              <a:buSzPts val="1000"/>
              <a:buFont typeface="Verdana"/>
              <a:buAutoNum type="arabicPeriod"/>
            </a:pPr>
            <a:r>
              <a:rPr b="0" i="0" lang="en" sz="1000" u="none" cap="none" strike="noStrike">
                <a:solidFill>
                  <a:srgbClr val="393B3F"/>
                </a:solidFill>
                <a:latin typeface="Verdana"/>
                <a:ea typeface="Verdana"/>
                <a:cs typeface="Verdana"/>
                <a:sym typeface="Verdana"/>
              </a:rPr>
              <a:t>The grouping that exists between a phosphate molecule, a sugar molecule, and a single nitrogenous base is collectively referred to as a </a:t>
            </a:r>
            <a:r>
              <a:rPr b="0" i="1" lang="en" sz="1000" u="none" cap="none" strike="noStrike">
                <a:solidFill>
                  <a:srgbClr val="393B3F"/>
                </a:solidFill>
                <a:latin typeface="Verdana"/>
                <a:ea typeface="Verdana"/>
                <a:cs typeface="Verdana"/>
                <a:sym typeface="Verdana"/>
              </a:rPr>
              <a:t>nucleotide</a:t>
            </a:r>
            <a:endParaRPr/>
          </a:p>
          <a:p>
            <a:pPr indent="0" lvl="0" marL="0" marR="0" rtl="0" algn="l">
              <a:lnSpc>
                <a:spcPct val="100000"/>
              </a:lnSpc>
              <a:spcBef>
                <a:spcPts val="1000"/>
              </a:spcBef>
              <a:spcAft>
                <a:spcPts val="0"/>
              </a:spcAft>
              <a:buClr>
                <a:srgbClr val="000000"/>
              </a:buClr>
              <a:buSzPts val="1200"/>
              <a:buFont typeface="Arial"/>
              <a:buNone/>
            </a:pPr>
            <a:r>
              <a:t/>
            </a:r>
            <a:endParaRPr b="0" i="0" sz="1200" u="none" cap="none" strike="noStrike">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1200"/>
              <a:buFont typeface="Arial"/>
              <a:buNone/>
            </a:pPr>
            <a:r>
              <a:t/>
            </a:r>
            <a:endParaRPr b="0" i="0" sz="1200" u="none" cap="none" strike="noStrike">
              <a:solidFill>
                <a:srgbClr val="393B3F"/>
              </a:solidFill>
              <a:latin typeface="Verdana"/>
              <a:ea typeface="Verdana"/>
              <a:cs typeface="Verdana"/>
              <a:sym typeface="Verdana"/>
            </a:endParaRPr>
          </a:p>
        </p:txBody>
      </p:sp>
      <p:sp>
        <p:nvSpPr>
          <p:cNvPr id="313" name="Google Shape;313;p20"/>
          <p:cNvSpPr/>
          <p:nvPr/>
        </p:nvSpPr>
        <p:spPr>
          <a:xfrm>
            <a:off x="3357457" y="3679132"/>
            <a:ext cx="665400" cy="316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4" name="Google Shape;314;p20"/>
          <p:cNvCxnSpPr/>
          <p:nvPr/>
        </p:nvCxnSpPr>
        <p:spPr>
          <a:xfrm flipH="1">
            <a:off x="3073596" y="4000155"/>
            <a:ext cx="288300" cy="129300"/>
          </a:xfrm>
          <a:prstGeom prst="straightConnector1">
            <a:avLst/>
          </a:prstGeom>
          <a:noFill/>
          <a:ln cap="flat" cmpd="sng" w="9525">
            <a:solidFill>
              <a:schemeClr val="dk2"/>
            </a:solidFill>
            <a:prstDash val="solid"/>
            <a:round/>
            <a:headEnd len="sm" w="sm" type="none"/>
            <a:tailEnd len="sm" w="sm" type="none"/>
          </a:ln>
        </p:spPr>
      </p:cxnSp>
      <p:sp>
        <p:nvSpPr>
          <p:cNvPr id="315" name="Google Shape;315;p20"/>
          <p:cNvSpPr txBox="1"/>
          <p:nvPr/>
        </p:nvSpPr>
        <p:spPr>
          <a:xfrm>
            <a:off x="2628907" y="4065906"/>
            <a:ext cx="1228800" cy="21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Calibri"/>
              <a:buNone/>
            </a:pPr>
            <a:r>
              <a:rPr b="1" i="0" lang="en" sz="1100" u="none" cap="none" strike="noStrike">
                <a:solidFill>
                  <a:srgbClr val="000000"/>
                </a:solidFill>
                <a:latin typeface="Calibri"/>
                <a:ea typeface="Calibri"/>
                <a:cs typeface="Calibri"/>
                <a:sym typeface="Calibri"/>
              </a:rPr>
              <a:t>NUCLEOTIDE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1"/>
          <p:cNvSpPr txBox="1"/>
          <p:nvPr/>
        </p:nvSpPr>
        <p:spPr>
          <a:xfrm>
            <a:off x="1331640" y="747936"/>
            <a:ext cx="6480600" cy="52319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 sz="2800" u="none" cap="none" strike="noStrike">
                <a:solidFill>
                  <a:srgbClr val="393B3F"/>
                </a:solidFill>
                <a:latin typeface="Verdana"/>
                <a:ea typeface="Verdana"/>
                <a:cs typeface="Verdana"/>
                <a:sym typeface="Verdana"/>
              </a:rPr>
              <a:t>The Structure of DNA</a:t>
            </a:r>
            <a:endParaRPr/>
          </a:p>
        </p:txBody>
      </p:sp>
      <p:sp>
        <p:nvSpPr>
          <p:cNvPr id="321" name="Google Shape;321;p21"/>
          <p:cNvSpPr txBox="1"/>
          <p:nvPr/>
        </p:nvSpPr>
        <p:spPr>
          <a:xfrm>
            <a:off x="804700" y="1328200"/>
            <a:ext cx="74481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 sz="2000" u="none" cap="none" strike="noStrike">
                <a:solidFill>
                  <a:srgbClr val="393B3F"/>
                </a:solidFill>
                <a:latin typeface="Verdana"/>
                <a:ea typeface="Verdana"/>
                <a:cs typeface="Verdana"/>
                <a:sym typeface="Verdana"/>
              </a:rPr>
              <a:t>DNA strands are also said to be </a:t>
            </a:r>
            <a:r>
              <a:rPr b="1" i="1" lang="en" sz="2000" u="none" cap="none" strike="noStrike">
                <a:solidFill>
                  <a:srgbClr val="393B3F"/>
                </a:solidFill>
                <a:latin typeface="Verdana"/>
                <a:ea typeface="Verdana"/>
                <a:cs typeface="Verdana"/>
                <a:sym typeface="Verdana"/>
              </a:rPr>
              <a:t>antiparallel</a:t>
            </a:r>
            <a:r>
              <a:rPr b="0" i="0" lang="en" sz="2000" u="none" cap="none" strike="noStrike">
                <a:solidFill>
                  <a:srgbClr val="393B3F"/>
                </a:solidFill>
                <a:latin typeface="Verdana"/>
                <a:ea typeface="Verdana"/>
                <a:cs typeface="Verdana"/>
                <a:sym typeface="Verdana"/>
              </a:rPr>
              <a:t>, meaning that they run in the opposite direction as one another:</a:t>
            </a:r>
            <a:endParaRPr/>
          </a:p>
        </p:txBody>
      </p:sp>
      <p:sp>
        <p:nvSpPr>
          <p:cNvPr id="322" name="Google Shape;322;p21"/>
          <p:cNvSpPr txBox="1"/>
          <p:nvPr/>
        </p:nvSpPr>
        <p:spPr>
          <a:xfrm>
            <a:off x="541200" y="2159200"/>
            <a:ext cx="3633900" cy="20709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00000"/>
              </a:lnSpc>
              <a:spcBef>
                <a:spcPts val="0"/>
              </a:spcBef>
              <a:spcAft>
                <a:spcPts val="0"/>
              </a:spcAft>
              <a:buClr>
                <a:srgbClr val="393B3F"/>
              </a:buClr>
              <a:buSzPts val="1400"/>
              <a:buFont typeface="Verdana"/>
              <a:buChar char="●"/>
            </a:pPr>
            <a:r>
              <a:rPr b="0" i="0" lang="en" u="none" cap="none" strike="noStrike">
                <a:solidFill>
                  <a:srgbClr val="393B3F"/>
                </a:solidFill>
                <a:latin typeface="Verdana"/>
                <a:ea typeface="Verdana"/>
                <a:cs typeface="Verdana"/>
                <a:sym typeface="Verdana"/>
              </a:rPr>
              <a:t>The 5’ and 3’ ends run in opposite directions</a:t>
            </a:r>
            <a:endParaRPr b="0" i="0" u="none" cap="none" strike="noStrike">
              <a:solidFill>
                <a:srgbClr val="393B3F"/>
              </a:solidFill>
              <a:latin typeface="Verdana"/>
              <a:ea typeface="Verdana"/>
              <a:cs typeface="Verdana"/>
              <a:sym typeface="Verdana"/>
            </a:endParaRPr>
          </a:p>
          <a:p>
            <a:pPr indent="-317500" lvl="1" marL="914400" marR="0" rtl="0" algn="l">
              <a:lnSpc>
                <a:spcPct val="100000"/>
              </a:lnSpc>
              <a:spcBef>
                <a:spcPts val="0"/>
              </a:spcBef>
              <a:spcAft>
                <a:spcPts val="0"/>
              </a:spcAft>
              <a:buClr>
                <a:srgbClr val="393B3F"/>
              </a:buClr>
              <a:buSzPts val="1400"/>
              <a:buFont typeface="Verdana"/>
              <a:buChar char="○"/>
            </a:pPr>
            <a:r>
              <a:rPr lang="en">
                <a:solidFill>
                  <a:srgbClr val="393B3F"/>
                </a:solidFill>
                <a:latin typeface="Verdana"/>
                <a:ea typeface="Verdana"/>
                <a:cs typeface="Verdana"/>
                <a:sym typeface="Verdana"/>
              </a:rPr>
              <a:t>These numbers come from organic chemistry naming rules, and simply describe a particular carbon in the sugar, and thus the orientation of the nucleotide</a:t>
            </a:r>
            <a:endParaRPr>
              <a:solidFill>
                <a:srgbClr val="393B3F"/>
              </a:solidFill>
              <a:latin typeface="Verdana"/>
              <a:ea typeface="Verdana"/>
              <a:cs typeface="Verdana"/>
              <a:sym typeface="Verdana"/>
            </a:endParaRPr>
          </a:p>
          <a:p>
            <a:pPr indent="-317500" lvl="0" marL="457200" marR="0" rtl="0" algn="l">
              <a:lnSpc>
                <a:spcPct val="100000"/>
              </a:lnSpc>
              <a:spcBef>
                <a:spcPts val="1000"/>
              </a:spcBef>
              <a:spcAft>
                <a:spcPts val="0"/>
              </a:spcAft>
              <a:buClr>
                <a:srgbClr val="393B3F"/>
              </a:buClr>
              <a:buSzPts val="1400"/>
              <a:buFont typeface="Verdana"/>
              <a:buChar char="●"/>
            </a:pPr>
            <a:r>
              <a:rPr b="0" i="0" lang="en" u="none" cap="none" strike="noStrike">
                <a:solidFill>
                  <a:srgbClr val="393B3F"/>
                </a:solidFill>
                <a:latin typeface="Verdana"/>
                <a:ea typeface="Verdana"/>
                <a:cs typeface="Verdana"/>
                <a:sym typeface="Verdana"/>
              </a:rPr>
              <a:t>This property has important implications for DNA replication &amp; protein synthesis </a:t>
            </a:r>
            <a:endParaRPr b="0" i="0" u="none" cap="none" strike="noStrike">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1600"/>
              <a:buFont typeface="Arial"/>
              <a:buNone/>
            </a:pPr>
            <a:r>
              <a:t/>
            </a:r>
            <a:endParaRPr b="0" i="0" u="none" cap="none" strike="noStrike">
              <a:solidFill>
                <a:srgbClr val="393B3F"/>
              </a:solidFill>
              <a:latin typeface="Verdana"/>
              <a:ea typeface="Verdana"/>
              <a:cs typeface="Verdana"/>
              <a:sym typeface="Verdana"/>
            </a:endParaRPr>
          </a:p>
        </p:txBody>
      </p:sp>
      <p:pic>
        <p:nvPicPr>
          <p:cNvPr id="323" name="Google Shape;323;p21"/>
          <p:cNvPicPr preferRelativeResize="0"/>
          <p:nvPr/>
        </p:nvPicPr>
        <p:blipFill rotWithShape="1">
          <a:blip r:embed="rId3">
            <a:alphaModFix/>
          </a:blip>
          <a:srcRect b="0" l="0" r="0" t="0"/>
          <a:stretch/>
        </p:blipFill>
        <p:spPr>
          <a:xfrm>
            <a:off x="4276837" y="2441100"/>
            <a:ext cx="2380050" cy="1789000"/>
          </a:xfrm>
          <a:prstGeom prst="rect">
            <a:avLst/>
          </a:prstGeom>
          <a:noFill/>
          <a:ln cap="flat" cmpd="sng" w="9525">
            <a:solidFill>
              <a:srgbClr val="999999"/>
            </a:solidFill>
            <a:prstDash val="solid"/>
            <a:round/>
            <a:headEnd len="sm" w="sm" type="none"/>
            <a:tailEnd len="sm" w="sm" type="none"/>
          </a:ln>
        </p:spPr>
      </p:pic>
      <p:pic>
        <p:nvPicPr>
          <p:cNvPr descr="This video will explain the two different ends of DNA - the 3' and 5' ends.  How these ends are labeled, how to identify them in molecular pictures, and their significance will all be described." id="324" name="Google Shape;324;p21" title="5' 3' ends of DNA and RNA">
            <a:hlinkClick r:id="rId4"/>
          </p:cNvPr>
          <p:cNvPicPr preferRelativeResize="0"/>
          <p:nvPr/>
        </p:nvPicPr>
        <p:blipFill>
          <a:blip r:embed="rId5">
            <a:alphaModFix/>
          </a:blip>
          <a:stretch>
            <a:fillRect/>
          </a:stretch>
        </p:blipFill>
        <p:spPr>
          <a:xfrm>
            <a:off x="6758625" y="2539748"/>
            <a:ext cx="2385374" cy="178900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2"/>
          <p:cNvSpPr txBox="1"/>
          <p:nvPr/>
        </p:nvSpPr>
        <p:spPr>
          <a:xfrm>
            <a:off x="749400" y="521500"/>
            <a:ext cx="76452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600">
                <a:solidFill>
                  <a:srgbClr val="393B3F"/>
                </a:solidFill>
                <a:latin typeface="Verdana"/>
                <a:ea typeface="Verdana"/>
                <a:cs typeface="Verdana"/>
                <a:sym typeface="Verdana"/>
              </a:rPr>
              <a:t>But how did we come to know so much about the structure of DNA?</a:t>
            </a:r>
            <a:endParaRPr sz="1200"/>
          </a:p>
        </p:txBody>
      </p:sp>
      <p:sp>
        <p:nvSpPr>
          <p:cNvPr id="330" name="Google Shape;330;p22"/>
          <p:cNvSpPr txBox="1"/>
          <p:nvPr/>
        </p:nvSpPr>
        <p:spPr>
          <a:xfrm>
            <a:off x="526300" y="2249900"/>
            <a:ext cx="4396500" cy="191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lang="en">
                <a:solidFill>
                  <a:srgbClr val="393B3F"/>
                </a:solidFill>
                <a:latin typeface="Verdana"/>
                <a:ea typeface="Verdana"/>
                <a:cs typeface="Verdana"/>
                <a:sym typeface="Verdana"/>
              </a:rPr>
              <a:t>This became known as </a:t>
            </a:r>
            <a:r>
              <a:rPr b="1" lang="en">
                <a:solidFill>
                  <a:srgbClr val="393B3F"/>
                </a:solidFill>
                <a:latin typeface="Verdana"/>
                <a:ea typeface="Verdana"/>
                <a:cs typeface="Verdana"/>
                <a:sym typeface="Verdana"/>
              </a:rPr>
              <a:t>Chargaff’s Rule. </a:t>
            </a:r>
            <a:endParaRPr b="1">
              <a:solidFill>
                <a:srgbClr val="393B3F"/>
              </a:solidFill>
              <a:latin typeface="Verdana"/>
              <a:ea typeface="Verdana"/>
              <a:cs typeface="Verdana"/>
              <a:sym typeface="Verdana"/>
            </a:endParaRPr>
          </a:p>
          <a:p>
            <a:pPr indent="-317500" lvl="0" marL="457200" rtl="0" algn="l">
              <a:spcBef>
                <a:spcPts val="1000"/>
              </a:spcBef>
              <a:spcAft>
                <a:spcPts val="0"/>
              </a:spcAft>
              <a:buClr>
                <a:srgbClr val="393B3F"/>
              </a:buClr>
              <a:buSzPts val="1400"/>
              <a:buFont typeface="Verdana"/>
              <a:buChar char="●"/>
            </a:pPr>
            <a:r>
              <a:rPr lang="en">
                <a:solidFill>
                  <a:srgbClr val="393B3F"/>
                </a:solidFill>
                <a:latin typeface="Verdana"/>
                <a:ea typeface="Verdana"/>
                <a:cs typeface="Verdana"/>
                <a:sym typeface="Verdana"/>
              </a:rPr>
              <a:t>The AT:GC ratio is same for same species and different for different species</a:t>
            </a:r>
            <a:endParaRPr>
              <a:solidFill>
                <a:srgbClr val="393B3F"/>
              </a:solidFill>
              <a:latin typeface="Verdana"/>
              <a:ea typeface="Verdana"/>
              <a:cs typeface="Verdana"/>
              <a:sym typeface="Verdana"/>
            </a:endParaRPr>
          </a:p>
          <a:p>
            <a:pPr indent="-317500" lvl="0" marL="457200" rtl="0" algn="l">
              <a:spcBef>
                <a:spcPts val="1000"/>
              </a:spcBef>
              <a:spcAft>
                <a:spcPts val="0"/>
              </a:spcAft>
              <a:buClr>
                <a:srgbClr val="393B3F"/>
              </a:buClr>
              <a:buSzPts val="1400"/>
              <a:buFont typeface="Verdana"/>
              <a:buChar char="●"/>
            </a:pPr>
            <a:r>
              <a:rPr lang="en">
                <a:solidFill>
                  <a:srgbClr val="393B3F"/>
                </a:solidFill>
                <a:latin typeface="Verdana"/>
                <a:ea typeface="Verdana"/>
                <a:cs typeface="Verdana"/>
                <a:sym typeface="Verdana"/>
              </a:rPr>
              <a:t>The amount of A = the amount of T</a:t>
            </a:r>
            <a:endParaRPr>
              <a:solidFill>
                <a:srgbClr val="393B3F"/>
              </a:solidFill>
              <a:latin typeface="Verdana"/>
              <a:ea typeface="Verdana"/>
              <a:cs typeface="Verdana"/>
              <a:sym typeface="Verdana"/>
            </a:endParaRPr>
          </a:p>
          <a:p>
            <a:pPr indent="-317500" lvl="0" marL="457200" rtl="0" algn="l">
              <a:spcBef>
                <a:spcPts val="1000"/>
              </a:spcBef>
              <a:spcAft>
                <a:spcPts val="0"/>
              </a:spcAft>
              <a:buClr>
                <a:srgbClr val="393B3F"/>
              </a:buClr>
              <a:buSzPts val="1400"/>
              <a:buFont typeface="Verdana"/>
              <a:buChar char="●"/>
            </a:pPr>
            <a:r>
              <a:rPr lang="en">
                <a:solidFill>
                  <a:srgbClr val="393B3F"/>
                </a:solidFill>
                <a:latin typeface="Verdana"/>
                <a:ea typeface="Verdana"/>
                <a:cs typeface="Verdana"/>
                <a:sym typeface="Verdana"/>
              </a:rPr>
              <a:t>The amount of C = the amount of G</a:t>
            </a:r>
            <a:endParaRPr>
              <a:solidFill>
                <a:srgbClr val="393B3F"/>
              </a:solidFill>
              <a:latin typeface="Verdana"/>
              <a:ea typeface="Verdana"/>
              <a:cs typeface="Verdana"/>
              <a:sym typeface="Verdana"/>
            </a:endParaRPr>
          </a:p>
          <a:p>
            <a:pPr indent="-317500" lvl="0" marL="457200" rtl="0" algn="l">
              <a:spcBef>
                <a:spcPts val="1000"/>
              </a:spcBef>
              <a:spcAft>
                <a:spcPts val="0"/>
              </a:spcAft>
              <a:buClr>
                <a:srgbClr val="393B3F"/>
              </a:buClr>
              <a:buSzPts val="1400"/>
              <a:buFont typeface="Verdana"/>
              <a:buChar char="●"/>
            </a:pPr>
            <a:r>
              <a:rPr lang="en">
                <a:solidFill>
                  <a:srgbClr val="393B3F"/>
                </a:solidFill>
                <a:latin typeface="Verdana"/>
                <a:ea typeface="Verdana"/>
                <a:cs typeface="Verdana"/>
                <a:sym typeface="Verdana"/>
              </a:rPr>
              <a:t>A+T does not necessarily equal G+C</a:t>
            </a:r>
            <a:endParaRPr>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393B3F"/>
              </a:buClr>
              <a:buSzPts val="500"/>
              <a:buFont typeface="Verdana"/>
              <a:buNone/>
            </a:pPr>
            <a:r>
              <a:t/>
            </a:r>
            <a:endParaRPr b="1">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b="1" lang="en">
                <a:solidFill>
                  <a:srgbClr val="393B3F"/>
                </a:solidFill>
                <a:latin typeface="Verdana"/>
                <a:ea typeface="Verdana"/>
                <a:cs typeface="Verdana"/>
                <a:sym typeface="Verdana"/>
              </a:rPr>
              <a:t>	</a:t>
            </a:r>
            <a:endParaRPr b="1">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b="1" lang="en">
                <a:solidFill>
                  <a:srgbClr val="393B3F"/>
                </a:solidFill>
                <a:latin typeface="Verdana"/>
                <a:ea typeface="Verdana"/>
                <a:cs typeface="Verdana"/>
                <a:sym typeface="Verdana"/>
              </a:rPr>
              <a:t>	</a:t>
            </a:r>
            <a:endParaRPr b="1">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t/>
            </a:r>
            <a:endParaRPr b="1">
              <a:solidFill>
                <a:srgbClr val="393B3F"/>
              </a:solidFill>
              <a:latin typeface="Verdana"/>
              <a:ea typeface="Verdana"/>
              <a:cs typeface="Verdana"/>
              <a:sym typeface="Verdana"/>
            </a:endParaRPr>
          </a:p>
        </p:txBody>
      </p:sp>
      <p:pic>
        <p:nvPicPr>
          <p:cNvPr id="331" name="Google Shape;331;p22"/>
          <p:cNvPicPr preferRelativeResize="0"/>
          <p:nvPr/>
        </p:nvPicPr>
        <p:blipFill>
          <a:blip r:embed="rId3">
            <a:alphaModFix/>
          </a:blip>
          <a:stretch>
            <a:fillRect/>
          </a:stretch>
        </p:blipFill>
        <p:spPr>
          <a:xfrm>
            <a:off x="4922900" y="2194850"/>
            <a:ext cx="3760751" cy="1969326"/>
          </a:xfrm>
          <a:prstGeom prst="rect">
            <a:avLst/>
          </a:prstGeom>
          <a:noFill/>
          <a:ln>
            <a:noFill/>
          </a:ln>
        </p:spPr>
      </p:pic>
      <p:sp>
        <p:nvSpPr>
          <p:cNvPr id="332" name="Google Shape;332;p22"/>
          <p:cNvSpPr txBox="1"/>
          <p:nvPr/>
        </p:nvSpPr>
        <p:spPr>
          <a:xfrm>
            <a:off x="526300" y="1418600"/>
            <a:ext cx="7645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93B3F"/>
                </a:solidFill>
                <a:latin typeface="Verdana"/>
                <a:ea typeface="Verdana"/>
                <a:cs typeface="Verdana"/>
                <a:sym typeface="Verdana"/>
              </a:rPr>
              <a:t>In the 1940s, Erwin </a:t>
            </a:r>
            <a:r>
              <a:rPr b="1" lang="en">
                <a:solidFill>
                  <a:srgbClr val="393B3F"/>
                </a:solidFill>
                <a:latin typeface="Verdana"/>
                <a:ea typeface="Verdana"/>
                <a:cs typeface="Verdana"/>
                <a:sym typeface="Verdana"/>
              </a:rPr>
              <a:t>Chargaff</a:t>
            </a:r>
            <a:r>
              <a:rPr lang="en">
                <a:solidFill>
                  <a:srgbClr val="393B3F"/>
                </a:solidFill>
                <a:latin typeface="Verdana"/>
                <a:ea typeface="Verdana"/>
                <a:cs typeface="Verdana"/>
                <a:sym typeface="Verdana"/>
              </a:rPr>
              <a:t> figured out that the 4 different nitrogenous bases aren’t present in equal amounts. They are present in varied, yet characteristic proportions where A=T and C=G.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23"/>
          <p:cNvPicPr preferRelativeResize="0"/>
          <p:nvPr/>
        </p:nvPicPr>
        <p:blipFill>
          <a:blip r:embed="rId3">
            <a:alphaModFix/>
          </a:blip>
          <a:stretch>
            <a:fillRect/>
          </a:stretch>
        </p:blipFill>
        <p:spPr>
          <a:xfrm>
            <a:off x="2837454" y="1545746"/>
            <a:ext cx="1497675" cy="1196925"/>
          </a:xfrm>
          <a:prstGeom prst="rect">
            <a:avLst/>
          </a:prstGeom>
          <a:noFill/>
          <a:ln>
            <a:noFill/>
          </a:ln>
        </p:spPr>
      </p:pic>
      <p:sp>
        <p:nvSpPr>
          <p:cNvPr id="338" name="Google Shape;338;p23"/>
          <p:cNvSpPr txBox="1"/>
          <p:nvPr/>
        </p:nvSpPr>
        <p:spPr>
          <a:xfrm>
            <a:off x="314625" y="4662050"/>
            <a:ext cx="8550900" cy="3126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latin typeface="Verdana"/>
              <a:ea typeface="Verdana"/>
              <a:cs typeface="Verdana"/>
              <a:sym typeface="Verdana"/>
            </a:endParaRPr>
          </a:p>
          <a:p>
            <a:pPr indent="0" lvl="0" marL="0" rtl="0" algn="l">
              <a:spcBef>
                <a:spcPts val="0"/>
              </a:spcBef>
              <a:spcAft>
                <a:spcPts val="0"/>
              </a:spcAft>
              <a:buNone/>
            </a:pPr>
            <a:r>
              <a:rPr lang="en" sz="1200"/>
              <a:t>More reading if interested:</a:t>
            </a:r>
            <a:endParaRPr sz="1200"/>
          </a:p>
          <a:p>
            <a:pPr indent="0" lvl="0" marL="0" rtl="0" algn="l">
              <a:spcBef>
                <a:spcPts val="0"/>
              </a:spcBef>
              <a:spcAft>
                <a:spcPts val="0"/>
              </a:spcAft>
              <a:buNone/>
            </a:pPr>
            <a:r>
              <a:rPr lang="en" sz="1000" u="sng">
                <a:solidFill>
                  <a:schemeClr val="hlink"/>
                </a:solidFill>
                <a:latin typeface="Verdana"/>
                <a:ea typeface="Verdana"/>
                <a:cs typeface="Verdana"/>
                <a:sym typeface="Verdana"/>
                <a:hlinkClick r:id="rId4"/>
              </a:rPr>
              <a:t>https://www.sciencehistory.org/historical-profile/james-watson-francis-crick-maurice-wilkins-and-rosalind-franklin</a:t>
            </a:r>
            <a:endParaRPr sz="1000">
              <a:latin typeface="Verdana"/>
              <a:ea typeface="Verdana"/>
              <a:cs typeface="Verdana"/>
              <a:sym typeface="Verdana"/>
            </a:endParaRPr>
          </a:p>
          <a:p>
            <a:pPr indent="0" lvl="0" marL="0" rtl="0" algn="ctr">
              <a:spcBef>
                <a:spcPts val="0"/>
              </a:spcBef>
              <a:spcAft>
                <a:spcPts val="0"/>
              </a:spcAft>
              <a:buNone/>
            </a:pPr>
            <a:r>
              <a:t/>
            </a:r>
            <a:endParaRPr sz="1000">
              <a:latin typeface="Verdana"/>
              <a:ea typeface="Verdana"/>
              <a:cs typeface="Verdana"/>
              <a:sym typeface="Verdana"/>
            </a:endParaRPr>
          </a:p>
        </p:txBody>
      </p:sp>
      <p:pic>
        <p:nvPicPr>
          <p:cNvPr id="339" name="Google Shape;339;p23"/>
          <p:cNvPicPr preferRelativeResize="0"/>
          <p:nvPr/>
        </p:nvPicPr>
        <p:blipFill>
          <a:blip r:embed="rId5">
            <a:alphaModFix/>
          </a:blip>
          <a:stretch>
            <a:fillRect/>
          </a:stretch>
        </p:blipFill>
        <p:spPr>
          <a:xfrm>
            <a:off x="4499850" y="2803675"/>
            <a:ext cx="1893750" cy="1782900"/>
          </a:xfrm>
          <a:prstGeom prst="rect">
            <a:avLst/>
          </a:prstGeom>
          <a:noFill/>
          <a:ln>
            <a:noFill/>
          </a:ln>
        </p:spPr>
      </p:pic>
      <p:pic>
        <p:nvPicPr>
          <p:cNvPr id="340" name="Google Shape;340;p23"/>
          <p:cNvPicPr preferRelativeResize="0"/>
          <p:nvPr/>
        </p:nvPicPr>
        <p:blipFill>
          <a:blip r:embed="rId6">
            <a:alphaModFix/>
          </a:blip>
          <a:stretch>
            <a:fillRect/>
          </a:stretch>
        </p:blipFill>
        <p:spPr>
          <a:xfrm>
            <a:off x="112259" y="990446"/>
            <a:ext cx="2673534" cy="1397904"/>
          </a:xfrm>
          <a:prstGeom prst="rect">
            <a:avLst/>
          </a:prstGeom>
          <a:noFill/>
          <a:ln>
            <a:noFill/>
          </a:ln>
        </p:spPr>
      </p:pic>
      <p:sp>
        <p:nvSpPr>
          <p:cNvPr id="341" name="Google Shape;341;p23"/>
          <p:cNvSpPr txBox="1"/>
          <p:nvPr/>
        </p:nvSpPr>
        <p:spPr>
          <a:xfrm>
            <a:off x="801800" y="456150"/>
            <a:ext cx="7237800" cy="46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400">
                <a:solidFill>
                  <a:srgbClr val="393B3F"/>
                </a:solidFill>
                <a:latin typeface="Verdana"/>
                <a:ea typeface="Verdana"/>
                <a:cs typeface="Verdana"/>
                <a:sym typeface="Verdana"/>
              </a:rPr>
              <a:t>Discovering the Structure of DNA:</a:t>
            </a:r>
            <a:endParaRPr sz="2400"/>
          </a:p>
        </p:txBody>
      </p:sp>
      <p:sp>
        <p:nvSpPr>
          <p:cNvPr id="342" name="Google Shape;342;p23"/>
          <p:cNvSpPr txBox="1"/>
          <p:nvPr/>
        </p:nvSpPr>
        <p:spPr>
          <a:xfrm>
            <a:off x="3925375" y="923800"/>
            <a:ext cx="4552200" cy="1531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Verdana"/>
              <a:buChar char="●"/>
            </a:pPr>
            <a:r>
              <a:rPr lang="en">
                <a:solidFill>
                  <a:schemeClr val="dk2"/>
                </a:solidFill>
                <a:latin typeface="Verdana"/>
                <a:ea typeface="Verdana"/>
                <a:cs typeface="Verdana"/>
                <a:sym typeface="Verdana"/>
              </a:rPr>
              <a:t>In the 1950s, British scientist </a:t>
            </a:r>
            <a:r>
              <a:rPr b="1" lang="en">
                <a:solidFill>
                  <a:schemeClr val="dk2"/>
                </a:solidFill>
                <a:latin typeface="Verdana"/>
                <a:ea typeface="Verdana"/>
                <a:cs typeface="Verdana"/>
                <a:sym typeface="Verdana"/>
              </a:rPr>
              <a:t>Rosalind Franklin used X-ray </a:t>
            </a:r>
            <a:r>
              <a:rPr b="1" lang="en">
                <a:solidFill>
                  <a:schemeClr val="dk2"/>
                </a:solidFill>
                <a:latin typeface="Verdana"/>
                <a:ea typeface="Verdana"/>
                <a:cs typeface="Verdana"/>
                <a:sym typeface="Verdana"/>
              </a:rPr>
              <a:t>photography</a:t>
            </a:r>
            <a:r>
              <a:rPr b="1" lang="en">
                <a:solidFill>
                  <a:schemeClr val="dk2"/>
                </a:solidFill>
                <a:latin typeface="Verdana"/>
                <a:ea typeface="Verdana"/>
                <a:cs typeface="Verdana"/>
                <a:sym typeface="Verdana"/>
              </a:rPr>
              <a:t> to analyze the structure of DNA. </a:t>
            </a:r>
            <a:r>
              <a:rPr lang="en">
                <a:solidFill>
                  <a:schemeClr val="dk2"/>
                </a:solidFill>
                <a:latin typeface="Verdana"/>
                <a:ea typeface="Verdana"/>
                <a:cs typeface="Verdana"/>
                <a:sym typeface="Verdana"/>
              </a:rPr>
              <a:t>Her observations provided crucial new information </a:t>
            </a:r>
            <a:r>
              <a:rPr lang="en">
                <a:solidFill>
                  <a:schemeClr val="dk2"/>
                </a:solidFill>
                <a:latin typeface="Verdana"/>
                <a:ea typeface="Verdana"/>
                <a:cs typeface="Verdana"/>
                <a:sym typeface="Verdana"/>
              </a:rPr>
              <a:t>about</a:t>
            </a:r>
            <a:r>
              <a:rPr lang="en">
                <a:solidFill>
                  <a:schemeClr val="dk2"/>
                </a:solidFill>
                <a:latin typeface="Verdana"/>
                <a:ea typeface="Verdana"/>
                <a:cs typeface="Verdana"/>
                <a:sym typeface="Verdana"/>
              </a:rPr>
              <a:t> the molecular structure of DNA. </a:t>
            </a:r>
            <a:endParaRPr>
              <a:solidFill>
                <a:schemeClr val="dk2"/>
              </a:solidFill>
              <a:latin typeface="Verdana"/>
              <a:ea typeface="Verdana"/>
              <a:cs typeface="Verdana"/>
              <a:sym typeface="Verdana"/>
            </a:endParaRPr>
          </a:p>
        </p:txBody>
      </p:sp>
      <p:sp>
        <p:nvSpPr>
          <p:cNvPr id="343" name="Google Shape;343;p23"/>
          <p:cNvSpPr txBox="1"/>
          <p:nvPr/>
        </p:nvSpPr>
        <p:spPr>
          <a:xfrm>
            <a:off x="476525" y="2975475"/>
            <a:ext cx="3858600" cy="523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Verdana"/>
              <a:buChar char="●"/>
            </a:pPr>
            <a:r>
              <a:rPr lang="en">
                <a:solidFill>
                  <a:schemeClr val="dk2"/>
                </a:solidFill>
                <a:latin typeface="Verdana"/>
                <a:ea typeface="Verdana"/>
                <a:cs typeface="Verdana"/>
                <a:sym typeface="Verdana"/>
              </a:rPr>
              <a:t>In 1953, James </a:t>
            </a:r>
            <a:r>
              <a:rPr b="1" lang="en">
                <a:solidFill>
                  <a:schemeClr val="dk2"/>
                </a:solidFill>
                <a:latin typeface="Verdana"/>
                <a:ea typeface="Verdana"/>
                <a:cs typeface="Verdana"/>
                <a:sym typeface="Verdana"/>
              </a:rPr>
              <a:t>Watson</a:t>
            </a:r>
            <a:r>
              <a:rPr lang="en">
                <a:solidFill>
                  <a:schemeClr val="dk2"/>
                </a:solidFill>
                <a:latin typeface="Verdana"/>
                <a:ea typeface="Verdana"/>
                <a:cs typeface="Verdana"/>
                <a:sym typeface="Verdana"/>
              </a:rPr>
              <a:t> and Francis </a:t>
            </a:r>
            <a:r>
              <a:rPr b="1" lang="en">
                <a:solidFill>
                  <a:schemeClr val="dk2"/>
                </a:solidFill>
                <a:latin typeface="Verdana"/>
                <a:ea typeface="Verdana"/>
                <a:cs typeface="Verdana"/>
                <a:sym typeface="Verdana"/>
              </a:rPr>
              <a:t>Crick</a:t>
            </a:r>
            <a:r>
              <a:rPr lang="en">
                <a:solidFill>
                  <a:schemeClr val="dk2"/>
                </a:solidFill>
                <a:latin typeface="Verdana"/>
                <a:ea typeface="Verdana"/>
                <a:cs typeface="Verdana"/>
                <a:sym typeface="Verdana"/>
              </a:rPr>
              <a:t> were the first to produce the </a:t>
            </a:r>
            <a:r>
              <a:rPr b="1" lang="en">
                <a:solidFill>
                  <a:schemeClr val="dk2"/>
                </a:solidFill>
                <a:latin typeface="Verdana"/>
                <a:ea typeface="Verdana"/>
                <a:cs typeface="Verdana"/>
                <a:sym typeface="Verdana"/>
              </a:rPr>
              <a:t>structural model of DNA </a:t>
            </a:r>
            <a:r>
              <a:rPr lang="en">
                <a:solidFill>
                  <a:schemeClr val="dk2"/>
                </a:solidFill>
                <a:latin typeface="Verdana"/>
                <a:ea typeface="Verdana"/>
                <a:cs typeface="Verdana"/>
                <a:sym typeface="Verdana"/>
              </a:rPr>
              <a:t>that could account for all the evidence from Franklin’s experiments as well as Chargaff’s observations.  </a:t>
            </a:r>
            <a:endParaRPr>
              <a:solidFill>
                <a:schemeClr val="dk2"/>
              </a:solidFill>
              <a:latin typeface="Verdana"/>
              <a:ea typeface="Verdana"/>
              <a:cs typeface="Verdana"/>
              <a:sym typeface="Verdana"/>
            </a:endParaRPr>
          </a:p>
        </p:txBody>
      </p:sp>
      <p:pic>
        <p:nvPicPr>
          <p:cNvPr descr="View full lesson: http://ed.ted.com/lessons/rosalind-franklin-dna-s-unsung-hero-claudio-l-guerra&#10;&#10;The discovery of the structure of DNA was one of the most important scientific achievements in human history. The now-famous double helix is almost synonymous with Watson and Crick, two of the scientists who won the Nobel prize for figuring it out. But there’s another name you may not know: Rosalind Franklin. Cláudio L. Guerra shares the true story of the woman behind the helix. &#10;&#10;Lesson by Cláudio L. Guerra , animation by Chris Bishop." id="344" name="Google Shape;344;p23" title="Rosalind Franklin: DNA's unsung hero - Cláudio L. Guerra">
            <a:hlinkClick r:id="rId7"/>
          </p:cNvPr>
          <p:cNvPicPr preferRelativeResize="0"/>
          <p:nvPr/>
        </p:nvPicPr>
        <p:blipFill>
          <a:blip r:embed="rId8">
            <a:alphaModFix/>
          </a:blip>
          <a:stretch>
            <a:fillRect/>
          </a:stretch>
        </p:blipFill>
        <p:spPr>
          <a:xfrm>
            <a:off x="6613550" y="3029388"/>
            <a:ext cx="2367066" cy="1331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4"/>
          <p:cNvSpPr txBox="1"/>
          <p:nvPr/>
        </p:nvSpPr>
        <p:spPr>
          <a:xfrm>
            <a:off x="1331640" y="747936"/>
            <a:ext cx="64806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800">
                <a:solidFill>
                  <a:srgbClr val="393B3F"/>
                </a:solidFill>
                <a:latin typeface="Verdana"/>
                <a:ea typeface="Verdana"/>
                <a:cs typeface="Verdana"/>
                <a:sym typeface="Verdana"/>
              </a:rPr>
              <a:t>Re-cap: </a:t>
            </a:r>
            <a:r>
              <a:rPr b="1" lang="en" sz="2800">
                <a:solidFill>
                  <a:srgbClr val="393B3F"/>
                </a:solidFill>
                <a:latin typeface="Verdana"/>
                <a:ea typeface="Verdana"/>
                <a:cs typeface="Verdana"/>
                <a:sym typeface="Verdana"/>
              </a:rPr>
              <a:t>The DNA Molecule</a:t>
            </a:r>
            <a:endParaRPr/>
          </a:p>
        </p:txBody>
      </p:sp>
      <p:pic>
        <p:nvPicPr>
          <p:cNvPr descr="Antiparallel nature of the DNA molecule" id="350" name="Google Shape;350;p24" title="The DNA Molecule">
            <a:hlinkClick r:id="rId3"/>
          </p:cNvPr>
          <p:cNvPicPr preferRelativeResize="0"/>
          <p:nvPr/>
        </p:nvPicPr>
        <p:blipFill>
          <a:blip r:embed="rId4">
            <a:alphaModFix/>
          </a:blip>
          <a:stretch>
            <a:fillRect/>
          </a:stretch>
        </p:blipFill>
        <p:spPr>
          <a:xfrm>
            <a:off x="2407375" y="1583619"/>
            <a:ext cx="4785975" cy="269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5"/>
          <p:cNvSpPr txBox="1"/>
          <p:nvPr/>
        </p:nvSpPr>
        <p:spPr>
          <a:xfrm>
            <a:off x="2118790" y="392111"/>
            <a:ext cx="64806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 sz="2800" u="none" cap="none" strike="noStrike">
                <a:solidFill>
                  <a:srgbClr val="393B3F"/>
                </a:solidFill>
                <a:latin typeface="Verdana"/>
                <a:ea typeface="Verdana"/>
                <a:cs typeface="Verdana"/>
                <a:sym typeface="Verdana"/>
              </a:rPr>
              <a:t>DNA Replication </a:t>
            </a:r>
            <a:endParaRPr/>
          </a:p>
        </p:txBody>
      </p:sp>
      <p:sp>
        <p:nvSpPr>
          <p:cNvPr id="356" name="Google Shape;356;p25"/>
          <p:cNvSpPr txBox="1"/>
          <p:nvPr/>
        </p:nvSpPr>
        <p:spPr>
          <a:xfrm>
            <a:off x="2848650" y="1047850"/>
            <a:ext cx="56112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 sz="1800" u="none" cap="none" strike="noStrike">
                <a:solidFill>
                  <a:srgbClr val="393B3F"/>
                </a:solidFill>
                <a:latin typeface="Verdana"/>
                <a:ea typeface="Verdana"/>
                <a:cs typeface="Verdana"/>
                <a:sym typeface="Verdana"/>
              </a:rPr>
              <a:t>During S phase of interphase, a cell replicates its entire genome in order to produce a new cell with an identical set of DNA. </a:t>
            </a:r>
            <a:endParaRPr/>
          </a:p>
        </p:txBody>
      </p:sp>
      <p:sp>
        <p:nvSpPr>
          <p:cNvPr id="357" name="Google Shape;357;p25"/>
          <p:cNvSpPr txBox="1"/>
          <p:nvPr/>
        </p:nvSpPr>
        <p:spPr>
          <a:xfrm>
            <a:off x="744625" y="2311925"/>
            <a:ext cx="3812100" cy="20709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00000"/>
              </a:lnSpc>
              <a:spcBef>
                <a:spcPts val="0"/>
              </a:spcBef>
              <a:spcAft>
                <a:spcPts val="0"/>
              </a:spcAft>
              <a:buClr>
                <a:srgbClr val="393B3F"/>
              </a:buClr>
              <a:buSzPts val="1600"/>
              <a:buFont typeface="Verdana"/>
              <a:buChar char="●"/>
            </a:pPr>
            <a:r>
              <a:rPr b="0" i="0" lang="en" sz="1600" u="none" cap="none" strike="noStrike">
                <a:solidFill>
                  <a:srgbClr val="393B3F"/>
                </a:solidFill>
                <a:latin typeface="Verdana"/>
                <a:ea typeface="Verdana"/>
                <a:cs typeface="Verdana"/>
                <a:sym typeface="Verdana"/>
              </a:rPr>
              <a:t>Each strand of DNA serves as a template for the creation of its </a:t>
            </a:r>
            <a:r>
              <a:rPr b="1" i="0" lang="en" sz="1600" u="none" cap="none" strike="noStrike">
                <a:solidFill>
                  <a:srgbClr val="393B3F"/>
                </a:solidFill>
                <a:latin typeface="Verdana"/>
                <a:ea typeface="Verdana"/>
                <a:cs typeface="Verdana"/>
                <a:sym typeface="Verdana"/>
              </a:rPr>
              <a:t>complementary strand</a:t>
            </a:r>
            <a:endParaRPr b="1"/>
          </a:p>
          <a:p>
            <a:pPr indent="-330200" lvl="0" marL="457200" marR="0" rtl="0" algn="l">
              <a:lnSpc>
                <a:spcPct val="100000"/>
              </a:lnSpc>
              <a:spcBef>
                <a:spcPts val="1000"/>
              </a:spcBef>
              <a:spcAft>
                <a:spcPts val="0"/>
              </a:spcAft>
              <a:buClr>
                <a:srgbClr val="393B3F"/>
              </a:buClr>
              <a:buSzPts val="1600"/>
              <a:buFont typeface="Verdana"/>
              <a:buChar char="●"/>
            </a:pPr>
            <a:r>
              <a:rPr b="0" i="0" lang="en" sz="1600" u="none" cap="none" strike="noStrike">
                <a:solidFill>
                  <a:srgbClr val="393B3F"/>
                </a:solidFill>
                <a:latin typeface="Verdana"/>
                <a:ea typeface="Verdana"/>
                <a:cs typeface="Verdana"/>
                <a:sym typeface="Verdana"/>
              </a:rPr>
              <a:t>DNA replication is thus said to be </a:t>
            </a:r>
            <a:r>
              <a:rPr b="1" i="1" lang="en" sz="1600" u="none" cap="none" strike="noStrike">
                <a:solidFill>
                  <a:srgbClr val="393B3F"/>
                </a:solidFill>
                <a:latin typeface="Verdana"/>
                <a:ea typeface="Verdana"/>
                <a:cs typeface="Verdana"/>
                <a:sym typeface="Verdana"/>
              </a:rPr>
              <a:t>semi-conservative</a:t>
            </a:r>
            <a:r>
              <a:rPr b="1" i="0" lang="en" sz="1600" u="none" cap="none" strike="noStrike">
                <a:solidFill>
                  <a:srgbClr val="393B3F"/>
                </a:solidFill>
                <a:latin typeface="Verdana"/>
                <a:ea typeface="Verdana"/>
                <a:cs typeface="Verdana"/>
                <a:sym typeface="Verdana"/>
              </a:rPr>
              <a:t>;</a:t>
            </a:r>
            <a:r>
              <a:rPr b="0" i="0" lang="en" sz="1600" u="none" cap="none" strike="noStrike">
                <a:solidFill>
                  <a:srgbClr val="393B3F"/>
                </a:solidFill>
                <a:latin typeface="Verdana"/>
                <a:ea typeface="Verdana"/>
                <a:cs typeface="Verdana"/>
                <a:sym typeface="Verdana"/>
              </a:rPr>
              <a:t> that is, each new molecule of DNA contains one strand of the original DNA molecule and on</a:t>
            </a:r>
            <a:r>
              <a:rPr lang="en" sz="1600">
                <a:solidFill>
                  <a:srgbClr val="393B3F"/>
                </a:solidFill>
                <a:latin typeface="Verdana"/>
                <a:ea typeface="Verdana"/>
                <a:cs typeface="Verdana"/>
                <a:sym typeface="Verdana"/>
              </a:rPr>
              <a:t>e newly synthesized strand</a:t>
            </a:r>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358" name="Google Shape;358;p25"/>
          <p:cNvPicPr preferRelativeResize="0"/>
          <p:nvPr/>
        </p:nvPicPr>
        <p:blipFill rotWithShape="1">
          <a:blip r:embed="rId3">
            <a:alphaModFix/>
          </a:blip>
          <a:srcRect b="0" l="0" r="0" t="0"/>
          <a:stretch/>
        </p:blipFill>
        <p:spPr>
          <a:xfrm>
            <a:off x="4908525" y="2311925"/>
            <a:ext cx="3137925" cy="2241375"/>
          </a:xfrm>
          <a:prstGeom prst="rect">
            <a:avLst/>
          </a:prstGeom>
          <a:noFill/>
          <a:ln>
            <a:noFill/>
          </a:ln>
        </p:spPr>
      </p:pic>
      <p:pic>
        <p:nvPicPr>
          <p:cNvPr id="359" name="Google Shape;359;p25"/>
          <p:cNvPicPr preferRelativeResize="0"/>
          <p:nvPr/>
        </p:nvPicPr>
        <p:blipFill>
          <a:blip r:embed="rId4">
            <a:alphaModFix/>
          </a:blip>
          <a:stretch>
            <a:fillRect/>
          </a:stretch>
        </p:blipFill>
        <p:spPr>
          <a:xfrm>
            <a:off x="126801" y="13351"/>
            <a:ext cx="2652796" cy="2070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descr="http://yourekascience.org/portfolio/the-most-beautiful-experiment-in-biology/&#10;&#10;In 1958, Matthew Meselson and Frank Stahl published the &quot;most beautiful experiment&quot;, where they demonstrated that DNA undergoes semi-conservative replication. In this video, we describe the experiments that lead to this discovery and why understanding how DNA replicates is so important. This video is a complement to Matthew Meselson's iBiology Discovery talk, where Meselson recalls the events that led him to meet Frank Stahl and to plan and execute these experiments.&#10;&#10;This video was produced in collaboration with iBiology.&#10;iBiology (www.ibiology.org) is a growing collection of free open-access online videos by scientists about research and discoveries in fields including cell biology, neuroscience, molecular biology, microbiology, ecology, development, and biophysics, and also features short talks on topics such as professional development, careers, policy, and education. iBiology is funded by NSF, NIGMS, and HHMI, and is supported by the ASCB and UCSF." id="364" name="Google Shape;364;p26" title="THE MOST BEAUTIFUL EXPERIMENT IN BIOLOGY: Meselson &amp; Stahl, The Semi-Conservative Replication of DNA">
            <a:hlinkClick r:id="rId3"/>
          </p:cNvPr>
          <p:cNvPicPr preferRelativeResize="0"/>
          <p:nvPr/>
        </p:nvPicPr>
        <p:blipFill>
          <a:blip r:embed="rId4">
            <a:alphaModFix/>
          </a:blip>
          <a:stretch>
            <a:fillRect/>
          </a:stretch>
        </p:blipFill>
        <p:spPr>
          <a:xfrm>
            <a:off x="1409450" y="1616850"/>
            <a:ext cx="3169675" cy="2377250"/>
          </a:xfrm>
          <a:prstGeom prst="rect">
            <a:avLst/>
          </a:prstGeom>
          <a:noFill/>
          <a:ln>
            <a:noFill/>
          </a:ln>
        </p:spPr>
      </p:pic>
      <p:sp>
        <p:nvSpPr>
          <p:cNvPr id="365" name="Google Shape;365;p26"/>
          <p:cNvSpPr txBox="1"/>
          <p:nvPr/>
        </p:nvSpPr>
        <p:spPr>
          <a:xfrm>
            <a:off x="1023801" y="863375"/>
            <a:ext cx="69801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800">
                <a:solidFill>
                  <a:srgbClr val="393B3F"/>
                </a:solidFill>
                <a:latin typeface="Verdana"/>
                <a:ea typeface="Verdana"/>
                <a:cs typeface="Verdana"/>
                <a:sym typeface="Verdana"/>
              </a:rPr>
              <a:t>The Meselson-Stahl Experiment</a:t>
            </a:r>
            <a:endParaRPr/>
          </a:p>
        </p:txBody>
      </p:sp>
      <p:sp>
        <p:nvSpPr>
          <p:cNvPr id="366" name="Google Shape;366;p26"/>
          <p:cNvSpPr txBox="1"/>
          <p:nvPr/>
        </p:nvSpPr>
        <p:spPr>
          <a:xfrm>
            <a:off x="4861975" y="1546275"/>
            <a:ext cx="3701700" cy="2793000"/>
          </a:xfrm>
          <a:prstGeom prst="rect">
            <a:avLst/>
          </a:prstGeom>
          <a:noFill/>
          <a:ln>
            <a:noFill/>
          </a:ln>
        </p:spPr>
        <p:txBody>
          <a:bodyPr anchorCtr="0" anchor="t" bIns="45700" lIns="91425" spcFirstLastPara="1" rIns="91425" wrap="square" tIns="45700">
            <a:noAutofit/>
          </a:bodyPr>
          <a:lstStyle/>
          <a:p>
            <a:pPr indent="-323850" lvl="0" marL="457200" marR="0" rtl="0" algn="l">
              <a:lnSpc>
                <a:spcPct val="100000"/>
              </a:lnSpc>
              <a:spcBef>
                <a:spcPts val="0"/>
              </a:spcBef>
              <a:spcAft>
                <a:spcPts val="0"/>
              </a:spcAft>
              <a:buClr>
                <a:srgbClr val="393B3F"/>
              </a:buClr>
              <a:buSzPts val="1500"/>
              <a:buFont typeface="Verdana"/>
              <a:buChar char="●"/>
            </a:pPr>
            <a:r>
              <a:rPr lang="en" sz="1500">
                <a:solidFill>
                  <a:srgbClr val="393B3F"/>
                </a:solidFill>
                <a:latin typeface="Verdana"/>
                <a:ea typeface="Verdana"/>
                <a:cs typeface="Verdana"/>
                <a:sym typeface="Verdana"/>
              </a:rPr>
              <a:t>The semiconservative nature of DNA replication was proven by the </a:t>
            </a:r>
            <a:r>
              <a:rPr b="1" lang="en" sz="1500">
                <a:solidFill>
                  <a:srgbClr val="393B3F"/>
                </a:solidFill>
                <a:latin typeface="Verdana"/>
                <a:ea typeface="Verdana"/>
                <a:cs typeface="Verdana"/>
                <a:sym typeface="Verdana"/>
              </a:rPr>
              <a:t>Meselson-Stahl</a:t>
            </a:r>
            <a:r>
              <a:rPr lang="en" sz="1500">
                <a:solidFill>
                  <a:srgbClr val="393B3F"/>
                </a:solidFill>
                <a:latin typeface="Verdana"/>
                <a:ea typeface="Verdana"/>
                <a:cs typeface="Verdana"/>
                <a:sym typeface="Verdana"/>
              </a:rPr>
              <a:t> Experiment.</a:t>
            </a:r>
            <a:endParaRPr sz="1500">
              <a:solidFill>
                <a:srgbClr val="393B3F"/>
              </a:solidFill>
              <a:latin typeface="Verdana"/>
              <a:ea typeface="Verdana"/>
              <a:cs typeface="Verdana"/>
              <a:sym typeface="Verdana"/>
            </a:endParaRPr>
          </a:p>
          <a:p>
            <a:pPr indent="-323850" lvl="0" marL="457200" marR="0" rtl="0" algn="l">
              <a:lnSpc>
                <a:spcPct val="100000"/>
              </a:lnSpc>
              <a:spcBef>
                <a:spcPts val="1000"/>
              </a:spcBef>
              <a:spcAft>
                <a:spcPts val="0"/>
              </a:spcAft>
              <a:buClr>
                <a:srgbClr val="393B3F"/>
              </a:buClr>
              <a:buSzPts val="1500"/>
              <a:buFont typeface="Verdana"/>
              <a:buChar char="●"/>
            </a:pPr>
            <a:r>
              <a:rPr lang="en" sz="1500">
                <a:solidFill>
                  <a:srgbClr val="393B3F"/>
                </a:solidFill>
                <a:latin typeface="Verdana"/>
                <a:ea typeface="Verdana"/>
                <a:cs typeface="Verdana"/>
                <a:sym typeface="Verdana"/>
              </a:rPr>
              <a:t>The semiconservative model maintains that the original double helix serves as a template for, but does not contribute to, a new double helix.</a:t>
            </a:r>
            <a:endParaRPr sz="15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5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27"/>
          <p:cNvPicPr preferRelativeResize="0"/>
          <p:nvPr/>
        </p:nvPicPr>
        <p:blipFill>
          <a:blip r:embed="rId3">
            <a:alphaModFix/>
          </a:blip>
          <a:stretch>
            <a:fillRect/>
          </a:stretch>
        </p:blipFill>
        <p:spPr>
          <a:xfrm>
            <a:off x="1872600" y="916187"/>
            <a:ext cx="5142249" cy="3439375"/>
          </a:xfrm>
          <a:prstGeom prst="rect">
            <a:avLst/>
          </a:prstGeom>
          <a:noFill/>
          <a:ln>
            <a:noFill/>
          </a:ln>
        </p:spPr>
      </p:pic>
      <p:sp>
        <p:nvSpPr>
          <p:cNvPr id="372" name="Google Shape;372;p27"/>
          <p:cNvSpPr txBox="1"/>
          <p:nvPr/>
        </p:nvSpPr>
        <p:spPr>
          <a:xfrm>
            <a:off x="1081951" y="529100"/>
            <a:ext cx="69801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800">
                <a:solidFill>
                  <a:srgbClr val="393B3F"/>
                </a:solidFill>
                <a:latin typeface="Verdana"/>
                <a:ea typeface="Verdana"/>
                <a:cs typeface="Verdana"/>
                <a:sym typeface="Verdana"/>
              </a:rPr>
              <a:t>The Meselson-Stahl Experiment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8"/>
          <p:cNvSpPr txBox="1"/>
          <p:nvPr/>
        </p:nvSpPr>
        <p:spPr>
          <a:xfrm>
            <a:off x="1969000" y="500150"/>
            <a:ext cx="5036700" cy="49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Verdana"/>
              <a:buNone/>
            </a:pPr>
            <a:r>
              <a:rPr b="1" i="0" lang="en" sz="2400" u="none" cap="none" strike="noStrike">
                <a:solidFill>
                  <a:srgbClr val="000000"/>
                </a:solidFill>
                <a:latin typeface="Verdana"/>
                <a:ea typeface="Verdana"/>
                <a:cs typeface="Verdana"/>
                <a:sym typeface="Verdana"/>
              </a:rPr>
              <a:t>DNA Replication</a:t>
            </a:r>
            <a:endParaRPr/>
          </a:p>
        </p:txBody>
      </p:sp>
      <p:pic>
        <p:nvPicPr>
          <p:cNvPr descr="Learn the steps of DNA replication, the enzymes involved, and what it means to be a leading or lagging strand! This video has a handout here: http://www.amoebasisters.com/handouts See table of contents by expanding details 👇&#10;&#10;Table of Contents:&#10;Where and When DNA Replication Occurs 0:37&#10;Why Do You Need to Make More DNA? 1:48&#10;(Some of the) Enzymes Involved in DNA Replication 2:02&#10;DNA Replication Steps 3:22&#10;What does 5' to 3' or 3' to 5' mean? 4:43&#10;Lagging Strand 6:04&#10;&#10;Support us on Patreon! http://www.patreon.com/amoebasisters &#10;&#10;Our FREE resources:&#10;GIFs: http://www.amoebasisters.com/gifs.html&#10;Handouts: http://www.amoebasisters.com/handouts.html&#10;Comics: http://www.amoebasisters.com/parameciumparlorcomics&#10;&#10;Connect with us!&#10;Website: http://www.AmoebaSisters.com&#10;Twitter: http://www.twitter.com/AmoebaSisters&#10;Facebook: http://www.facebook.com/AmoebaSisters&#10;Tumblr: http://www.amoebasisters.tumblr.com&#10;Pinterest: http://www.pinterest.com/AmoebaSister­s&#10;Instagram: https://www.instagram.com/amoebasistersofficial/&#10;&#10;Visit our Redbubble store at http://www.amoebasisters.com/store.html&#10;&#10;The Amoeba Sisters videos demystify science with humor and relevance. The videos center on Pinky's certification and experience in teaching science at the high school level. Pinky's teacher certification is in grades 4-8 science and 8-12 composite science (encompassing biology, chemistry, and physics).  Amoeba Sisters videos only cover concepts that Pinky is certified to teach, and they focus on her specialty: secondary life science. For more information about The Amoeba Sisters, visit: http://www.amoebasisters.com/about-us.html&#10;&#10;We cover the basics in biology concepts at the secondary level. If you are looking to discover more about biology and go into depth beyond these basics, our recommended reference is the FREE, peer reviewed, open source OpenStax biology textbook: https://openstax.org/details/books/biology&#10;&#10;P.S. On our website, we emphasize that our videos contain science comics- not scientific illustrations. In real life, amoebas don't look like our characters. Our illustrated cell cartoons are definitely not to scale. Nitrogen and carbon don't tap dance. DNA is right-handed (but there are exceptions- worth a google) and doesn't have eyes...a face...or a top hat...&#10;Learn more about the purpose of our videos here: http://www.amoebasisters.com/our-videos.html&#10;&#10;We take pride in our AWESOME community, and we welcome feedback and discussion.  However, please remember that this is an education channel. See YouTube's community guidelines https://www.youtube.com/yt/policyandsafety/communityguidelines.html and YouTube's policy center https://support.google.com/youtube/topic/2676378?hl=en&amp;ref_topic=6151248.  We also reserve the right to remove comments with vulgar language.&#10;&#10;Music is this video is listed free to use/no attribution required from the YouTube audio library https://www.youtube.com/audiolibrary/music?feature=blog&#10;&#10;We have YouTube's community contributed subtitles feature on to allow translations for different languages. YouTube automatically credits the different language contributors below (unless the contributor had opted out of being credited). We are thankful for those that contribute different languages. If you have a concern about community contributed contributions, please contact us." id="378" name="Google Shape;378;p28" title="DNA Replication: The Cell's Extreme Team Sport">
            <a:hlinkClick r:id="rId3"/>
          </p:cNvPr>
          <p:cNvPicPr preferRelativeResize="0"/>
          <p:nvPr/>
        </p:nvPicPr>
        <p:blipFill>
          <a:blip r:embed="rId4">
            <a:alphaModFix/>
          </a:blip>
          <a:stretch>
            <a:fillRect/>
          </a:stretch>
        </p:blipFill>
        <p:spPr>
          <a:xfrm>
            <a:off x="5158246" y="2726700"/>
            <a:ext cx="2726050" cy="2044550"/>
          </a:xfrm>
          <a:prstGeom prst="rect">
            <a:avLst/>
          </a:prstGeom>
          <a:noFill/>
          <a:ln>
            <a:noFill/>
          </a:ln>
        </p:spPr>
      </p:pic>
      <p:sp>
        <p:nvSpPr>
          <p:cNvPr id="379" name="Google Shape;379;p28"/>
          <p:cNvSpPr txBox="1"/>
          <p:nvPr/>
        </p:nvSpPr>
        <p:spPr>
          <a:xfrm>
            <a:off x="616550" y="1254650"/>
            <a:ext cx="78501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Verdana"/>
                <a:ea typeface="Verdana"/>
                <a:cs typeface="Verdana"/>
                <a:sym typeface="Verdana"/>
              </a:rPr>
              <a:t>Watch these videos first, then read the summary in the next slides. You may then come back and re-watch these videos, or find others to better understand the process as a whole. </a:t>
            </a:r>
            <a:endParaRPr sz="1800">
              <a:solidFill>
                <a:schemeClr val="dk2"/>
              </a:solidFill>
              <a:latin typeface="Verdana"/>
              <a:ea typeface="Verdana"/>
              <a:cs typeface="Verdana"/>
              <a:sym typeface="Verdana"/>
            </a:endParaRPr>
          </a:p>
        </p:txBody>
      </p:sp>
      <p:pic>
        <p:nvPicPr>
          <p:cNvPr descr="This 3D animation shows you how DNA is copied in a cell. It shows how both strands of the DNA helix are unzipped and copied to produce two identical DNA molecules.  &#10;&#10;To download the subtitles (.srt) for this video, please use the following link: &#10;https://drive.google.com/file/d/0B1CbdfY31ykoZlhrcXUtcVIyNEU/view?usp=sharing&amp;resourcekey=0--VxJZWBrWoXLJUPbQ8cttg&#10;For more information, download the video, and explore related resources on our site: http://www.yourgenome.org/video/dna-replication&#10;&#10;---&#10;Animated by Polymime Animation Company Ltd.&#10;http://www.polymime.com&#10;http://www.instagram.com/polymimestudio" id="380" name="Google Shape;380;p28" title="DNA replication - 3D">
            <a:hlinkClick r:id="rId5"/>
          </p:cNvPr>
          <p:cNvPicPr preferRelativeResize="0"/>
          <p:nvPr/>
        </p:nvPicPr>
        <p:blipFill>
          <a:blip r:embed="rId6">
            <a:alphaModFix/>
          </a:blip>
          <a:stretch>
            <a:fillRect/>
          </a:stretch>
        </p:blipFill>
        <p:spPr>
          <a:xfrm>
            <a:off x="1273825" y="289172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1000"/>
                                        <p:tgtEl>
                                          <p:spTgt spid="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9"/>
          <p:cNvSpPr txBox="1"/>
          <p:nvPr/>
        </p:nvSpPr>
        <p:spPr>
          <a:xfrm>
            <a:off x="744625" y="887550"/>
            <a:ext cx="4120800" cy="3495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1800"/>
              <a:buFont typeface="Verdana"/>
              <a:buNone/>
            </a:pPr>
            <a:r>
              <a:rPr b="1" i="0" lang="en" sz="1800" u="sng" cap="none" strike="noStrike">
                <a:solidFill>
                  <a:srgbClr val="393B3F"/>
                </a:solidFill>
                <a:latin typeface="Verdana"/>
                <a:ea typeface="Verdana"/>
                <a:cs typeface="Verdana"/>
                <a:sym typeface="Verdana"/>
              </a:rPr>
              <a:t>STEP 1: INITIATION</a:t>
            </a:r>
            <a:endParaRPr/>
          </a:p>
          <a:p>
            <a:pPr indent="-228600" lvl="0" marL="457200" marR="0" rtl="0" algn="l">
              <a:lnSpc>
                <a:spcPct val="100000"/>
              </a:lnSpc>
              <a:spcBef>
                <a:spcPts val="1000"/>
              </a:spcBef>
              <a:spcAft>
                <a:spcPts val="0"/>
              </a:spcAft>
              <a:buClr>
                <a:srgbClr val="393B3F"/>
              </a:buClr>
              <a:buSzPts val="1400"/>
              <a:buFont typeface="Verdana"/>
              <a:buAutoNum type="arabicPeriod"/>
            </a:pPr>
            <a:r>
              <a:rPr b="0" i="0" lang="en" sz="1400" u="none" cap="none" strike="noStrike">
                <a:solidFill>
                  <a:srgbClr val="393B3F"/>
                </a:solidFill>
                <a:latin typeface="Verdana"/>
                <a:ea typeface="Verdana"/>
                <a:cs typeface="Verdana"/>
                <a:sym typeface="Verdana"/>
              </a:rPr>
              <a:t>A group of enzymes known as </a:t>
            </a:r>
            <a:r>
              <a:rPr b="1" i="1" lang="en" sz="1400" u="none" cap="none" strike="noStrike">
                <a:solidFill>
                  <a:srgbClr val="393B3F"/>
                </a:solidFill>
                <a:latin typeface="Verdana"/>
                <a:ea typeface="Verdana"/>
                <a:cs typeface="Verdana"/>
                <a:sym typeface="Verdana"/>
              </a:rPr>
              <a:t>helicases</a:t>
            </a:r>
            <a:r>
              <a:rPr b="0" i="0" lang="en" sz="1400" u="none" cap="none" strike="noStrike">
                <a:solidFill>
                  <a:srgbClr val="393B3F"/>
                </a:solidFill>
                <a:latin typeface="Verdana"/>
                <a:ea typeface="Verdana"/>
                <a:cs typeface="Verdana"/>
                <a:sym typeface="Verdana"/>
              </a:rPr>
              <a:t> bind to a specific sequence of DNA referred to as the </a:t>
            </a:r>
            <a:r>
              <a:rPr b="1" i="1" lang="en" sz="1400" u="none" cap="none" strike="noStrike">
                <a:solidFill>
                  <a:srgbClr val="393B3F"/>
                </a:solidFill>
                <a:latin typeface="Verdana"/>
                <a:ea typeface="Verdana"/>
                <a:cs typeface="Verdana"/>
                <a:sym typeface="Verdana"/>
              </a:rPr>
              <a:t>replication origin</a:t>
            </a:r>
            <a:endParaRPr b="1"/>
          </a:p>
          <a:p>
            <a:pPr indent="-228600" lvl="0" marL="457200" marR="0" rtl="0" algn="l">
              <a:lnSpc>
                <a:spcPct val="100000"/>
              </a:lnSpc>
              <a:spcBef>
                <a:spcPts val="1000"/>
              </a:spcBef>
              <a:spcAft>
                <a:spcPts val="0"/>
              </a:spcAft>
              <a:buClr>
                <a:srgbClr val="393B3F"/>
              </a:buClr>
              <a:buSzPts val="1400"/>
              <a:buFont typeface="Verdana"/>
              <a:buAutoNum type="arabicPeriod"/>
            </a:pPr>
            <a:r>
              <a:rPr b="0" i="0" lang="en" sz="1400" u="none" cap="none" strike="noStrike">
                <a:solidFill>
                  <a:srgbClr val="393B3F"/>
                </a:solidFill>
                <a:latin typeface="Verdana"/>
                <a:ea typeface="Verdana"/>
                <a:cs typeface="Verdana"/>
                <a:sym typeface="Verdana"/>
              </a:rPr>
              <a:t>The helicases then “cut” and unravel the double helix. The y-shaped area that forms where the DNA is split is known as the </a:t>
            </a:r>
            <a:r>
              <a:rPr b="1" i="1" lang="en" sz="1400" u="none" cap="none" strike="noStrike">
                <a:solidFill>
                  <a:srgbClr val="393B3F"/>
                </a:solidFill>
                <a:latin typeface="Verdana"/>
                <a:ea typeface="Verdana"/>
                <a:cs typeface="Verdana"/>
                <a:sym typeface="Verdana"/>
              </a:rPr>
              <a:t>replication fork</a:t>
            </a:r>
            <a:r>
              <a:rPr b="0" i="0" lang="en" sz="1400" u="none" cap="none" strike="noStrike">
                <a:solidFill>
                  <a:srgbClr val="393B3F"/>
                </a:solidFill>
                <a:latin typeface="Verdana"/>
                <a:ea typeface="Verdana"/>
                <a:cs typeface="Verdana"/>
                <a:sym typeface="Verdana"/>
              </a:rPr>
              <a:t>, while the unwound region is known as the </a:t>
            </a:r>
            <a:r>
              <a:rPr b="1" i="1" lang="en" sz="1400" u="none" cap="none" strike="noStrike">
                <a:solidFill>
                  <a:srgbClr val="393B3F"/>
                </a:solidFill>
                <a:latin typeface="Verdana"/>
                <a:ea typeface="Verdana"/>
                <a:cs typeface="Verdana"/>
                <a:sym typeface="Verdana"/>
              </a:rPr>
              <a:t>replication bubble</a:t>
            </a:r>
            <a:r>
              <a:rPr b="1" i="0" lang="en" sz="1400" u="none" cap="none" strike="noStrike">
                <a:solidFill>
                  <a:srgbClr val="393B3F"/>
                </a:solidFill>
                <a:latin typeface="Verdana"/>
                <a:ea typeface="Verdana"/>
                <a:cs typeface="Verdana"/>
                <a:sym typeface="Verdana"/>
              </a:rPr>
              <a:t>.</a:t>
            </a:r>
            <a:endParaRPr b="1"/>
          </a:p>
          <a:p>
            <a:pPr indent="-228600" lvl="0" marL="457200" marR="0" rtl="0" algn="l">
              <a:lnSpc>
                <a:spcPct val="100000"/>
              </a:lnSpc>
              <a:spcBef>
                <a:spcPts val="1000"/>
              </a:spcBef>
              <a:spcAft>
                <a:spcPts val="0"/>
              </a:spcAft>
              <a:buClr>
                <a:srgbClr val="393B3F"/>
              </a:buClr>
              <a:buSzPts val="1400"/>
              <a:buFont typeface="Verdana"/>
              <a:buAutoNum type="arabicPeriod"/>
            </a:pPr>
            <a:r>
              <a:rPr b="0" i="0" lang="en" sz="1400" u="none" cap="none" strike="noStrike">
                <a:solidFill>
                  <a:srgbClr val="393B3F"/>
                </a:solidFill>
                <a:latin typeface="Verdana"/>
                <a:ea typeface="Verdana"/>
                <a:cs typeface="Verdana"/>
                <a:sym typeface="Verdana"/>
              </a:rPr>
              <a:t>The single unwound strands of DNA serve as templates for replication</a:t>
            </a:r>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386" name="Google Shape;386;p29"/>
          <p:cNvPicPr preferRelativeResize="0"/>
          <p:nvPr/>
        </p:nvPicPr>
        <p:blipFill rotWithShape="1">
          <a:blip r:embed="rId3">
            <a:alphaModFix/>
          </a:blip>
          <a:srcRect b="0" l="0" r="0" t="0"/>
          <a:stretch/>
        </p:blipFill>
        <p:spPr>
          <a:xfrm>
            <a:off x="4944275" y="1636074"/>
            <a:ext cx="3169100" cy="2243899"/>
          </a:xfrm>
          <a:prstGeom prst="rect">
            <a:avLst/>
          </a:prstGeom>
          <a:noFill/>
          <a:ln cap="flat" cmpd="sng" w="19050">
            <a:solidFill>
              <a:srgbClr val="999999"/>
            </a:solidFill>
            <a:prstDash val="solid"/>
            <a:round/>
            <a:headEnd len="sm" w="sm" type="none"/>
            <a:tailEnd len="sm" w="sm" type="none"/>
          </a:ln>
        </p:spPr>
      </p:pic>
      <p:sp>
        <p:nvSpPr>
          <p:cNvPr id="387" name="Google Shape;387;p29"/>
          <p:cNvSpPr txBox="1"/>
          <p:nvPr/>
        </p:nvSpPr>
        <p:spPr>
          <a:xfrm>
            <a:off x="1796475" y="395550"/>
            <a:ext cx="5036700" cy="49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Verdana"/>
              <a:buNone/>
            </a:pPr>
            <a:r>
              <a:rPr b="1" i="0" lang="en" sz="2400" u="none" cap="none" strike="noStrike">
                <a:solidFill>
                  <a:srgbClr val="000000"/>
                </a:solidFill>
                <a:latin typeface="Verdana"/>
                <a:ea typeface="Verdana"/>
                <a:cs typeface="Verdana"/>
                <a:sym typeface="Verdana"/>
              </a:rPr>
              <a:t>DNA Replication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0"/>
          <p:cNvSpPr txBox="1"/>
          <p:nvPr/>
        </p:nvSpPr>
        <p:spPr>
          <a:xfrm>
            <a:off x="744625" y="683850"/>
            <a:ext cx="3856500" cy="3635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1800"/>
              <a:buFont typeface="Verdana"/>
              <a:buNone/>
            </a:pPr>
            <a:r>
              <a:rPr b="1" i="0" lang="en" sz="1800" u="sng" cap="none" strike="noStrike">
                <a:solidFill>
                  <a:srgbClr val="393B3F"/>
                </a:solidFill>
                <a:latin typeface="Verdana"/>
                <a:ea typeface="Verdana"/>
                <a:cs typeface="Verdana"/>
                <a:sym typeface="Verdana"/>
              </a:rPr>
              <a:t>STEP 2: ELONGATION</a:t>
            </a:r>
            <a:endParaRPr/>
          </a:p>
          <a:p>
            <a:pPr indent="-298450" lvl="0" marL="457200" marR="0" rtl="0" algn="l">
              <a:lnSpc>
                <a:spcPct val="100000"/>
              </a:lnSpc>
              <a:spcBef>
                <a:spcPts val="1000"/>
              </a:spcBef>
              <a:spcAft>
                <a:spcPts val="0"/>
              </a:spcAft>
              <a:buClr>
                <a:srgbClr val="393B3F"/>
              </a:buClr>
              <a:buSzPts val="1100"/>
              <a:buFont typeface="Verdana"/>
              <a:buAutoNum type="arabicPeriod" startAt="4"/>
            </a:pPr>
            <a:r>
              <a:rPr lang="en" sz="1100">
                <a:solidFill>
                  <a:srgbClr val="393B3F"/>
                </a:solidFill>
                <a:latin typeface="Verdana"/>
                <a:ea typeface="Verdana"/>
                <a:cs typeface="Verdana"/>
                <a:sym typeface="Verdana"/>
              </a:rPr>
              <a:t>A </a:t>
            </a:r>
            <a:r>
              <a:rPr b="1" lang="en" sz="1100">
                <a:solidFill>
                  <a:srgbClr val="393B3F"/>
                </a:solidFill>
                <a:latin typeface="Verdana"/>
                <a:ea typeface="Verdana"/>
                <a:cs typeface="Verdana"/>
                <a:sym typeface="Verdana"/>
              </a:rPr>
              <a:t>primer</a:t>
            </a:r>
            <a:r>
              <a:rPr lang="en" sz="1100">
                <a:solidFill>
                  <a:srgbClr val="393B3F"/>
                </a:solidFill>
                <a:latin typeface="Verdana"/>
                <a:ea typeface="Verdana"/>
                <a:cs typeface="Verdana"/>
                <a:sym typeface="Verdana"/>
              </a:rPr>
              <a:t> sequence synthesized by the </a:t>
            </a:r>
            <a:r>
              <a:rPr b="1" i="1" lang="en" sz="1100">
                <a:solidFill>
                  <a:srgbClr val="393B3F"/>
                </a:solidFill>
                <a:latin typeface="Verdana"/>
                <a:ea typeface="Verdana"/>
                <a:cs typeface="Verdana"/>
                <a:sym typeface="Verdana"/>
              </a:rPr>
              <a:t>RNA primase</a:t>
            </a:r>
            <a:r>
              <a:rPr lang="en" sz="1100">
                <a:solidFill>
                  <a:srgbClr val="393B3F"/>
                </a:solidFill>
                <a:latin typeface="Verdana"/>
                <a:ea typeface="Verdana"/>
                <a:cs typeface="Verdana"/>
                <a:sym typeface="Verdana"/>
              </a:rPr>
              <a:t> enzyme signals </a:t>
            </a:r>
            <a:r>
              <a:rPr b="1" lang="en" sz="1100">
                <a:solidFill>
                  <a:srgbClr val="393B3F"/>
                </a:solidFill>
                <a:latin typeface="Verdana"/>
                <a:ea typeface="Verdana"/>
                <a:cs typeface="Verdana"/>
                <a:sym typeface="Verdana"/>
              </a:rPr>
              <a:t>DNA polymerase </a:t>
            </a:r>
            <a:r>
              <a:rPr lang="en" sz="1100">
                <a:solidFill>
                  <a:srgbClr val="393B3F"/>
                </a:solidFill>
                <a:latin typeface="Verdana"/>
                <a:ea typeface="Verdana"/>
                <a:cs typeface="Verdana"/>
                <a:sym typeface="Verdana"/>
              </a:rPr>
              <a:t>where to begin.</a:t>
            </a:r>
            <a:endParaRPr sz="1100">
              <a:solidFill>
                <a:srgbClr val="393B3F"/>
              </a:solidFill>
              <a:latin typeface="Verdana"/>
              <a:ea typeface="Verdana"/>
              <a:cs typeface="Verdana"/>
              <a:sym typeface="Verdana"/>
            </a:endParaRPr>
          </a:p>
          <a:p>
            <a:pPr indent="-298450" lvl="0" marL="457200" marR="0" rtl="0" algn="l">
              <a:lnSpc>
                <a:spcPct val="100000"/>
              </a:lnSpc>
              <a:spcBef>
                <a:spcPts val="1000"/>
              </a:spcBef>
              <a:spcAft>
                <a:spcPts val="0"/>
              </a:spcAft>
              <a:buClr>
                <a:srgbClr val="393B3F"/>
              </a:buClr>
              <a:buSzPts val="1100"/>
              <a:buFont typeface="Verdana"/>
              <a:buAutoNum type="arabicPeriod" startAt="4"/>
            </a:pPr>
            <a:r>
              <a:rPr b="1" i="1" lang="en" sz="1100" u="none" cap="none" strike="noStrike">
                <a:solidFill>
                  <a:srgbClr val="393B3F"/>
                </a:solidFill>
                <a:latin typeface="Verdana"/>
                <a:ea typeface="Verdana"/>
                <a:cs typeface="Verdana"/>
                <a:sym typeface="Verdana"/>
              </a:rPr>
              <a:t>DNA polymerase</a:t>
            </a:r>
            <a:r>
              <a:rPr b="0" i="1" lang="en" sz="1100" u="none" cap="none" strike="noStrike">
                <a:solidFill>
                  <a:srgbClr val="393B3F"/>
                </a:solidFill>
                <a:latin typeface="Verdana"/>
                <a:ea typeface="Verdana"/>
                <a:cs typeface="Verdana"/>
                <a:sym typeface="Verdana"/>
              </a:rPr>
              <a:t> </a:t>
            </a:r>
            <a:r>
              <a:rPr b="0" i="0" lang="en" sz="1100" u="none" cap="none" strike="noStrike">
                <a:solidFill>
                  <a:srgbClr val="393B3F"/>
                </a:solidFill>
                <a:latin typeface="Verdana"/>
                <a:ea typeface="Verdana"/>
                <a:cs typeface="Verdana"/>
                <a:sym typeface="Verdana"/>
              </a:rPr>
              <a:t>begins to add nucleotides within the replication bubble, creating two new strands of DNA that are complementary to each existing strand.</a:t>
            </a:r>
            <a:endParaRPr sz="1100"/>
          </a:p>
          <a:p>
            <a:pPr indent="-298450" lvl="0" marL="457200" marR="0" rtl="0" algn="l">
              <a:lnSpc>
                <a:spcPct val="100000"/>
              </a:lnSpc>
              <a:spcBef>
                <a:spcPts val="1000"/>
              </a:spcBef>
              <a:spcAft>
                <a:spcPts val="0"/>
              </a:spcAft>
              <a:buClr>
                <a:srgbClr val="393B3F"/>
              </a:buClr>
              <a:buSzPts val="1100"/>
              <a:buFont typeface="Verdana"/>
              <a:buAutoNum type="arabicPeriod" startAt="4"/>
            </a:pPr>
            <a:r>
              <a:rPr b="0" lang="en" sz="1100" u="none" cap="none" strike="noStrike">
                <a:solidFill>
                  <a:srgbClr val="393B3F"/>
                </a:solidFill>
                <a:latin typeface="Verdana"/>
                <a:ea typeface="Verdana"/>
                <a:cs typeface="Verdana"/>
                <a:sym typeface="Verdana"/>
              </a:rPr>
              <a:t>Once replication is complete, the primers are removed by </a:t>
            </a:r>
            <a:r>
              <a:rPr b="0" i="1" lang="en" sz="1100" u="none" cap="none" strike="noStrike">
                <a:solidFill>
                  <a:srgbClr val="393B3F"/>
                </a:solidFill>
                <a:latin typeface="Verdana"/>
                <a:ea typeface="Verdana"/>
                <a:cs typeface="Verdana"/>
                <a:sym typeface="Verdana"/>
              </a:rPr>
              <a:t>DNA polymerase </a:t>
            </a:r>
            <a:endParaRPr sz="1100">
              <a:solidFill>
                <a:srgbClr val="393B3F"/>
              </a:solidFill>
              <a:latin typeface="Verdana"/>
              <a:ea typeface="Verdana"/>
              <a:cs typeface="Verdana"/>
              <a:sym typeface="Verdana"/>
            </a:endParaRPr>
          </a:p>
          <a:p>
            <a:pPr indent="-298450" lvl="0" marL="457200" marR="0" rtl="0" algn="l">
              <a:lnSpc>
                <a:spcPct val="100000"/>
              </a:lnSpc>
              <a:spcBef>
                <a:spcPts val="1000"/>
              </a:spcBef>
              <a:spcAft>
                <a:spcPts val="0"/>
              </a:spcAft>
              <a:buClr>
                <a:srgbClr val="393B3F"/>
              </a:buClr>
              <a:buSzPts val="1100"/>
              <a:buFont typeface="Verdana"/>
              <a:buAutoNum type="arabicPeriod" startAt="4"/>
            </a:pPr>
            <a:r>
              <a:rPr b="1" i="0" lang="en" sz="1100" u="none" cap="none" strike="noStrike">
                <a:solidFill>
                  <a:srgbClr val="393B3F"/>
                </a:solidFill>
                <a:latin typeface="Verdana"/>
                <a:ea typeface="Verdana"/>
                <a:cs typeface="Verdana"/>
                <a:sym typeface="Verdana"/>
              </a:rPr>
              <a:t>Elongation always takes place in the 5’ to 3’ direction</a:t>
            </a:r>
            <a:r>
              <a:rPr b="0" i="0" lang="en" sz="1100" u="none" cap="none" strike="noStrike">
                <a:solidFill>
                  <a:srgbClr val="393B3F"/>
                </a:solidFill>
                <a:latin typeface="Verdana"/>
                <a:ea typeface="Verdana"/>
                <a:cs typeface="Verdana"/>
                <a:sym typeface="Verdana"/>
              </a:rPr>
              <a:t>, meaning that one strand will always be “</a:t>
            </a:r>
            <a:r>
              <a:rPr b="1" i="0" lang="en" sz="1100" u="none" cap="none" strike="noStrike">
                <a:solidFill>
                  <a:srgbClr val="393B3F"/>
                </a:solidFill>
                <a:latin typeface="Verdana"/>
                <a:ea typeface="Verdana"/>
                <a:cs typeface="Verdana"/>
                <a:sym typeface="Verdana"/>
              </a:rPr>
              <a:t>leading</a:t>
            </a:r>
            <a:r>
              <a:rPr b="0" i="0" lang="en" sz="1100" u="none" cap="none" strike="noStrike">
                <a:solidFill>
                  <a:srgbClr val="393B3F"/>
                </a:solidFill>
                <a:latin typeface="Verdana"/>
                <a:ea typeface="Verdana"/>
                <a:cs typeface="Verdana"/>
                <a:sym typeface="Verdana"/>
              </a:rPr>
              <a:t>” (replicated continuously) and the other will always be “</a:t>
            </a:r>
            <a:r>
              <a:rPr b="1" i="0" lang="en" sz="1100" u="none" cap="none" strike="noStrike">
                <a:solidFill>
                  <a:srgbClr val="393B3F"/>
                </a:solidFill>
                <a:latin typeface="Verdana"/>
                <a:ea typeface="Verdana"/>
                <a:cs typeface="Verdana"/>
                <a:sym typeface="Verdana"/>
              </a:rPr>
              <a:t>lagging</a:t>
            </a:r>
            <a:r>
              <a:rPr b="0" i="0" lang="en" sz="1100" u="none" cap="none" strike="noStrike">
                <a:solidFill>
                  <a:srgbClr val="393B3F"/>
                </a:solidFill>
                <a:latin typeface="Verdana"/>
                <a:ea typeface="Verdana"/>
                <a:cs typeface="Verdana"/>
                <a:sym typeface="Verdana"/>
              </a:rPr>
              <a:t>” (replicated in short segments known as </a:t>
            </a:r>
            <a:r>
              <a:rPr b="1" i="1" lang="en" sz="1100" u="none" cap="none" strike="noStrike">
                <a:solidFill>
                  <a:srgbClr val="393B3F"/>
                </a:solidFill>
                <a:latin typeface="Verdana"/>
                <a:ea typeface="Verdana"/>
                <a:cs typeface="Verdana"/>
                <a:sym typeface="Verdana"/>
              </a:rPr>
              <a:t>Okazaki fragments</a:t>
            </a:r>
            <a:r>
              <a:rPr b="0" i="0" lang="en" sz="1100" u="none" cap="none" strike="noStrike">
                <a:solidFill>
                  <a:srgbClr val="393B3F"/>
                </a:solidFill>
                <a:latin typeface="Verdana"/>
                <a:ea typeface="Verdana"/>
                <a:cs typeface="Verdana"/>
                <a:sym typeface="Verdana"/>
              </a:rPr>
              <a:t>)</a:t>
            </a:r>
            <a:endParaRPr sz="1100"/>
          </a:p>
          <a:p>
            <a:pPr indent="-298450" lvl="0" marL="457200" marR="0" rtl="0" algn="l">
              <a:lnSpc>
                <a:spcPct val="100000"/>
              </a:lnSpc>
              <a:spcBef>
                <a:spcPts val="1000"/>
              </a:spcBef>
              <a:spcAft>
                <a:spcPts val="0"/>
              </a:spcAft>
              <a:buClr>
                <a:srgbClr val="393B3F"/>
              </a:buClr>
              <a:buSzPts val="1100"/>
              <a:buFont typeface="Verdana"/>
              <a:buAutoNum type="arabicPeriod" startAt="4"/>
            </a:pPr>
            <a:r>
              <a:rPr b="0" i="0" lang="en" sz="1100" u="none" cap="none" strike="noStrike">
                <a:solidFill>
                  <a:srgbClr val="393B3F"/>
                </a:solidFill>
                <a:latin typeface="Verdana"/>
                <a:ea typeface="Verdana"/>
                <a:cs typeface="Verdana"/>
                <a:sym typeface="Verdana"/>
              </a:rPr>
              <a:t>Okazaki fragments of the lagging strand are spliced (</a:t>
            </a:r>
            <a:r>
              <a:rPr lang="en" sz="1100">
                <a:solidFill>
                  <a:srgbClr val="393B3F"/>
                </a:solidFill>
                <a:latin typeface="Verdana"/>
                <a:ea typeface="Verdana"/>
                <a:cs typeface="Verdana"/>
                <a:sym typeface="Verdana"/>
              </a:rPr>
              <a:t>‘glued’) </a:t>
            </a:r>
            <a:r>
              <a:rPr b="0" i="0" lang="en" sz="1100" u="none" cap="none" strike="noStrike">
                <a:solidFill>
                  <a:srgbClr val="393B3F"/>
                </a:solidFill>
                <a:latin typeface="Verdana"/>
                <a:ea typeface="Verdana"/>
                <a:cs typeface="Verdana"/>
                <a:sym typeface="Verdana"/>
              </a:rPr>
              <a:t>together by an enzyme known as </a:t>
            </a:r>
            <a:r>
              <a:rPr b="1" i="1" lang="en" sz="1100" u="none" cap="none" strike="noStrike">
                <a:solidFill>
                  <a:srgbClr val="393B3F"/>
                </a:solidFill>
                <a:latin typeface="Verdana"/>
                <a:ea typeface="Verdana"/>
                <a:cs typeface="Verdana"/>
                <a:sym typeface="Verdana"/>
              </a:rPr>
              <a:t>DNA ligase</a:t>
            </a:r>
            <a:endParaRPr b="1" sz="1100"/>
          </a:p>
          <a:p>
            <a:pPr indent="0" lvl="0" marL="0" marR="0" rtl="0" algn="l">
              <a:lnSpc>
                <a:spcPct val="100000"/>
              </a:lnSpc>
              <a:spcBef>
                <a:spcPts val="1000"/>
              </a:spcBef>
              <a:spcAft>
                <a:spcPts val="0"/>
              </a:spcAft>
              <a:buClr>
                <a:srgbClr val="000000"/>
              </a:buClr>
              <a:buSzPts val="1400"/>
              <a:buFont typeface="Arial"/>
              <a:buNone/>
            </a:pPr>
            <a:r>
              <a:t/>
            </a:r>
            <a:endParaRPr b="0" i="0" sz="1100" u="none" cap="none" strike="noStrike">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393" name="Google Shape;393;p30"/>
          <p:cNvPicPr preferRelativeResize="0"/>
          <p:nvPr/>
        </p:nvPicPr>
        <p:blipFill rotWithShape="1">
          <a:blip r:embed="rId3">
            <a:alphaModFix/>
          </a:blip>
          <a:srcRect b="0" l="0" r="0" t="0"/>
          <a:stretch/>
        </p:blipFill>
        <p:spPr>
          <a:xfrm>
            <a:off x="4897624" y="1533549"/>
            <a:ext cx="3482324" cy="2668924"/>
          </a:xfrm>
          <a:prstGeom prst="rect">
            <a:avLst/>
          </a:prstGeom>
          <a:noFill/>
          <a:ln>
            <a:noFill/>
          </a:ln>
        </p:spPr>
      </p:pic>
      <p:sp>
        <p:nvSpPr>
          <p:cNvPr id="394" name="Google Shape;394;p30"/>
          <p:cNvSpPr txBox="1"/>
          <p:nvPr/>
        </p:nvSpPr>
        <p:spPr>
          <a:xfrm>
            <a:off x="4724975" y="90900"/>
            <a:ext cx="4281000" cy="13455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Verdana"/>
                <a:ea typeface="Verdana"/>
                <a:cs typeface="Verdana"/>
                <a:sym typeface="Verdana"/>
              </a:rPr>
              <a:t>Tip: There’s often meaning in words in biology. Anything that ends in ‘ase’ is an enzyme, that ‘makes something happen’. A polymer, is a long chain of monomer subunits, such as nucleotides. DNA polymerase, therefore is an enzyme that creates DNA polymerase. </a:t>
            </a:r>
            <a:endParaRPr sz="13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1"/>
          <p:cNvSpPr txBox="1"/>
          <p:nvPr/>
        </p:nvSpPr>
        <p:spPr>
          <a:xfrm>
            <a:off x="744625" y="1573350"/>
            <a:ext cx="3981900" cy="201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1800"/>
              <a:buFont typeface="Verdana"/>
              <a:buNone/>
            </a:pPr>
            <a:r>
              <a:rPr b="1" i="0" lang="en" sz="1800" u="sng" cap="none" strike="noStrike">
                <a:solidFill>
                  <a:srgbClr val="393B3F"/>
                </a:solidFill>
                <a:latin typeface="Verdana"/>
                <a:ea typeface="Verdana"/>
                <a:cs typeface="Verdana"/>
                <a:sym typeface="Verdana"/>
              </a:rPr>
              <a:t>STEP 3: TERMINATION</a:t>
            </a:r>
            <a:endParaRPr/>
          </a:p>
          <a:p>
            <a:pPr indent="-304800" lvl="0" marL="457200" marR="0" rtl="0" algn="l">
              <a:lnSpc>
                <a:spcPct val="100000"/>
              </a:lnSpc>
              <a:spcBef>
                <a:spcPts val="1000"/>
              </a:spcBef>
              <a:spcAft>
                <a:spcPts val="0"/>
              </a:spcAft>
              <a:buClr>
                <a:srgbClr val="393B3F"/>
              </a:buClr>
              <a:buSzPts val="1200"/>
              <a:buFont typeface="Verdana"/>
              <a:buAutoNum type="arabicPeriod" startAt="8"/>
            </a:pPr>
            <a:r>
              <a:rPr b="0" i="0" lang="en" sz="1200" u="none" cap="none" strike="noStrike">
                <a:solidFill>
                  <a:srgbClr val="393B3F"/>
                </a:solidFill>
                <a:latin typeface="Verdana"/>
                <a:ea typeface="Verdana"/>
                <a:cs typeface="Verdana"/>
                <a:sym typeface="Verdana"/>
              </a:rPr>
              <a:t>As soon as the newly formed strands are complete, they rewind automatically into their chemically stable helix structure</a:t>
            </a:r>
            <a:endParaRPr/>
          </a:p>
          <a:p>
            <a:pPr indent="-304800" lvl="0" marL="457200" marR="0" rtl="0" algn="l">
              <a:lnSpc>
                <a:spcPct val="100000"/>
              </a:lnSpc>
              <a:spcBef>
                <a:spcPts val="1000"/>
              </a:spcBef>
              <a:spcAft>
                <a:spcPts val="0"/>
              </a:spcAft>
              <a:buClr>
                <a:srgbClr val="393B3F"/>
              </a:buClr>
              <a:buSzPts val="1200"/>
              <a:buFont typeface="Verdana"/>
              <a:buAutoNum type="arabicPeriod" startAt="8"/>
            </a:pPr>
            <a:r>
              <a:rPr b="0" i="0" lang="en" sz="1200" u="none" cap="none" strike="noStrike">
                <a:solidFill>
                  <a:srgbClr val="393B3F"/>
                </a:solidFill>
                <a:latin typeface="Verdana"/>
                <a:ea typeface="Verdana"/>
                <a:cs typeface="Verdana"/>
                <a:sym typeface="Verdana"/>
              </a:rPr>
              <a:t>Replication proceeds until the two new DNA molecules separate; the dismantling of the replication complex is known as </a:t>
            </a:r>
            <a:r>
              <a:rPr b="0" i="1" lang="en" sz="1200" u="none" cap="none" strike="noStrike">
                <a:solidFill>
                  <a:srgbClr val="393B3F"/>
                </a:solidFill>
                <a:latin typeface="Verdana"/>
                <a:ea typeface="Verdana"/>
                <a:cs typeface="Verdana"/>
                <a:sym typeface="Verdana"/>
              </a:rPr>
              <a:t>termination</a:t>
            </a:r>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400" name="Google Shape;400;p31"/>
          <p:cNvPicPr preferRelativeResize="0"/>
          <p:nvPr/>
        </p:nvPicPr>
        <p:blipFill rotWithShape="1">
          <a:blip r:embed="rId3">
            <a:alphaModFix/>
          </a:blip>
          <a:srcRect b="0" l="0" r="0" t="0"/>
          <a:stretch/>
        </p:blipFill>
        <p:spPr>
          <a:xfrm>
            <a:off x="5083171" y="973075"/>
            <a:ext cx="2648525" cy="3608350"/>
          </a:xfrm>
          <a:prstGeom prst="rect">
            <a:avLst/>
          </a:prstGeom>
          <a:noFill/>
          <a:ln cap="flat" cmpd="sng" w="19050">
            <a:solidFill>
              <a:srgbClr val="999999"/>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2"/>
          <p:cNvSpPr txBox="1"/>
          <p:nvPr/>
        </p:nvSpPr>
        <p:spPr>
          <a:xfrm>
            <a:off x="2053650" y="890725"/>
            <a:ext cx="5036700" cy="49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Verdana"/>
              <a:buNone/>
            </a:pPr>
            <a:r>
              <a:rPr b="1" lang="en" sz="2400">
                <a:latin typeface="Verdana"/>
                <a:ea typeface="Verdana"/>
                <a:cs typeface="Verdana"/>
                <a:sym typeface="Verdana"/>
              </a:rPr>
              <a:t>Key Enzymes to Know</a:t>
            </a:r>
            <a:endParaRPr/>
          </a:p>
        </p:txBody>
      </p:sp>
      <p:graphicFrame>
        <p:nvGraphicFramePr>
          <p:cNvPr id="406" name="Google Shape;406;p32"/>
          <p:cNvGraphicFramePr/>
          <p:nvPr/>
        </p:nvGraphicFramePr>
        <p:xfrm>
          <a:off x="952500" y="1619250"/>
          <a:ext cx="3000000" cy="3000000"/>
        </p:xfrm>
        <a:graphic>
          <a:graphicData uri="http://schemas.openxmlformats.org/drawingml/2006/table">
            <a:tbl>
              <a:tblPr>
                <a:noFill/>
                <a:tableStyleId>{97DAA78E-1271-4725-9A1C-28E2E569F632}</a:tableStyleId>
              </a:tblPr>
              <a:tblGrid>
                <a:gridCol w="2842100"/>
                <a:gridCol w="4396900"/>
              </a:tblGrid>
              <a:tr h="381000">
                <a:tc>
                  <a:txBody>
                    <a:bodyPr/>
                    <a:lstStyle/>
                    <a:p>
                      <a:pPr indent="0" lvl="0" marL="0" marR="0" rtl="0" algn="ctr">
                        <a:lnSpc>
                          <a:spcPct val="100000"/>
                        </a:lnSpc>
                        <a:spcBef>
                          <a:spcPts val="0"/>
                        </a:spcBef>
                        <a:spcAft>
                          <a:spcPts val="0"/>
                        </a:spcAft>
                        <a:buClr>
                          <a:srgbClr val="000000"/>
                        </a:buClr>
                        <a:buSzPts val="1400"/>
                        <a:buFont typeface="Verdana"/>
                        <a:buNone/>
                      </a:pPr>
                      <a:r>
                        <a:rPr b="1" lang="en" sz="1400" u="none" cap="none" strike="noStrike">
                          <a:latin typeface="Verdana"/>
                          <a:ea typeface="Verdana"/>
                          <a:cs typeface="Verdana"/>
                          <a:sym typeface="Verdana"/>
                        </a:rPr>
                        <a:t>ENZYME</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Verdana"/>
                        <a:buNone/>
                      </a:pPr>
                      <a:r>
                        <a:rPr b="1" lang="en" sz="1400" u="none" cap="none" strike="noStrike">
                          <a:latin typeface="Verdana"/>
                          <a:ea typeface="Verdana"/>
                          <a:cs typeface="Verdana"/>
                          <a:sym typeface="Verdana"/>
                        </a:rPr>
                        <a:t>FUNCTION</a:t>
                      </a:r>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Verdana"/>
                        <a:buNone/>
                      </a:pPr>
                      <a:r>
                        <a:rPr lang="en" sz="1400" u="none" cap="none" strike="noStrike">
                          <a:latin typeface="Verdana"/>
                          <a:ea typeface="Verdana"/>
                          <a:cs typeface="Verdana"/>
                          <a:sym typeface="Verdana"/>
                        </a:rPr>
                        <a:t>helicase</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Verdana"/>
                        <a:buNone/>
                      </a:pPr>
                      <a:r>
                        <a:rPr lang="en" sz="1400" u="none" cap="none" strike="noStrike">
                          <a:latin typeface="Verdana"/>
                          <a:ea typeface="Verdana"/>
                          <a:cs typeface="Verdana"/>
                          <a:sym typeface="Verdana"/>
                        </a:rPr>
                        <a:t>Cleaves (cuts) and unwinds DNA </a:t>
                      </a:r>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Verdana"/>
                        <a:buNone/>
                      </a:pPr>
                      <a:r>
                        <a:rPr lang="en">
                          <a:latin typeface="Verdana"/>
                          <a:ea typeface="Verdana"/>
                          <a:cs typeface="Verdana"/>
                          <a:sym typeface="Verdana"/>
                        </a:rPr>
                        <a:t>RNA </a:t>
                      </a:r>
                      <a:r>
                        <a:rPr lang="en" sz="1400" u="none" cap="none" strike="noStrike">
                          <a:latin typeface="Verdana"/>
                          <a:ea typeface="Verdana"/>
                          <a:cs typeface="Verdana"/>
                          <a:sym typeface="Verdana"/>
                        </a:rPr>
                        <a:t>primase</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Verdana"/>
                        <a:buNone/>
                      </a:pPr>
                      <a:r>
                        <a:rPr lang="en" sz="1400" u="none" cap="none" strike="noStrike">
                          <a:latin typeface="Verdana"/>
                          <a:ea typeface="Verdana"/>
                          <a:cs typeface="Verdana"/>
                          <a:sym typeface="Verdana"/>
                        </a:rPr>
                        <a:t>Synthesizes primer to begin elongation process</a:t>
                      </a:r>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Verdana"/>
                        <a:buNone/>
                      </a:pPr>
                      <a:r>
                        <a:rPr lang="en" sz="1400" u="none" cap="none" strike="noStrike">
                          <a:latin typeface="Verdana"/>
                          <a:ea typeface="Verdana"/>
                          <a:cs typeface="Verdana"/>
                          <a:sym typeface="Verdana"/>
                        </a:rPr>
                        <a:t>DNA polymerase</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Verdana"/>
                        <a:buNone/>
                      </a:pPr>
                      <a:r>
                        <a:rPr lang="en">
                          <a:latin typeface="Verdana"/>
                          <a:ea typeface="Verdana"/>
                          <a:cs typeface="Verdana"/>
                          <a:sym typeface="Verdana"/>
                        </a:rPr>
                        <a:t>a</a:t>
                      </a:r>
                      <a:r>
                        <a:rPr lang="en" sz="1400" u="none" cap="none" strike="noStrike">
                          <a:latin typeface="Verdana"/>
                          <a:ea typeface="Verdana"/>
                          <a:cs typeface="Verdana"/>
                          <a:sym typeface="Verdana"/>
                        </a:rPr>
                        <a:t>dds new nucleotides </a:t>
                      </a:r>
                      <a:r>
                        <a:rPr lang="en">
                          <a:latin typeface="Verdana"/>
                          <a:ea typeface="Verdana"/>
                          <a:cs typeface="Verdana"/>
                          <a:sym typeface="Verdana"/>
                        </a:rPr>
                        <a:t>from</a:t>
                      </a:r>
                      <a:r>
                        <a:rPr lang="en" sz="1400" u="none" cap="none" strike="noStrike">
                          <a:latin typeface="Verdana"/>
                          <a:ea typeface="Verdana"/>
                          <a:cs typeface="Verdana"/>
                          <a:sym typeface="Verdana"/>
                        </a:rPr>
                        <a:t> </a:t>
                      </a:r>
                      <a:r>
                        <a:rPr lang="en">
                          <a:latin typeface="Verdana"/>
                          <a:ea typeface="Verdana"/>
                          <a:cs typeface="Verdana"/>
                          <a:sym typeface="Verdana"/>
                        </a:rPr>
                        <a:t>5</a:t>
                      </a:r>
                      <a:r>
                        <a:rPr lang="en" sz="1400" u="none" cap="none" strike="noStrike">
                          <a:latin typeface="Verdana"/>
                          <a:ea typeface="Verdana"/>
                          <a:cs typeface="Verdana"/>
                          <a:sym typeface="Verdana"/>
                        </a:rPr>
                        <a:t>’ end to 3</a:t>
                      </a:r>
                      <a:r>
                        <a:rPr lang="en">
                          <a:latin typeface="Verdana"/>
                          <a:ea typeface="Verdana"/>
                          <a:cs typeface="Verdana"/>
                          <a:sym typeface="Verdana"/>
                        </a:rPr>
                        <a:t>’ end </a:t>
                      </a:r>
                      <a:r>
                        <a:rPr lang="en" sz="1400" u="none" cap="none" strike="noStrike">
                          <a:latin typeface="Verdana"/>
                          <a:ea typeface="Verdana"/>
                          <a:cs typeface="Verdana"/>
                          <a:sym typeface="Verdana"/>
                        </a:rPr>
                        <a:t>of existing strand</a:t>
                      </a:r>
                      <a:r>
                        <a:rPr lang="en">
                          <a:latin typeface="Verdana"/>
                          <a:ea typeface="Verdana"/>
                          <a:cs typeface="Verdana"/>
                          <a:sym typeface="Verdana"/>
                        </a:rPr>
                        <a:t> and</a:t>
                      </a:r>
                      <a:r>
                        <a:rPr lang="en" sz="1400" u="none" cap="none" strike="noStrike">
                          <a:latin typeface="Verdana"/>
                          <a:ea typeface="Verdana"/>
                          <a:cs typeface="Verdana"/>
                          <a:sym typeface="Verdana"/>
                        </a:rPr>
                        <a:t> removes primer sequences from DNA once replication is complete</a:t>
                      </a:r>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Verdana"/>
                        <a:buNone/>
                      </a:pPr>
                      <a:r>
                        <a:rPr lang="en" sz="1400" u="none" cap="none" strike="noStrike">
                          <a:latin typeface="Verdana"/>
                          <a:ea typeface="Verdana"/>
                          <a:cs typeface="Verdana"/>
                          <a:sym typeface="Verdana"/>
                        </a:rPr>
                        <a:t>DNA ligase</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Verdana"/>
                        <a:buNone/>
                      </a:pPr>
                      <a:r>
                        <a:rPr lang="en" sz="1400" u="none" cap="none" strike="noStrike">
                          <a:latin typeface="Verdana"/>
                          <a:ea typeface="Verdana"/>
                          <a:cs typeface="Verdana"/>
                          <a:sym typeface="Verdana"/>
                        </a:rPr>
                        <a:t>Splices together Okazaki fragments of lagging strand</a:t>
                      </a:r>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3"/>
          <p:cNvSpPr txBox="1"/>
          <p:nvPr/>
        </p:nvSpPr>
        <p:spPr>
          <a:xfrm>
            <a:off x="2053650" y="588800"/>
            <a:ext cx="5036700" cy="49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Verdana"/>
              <a:buNone/>
            </a:pPr>
            <a:r>
              <a:rPr b="1" lang="en" sz="2400">
                <a:latin typeface="Verdana"/>
                <a:ea typeface="Verdana"/>
                <a:cs typeface="Verdana"/>
                <a:sym typeface="Verdana"/>
              </a:rPr>
              <a:t>Re-cap: DNA Replication</a:t>
            </a:r>
            <a:endParaRPr/>
          </a:p>
        </p:txBody>
      </p:sp>
      <p:sp>
        <p:nvSpPr>
          <p:cNvPr id="412" name="Google Shape;412;p33"/>
          <p:cNvSpPr txBox="1"/>
          <p:nvPr/>
        </p:nvSpPr>
        <p:spPr>
          <a:xfrm>
            <a:off x="1468425" y="1080800"/>
            <a:ext cx="6318900" cy="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Verdana"/>
                <a:ea typeface="Verdana"/>
                <a:cs typeface="Verdana"/>
                <a:sym typeface="Verdana"/>
              </a:rPr>
              <a:t>Note: Ignore any reference to DNA polymerase 3 vs 1 in the videos. These are only in prokaryotes, and we do not study them in this course. In eukaryotes we actually have more, but we will not distinguish between them and will refer to any as just DNA polymerase in this course. </a:t>
            </a:r>
            <a:endParaRPr sz="1600">
              <a:solidFill>
                <a:schemeClr val="dk2"/>
              </a:solidFill>
              <a:latin typeface="Verdana"/>
              <a:ea typeface="Verdana"/>
              <a:cs typeface="Verdana"/>
              <a:sym typeface="Verdana"/>
            </a:endParaRPr>
          </a:p>
        </p:txBody>
      </p:sp>
      <p:pic>
        <p:nvPicPr>
          <p:cNvPr descr="Antiparallel nature of the DNA molecule" id="413" name="Google Shape;413;p33" title="The DNA Molecule">
            <a:hlinkClick r:id="rId3"/>
          </p:cNvPr>
          <p:cNvPicPr preferRelativeResize="0"/>
          <p:nvPr/>
        </p:nvPicPr>
        <p:blipFill>
          <a:blip r:embed="rId4">
            <a:alphaModFix/>
          </a:blip>
          <a:stretch>
            <a:fillRect/>
          </a:stretch>
        </p:blipFill>
        <p:spPr>
          <a:xfrm>
            <a:off x="2826050" y="2653875"/>
            <a:ext cx="3491900" cy="1964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4"/>
          <p:cNvSpPr txBox="1"/>
          <p:nvPr/>
        </p:nvSpPr>
        <p:spPr>
          <a:xfrm>
            <a:off x="776250" y="1914850"/>
            <a:ext cx="7476000" cy="3309900"/>
          </a:xfrm>
          <a:prstGeom prst="rect">
            <a:avLst/>
          </a:prstGeom>
          <a:noFill/>
          <a:ln>
            <a:noFill/>
          </a:ln>
        </p:spPr>
        <p:txBody>
          <a:bodyPr anchorCtr="0" anchor="t" bIns="45700" lIns="91425" spcFirstLastPara="1" rIns="91425" wrap="square" tIns="45700">
            <a:noAutofit/>
          </a:bodyPr>
          <a:lstStyle/>
          <a:p>
            <a:pPr indent="-281073" lvl="0" marL="342900" rtl="0" algn="l">
              <a:lnSpc>
                <a:spcPct val="115000"/>
              </a:lnSpc>
              <a:spcBef>
                <a:spcPts val="40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Properties of DNA vs. RNA</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Transcription of DNA into mRNA</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Translation of mRNA into an amino acid sequence</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Role of tRNA in translation</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Role of rRNA in translation</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Codons vs. anticodons</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Introns vs. exons</a:t>
            </a:r>
            <a:endParaRPr sz="1600">
              <a:solidFill>
                <a:srgbClr val="38393E"/>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600">
              <a:solidFill>
                <a:srgbClr val="38393E"/>
              </a:solidFill>
              <a:latin typeface="Verdana"/>
              <a:ea typeface="Verdana"/>
              <a:cs typeface="Verdana"/>
              <a:sym typeface="Verdana"/>
            </a:endParaRPr>
          </a:p>
          <a:p>
            <a:pPr indent="0" lvl="0" marL="342900" rtl="0" algn="ctr">
              <a:lnSpc>
                <a:spcPct val="115000"/>
              </a:lnSpc>
              <a:spcBef>
                <a:spcPts val="400"/>
              </a:spcBef>
              <a:spcAft>
                <a:spcPts val="0"/>
              </a:spcAft>
              <a:buNone/>
            </a:pPr>
            <a:r>
              <a:rPr b="1" i="1" lang="en" sz="2000">
                <a:solidFill>
                  <a:srgbClr val="3F3F3F"/>
                </a:solidFill>
                <a:latin typeface="Verdana"/>
                <a:ea typeface="Verdana"/>
                <a:cs typeface="Verdana"/>
                <a:sym typeface="Verdana"/>
              </a:rPr>
              <a:t>Textbook pgs. 636-642 </a:t>
            </a:r>
            <a:endParaRPr b="1" i="1"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l">
              <a:spcBef>
                <a:spcPts val="1407"/>
              </a:spcBef>
              <a:spcAft>
                <a:spcPts val="0"/>
              </a:spcAft>
              <a:buNone/>
            </a:pPr>
            <a:r>
              <a:t/>
            </a:r>
            <a:endParaRPr sz="2400">
              <a:solidFill>
                <a:srgbClr val="676A73"/>
              </a:solidFill>
              <a:latin typeface="Verdana"/>
              <a:ea typeface="Verdana"/>
              <a:cs typeface="Verdana"/>
              <a:sym typeface="Verdana"/>
            </a:endParaRPr>
          </a:p>
        </p:txBody>
      </p:sp>
      <p:sp>
        <p:nvSpPr>
          <p:cNvPr id="419" name="Google Shape;419;p34"/>
          <p:cNvSpPr txBox="1"/>
          <p:nvPr/>
        </p:nvSpPr>
        <p:spPr>
          <a:xfrm>
            <a:off x="1289275" y="1042502"/>
            <a:ext cx="6552600" cy="66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 sz="2400">
                <a:solidFill>
                  <a:srgbClr val="4D4F55"/>
                </a:solidFill>
                <a:latin typeface="Verdana"/>
                <a:ea typeface="Verdana"/>
                <a:cs typeface="Verdana"/>
                <a:sym typeface="Verdana"/>
              </a:rPr>
              <a:t>TOPIC 2: TRANSCRIPTION &amp; TRANSLATION</a:t>
            </a:r>
            <a:endParaRPr sz="2400">
              <a:solidFill>
                <a:srgbClr val="4D4F55"/>
              </a:solidFill>
              <a:latin typeface="Verdana"/>
              <a:ea typeface="Verdana"/>
              <a:cs typeface="Verdana"/>
              <a:sym typeface="Verdan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35"/>
          <p:cNvPicPr preferRelativeResize="0"/>
          <p:nvPr/>
        </p:nvPicPr>
        <p:blipFill>
          <a:blip r:embed="rId3">
            <a:alphaModFix/>
          </a:blip>
          <a:stretch>
            <a:fillRect/>
          </a:stretch>
        </p:blipFill>
        <p:spPr>
          <a:xfrm>
            <a:off x="973963" y="2154900"/>
            <a:ext cx="3108025" cy="1522725"/>
          </a:xfrm>
          <a:prstGeom prst="rect">
            <a:avLst/>
          </a:prstGeom>
          <a:noFill/>
          <a:ln cap="flat" cmpd="sng" w="9525">
            <a:solidFill>
              <a:srgbClr val="666666"/>
            </a:solidFill>
            <a:prstDash val="solid"/>
            <a:round/>
            <a:headEnd len="sm" w="sm" type="none"/>
            <a:tailEnd len="sm" w="sm" type="none"/>
          </a:ln>
        </p:spPr>
      </p:pic>
      <p:sp>
        <p:nvSpPr>
          <p:cNvPr id="425" name="Google Shape;425;p35"/>
          <p:cNvSpPr txBox="1"/>
          <p:nvPr/>
        </p:nvSpPr>
        <p:spPr>
          <a:xfrm>
            <a:off x="4527825" y="1031975"/>
            <a:ext cx="3950700" cy="3404400"/>
          </a:xfrm>
          <a:prstGeom prst="rect">
            <a:avLst/>
          </a:prstGeom>
          <a:noFill/>
          <a:ln>
            <a:noFill/>
          </a:ln>
        </p:spPr>
        <p:txBody>
          <a:bodyPr anchorCtr="0" anchor="t" bIns="45700" lIns="91425" spcFirstLastPara="1" rIns="91425" wrap="square" tIns="45700">
            <a:noAutofit/>
          </a:bodyPr>
          <a:lstStyle/>
          <a:p>
            <a:pPr indent="-268373" lvl="0" marL="342900" rtl="0" algn="l">
              <a:lnSpc>
                <a:spcPct val="115000"/>
              </a:lnSpc>
              <a:spcBef>
                <a:spcPts val="400"/>
              </a:spcBef>
              <a:spcAft>
                <a:spcPts val="0"/>
              </a:spcAft>
              <a:buClr>
                <a:srgbClr val="38393E"/>
              </a:buClr>
              <a:buSzPts val="1400"/>
              <a:buFont typeface="Verdana"/>
              <a:buChar char="○"/>
            </a:pPr>
            <a:r>
              <a:rPr lang="en">
                <a:solidFill>
                  <a:srgbClr val="38393E"/>
                </a:solidFill>
                <a:latin typeface="Verdana"/>
                <a:ea typeface="Verdana"/>
                <a:cs typeface="Verdana"/>
                <a:sym typeface="Verdana"/>
              </a:rPr>
              <a:t>Recall that DNA provides the “instructions” for each of our cells.</a:t>
            </a:r>
            <a:endParaRPr>
              <a:solidFill>
                <a:srgbClr val="38393E"/>
              </a:solidFill>
              <a:latin typeface="Verdana"/>
              <a:ea typeface="Verdana"/>
              <a:cs typeface="Verdana"/>
              <a:sym typeface="Verdana"/>
            </a:endParaRPr>
          </a:p>
          <a:p>
            <a:pPr indent="-268373" lvl="0" marL="342900" rtl="0" algn="l">
              <a:lnSpc>
                <a:spcPct val="115000"/>
              </a:lnSpc>
              <a:spcBef>
                <a:spcPts val="1000"/>
              </a:spcBef>
              <a:spcAft>
                <a:spcPts val="0"/>
              </a:spcAft>
              <a:buClr>
                <a:srgbClr val="38393E"/>
              </a:buClr>
              <a:buSzPts val="1400"/>
              <a:buFont typeface="Verdana"/>
              <a:buChar char="○"/>
            </a:pPr>
            <a:r>
              <a:rPr lang="en">
                <a:solidFill>
                  <a:srgbClr val="38393E"/>
                </a:solidFill>
                <a:latin typeface="Verdana"/>
                <a:ea typeface="Verdana"/>
                <a:cs typeface="Verdana"/>
                <a:sym typeface="Verdana"/>
              </a:rPr>
              <a:t>Each segment of DNA (gene) is responsible for encoding a specific protein, which carries out a specific function.</a:t>
            </a:r>
            <a:endParaRPr>
              <a:solidFill>
                <a:srgbClr val="38393E"/>
              </a:solidFill>
              <a:latin typeface="Verdana"/>
              <a:ea typeface="Verdana"/>
              <a:cs typeface="Verdana"/>
              <a:sym typeface="Verdana"/>
            </a:endParaRPr>
          </a:p>
          <a:p>
            <a:pPr indent="-268373" lvl="0" marL="342900" rtl="0" algn="l">
              <a:lnSpc>
                <a:spcPct val="115000"/>
              </a:lnSpc>
              <a:spcBef>
                <a:spcPts val="1000"/>
              </a:spcBef>
              <a:spcAft>
                <a:spcPts val="0"/>
              </a:spcAft>
              <a:buClr>
                <a:srgbClr val="38393E"/>
              </a:buClr>
              <a:buSzPts val="1400"/>
              <a:buFont typeface="Verdana"/>
              <a:buChar char="○"/>
            </a:pPr>
            <a:r>
              <a:rPr lang="en">
                <a:solidFill>
                  <a:srgbClr val="38393E"/>
                </a:solidFill>
                <a:latin typeface="Verdana"/>
                <a:ea typeface="Verdana"/>
                <a:cs typeface="Verdana"/>
                <a:sym typeface="Verdana"/>
              </a:rPr>
              <a:t>Not every gene is expressed in each cell. This is what allows cells to specialize and function differently. </a:t>
            </a:r>
            <a:endParaRPr>
              <a:solidFill>
                <a:srgbClr val="38393E"/>
              </a:solidFill>
              <a:latin typeface="Verdana"/>
              <a:ea typeface="Verdana"/>
              <a:cs typeface="Verdana"/>
              <a:sym typeface="Verdana"/>
            </a:endParaRPr>
          </a:p>
          <a:p>
            <a:pPr indent="-281073" lvl="0" marL="342900" rtl="0" algn="l">
              <a:lnSpc>
                <a:spcPct val="115000"/>
              </a:lnSpc>
              <a:spcBef>
                <a:spcPts val="1000"/>
              </a:spcBef>
              <a:spcAft>
                <a:spcPts val="0"/>
              </a:spcAft>
              <a:buClr>
                <a:srgbClr val="38393E"/>
              </a:buClr>
              <a:buSzPts val="1600"/>
              <a:buFont typeface="Verdana"/>
              <a:buChar char="○"/>
            </a:pPr>
            <a:r>
              <a:rPr lang="en">
                <a:solidFill>
                  <a:srgbClr val="38393E"/>
                </a:solidFill>
                <a:latin typeface="Verdana"/>
                <a:ea typeface="Verdana"/>
                <a:cs typeface="Verdana"/>
                <a:sym typeface="Verdana"/>
              </a:rPr>
              <a:t>Some genes do not appear to code for any proteins… “junk” DNA?</a:t>
            </a:r>
            <a:r>
              <a:rPr lang="en" sz="1600">
                <a:solidFill>
                  <a:srgbClr val="38393E"/>
                </a:solidFill>
                <a:latin typeface="Verdana"/>
                <a:ea typeface="Verdana"/>
                <a:cs typeface="Verdana"/>
                <a:sym typeface="Verdana"/>
              </a:rPr>
              <a:t> </a:t>
            </a:r>
            <a:endParaRPr sz="1600">
              <a:solidFill>
                <a:srgbClr val="38393E"/>
              </a:solidFill>
              <a:latin typeface="Verdana"/>
              <a:ea typeface="Verdana"/>
              <a:cs typeface="Verdana"/>
              <a:sym typeface="Verdana"/>
            </a:endParaRPr>
          </a:p>
          <a:p>
            <a:pPr indent="0" lvl="0" marL="342900" rtl="0" algn="l">
              <a:lnSpc>
                <a:spcPct val="115000"/>
              </a:lnSpc>
              <a:spcBef>
                <a:spcPts val="1000"/>
              </a:spcBef>
              <a:spcAft>
                <a:spcPts val="0"/>
              </a:spcAft>
              <a:buNone/>
            </a:pPr>
            <a:r>
              <a:t/>
            </a:r>
            <a:endParaRPr sz="2000">
              <a:solidFill>
                <a:srgbClr val="3F3F3F"/>
              </a:solidFill>
              <a:latin typeface="Verdana"/>
              <a:ea typeface="Verdana"/>
              <a:cs typeface="Verdana"/>
              <a:sym typeface="Verdana"/>
            </a:endParaRPr>
          </a:p>
          <a:p>
            <a:pPr indent="0" lvl="0" marL="342900" rtl="0" algn="l">
              <a:spcBef>
                <a:spcPts val="1407"/>
              </a:spcBef>
              <a:spcAft>
                <a:spcPts val="0"/>
              </a:spcAft>
              <a:buNone/>
            </a:pPr>
            <a:r>
              <a:t/>
            </a:r>
            <a:endParaRPr sz="2400">
              <a:solidFill>
                <a:srgbClr val="676A73"/>
              </a:solidFill>
              <a:latin typeface="Verdana"/>
              <a:ea typeface="Verdana"/>
              <a:cs typeface="Verdana"/>
              <a:sym typeface="Verdana"/>
            </a:endParaRPr>
          </a:p>
        </p:txBody>
      </p:sp>
      <p:sp>
        <p:nvSpPr>
          <p:cNvPr id="426" name="Google Shape;426;p35"/>
          <p:cNvSpPr txBox="1"/>
          <p:nvPr/>
        </p:nvSpPr>
        <p:spPr>
          <a:xfrm>
            <a:off x="887275" y="879575"/>
            <a:ext cx="32814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800">
                <a:solidFill>
                  <a:srgbClr val="393B3F"/>
                </a:solidFill>
                <a:latin typeface="Verdana"/>
                <a:ea typeface="Verdana"/>
                <a:cs typeface="Verdana"/>
                <a:sym typeface="Verdana"/>
              </a:rPr>
              <a:t>Gene Expression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6"/>
          <p:cNvSpPr txBox="1"/>
          <p:nvPr/>
        </p:nvSpPr>
        <p:spPr>
          <a:xfrm>
            <a:off x="827800" y="558375"/>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800">
                <a:solidFill>
                  <a:srgbClr val="393B3F"/>
                </a:solidFill>
                <a:latin typeface="Verdana"/>
                <a:ea typeface="Verdana"/>
                <a:cs typeface="Verdana"/>
                <a:sym typeface="Verdana"/>
              </a:rPr>
              <a:t>Central Dogma of Biology</a:t>
            </a:r>
            <a:endParaRPr/>
          </a:p>
        </p:txBody>
      </p:sp>
      <p:sp>
        <p:nvSpPr>
          <p:cNvPr id="432" name="Google Shape;432;p36"/>
          <p:cNvSpPr txBox="1"/>
          <p:nvPr/>
        </p:nvSpPr>
        <p:spPr>
          <a:xfrm>
            <a:off x="654150" y="1252000"/>
            <a:ext cx="7827300" cy="1242600"/>
          </a:xfrm>
          <a:prstGeom prst="rect">
            <a:avLst/>
          </a:prstGeom>
          <a:solidFill>
            <a:srgbClr val="FFF2CC"/>
          </a:solidFill>
          <a:ln cap="flat" cmpd="sng" w="19050">
            <a:solidFill>
              <a:srgbClr val="000000"/>
            </a:solidFill>
            <a:prstDash val="dashDot"/>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 sz="1800" u="none" cap="none" strike="noStrike">
                <a:solidFill>
                  <a:srgbClr val="393B3F"/>
                </a:solidFill>
                <a:latin typeface="Verdana"/>
                <a:ea typeface="Verdana"/>
                <a:cs typeface="Verdana"/>
                <a:sym typeface="Verdana"/>
              </a:rPr>
              <a:t>In order for a segment of DNA to be expressed by a cell, it must first be </a:t>
            </a:r>
            <a:r>
              <a:rPr b="0" i="0" lang="en" sz="1800" u="none" cap="none" strike="noStrike">
                <a:solidFill>
                  <a:srgbClr val="393B3F"/>
                </a:solidFill>
                <a:latin typeface="Verdana"/>
                <a:ea typeface="Verdana"/>
                <a:cs typeface="Verdana"/>
                <a:sym typeface="Verdana"/>
              </a:rPr>
              <a:t>transcribed</a:t>
            </a:r>
            <a:r>
              <a:rPr b="0" i="0" lang="en" sz="1800" u="none" cap="none" strike="noStrike">
                <a:solidFill>
                  <a:srgbClr val="393B3F"/>
                </a:solidFill>
                <a:latin typeface="Verdana"/>
                <a:ea typeface="Verdana"/>
                <a:cs typeface="Verdana"/>
                <a:sym typeface="Verdana"/>
              </a:rPr>
              <a:t> into mRNA (m</a:t>
            </a:r>
            <a:r>
              <a:rPr lang="en" sz="1800">
                <a:solidFill>
                  <a:srgbClr val="393B3F"/>
                </a:solidFill>
                <a:latin typeface="Verdana"/>
                <a:ea typeface="Verdana"/>
                <a:cs typeface="Verdana"/>
                <a:sym typeface="Verdana"/>
              </a:rPr>
              <a:t>essenger</a:t>
            </a:r>
            <a:r>
              <a:rPr b="0" i="0" lang="en" sz="1800" u="none" cap="none" strike="noStrike">
                <a:solidFill>
                  <a:srgbClr val="393B3F"/>
                </a:solidFill>
                <a:latin typeface="Verdana"/>
                <a:ea typeface="Verdana"/>
                <a:cs typeface="Verdana"/>
                <a:sym typeface="Verdana"/>
              </a:rPr>
              <a:t> RNA) and then translated into a sequence of amino acids (a protein). </a:t>
            </a:r>
            <a:r>
              <a:rPr lang="en" sz="1800">
                <a:solidFill>
                  <a:srgbClr val="393B3F"/>
                </a:solidFill>
                <a:latin typeface="Verdana"/>
                <a:ea typeface="Verdana"/>
                <a:cs typeface="Verdana"/>
                <a:sym typeface="Verdana"/>
              </a:rPr>
              <a:t>This is referred to as the “</a:t>
            </a:r>
            <a:r>
              <a:rPr b="1" lang="en" sz="1800">
                <a:solidFill>
                  <a:srgbClr val="393B3F"/>
                </a:solidFill>
                <a:latin typeface="Verdana"/>
                <a:ea typeface="Verdana"/>
                <a:cs typeface="Verdana"/>
                <a:sym typeface="Verdana"/>
              </a:rPr>
              <a:t>central dogma</a:t>
            </a:r>
            <a:r>
              <a:rPr lang="en" sz="1800">
                <a:solidFill>
                  <a:srgbClr val="393B3F"/>
                </a:solidFill>
                <a:latin typeface="Verdana"/>
                <a:ea typeface="Verdana"/>
                <a:cs typeface="Verdana"/>
                <a:sym typeface="Verdana"/>
              </a:rPr>
              <a:t>” of gene expression.</a:t>
            </a:r>
            <a:endParaRPr sz="1800"/>
          </a:p>
        </p:txBody>
      </p:sp>
      <p:sp>
        <p:nvSpPr>
          <p:cNvPr id="433" name="Google Shape;433;p36"/>
          <p:cNvSpPr txBox="1"/>
          <p:nvPr/>
        </p:nvSpPr>
        <p:spPr>
          <a:xfrm>
            <a:off x="937025" y="2825975"/>
            <a:ext cx="3812100" cy="15483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00000"/>
              </a:lnSpc>
              <a:spcBef>
                <a:spcPts val="0"/>
              </a:spcBef>
              <a:spcAft>
                <a:spcPts val="0"/>
              </a:spcAft>
              <a:buClr>
                <a:srgbClr val="393B3F"/>
              </a:buClr>
              <a:buSzPts val="1600"/>
              <a:buFont typeface="Verdana"/>
              <a:buChar char="●"/>
            </a:pPr>
            <a:r>
              <a:rPr lang="en" sz="1600">
                <a:solidFill>
                  <a:srgbClr val="393B3F"/>
                </a:solidFill>
                <a:latin typeface="Verdana"/>
                <a:ea typeface="Verdana"/>
                <a:cs typeface="Verdana"/>
                <a:sym typeface="Verdana"/>
              </a:rPr>
              <a:t>A</a:t>
            </a:r>
            <a:r>
              <a:rPr b="0" i="0" lang="en" sz="1600" u="none" cap="none" strike="noStrike">
                <a:solidFill>
                  <a:srgbClr val="393B3F"/>
                </a:solidFill>
                <a:latin typeface="Verdana"/>
                <a:ea typeface="Verdana"/>
                <a:cs typeface="Verdana"/>
                <a:sym typeface="Verdana"/>
              </a:rPr>
              <a:t>llows different cells to express different genes</a:t>
            </a:r>
            <a:endParaRPr/>
          </a:p>
          <a:p>
            <a:pPr indent="-330200" lvl="0" marL="457200" marR="0" rtl="0" algn="l">
              <a:lnSpc>
                <a:spcPct val="100000"/>
              </a:lnSpc>
              <a:spcBef>
                <a:spcPts val="1000"/>
              </a:spcBef>
              <a:spcAft>
                <a:spcPts val="0"/>
              </a:spcAft>
              <a:buClr>
                <a:srgbClr val="393B3F"/>
              </a:buClr>
              <a:buSzPts val="1600"/>
              <a:buFont typeface="Verdana"/>
              <a:buChar char="●"/>
            </a:pPr>
            <a:r>
              <a:rPr b="0" i="0" lang="en" sz="1600" u="none" cap="none" strike="noStrike">
                <a:solidFill>
                  <a:srgbClr val="393B3F"/>
                </a:solidFill>
                <a:latin typeface="Verdana"/>
                <a:ea typeface="Verdana"/>
                <a:cs typeface="Verdana"/>
                <a:sym typeface="Verdana"/>
              </a:rPr>
              <a:t>So, although all cells contain the same DNA, not all cells behave the same</a:t>
            </a:r>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434" name="Google Shape;434;p36"/>
          <p:cNvPicPr preferRelativeResize="0"/>
          <p:nvPr/>
        </p:nvPicPr>
        <p:blipFill rotWithShape="1">
          <a:blip r:embed="rId3">
            <a:alphaModFix/>
          </a:blip>
          <a:srcRect b="0" l="0" r="0" t="0"/>
          <a:stretch/>
        </p:blipFill>
        <p:spPr>
          <a:xfrm>
            <a:off x="5251125" y="2692925"/>
            <a:ext cx="2967475" cy="2105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id="439" name="Google Shape;439;p37"/>
          <p:cNvPicPr preferRelativeResize="0"/>
          <p:nvPr/>
        </p:nvPicPr>
        <p:blipFill rotWithShape="1">
          <a:blip r:embed="rId3">
            <a:alphaModFix/>
          </a:blip>
          <a:srcRect b="0" l="0" r="0" t="19646"/>
          <a:stretch/>
        </p:blipFill>
        <p:spPr>
          <a:xfrm>
            <a:off x="827800" y="1184450"/>
            <a:ext cx="7428176" cy="3357400"/>
          </a:xfrm>
          <a:prstGeom prst="rect">
            <a:avLst/>
          </a:prstGeom>
          <a:noFill/>
          <a:ln>
            <a:noFill/>
          </a:ln>
        </p:spPr>
      </p:pic>
      <p:sp>
        <p:nvSpPr>
          <p:cNvPr id="440" name="Google Shape;440;p37"/>
          <p:cNvSpPr txBox="1"/>
          <p:nvPr/>
        </p:nvSpPr>
        <p:spPr>
          <a:xfrm>
            <a:off x="827800" y="558375"/>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800">
                <a:solidFill>
                  <a:srgbClr val="393B3F"/>
                </a:solidFill>
                <a:latin typeface="Verdana"/>
                <a:ea typeface="Verdana"/>
                <a:cs typeface="Verdana"/>
                <a:sym typeface="Verdana"/>
              </a:rPr>
              <a:t>Okay, so what is RNA exactly?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pic>
        <p:nvPicPr>
          <p:cNvPr descr="Explore the steps of transcription and translation in protein synthesis! This video explains several reasons why proteins are so important before explaining the roles of mRNA, rRNA, and tRNA in the steps of protein synthesis! Expand details for contents and resources. 👇Video handouts and resources on http://www.amoebasisters.com/handouts. This video replaces our old protein synthesis video: https://youtu.be/h5mJbP23Buo&#10;&#10;Table of Contents:&#10;0:46 Why are proteins important?&#10;1:48 Introduction to RNA&#10;2:22 Steps of Protein Synthesis&#10;2:43 Transcription&#10;3:54 Translation&#10;6:08 Introduction to mRNA Codon Chart&#10;7:51 Quick Summary Image&#10;&#10;Vocabulary in this video includes DNA, mRNA, rRNA, and tRNA. This video mentions that proteins can be made of 1 or more polypeptide chains and that proteins typically experience folding and other modifications (to be functional proteins.) Codons and the amino acids they code for is represented by standard charts can be found in the public domain. While the rectangle chart is the common format, there may be other ways to represent the information. P.S. If learning about mutations, check out this cool  codon chart that  includes mutations(!!) in the public domain: https://commons.wikimedia.org/wiki/File:Notable_mutations.svg&#10;&#10;Our videos are designed to introduce basic concepts and hopefully to inspire students to stay curious about the content. We simply cannot include all of the exceptions and minute details in a video under 10 minutes, and this is why we so frequently remind people of this in our videos. We want students to go beyond our videos to explore the depth of the material. &#10;&#10;P.S. On our website, we emphasize that our videos contain science comics- not scientific illustrations. In real life, amoebas don't look like our characters. Our illustrated cell cartoons are definitely not to scale. Nitrogen and carbon don't tap dance. DNA is right-handed (but there are exceptions- worth a google) and doesn't have eyes...a face...or a top hat...&#10;Learn more about the purpose of our videos here: http://www.amoebasisters.com/our-videos.html&#10;&#10;Support us on Patreon! http://www.patreon.com/amoebasisters&#10;&#10;Our FREE resources:&#10;GIFs: http://www.amoebasisters.com/gifs.html&#10;Handouts: http://www.amoebasisters.com/handouts.html&#10;Comics: http://www.amoebasisters.com/parameciumparlorcomics&#10;&#10;Connect with us!&#10;Website: http://www.AmoebaSisters.com&#10;Twitter: http://www.twitter.com/AmoebaSisters&#10;Facebook: http://www.facebook.com/AmoebaSisters&#10;Tumblr: http://www.amoebasisters.tumblr.com&#10;Pinterest: http://www.pinterest.com/AmoebaSister­s&#10;Instagram: https://www.instagram.com/amoebasistersofficial/&#10;&#10;Visit our Redbubble store at http://www.amoebasisters.com/store.html&#10;&#10;The Amoeba Sisters videos demystify science with humor and relevance. The videos center on Pinky's certification and experience in teaching science at the high school level. Pinky's teacher certification is in grades 4-8 science and 8-12 composite science (encompassing biology, chemistry, and physics).  Amoeba Sisters videos only cover concepts that Pinky is certified to teach, and they focus on her specialty: secondary life science. For more information about The Amoeba Sisters, visit: &#10;http://www.amoebasisters.com/about-us.html&#10;&#10;We cover the basics in biology concepts at the secondary level. If you are looking to discover more about biology and go into depth beyond these basics, our recommended reference is the FREE, peer reviewed, open source OpenStax biology textbook: https://openstax.org/details/books/biology&#10;&#10;We take pride in our AWESOME community, and we welcome feedback and discussion.  However, please remember that this is an education channel. See YouTube's community guidelines https://www.youtube.com/yt/policyandsafety/communityguidelines.html and YouTube's policy center https://support.google.com/youtube/topic/2676378?hl=en&amp;ref_topic=6151248.  We also reserve the right to remove comments with vulgar language.&#10;&#10;Music is this video is listed free to use/no attribution required from the YouTube audio library https://www.youtube.com/audiolibrary/music?feature=blog&#10;&#10;We have YouTube's community contributed subtitles feature on to allow translations for different languages, and we are thankful for those that contribute different languages! YouTube automatically credits the different language contributors below (unless the contributor had opted out of being credited). We are not affiliated with any of the translated subtitle credits that YouTube may place below. If you have a concern about community contributed contributions, please contact us." id="445" name="Google Shape;445;p38" title="Protein Synthesis (Updated)">
            <a:hlinkClick r:id="rId3"/>
          </p:cNvPr>
          <p:cNvPicPr preferRelativeResize="0"/>
          <p:nvPr/>
        </p:nvPicPr>
        <p:blipFill>
          <a:blip r:embed="rId4">
            <a:alphaModFix/>
          </a:blip>
          <a:stretch>
            <a:fillRect/>
          </a:stretch>
        </p:blipFill>
        <p:spPr>
          <a:xfrm>
            <a:off x="5440150" y="2650700"/>
            <a:ext cx="2649150" cy="1986850"/>
          </a:xfrm>
          <a:prstGeom prst="rect">
            <a:avLst/>
          </a:prstGeom>
          <a:noFill/>
          <a:ln>
            <a:noFill/>
          </a:ln>
        </p:spPr>
      </p:pic>
      <p:sp>
        <p:nvSpPr>
          <p:cNvPr id="446" name="Google Shape;446;p38"/>
          <p:cNvSpPr txBox="1"/>
          <p:nvPr/>
        </p:nvSpPr>
        <p:spPr>
          <a:xfrm>
            <a:off x="698375" y="603975"/>
            <a:ext cx="7203000" cy="495300"/>
          </a:xfrm>
          <a:prstGeom prst="rect">
            <a:avLst/>
          </a:prstGeom>
          <a:noFill/>
          <a:ln>
            <a:noFill/>
          </a:ln>
        </p:spPr>
        <p:txBody>
          <a:bodyPr anchorCtr="0" anchor="t" bIns="45700" lIns="91425" spcFirstLastPara="1" rIns="91425" wrap="square" tIns="45700">
            <a:noAutofit/>
          </a:bodyPr>
          <a:lstStyle/>
          <a:p>
            <a:pPr indent="0" lvl="0" marL="457200" marR="0" rtl="0" algn="ctr">
              <a:lnSpc>
                <a:spcPct val="100000"/>
              </a:lnSpc>
              <a:spcBef>
                <a:spcPts val="0"/>
              </a:spcBef>
              <a:spcAft>
                <a:spcPts val="0"/>
              </a:spcAft>
              <a:buNone/>
            </a:pPr>
            <a:r>
              <a:rPr b="1" lang="en" sz="2800">
                <a:solidFill>
                  <a:srgbClr val="393B3F"/>
                </a:solidFill>
                <a:latin typeface="Verdana"/>
                <a:ea typeface="Verdana"/>
                <a:cs typeface="Verdana"/>
                <a:sym typeface="Verdana"/>
              </a:rPr>
              <a:t>From DNA to Protein</a:t>
            </a:r>
            <a:endParaRPr/>
          </a:p>
        </p:txBody>
      </p:sp>
      <p:pic>
        <p:nvPicPr>
          <p:cNvPr descr="This 3D animation shows how proteins are made in the cell from the information in the DNA code. &#10;&#10;For more information, please view the video and explore related resources on our site: https://www.yourgenome.org/theme/from-dna-to-protein/&#10;&#10;&#10;---&#10;Animated by Polymime Animation Company Ltd.&#10;http://www.polymime.com&#10;http://www.instagram.com/polymimestudio" id="447" name="Google Shape;447;p38" title="From DNA to protein - 3D">
            <a:hlinkClick r:id="rId5"/>
          </p:cNvPr>
          <p:cNvPicPr preferRelativeResize="0"/>
          <p:nvPr/>
        </p:nvPicPr>
        <p:blipFill>
          <a:blip r:embed="rId6">
            <a:alphaModFix/>
          </a:blip>
          <a:stretch>
            <a:fillRect/>
          </a:stretch>
        </p:blipFill>
        <p:spPr>
          <a:xfrm>
            <a:off x="961125" y="2923050"/>
            <a:ext cx="3048000" cy="1714500"/>
          </a:xfrm>
          <a:prstGeom prst="rect">
            <a:avLst/>
          </a:prstGeom>
          <a:noFill/>
          <a:ln>
            <a:noFill/>
          </a:ln>
        </p:spPr>
      </p:pic>
      <p:sp>
        <p:nvSpPr>
          <p:cNvPr id="448" name="Google Shape;448;p38"/>
          <p:cNvSpPr txBox="1"/>
          <p:nvPr/>
        </p:nvSpPr>
        <p:spPr>
          <a:xfrm>
            <a:off x="646950" y="1411338"/>
            <a:ext cx="7850100" cy="92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Verdana"/>
                <a:ea typeface="Verdana"/>
                <a:cs typeface="Verdana"/>
                <a:sym typeface="Verdana"/>
              </a:rPr>
              <a:t>Again, w</a:t>
            </a:r>
            <a:r>
              <a:rPr lang="en" sz="1800">
                <a:solidFill>
                  <a:schemeClr val="dk2"/>
                </a:solidFill>
                <a:latin typeface="Verdana"/>
                <a:ea typeface="Verdana"/>
                <a:cs typeface="Verdana"/>
                <a:sym typeface="Verdana"/>
              </a:rPr>
              <a:t>atch these videos first, then read the summary in the next slides. You may then come back and re-watch these videos, or find others to better understand the process as a whole. </a:t>
            </a:r>
            <a:endParaRPr sz="18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9"/>
          <p:cNvSpPr txBox="1"/>
          <p:nvPr/>
        </p:nvSpPr>
        <p:spPr>
          <a:xfrm>
            <a:off x="784650" y="431450"/>
            <a:ext cx="7203000" cy="495300"/>
          </a:xfrm>
          <a:prstGeom prst="rect">
            <a:avLst/>
          </a:prstGeom>
          <a:noFill/>
          <a:ln>
            <a:noFill/>
          </a:ln>
        </p:spPr>
        <p:txBody>
          <a:bodyPr anchorCtr="0" anchor="t" bIns="45700" lIns="91425" spcFirstLastPara="1" rIns="91425" wrap="square" tIns="45700">
            <a:noAutofit/>
          </a:bodyPr>
          <a:lstStyle/>
          <a:p>
            <a:pPr indent="-406400" lvl="0" marL="457200" marR="0" rtl="0" algn="ctr">
              <a:lnSpc>
                <a:spcPct val="100000"/>
              </a:lnSpc>
              <a:spcBef>
                <a:spcPts val="0"/>
              </a:spcBef>
              <a:spcAft>
                <a:spcPts val="0"/>
              </a:spcAft>
              <a:buClr>
                <a:srgbClr val="393B3F"/>
              </a:buClr>
              <a:buSzPts val="2800"/>
              <a:buFont typeface="Verdana"/>
              <a:buAutoNum type="arabicParenR"/>
            </a:pPr>
            <a:r>
              <a:rPr b="1" i="0" lang="en" sz="2800" u="none" cap="none" strike="noStrike">
                <a:solidFill>
                  <a:srgbClr val="393B3F"/>
                </a:solidFill>
                <a:latin typeface="Verdana"/>
                <a:ea typeface="Verdana"/>
                <a:cs typeface="Verdana"/>
                <a:sym typeface="Verdana"/>
              </a:rPr>
              <a:t>Transcription </a:t>
            </a:r>
            <a:endParaRPr/>
          </a:p>
        </p:txBody>
      </p:sp>
      <p:sp>
        <p:nvSpPr>
          <p:cNvPr id="454" name="Google Shape;454;p39"/>
          <p:cNvSpPr txBox="1"/>
          <p:nvPr/>
        </p:nvSpPr>
        <p:spPr>
          <a:xfrm>
            <a:off x="454900" y="926750"/>
            <a:ext cx="8216700" cy="594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1" i="0" lang="en" sz="1600" u="none" cap="none" strike="noStrike">
                <a:solidFill>
                  <a:srgbClr val="393B3F"/>
                </a:solidFill>
                <a:latin typeface="Verdana"/>
                <a:ea typeface="Verdana"/>
                <a:cs typeface="Verdana"/>
                <a:sym typeface="Verdana"/>
              </a:rPr>
              <a:t>During transcription, the information in a segment of double-stranded DNA is copied into a single strand of messenger RNA</a:t>
            </a:r>
            <a:r>
              <a:rPr b="1" lang="en" sz="1600">
                <a:solidFill>
                  <a:srgbClr val="393B3F"/>
                </a:solidFill>
                <a:latin typeface="Verdana"/>
                <a:ea typeface="Verdana"/>
                <a:cs typeface="Verdana"/>
                <a:sym typeface="Verdana"/>
              </a:rPr>
              <a:t> (mRNA)</a:t>
            </a:r>
            <a:r>
              <a:rPr b="1" i="0" lang="en" sz="1600" u="none" cap="none" strike="noStrike">
                <a:solidFill>
                  <a:srgbClr val="393B3F"/>
                </a:solidFill>
                <a:latin typeface="Verdana"/>
                <a:ea typeface="Verdana"/>
                <a:cs typeface="Verdana"/>
                <a:sym typeface="Verdana"/>
              </a:rPr>
              <a:t> </a:t>
            </a:r>
            <a:endParaRPr b="1" sz="1600"/>
          </a:p>
        </p:txBody>
      </p:sp>
      <p:sp>
        <p:nvSpPr>
          <p:cNvPr id="455" name="Google Shape;455;p39"/>
          <p:cNvSpPr txBox="1"/>
          <p:nvPr/>
        </p:nvSpPr>
        <p:spPr>
          <a:xfrm>
            <a:off x="527925" y="1587050"/>
            <a:ext cx="5505900" cy="3157800"/>
          </a:xfrm>
          <a:prstGeom prst="rect">
            <a:avLst/>
          </a:prstGeom>
          <a:noFill/>
          <a:ln>
            <a:noFill/>
          </a:ln>
        </p:spPr>
        <p:txBody>
          <a:bodyPr anchorCtr="0" anchor="t" bIns="45700" lIns="91425" spcFirstLastPara="1" rIns="91425" wrap="square" tIns="45700">
            <a:noAutofit/>
          </a:bodyPr>
          <a:lstStyle/>
          <a:p>
            <a:pPr indent="-304800" lvl="0" marL="457200" marR="0" rtl="0" algn="l">
              <a:lnSpc>
                <a:spcPct val="100000"/>
              </a:lnSpc>
              <a:spcBef>
                <a:spcPts val="0"/>
              </a:spcBef>
              <a:spcAft>
                <a:spcPts val="0"/>
              </a:spcAft>
              <a:buClr>
                <a:srgbClr val="393B3F"/>
              </a:buClr>
              <a:buSzPts val="1200"/>
              <a:buFont typeface="Verdana"/>
              <a:buChar char="●"/>
            </a:pPr>
            <a:r>
              <a:rPr b="0" i="0" lang="en" sz="1200" u="none" cap="none" strike="noStrike">
                <a:solidFill>
                  <a:srgbClr val="393B3F"/>
                </a:solidFill>
                <a:latin typeface="Verdana"/>
                <a:ea typeface="Verdana"/>
                <a:cs typeface="Verdana"/>
                <a:sym typeface="Verdana"/>
              </a:rPr>
              <a:t>Transcription takes place within the nucleus of</a:t>
            </a:r>
            <a:r>
              <a:rPr lang="en" sz="1200">
                <a:solidFill>
                  <a:srgbClr val="393B3F"/>
                </a:solidFill>
                <a:latin typeface="Verdana"/>
                <a:ea typeface="Verdana"/>
                <a:cs typeface="Verdana"/>
                <a:sym typeface="Verdana"/>
              </a:rPr>
              <a:t> </a:t>
            </a:r>
            <a:r>
              <a:rPr b="0" i="0" lang="en" sz="1200" u="none" cap="none" strike="noStrike">
                <a:solidFill>
                  <a:srgbClr val="393B3F"/>
                </a:solidFill>
                <a:latin typeface="Verdana"/>
                <a:ea typeface="Verdana"/>
                <a:cs typeface="Verdana"/>
                <a:sym typeface="Verdana"/>
              </a:rPr>
              <a:t>a cell.</a:t>
            </a:r>
            <a:endParaRPr sz="1200"/>
          </a:p>
          <a:p>
            <a:pPr indent="-304800" lvl="0" marL="457200" marR="0" rtl="0" algn="l">
              <a:lnSpc>
                <a:spcPct val="100000"/>
              </a:lnSpc>
              <a:spcBef>
                <a:spcPts val="1000"/>
              </a:spcBef>
              <a:spcAft>
                <a:spcPts val="0"/>
              </a:spcAft>
              <a:buClr>
                <a:srgbClr val="393B3F"/>
              </a:buClr>
              <a:buSzPts val="1200"/>
              <a:buFont typeface="Verdana"/>
              <a:buChar char="●"/>
            </a:pPr>
            <a:r>
              <a:rPr b="0" i="0" lang="en" sz="1200" u="none" cap="none" strike="noStrike">
                <a:solidFill>
                  <a:srgbClr val="393B3F"/>
                </a:solidFill>
                <a:latin typeface="Verdana"/>
                <a:ea typeface="Verdana"/>
                <a:cs typeface="Verdana"/>
                <a:sym typeface="Verdana"/>
              </a:rPr>
              <a:t>Only one strand of the DNA (the </a:t>
            </a:r>
            <a:r>
              <a:rPr b="1" i="0" lang="en" sz="1200" u="none" cap="none" strike="noStrike">
                <a:solidFill>
                  <a:srgbClr val="393B3F"/>
                </a:solidFill>
                <a:latin typeface="Verdana"/>
                <a:ea typeface="Verdana"/>
                <a:cs typeface="Verdana"/>
                <a:sym typeface="Verdana"/>
              </a:rPr>
              <a:t>coding or “sense”</a:t>
            </a:r>
            <a:r>
              <a:rPr b="0" i="0" lang="en" sz="1200" u="none" cap="none" strike="noStrike">
                <a:solidFill>
                  <a:srgbClr val="393B3F"/>
                </a:solidFill>
                <a:latin typeface="Verdana"/>
                <a:ea typeface="Verdana"/>
                <a:cs typeface="Verdana"/>
                <a:sym typeface="Verdana"/>
              </a:rPr>
              <a:t> strand) is transcribed into mRNA. SInce only one stra</a:t>
            </a:r>
            <a:r>
              <a:rPr lang="en" sz="1200">
                <a:solidFill>
                  <a:srgbClr val="393B3F"/>
                </a:solidFill>
                <a:latin typeface="Verdana"/>
                <a:ea typeface="Verdana"/>
                <a:cs typeface="Verdana"/>
                <a:sym typeface="Verdana"/>
              </a:rPr>
              <a:t>nd is transcribed, there is no need for Okazaki fragments here. </a:t>
            </a:r>
            <a:endParaRPr b="0" i="0" sz="1200" u="none" cap="none" strike="noStrike">
              <a:solidFill>
                <a:srgbClr val="393B3F"/>
              </a:solidFill>
              <a:latin typeface="Verdana"/>
              <a:ea typeface="Verdana"/>
              <a:cs typeface="Verdana"/>
              <a:sym typeface="Verdana"/>
            </a:endParaRPr>
          </a:p>
          <a:p>
            <a:pPr indent="-304800" lvl="1" marL="914400" marR="0" rtl="0" algn="l">
              <a:lnSpc>
                <a:spcPct val="100000"/>
              </a:lnSpc>
              <a:spcBef>
                <a:spcPts val="1000"/>
              </a:spcBef>
              <a:spcAft>
                <a:spcPts val="0"/>
              </a:spcAft>
              <a:buClr>
                <a:srgbClr val="393B3F"/>
              </a:buClr>
              <a:buSzPts val="1200"/>
              <a:buFont typeface="Verdana"/>
              <a:buChar char="○"/>
            </a:pPr>
            <a:r>
              <a:rPr lang="en" sz="1200">
                <a:solidFill>
                  <a:srgbClr val="393B3F"/>
                </a:solidFill>
                <a:latin typeface="Verdana"/>
                <a:ea typeface="Verdana"/>
                <a:cs typeface="Verdana"/>
                <a:sym typeface="Verdana"/>
              </a:rPr>
              <a:t>The other strand is referred to as non-coding or </a:t>
            </a:r>
            <a:r>
              <a:rPr lang="en" sz="1200">
                <a:solidFill>
                  <a:srgbClr val="393B3F"/>
                </a:solidFill>
                <a:latin typeface="Verdana"/>
                <a:ea typeface="Verdana"/>
                <a:cs typeface="Verdana"/>
                <a:sym typeface="Verdana"/>
              </a:rPr>
              <a:t>antisense</a:t>
            </a:r>
            <a:r>
              <a:rPr lang="en" sz="1200">
                <a:solidFill>
                  <a:srgbClr val="393B3F"/>
                </a:solidFill>
                <a:latin typeface="Verdana"/>
                <a:ea typeface="Verdana"/>
                <a:cs typeface="Verdana"/>
                <a:sym typeface="Verdana"/>
              </a:rPr>
              <a:t> strand. </a:t>
            </a:r>
            <a:endParaRPr sz="1200">
              <a:solidFill>
                <a:srgbClr val="393B3F"/>
              </a:solidFill>
              <a:latin typeface="Verdana"/>
              <a:ea typeface="Verdana"/>
              <a:cs typeface="Verdana"/>
              <a:sym typeface="Verdana"/>
            </a:endParaRPr>
          </a:p>
          <a:p>
            <a:pPr indent="-304800" lvl="0" marL="457200" marR="0" rtl="0" algn="l">
              <a:lnSpc>
                <a:spcPct val="100000"/>
              </a:lnSpc>
              <a:spcBef>
                <a:spcPts val="1000"/>
              </a:spcBef>
              <a:spcAft>
                <a:spcPts val="0"/>
              </a:spcAft>
              <a:buClr>
                <a:srgbClr val="393B3F"/>
              </a:buClr>
              <a:buSzPts val="1200"/>
              <a:buFont typeface="Verdana"/>
              <a:buChar char="●"/>
            </a:pPr>
            <a:r>
              <a:rPr lang="en" sz="1200">
                <a:solidFill>
                  <a:srgbClr val="393B3F"/>
                </a:solidFill>
                <a:latin typeface="Verdana"/>
                <a:ea typeface="Verdana"/>
                <a:cs typeface="Verdana"/>
                <a:sym typeface="Verdana"/>
              </a:rPr>
              <a:t>Transcription is initiated when </a:t>
            </a:r>
            <a:r>
              <a:rPr b="1" lang="en" sz="1200">
                <a:solidFill>
                  <a:srgbClr val="393B3F"/>
                </a:solidFill>
                <a:latin typeface="Verdana"/>
                <a:ea typeface="Verdana"/>
                <a:cs typeface="Verdana"/>
                <a:sym typeface="Verdana"/>
              </a:rPr>
              <a:t>RNA polymerase binds to the promoter region </a:t>
            </a:r>
            <a:r>
              <a:rPr lang="en" sz="1200">
                <a:solidFill>
                  <a:srgbClr val="393B3F"/>
                </a:solidFill>
                <a:latin typeface="Verdana"/>
                <a:ea typeface="Verdana"/>
                <a:cs typeface="Verdana"/>
                <a:sym typeface="Verdana"/>
              </a:rPr>
              <a:t>of the coding strand and begins to add complementary base pairs in the 5’ to 3’ direction.</a:t>
            </a:r>
            <a:endParaRPr sz="1200">
              <a:solidFill>
                <a:srgbClr val="393B3F"/>
              </a:solidFill>
              <a:latin typeface="Verdana"/>
              <a:ea typeface="Verdana"/>
              <a:cs typeface="Verdana"/>
              <a:sym typeface="Verdana"/>
            </a:endParaRPr>
          </a:p>
          <a:p>
            <a:pPr indent="-304800" lvl="0" marL="457200" marR="0" rtl="0" algn="l">
              <a:lnSpc>
                <a:spcPct val="100000"/>
              </a:lnSpc>
              <a:spcBef>
                <a:spcPts val="1000"/>
              </a:spcBef>
              <a:spcAft>
                <a:spcPts val="0"/>
              </a:spcAft>
              <a:buClr>
                <a:srgbClr val="393B3F"/>
              </a:buClr>
              <a:buSzPts val="1200"/>
              <a:buFont typeface="Verdana"/>
              <a:buChar char="●"/>
            </a:pPr>
            <a:r>
              <a:rPr lang="en" sz="1200">
                <a:solidFill>
                  <a:srgbClr val="393B3F"/>
                </a:solidFill>
                <a:latin typeface="Verdana"/>
                <a:ea typeface="Verdana"/>
                <a:cs typeface="Verdana"/>
                <a:sym typeface="Verdana"/>
              </a:rPr>
              <a:t>Whenever a thymine should be inserted, it is </a:t>
            </a:r>
            <a:r>
              <a:rPr b="0" i="0" lang="en" sz="1200" u="none" cap="none" strike="noStrike">
                <a:solidFill>
                  <a:srgbClr val="393B3F"/>
                </a:solidFill>
                <a:latin typeface="Verdana"/>
                <a:ea typeface="Verdana"/>
                <a:cs typeface="Verdana"/>
                <a:sym typeface="Verdana"/>
              </a:rPr>
              <a:t>replaced by uracil (U’s instead of T’s) because </a:t>
            </a:r>
            <a:r>
              <a:rPr lang="en" sz="1200">
                <a:solidFill>
                  <a:srgbClr val="393B3F"/>
                </a:solidFill>
                <a:latin typeface="Verdana"/>
                <a:ea typeface="Verdana"/>
                <a:cs typeface="Verdana"/>
                <a:sym typeface="Verdana"/>
              </a:rPr>
              <a:t>in RNA, there is no thymine.</a:t>
            </a:r>
            <a:endParaRPr sz="1200">
              <a:solidFill>
                <a:srgbClr val="393B3F"/>
              </a:solidFill>
              <a:latin typeface="Verdana"/>
              <a:ea typeface="Verdana"/>
              <a:cs typeface="Verdana"/>
              <a:sym typeface="Verdana"/>
            </a:endParaRPr>
          </a:p>
          <a:p>
            <a:pPr indent="-304800" lvl="0" marL="457200" marR="0" rtl="0" algn="l">
              <a:lnSpc>
                <a:spcPct val="100000"/>
              </a:lnSpc>
              <a:spcBef>
                <a:spcPts val="1000"/>
              </a:spcBef>
              <a:spcAft>
                <a:spcPts val="0"/>
              </a:spcAft>
              <a:buClr>
                <a:srgbClr val="393B3F"/>
              </a:buClr>
              <a:buSzPts val="1200"/>
              <a:buFont typeface="Verdana"/>
              <a:buChar char="●"/>
            </a:pPr>
            <a:r>
              <a:rPr b="0" i="0" lang="en" sz="1200" u="none" cap="none" strike="noStrike">
                <a:solidFill>
                  <a:srgbClr val="393B3F"/>
                </a:solidFill>
                <a:latin typeface="Verdana"/>
                <a:ea typeface="Verdana"/>
                <a:cs typeface="Verdana"/>
                <a:sym typeface="Verdana"/>
              </a:rPr>
              <a:t>Once </a:t>
            </a:r>
            <a:r>
              <a:rPr lang="en" sz="1200">
                <a:solidFill>
                  <a:srgbClr val="393B3F"/>
                </a:solidFill>
                <a:latin typeface="Verdana"/>
                <a:ea typeface="Verdana"/>
                <a:cs typeface="Verdana"/>
                <a:sym typeface="Verdana"/>
              </a:rPr>
              <a:t>RNA polymerase reaches a </a:t>
            </a:r>
            <a:r>
              <a:rPr b="1" lang="en" sz="1200">
                <a:solidFill>
                  <a:srgbClr val="393B3F"/>
                </a:solidFill>
                <a:latin typeface="Verdana"/>
                <a:ea typeface="Verdana"/>
                <a:cs typeface="Verdana"/>
                <a:sym typeface="Verdana"/>
              </a:rPr>
              <a:t>termination sequence</a:t>
            </a:r>
            <a:r>
              <a:rPr b="0" i="0" lang="en" sz="1200" u="none" cap="none" strike="noStrike">
                <a:solidFill>
                  <a:srgbClr val="393B3F"/>
                </a:solidFill>
                <a:latin typeface="Verdana"/>
                <a:ea typeface="Verdana"/>
                <a:cs typeface="Verdana"/>
                <a:sym typeface="Verdana"/>
              </a:rPr>
              <a:t>, the mRNA </a:t>
            </a:r>
            <a:r>
              <a:rPr lang="en" sz="1200">
                <a:solidFill>
                  <a:srgbClr val="393B3F"/>
                </a:solidFill>
                <a:latin typeface="Verdana"/>
                <a:ea typeface="Verdana"/>
                <a:cs typeface="Verdana"/>
                <a:sym typeface="Verdana"/>
              </a:rPr>
              <a:t>strand is complete and </a:t>
            </a:r>
            <a:r>
              <a:rPr b="0" i="0" lang="en" sz="1200" u="none" cap="none" strike="noStrike">
                <a:solidFill>
                  <a:srgbClr val="393B3F"/>
                </a:solidFill>
                <a:latin typeface="Verdana"/>
                <a:ea typeface="Verdana"/>
                <a:cs typeface="Verdana"/>
                <a:sym typeface="Verdana"/>
              </a:rPr>
              <a:t>can leave the nucleus to be translated into a protein.</a:t>
            </a:r>
            <a:endParaRPr sz="1200"/>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456" name="Google Shape;456;p39"/>
          <p:cNvPicPr preferRelativeResize="0"/>
          <p:nvPr/>
        </p:nvPicPr>
        <p:blipFill rotWithShape="1">
          <a:blip r:embed="rId3">
            <a:alphaModFix/>
          </a:blip>
          <a:srcRect b="0" l="0" r="0" t="0"/>
          <a:stretch/>
        </p:blipFill>
        <p:spPr>
          <a:xfrm>
            <a:off x="6033825" y="1701799"/>
            <a:ext cx="2997525" cy="141275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40"/>
          <p:cNvPicPr preferRelativeResize="0"/>
          <p:nvPr/>
        </p:nvPicPr>
        <p:blipFill>
          <a:blip r:embed="rId3">
            <a:alphaModFix/>
          </a:blip>
          <a:stretch>
            <a:fillRect/>
          </a:stretch>
        </p:blipFill>
        <p:spPr>
          <a:xfrm>
            <a:off x="1168725" y="1572499"/>
            <a:ext cx="6944225" cy="3163650"/>
          </a:xfrm>
          <a:prstGeom prst="rect">
            <a:avLst/>
          </a:prstGeom>
          <a:noFill/>
          <a:ln>
            <a:noFill/>
          </a:ln>
        </p:spPr>
      </p:pic>
      <p:sp>
        <p:nvSpPr>
          <p:cNvPr id="462" name="Google Shape;462;p40"/>
          <p:cNvSpPr txBox="1"/>
          <p:nvPr/>
        </p:nvSpPr>
        <p:spPr>
          <a:xfrm>
            <a:off x="784650" y="431450"/>
            <a:ext cx="7203000" cy="495300"/>
          </a:xfrm>
          <a:prstGeom prst="rect">
            <a:avLst/>
          </a:prstGeom>
          <a:noFill/>
          <a:ln>
            <a:noFill/>
          </a:ln>
        </p:spPr>
        <p:txBody>
          <a:bodyPr anchorCtr="0" anchor="t" bIns="45700" lIns="91425" spcFirstLastPara="1" rIns="91425" wrap="square" tIns="45700">
            <a:noAutofit/>
          </a:bodyPr>
          <a:lstStyle/>
          <a:p>
            <a:pPr indent="-406400" lvl="0" marL="457200" marR="0" rtl="0" algn="ctr">
              <a:lnSpc>
                <a:spcPct val="100000"/>
              </a:lnSpc>
              <a:spcBef>
                <a:spcPts val="0"/>
              </a:spcBef>
              <a:spcAft>
                <a:spcPts val="0"/>
              </a:spcAft>
              <a:buClr>
                <a:srgbClr val="393B3F"/>
              </a:buClr>
              <a:buSzPts val="2800"/>
              <a:buFont typeface="Verdana"/>
              <a:buAutoNum type="arabicParenR"/>
            </a:pPr>
            <a:r>
              <a:rPr b="1" i="0" lang="en" sz="2800" u="none" cap="none" strike="noStrike">
                <a:solidFill>
                  <a:srgbClr val="393B3F"/>
                </a:solidFill>
                <a:latin typeface="Verdana"/>
                <a:ea typeface="Verdana"/>
                <a:cs typeface="Verdana"/>
                <a:sym typeface="Verdana"/>
              </a:rPr>
              <a:t>Transcription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1"/>
          <p:cNvSpPr txBox="1"/>
          <p:nvPr/>
        </p:nvSpPr>
        <p:spPr>
          <a:xfrm>
            <a:off x="1115925" y="3014300"/>
            <a:ext cx="7516500" cy="1342500"/>
          </a:xfrm>
          <a:prstGeom prst="rect">
            <a:avLst/>
          </a:prstGeom>
          <a:noFill/>
          <a:ln>
            <a:noFill/>
          </a:ln>
        </p:spPr>
        <p:txBody>
          <a:bodyPr anchorCtr="0" anchor="t" bIns="45700" lIns="91425" spcFirstLastPara="1" rIns="91425" wrap="square" tIns="45700">
            <a:noAutofit/>
          </a:bodyPr>
          <a:lstStyle/>
          <a:p>
            <a:pPr indent="-323850" lvl="0" marL="457200" marR="0" rtl="0" algn="l">
              <a:lnSpc>
                <a:spcPct val="100000"/>
              </a:lnSpc>
              <a:spcBef>
                <a:spcPts val="0"/>
              </a:spcBef>
              <a:spcAft>
                <a:spcPts val="0"/>
              </a:spcAft>
              <a:buClr>
                <a:srgbClr val="393B3F"/>
              </a:buClr>
              <a:buSzPts val="1500"/>
              <a:buFont typeface="Verdana"/>
              <a:buChar char="●"/>
            </a:pPr>
            <a:r>
              <a:rPr lang="en" sz="1500">
                <a:solidFill>
                  <a:srgbClr val="393B3F"/>
                </a:solidFill>
                <a:latin typeface="Verdana"/>
                <a:ea typeface="Verdana"/>
                <a:cs typeface="Verdana"/>
                <a:sym typeface="Verdana"/>
              </a:rPr>
              <a:t>Before translation takes place, the mRNA sequence is modified to remove sequences of mRNA called </a:t>
            </a:r>
            <a:r>
              <a:rPr i="1" lang="en" sz="1500">
                <a:solidFill>
                  <a:srgbClr val="393B3F"/>
                </a:solidFill>
                <a:latin typeface="Verdana"/>
                <a:ea typeface="Verdana"/>
                <a:cs typeface="Verdana"/>
                <a:sym typeface="Verdana"/>
              </a:rPr>
              <a:t>introns</a:t>
            </a:r>
            <a:r>
              <a:rPr lang="en" sz="1500">
                <a:solidFill>
                  <a:srgbClr val="393B3F"/>
                </a:solidFill>
                <a:latin typeface="Verdana"/>
                <a:ea typeface="Verdana"/>
                <a:cs typeface="Verdana"/>
                <a:sym typeface="Verdana"/>
              </a:rPr>
              <a:t>.</a:t>
            </a:r>
            <a:endParaRPr sz="1500">
              <a:solidFill>
                <a:srgbClr val="393B3F"/>
              </a:solidFill>
              <a:latin typeface="Verdana"/>
              <a:ea typeface="Verdana"/>
              <a:cs typeface="Verdana"/>
              <a:sym typeface="Verdana"/>
            </a:endParaRPr>
          </a:p>
          <a:p>
            <a:pPr indent="-323850" lvl="0" marL="457200" marR="0" rtl="0" algn="l">
              <a:lnSpc>
                <a:spcPct val="100000"/>
              </a:lnSpc>
              <a:spcBef>
                <a:spcPts val="1000"/>
              </a:spcBef>
              <a:spcAft>
                <a:spcPts val="0"/>
              </a:spcAft>
              <a:buClr>
                <a:srgbClr val="393B3F"/>
              </a:buClr>
              <a:buSzPts val="1500"/>
              <a:buFont typeface="Verdana"/>
              <a:buChar char="●"/>
            </a:pPr>
            <a:r>
              <a:rPr lang="en" sz="1500">
                <a:solidFill>
                  <a:srgbClr val="393B3F"/>
                </a:solidFill>
                <a:latin typeface="Verdana"/>
                <a:ea typeface="Verdana"/>
                <a:cs typeface="Verdana"/>
                <a:sym typeface="Verdana"/>
              </a:rPr>
              <a:t>Introns are sequences of RNA that do not code for proteins.</a:t>
            </a:r>
            <a:endParaRPr sz="1500">
              <a:solidFill>
                <a:srgbClr val="393B3F"/>
              </a:solidFill>
              <a:latin typeface="Verdana"/>
              <a:ea typeface="Verdana"/>
              <a:cs typeface="Verdana"/>
              <a:sym typeface="Verdana"/>
            </a:endParaRPr>
          </a:p>
          <a:p>
            <a:pPr indent="-323850" lvl="0" marL="457200" marR="0" rtl="0" algn="l">
              <a:lnSpc>
                <a:spcPct val="100000"/>
              </a:lnSpc>
              <a:spcBef>
                <a:spcPts val="1000"/>
              </a:spcBef>
              <a:spcAft>
                <a:spcPts val="0"/>
              </a:spcAft>
              <a:buClr>
                <a:srgbClr val="393B3F"/>
              </a:buClr>
              <a:buSzPts val="1500"/>
              <a:buFont typeface="Verdana"/>
              <a:buChar char="●"/>
            </a:pPr>
            <a:r>
              <a:rPr lang="en" sz="1500">
                <a:solidFill>
                  <a:srgbClr val="393B3F"/>
                </a:solidFill>
                <a:latin typeface="Verdana"/>
                <a:ea typeface="Verdana"/>
                <a:cs typeface="Verdana"/>
                <a:sym typeface="Verdana"/>
              </a:rPr>
              <a:t>The remaining RNA sequences are referred to as </a:t>
            </a:r>
            <a:r>
              <a:rPr i="1" lang="en" sz="1500">
                <a:solidFill>
                  <a:srgbClr val="393B3F"/>
                </a:solidFill>
                <a:latin typeface="Verdana"/>
                <a:ea typeface="Verdana"/>
                <a:cs typeface="Verdana"/>
                <a:sym typeface="Verdana"/>
              </a:rPr>
              <a:t>exons</a:t>
            </a:r>
            <a:r>
              <a:rPr lang="en" sz="1500">
                <a:solidFill>
                  <a:srgbClr val="393B3F"/>
                </a:solidFill>
                <a:latin typeface="Verdana"/>
                <a:ea typeface="Verdana"/>
                <a:cs typeface="Verdana"/>
                <a:sym typeface="Verdana"/>
              </a:rPr>
              <a:t>. </a:t>
            </a:r>
            <a:endParaRPr sz="1500">
              <a:solidFill>
                <a:srgbClr val="393B3F"/>
              </a:solidFill>
              <a:latin typeface="Verdana"/>
              <a:ea typeface="Verdana"/>
              <a:cs typeface="Verdana"/>
              <a:sym typeface="Verdana"/>
            </a:endParaRPr>
          </a:p>
          <a:p>
            <a:pPr indent="-323850" lvl="0" marL="457200" marR="0" rtl="0" algn="l">
              <a:lnSpc>
                <a:spcPct val="100000"/>
              </a:lnSpc>
              <a:spcBef>
                <a:spcPts val="1000"/>
              </a:spcBef>
              <a:spcAft>
                <a:spcPts val="0"/>
              </a:spcAft>
              <a:buClr>
                <a:srgbClr val="393B3F"/>
              </a:buClr>
              <a:buSzPts val="1500"/>
              <a:buFont typeface="Verdana"/>
              <a:buChar char="●"/>
            </a:pPr>
            <a:r>
              <a:rPr lang="en" sz="1500">
                <a:solidFill>
                  <a:srgbClr val="393B3F"/>
                </a:solidFill>
                <a:latin typeface="Verdana"/>
                <a:ea typeface="Verdana"/>
                <a:cs typeface="Verdana"/>
                <a:sym typeface="Verdana"/>
              </a:rPr>
              <a:t>This modification process occurs only in eukaryotes.</a:t>
            </a:r>
            <a:endParaRPr sz="15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468" name="Google Shape;468;p41"/>
          <p:cNvPicPr preferRelativeResize="0"/>
          <p:nvPr/>
        </p:nvPicPr>
        <p:blipFill>
          <a:blip r:embed="rId3">
            <a:alphaModFix/>
          </a:blip>
          <a:stretch>
            <a:fillRect/>
          </a:stretch>
        </p:blipFill>
        <p:spPr>
          <a:xfrm>
            <a:off x="1281200" y="1017063"/>
            <a:ext cx="6581599" cy="1906925"/>
          </a:xfrm>
          <a:prstGeom prst="rect">
            <a:avLst/>
          </a:prstGeom>
          <a:noFill/>
          <a:ln cap="flat" cmpd="sng" w="19050">
            <a:solidFill>
              <a:srgbClr val="666666"/>
            </a:solidFill>
            <a:prstDash val="solid"/>
            <a:round/>
            <a:headEnd len="sm" w="sm" type="none"/>
            <a:tailEnd len="sm" w="sm" type="none"/>
          </a:ln>
        </p:spPr>
      </p:pic>
      <p:sp>
        <p:nvSpPr>
          <p:cNvPr id="469" name="Google Shape;469;p41"/>
          <p:cNvSpPr txBox="1"/>
          <p:nvPr/>
        </p:nvSpPr>
        <p:spPr>
          <a:xfrm>
            <a:off x="784650" y="431450"/>
            <a:ext cx="7203000" cy="495300"/>
          </a:xfrm>
          <a:prstGeom prst="rect">
            <a:avLst/>
          </a:prstGeom>
          <a:noFill/>
          <a:ln>
            <a:noFill/>
          </a:ln>
        </p:spPr>
        <p:txBody>
          <a:bodyPr anchorCtr="0" anchor="t" bIns="45700" lIns="91425" spcFirstLastPara="1" rIns="91425" wrap="square" tIns="45700">
            <a:noAutofit/>
          </a:bodyPr>
          <a:lstStyle/>
          <a:p>
            <a:pPr indent="0" lvl="0" marL="457200" marR="0" rtl="0" algn="ctr">
              <a:lnSpc>
                <a:spcPct val="100000"/>
              </a:lnSpc>
              <a:spcBef>
                <a:spcPts val="0"/>
              </a:spcBef>
              <a:spcAft>
                <a:spcPts val="0"/>
              </a:spcAft>
              <a:buNone/>
            </a:pPr>
            <a:r>
              <a:rPr b="1" lang="en" sz="2800">
                <a:solidFill>
                  <a:srgbClr val="393B3F"/>
                </a:solidFill>
                <a:latin typeface="Verdana"/>
                <a:ea typeface="Verdana"/>
                <a:cs typeface="Verdana"/>
                <a:sym typeface="Verdana"/>
              </a:rPr>
              <a:t>Extra: mRNA processing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2"/>
          <p:cNvSpPr txBox="1"/>
          <p:nvPr/>
        </p:nvSpPr>
        <p:spPr>
          <a:xfrm>
            <a:off x="784650" y="680175"/>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800"/>
              <a:buFont typeface="Verdana"/>
              <a:buNone/>
            </a:pPr>
            <a:r>
              <a:rPr b="1" i="0" lang="en" sz="2800" u="none" cap="none" strike="noStrike">
                <a:solidFill>
                  <a:srgbClr val="393B3F"/>
                </a:solidFill>
                <a:latin typeface="Verdana"/>
                <a:ea typeface="Verdana"/>
                <a:cs typeface="Verdana"/>
                <a:sym typeface="Verdana"/>
              </a:rPr>
              <a:t>2)  Translation</a:t>
            </a:r>
            <a:endParaRPr/>
          </a:p>
        </p:txBody>
      </p:sp>
      <p:sp>
        <p:nvSpPr>
          <p:cNvPr id="475" name="Google Shape;475;p42"/>
          <p:cNvSpPr txBox="1"/>
          <p:nvPr/>
        </p:nvSpPr>
        <p:spPr>
          <a:xfrm>
            <a:off x="541175" y="1252000"/>
            <a:ext cx="80766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 sz="1800" u="none" cap="none" strike="noStrike">
                <a:solidFill>
                  <a:srgbClr val="393B3F"/>
                </a:solidFill>
                <a:latin typeface="Verdana"/>
                <a:ea typeface="Verdana"/>
                <a:cs typeface="Verdana"/>
                <a:sym typeface="Verdana"/>
              </a:rPr>
              <a:t>Once DNA is transcribed into mRNA, it then leaves the nucleus and moves into the cytoplasm of the cell to be translated into a protein.</a:t>
            </a:r>
            <a:endParaRPr/>
          </a:p>
        </p:txBody>
      </p:sp>
      <p:sp>
        <p:nvSpPr>
          <p:cNvPr id="476" name="Google Shape;476;p42"/>
          <p:cNvSpPr txBox="1"/>
          <p:nvPr/>
        </p:nvSpPr>
        <p:spPr>
          <a:xfrm>
            <a:off x="706450" y="2211275"/>
            <a:ext cx="3817500" cy="2518500"/>
          </a:xfrm>
          <a:prstGeom prst="rect">
            <a:avLst/>
          </a:prstGeom>
          <a:noFill/>
          <a:ln>
            <a:noFill/>
          </a:ln>
        </p:spPr>
        <p:txBody>
          <a:bodyPr anchorCtr="0" anchor="t" bIns="45700" lIns="91425" spcFirstLastPara="1" rIns="91425" wrap="square" tIns="45700">
            <a:noAutofit/>
          </a:bodyPr>
          <a:lstStyle/>
          <a:p>
            <a:pPr indent="-304800" lvl="0" marL="457200" marR="0" rtl="0" algn="l">
              <a:lnSpc>
                <a:spcPct val="100000"/>
              </a:lnSpc>
              <a:spcBef>
                <a:spcPts val="0"/>
              </a:spcBef>
              <a:spcAft>
                <a:spcPts val="0"/>
              </a:spcAft>
              <a:buClr>
                <a:srgbClr val="393B3F"/>
              </a:buClr>
              <a:buSzPts val="1200"/>
              <a:buFont typeface="Verdana"/>
              <a:buChar char="●"/>
            </a:pPr>
            <a:r>
              <a:rPr b="0" i="0" lang="en" sz="1200" u="none" cap="none" strike="noStrike">
                <a:solidFill>
                  <a:srgbClr val="393B3F"/>
                </a:solidFill>
                <a:latin typeface="Verdana"/>
                <a:ea typeface="Verdana"/>
                <a:cs typeface="Verdana"/>
                <a:sym typeface="Verdana"/>
              </a:rPr>
              <a:t>The mRNA sequence is split into </a:t>
            </a:r>
            <a:r>
              <a:rPr b="1" i="0" lang="en" sz="1200" u="none" cap="none" strike="noStrike">
                <a:solidFill>
                  <a:srgbClr val="393B3F"/>
                </a:solidFill>
                <a:latin typeface="Verdana"/>
                <a:ea typeface="Verdana"/>
                <a:cs typeface="Verdana"/>
                <a:sym typeface="Verdana"/>
              </a:rPr>
              <a:t>codons </a:t>
            </a:r>
            <a:r>
              <a:rPr b="0" i="0" lang="en" sz="1200" u="none" cap="none" strike="noStrike">
                <a:solidFill>
                  <a:srgbClr val="393B3F"/>
                </a:solidFill>
                <a:latin typeface="Verdana"/>
                <a:ea typeface="Verdana"/>
                <a:cs typeface="Verdana"/>
                <a:sym typeface="Verdana"/>
              </a:rPr>
              <a:t>(groups of three base pairs), each of which links to a specific amino acid through the use of tran</a:t>
            </a:r>
            <a:r>
              <a:rPr lang="en" sz="1200">
                <a:solidFill>
                  <a:srgbClr val="393B3F"/>
                </a:solidFill>
                <a:latin typeface="Verdana"/>
                <a:ea typeface="Verdana"/>
                <a:cs typeface="Verdana"/>
                <a:sym typeface="Verdana"/>
              </a:rPr>
              <a:t>sfer RNA (</a:t>
            </a:r>
            <a:r>
              <a:rPr b="0" i="0" lang="en" sz="1200" u="none" cap="none" strike="noStrike">
                <a:solidFill>
                  <a:srgbClr val="393B3F"/>
                </a:solidFill>
                <a:latin typeface="Verdana"/>
                <a:ea typeface="Verdana"/>
                <a:cs typeface="Verdana"/>
                <a:sym typeface="Verdana"/>
              </a:rPr>
              <a:t>tRNA).</a:t>
            </a:r>
            <a:endParaRPr/>
          </a:p>
          <a:p>
            <a:pPr indent="-304800" lvl="0" marL="457200" marR="0" rtl="0" algn="l">
              <a:lnSpc>
                <a:spcPct val="100000"/>
              </a:lnSpc>
              <a:spcBef>
                <a:spcPts val="1000"/>
              </a:spcBef>
              <a:spcAft>
                <a:spcPts val="0"/>
              </a:spcAft>
              <a:buClr>
                <a:srgbClr val="393B3F"/>
              </a:buClr>
              <a:buSzPts val="1200"/>
              <a:buFont typeface="Verdana"/>
              <a:buChar char="●"/>
            </a:pPr>
            <a:r>
              <a:rPr b="0" i="0" lang="en" sz="1200" u="none" cap="none" strike="noStrike">
                <a:solidFill>
                  <a:srgbClr val="393B3F"/>
                </a:solidFill>
                <a:latin typeface="Verdana"/>
                <a:ea typeface="Verdana"/>
                <a:cs typeface="Verdana"/>
                <a:sym typeface="Verdana"/>
              </a:rPr>
              <a:t>Codons are linked to amino acids by </a:t>
            </a:r>
            <a:r>
              <a:rPr b="1" i="0" lang="en" sz="1200" u="none" cap="none" strike="noStrike">
                <a:solidFill>
                  <a:srgbClr val="393B3F"/>
                </a:solidFill>
                <a:latin typeface="Verdana"/>
                <a:ea typeface="Verdana"/>
                <a:cs typeface="Verdana"/>
                <a:sym typeface="Verdana"/>
              </a:rPr>
              <a:t>tRNA </a:t>
            </a:r>
            <a:r>
              <a:rPr b="1" lang="en" sz="1200">
                <a:solidFill>
                  <a:srgbClr val="393B3F"/>
                </a:solidFill>
                <a:latin typeface="Verdana"/>
                <a:ea typeface="Verdana"/>
                <a:cs typeface="Verdana"/>
                <a:sym typeface="Verdana"/>
              </a:rPr>
              <a:t>anticodons.</a:t>
            </a:r>
            <a:endParaRPr b="1"/>
          </a:p>
          <a:p>
            <a:pPr indent="-304800" lvl="0" marL="457200" marR="0" rtl="0" algn="l">
              <a:lnSpc>
                <a:spcPct val="100000"/>
              </a:lnSpc>
              <a:spcBef>
                <a:spcPts val="1000"/>
              </a:spcBef>
              <a:spcAft>
                <a:spcPts val="0"/>
              </a:spcAft>
              <a:buClr>
                <a:srgbClr val="393B3F"/>
              </a:buClr>
              <a:buSzPts val="1200"/>
              <a:buFont typeface="Verdana"/>
              <a:buChar char="●"/>
            </a:pPr>
            <a:r>
              <a:rPr b="0" i="0" lang="en" sz="1200" u="none" cap="none" strike="noStrike">
                <a:solidFill>
                  <a:srgbClr val="393B3F"/>
                </a:solidFill>
                <a:latin typeface="Verdana"/>
                <a:ea typeface="Verdana"/>
                <a:cs typeface="Verdana"/>
                <a:sym typeface="Verdana"/>
              </a:rPr>
              <a:t>Ribosomes (ribosomal RNA - rRNA) serve as the functional units of protein synthesis, working with tRNA to translate mRNA into amino acids</a:t>
            </a:r>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477" name="Google Shape;477;p42"/>
          <p:cNvPicPr preferRelativeResize="0"/>
          <p:nvPr/>
        </p:nvPicPr>
        <p:blipFill rotWithShape="1">
          <a:blip r:embed="rId3">
            <a:alphaModFix/>
          </a:blip>
          <a:srcRect b="0" l="0" r="0" t="0"/>
          <a:stretch/>
        </p:blipFill>
        <p:spPr>
          <a:xfrm>
            <a:off x="4909375" y="2159525"/>
            <a:ext cx="3538475" cy="22606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descr="✔ https://Biology-Forums.com&#10;✔ Ask questions here: https://Biology-Forums.com/index.php?board=3.0&#10;&#10;▶ Facebook: https://facebook.com/StudyForcePS/&#10;▶ Instagram: https://instagram.com/studyforceonline/&#10;▶ Twitter: https://twitter.com/studyforceps" id="482" name="Google Shape;482;p43" title="Protein Synthesis Animation Video">
            <a:hlinkClick r:id="rId3"/>
          </p:cNvPr>
          <p:cNvPicPr preferRelativeResize="0"/>
          <p:nvPr/>
        </p:nvPicPr>
        <p:blipFill>
          <a:blip r:embed="rId4">
            <a:alphaModFix/>
          </a:blip>
          <a:stretch>
            <a:fillRect/>
          </a:stretch>
        </p:blipFill>
        <p:spPr>
          <a:xfrm>
            <a:off x="656725" y="3198375"/>
            <a:ext cx="1820650" cy="1365500"/>
          </a:xfrm>
          <a:prstGeom prst="rect">
            <a:avLst/>
          </a:prstGeom>
          <a:noFill/>
          <a:ln>
            <a:noFill/>
          </a:ln>
        </p:spPr>
      </p:pic>
      <p:sp>
        <p:nvSpPr>
          <p:cNvPr id="483" name="Google Shape;483;p43"/>
          <p:cNvSpPr txBox="1"/>
          <p:nvPr/>
        </p:nvSpPr>
        <p:spPr>
          <a:xfrm>
            <a:off x="4810975" y="887150"/>
            <a:ext cx="3474900" cy="3087000"/>
          </a:xfrm>
          <a:prstGeom prst="rect">
            <a:avLst/>
          </a:prstGeom>
          <a:noFill/>
          <a:ln>
            <a:noFill/>
          </a:ln>
        </p:spPr>
        <p:txBody>
          <a:bodyPr anchorCtr="0" anchor="t" bIns="45700" lIns="91425" spcFirstLastPara="1" rIns="91425" wrap="square" tIns="45700">
            <a:noAutofit/>
          </a:bodyPr>
          <a:lstStyle/>
          <a:p>
            <a:pPr indent="-304800" lvl="0" marL="457200" marR="0" rtl="0" algn="l">
              <a:lnSpc>
                <a:spcPct val="100000"/>
              </a:lnSpc>
              <a:spcBef>
                <a:spcPts val="0"/>
              </a:spcBef>
              <a:spcAft>
                <a:spcPts val="0"/>
              </a:spcAft>
              <a:buClr>
                <a:srgbClr val="393B3F"/>
              </a:buClr>
              <a:buSzPts val="1200"/>
              <a:buFont typeface="Verdana"/>
              <a:buChar char="●"/>
            </a:pPr>
            <a:r>
              <a:rPr lang="en" sz="1200">
                <a:solidFill>
                  <a:srgbClr val="393B3F"/>
                </a:solidFill>
                <a:latin typeface="Verdana"/>
                <a:ea typeface="Verdana"/>
                <a:cs typeface="Verdana"/>
                <a:sym typeface="Verdana"/>
              </a:rPr>
              <a:t>Ribosomes are typically free-floating within the cytoplasm; these ribosomes produce proteins for use within the cell.</a:t>
            </a:r>
            <a:endParaRPr sz="1200">
              <a:solidFill>
                <a:srgbClr val="393B3F"/>
              </a:solidFill>
              <a:latin typeface="Verdana"/>
              <a:ea typeface="Verdana"/>
              <a:cs typeface="Verdana"/>
              <a:sym typeface="Verdana"/>
            </a:endParaRPr>
          </a:p>
          <a:p>
            <a:pPr indent="-304800" lvl="0" marL="457200" marR="0" rtl="0" algn="l">
              <a:lnSpc>
                <a:spcPct val="100000"/>
              </a:lnSpc>
              <a:spcBef>
                <a:spcPts val="1000"/>
              </a:spcBef>
              <a:spcAft>
                <a:spcPts val="0"/>
              </a:spcAft>
              <a:buClr>
                <a:srgbClr val="393B3F"/>
              </a:buClr>
              <a:buSzPts val="1200"/>
              <a:buFont typeface="Verdana"/>
              <a:buChar char="●"/>
            </a:pPr>
            <a:r>
              <a:rPr lang="en" sz="1200">
                <a:solidFill>
                  <a:srgbClr val="393B3F"/>
                </a:solidFill>
                <a:latin typeface="Verdana"/>
                <a:ea typeface="Verdana"/>
                <a:cs typeface="Verdana"/>
                <a:sym typeface="Verdana"/>
              </a:rPr>
              <a:t>Ribosomes consist of two subunits: a large subunit and a small subunit. The mRNA sequence is “sandwiched” between these two subunits when it is translated.</a:t>
            </a:r>
            <a:endParaRPr sz="1200">
              <a:solidFill>
                <a:srgbClr val="393B3F"/>
              </a:solidFill>
              <a:latin typeface="Verdana"/>
              <a:ea typeface="Verdana"/>
              <a:cs typeface="Verdana"/>
              <a:sym typeface="Verdana"/>
            </a:endParaRPr>
          </a:p>
          <a:p>
            <a:pPr indent="-304800" lvl="0" marL="457200" marR="0" rtl="0" algn="l">
              <a:lnSpc>
                <a:spcPct val="100000"/>
              </a:lnSpc>
              <a:spcBef>
                <a:spcPts val="1000"/>
              </a:spcBef>
              <a:spcAft>
                <a:spcPts val="0"/>
              </a:spcAft>
              <a:buClr>
                <a:srgbClr val="393B3F"/>
              </a:buClr>
              <a:buSzPts val="1200"/>
              <a:buFont typeface="Verdana"/>
              <a:buChar char="●"/>
            </a:pPr>
            <a:r>
              <a:rPr lang="en" sz="1200">
                <a:solidFill>
                  <a:srgbClr val="393B3F"/>
                </a:solidFill>
                <a:latin typeface="Verdana"/>
                <a:ea typeface="Verdana"/>
                <a:cs typeface="Verdana"/>
                <a:sym typeface="Verdana"/>
              </a:rPr>
              <a:t>Each codon to be translated arrives at the “A” site of the ribosome with the help of tRNA. It then moves to the “P” site, where the correct amino acid is attached to the growing polypeptide chain. It then exits at the “E” site.</a:t>
            </a:r>
            <a:endParaRPr sz="1200">
              <a:solidFill>
                <a:srgbClr val="393B3F"/>
              </a:solidFill>
              <a:latin typeface="Verdana"/>
              <a:ea typeface="Verdana"/>
              <a:cs typeface="Verdana"/>
              <a:sym typeface="Verdana"/>
            </a:endParaRPr>
          </a:p>
          <a:p>
            <a:pPr indent="-304800" lvl="0" marL="457200" marR="0" rtl="0" algn="l">
              <a:lnSpc>
                <a:spcPct val="100000"/>
              </a:lnSpc>
              <a:spcBef>
                <a:spcPts val="1000"/>
              </a:spcBef>
              <a:spcAft>
                <a:spcPts val="0"/>
              </a:spcAft>
              <a:buClr>
                <a:srgbClr val="393B3F"/>
              </a:buClr>
              <a:buSzPts val="1200"/>
              <a:buFont typeface="Verdana"/>
              <a:buChar char="●"/>
            </a:pPr>
            <a:r>
              <a:rPr lang="en" sz="1200">
                <a:solidFill>
                  <a:srgbClr val="393B3F"/>
                </a:solidFill>
                <a:latin typeface="Verdana"/>
                <a:ea typeface="Verdana"/>
                <a:cs typeface="Verdana"/>
                <a:sym typeface="Verdana"/>
              </a:rPr>
              <a:t>Bound ribosomes produce proteins for export. </a:t>
            </a:r>
            <a:endParaRPr sz="1200">
              <a:solidFill>
                <a:srgbClr val="393B3F"/>
              </a:solidFill>
              <a:latin typeface="Verdana"/>
              <a:ea typeface="Verdana"/>
              <a:cs typeface="Verdana"/>
              <a:sym typeface="Verdana"/>
            </a:endParaRPr>
          </a:p>
          <a:p>
            <a:pPr indent="0" lvl="0" marL="0" marR="0" rtl="0" algn="l">
              <a:lnSpc>
                <a:spcPct val="100000"/>
              </a:lnSpc>
              <a:spcBef>
                <a:spcPts val="1000"/>
              </a:spcBef>
              <a:spcAft>
                <a:spcPts val="100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484" name="Google Shape;484;p43"/>
          <p:cNvPicPr preferRelativeResize="0"/>
          <p:nvPr/>
        </p:nvPicPr>
        <p:blipFill>
          <a:blip r:embed="rId5">
            <a:alphaModFix/>
          </a:blip>
          <a:stretch>
            <a:fillRect/>
          </a:stretch>
        </p:blipFill>
        <p:spPr>
          <a:xfrm>
            <a:off x="822875" y="426375"/>
            <a:ext cx="3048000" cy="2228850"/>
          </a:xfrm>
          <a:prstGeom prst="rect">
            <a:avLst/>
          </a:prstGeom>
          <a:noFill/>
          <a:ln>
            <a:noFill/>
          </a:ln>
        </p:spPr>
      </p:pic>
      <p:pic>
        <p:nvPicPr>
          <p:cNvPr descr="Purchase a license to download a non-watermarked version of this video on AlilaMedicalMedia(dot)com&#10;&#10;Check out our new Alila Academy - AlilaAcademy(dot)com - complete video courses with quizzes, PDFs, and downloadable images.&#10;&#10;©Alila Medical Media. All rights reserved.&#10;&#10;The translation process involves the following components:&#10;- mRNA or messenger RNA containing the genetic information to be translated.&#10;- tRNA or transfer RNA bringing in the amino acids – the building blocks of the protein.&#10;- Ribosome – the machine that performs the translation. The ribosome has two subunits: small and large.&#10;- Several initiation factors, elongation factors, and release factors. These factors assist with initiation, elongation and termination of the process, respectively. &#10;Steps of the translation process:&#10;Initiation (eukaryotes) : The small ribosomal subunit binds to the initiator tRNA carrying the initiator amino acid methionine.  This complex then attaches to the cap structure at the 5’ end of an mRNA  and scans for the start codon AUG. The process is mediated by several initiation factors. At the start codon, the large ribosomal subunit joins the complex and all initiation factors are released. The ribosome has three sites: the A-site is the entry site for new tRNA charged with amino-acid or aminoacyl-tRNA; the P-site is occupied by peptidyl-tRNA - the tRNA that carries the growing polypeptide chain; the E-site is the exit site for the tRNA after it’s done delivering the amino acid. The initiator tRNA is positioned in the P-site. &#10;Elongation: A new tRNA carrying an amino acid enters the A-site of the ribosome. On the ribosome, the anticodon of the incoming tRNA is matched against the mRNA codon positioned in the A-site.  During this proof-reading, tRNA with incorrect anticodons are rejected and replaced by new tRNA that are again checked. When the right aminoacyl-tRNA enters the A-site, a peptide bond is made between the two now-adjacent amino-acids. As the peptide bond is formed, the tRNA in the P-site releases the amino-acids onto the tRNA in the A-site and becomes empty.  At the same time, the ribosome moves one triplet forward on the mRNA. As a result, the empty tRNA is now in the E-site and the peptidyl tRNA is in the P-site. The A-site is now unoccupied and is ready to accept a new tRNA. The cycle is repeated for each codon on the mRNA. &#10;Termination: Termination happens when one of the three stop codons is positioned in the A-site. No tRNA can fit in the A-site at that point as there are no tRNA that match the sequence. Instead, these codons are recognized by a protein, a release factor. Binding of the release factor catalyzes the cleavage of the bond between the polypeptide and the tRNA. The polypeptide is released from the ribosome. The ribosome is disassociated into subunits and is ready for a new round of translation. The newly made polypeptide usually requires additional modifications and folding before it can become an active protein." id="485" name="Google Shape;485;p43" title="Eukaryotic Translation (Protein Synthesis), Animation.">
            <a:hlinkClick r:id="rId6"/>
          </p:cNvPr>
          <p:cNvPicPr preferRelativeResize="0"/>
          <p:nvPr/>
        </p:nvPicPr>
        <p:blipFill>
          <a:blip r:embed="rId7">
            <a:alphaModFix/>
          </a:blip>
          <a:stretch>
            <a:fillRect/>
          </a:stretch>
        </p:blipFill>
        <p:spPr>
          <a:xfrm>
            <a:off x="2607575" y="3198375"/>
            <a:ext cx="2279025" cy="1281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4"/>
          <p:cNvSpPr txBox="1"/>
          <p:nvPr/>
        </p:nvSpPr>
        <p:spPr>
          <a:xfrm>
            <a:off x="897125" y="857250"/>
            <a:ext cx="7903800" cy="1279800"/>
          </a:xfrm>
          <a:prstGeom prst="rect">
            <a:avLst/>
          </a:prstGeom>
          <a:noFill/>
          <a:ln>
            <a:noFill/>
          </a:ln>
        </p:spPr>
        <p:txBody>
          <a:bodyPr anchorCtr="0" anchor="t" bIns="45700" lIns="91425" spcFirstLastPara="1" rIns="91425" wrap="square" tIns="45700">
            <a:noAutofit/>
          </a:bodyPr>
          <a:lstStyle/>
          <a:p>
            <a:pPr indent="-336550" lvl="0" marL="457200" marR="0" rtl="0" algn="l">
              <a:lnSpc>
                <a:spcPct val="100000"/>
              </a:lnSpc>
              <a:spcBef>
                <a:spcPts val="0"/>
              </a:spcBef>
              <a:spcAft>
                <a:spcPts val="0"/>
              </a:spcAft>
              <a:buClr>
                <a:schemeClr val="dk1"/>
              </a:buClr>
              <a:buSzPts val="1700"/>
              <a:buFont typeface="Average"/>
              <a:buChar char="➢"/>
            </a:pPr>
            <a:r>
              <a:rPr b="0" i="0" lang="en" sz="1700" u="none" cap="none" strike="noStrike">
                <a:solidFill>
                  <a:schemeClr val="dk1"/>
                </a:solidFill>
                <a:latin typeface="Average"/>
                <a:ea typeface="Average"/>
                <a:cs typeface="Average"/>
                <a:sym typeface="Average"/>
              </a:rPr>
              <a:t>Table of mRNA codons (in your data booklet) and corresponding amino acids</a:t>
            </a:r>
            <a:endParaRPr b="0" i="0" sz="1700" u="none" cap="none" strike="noStrike">
              <a:solidFill>
                <a:schemeClr val="dk1"/>
              </a:solidFill>
              <a:latin typeface="Average"/>
              <a:ea typeface="Average"/>
              <a:cs typeface="Average"/>
              <a:sym typeface="Average"/>
            </a:endParaRPr>
          </a:p>
          <a:p>
            <a:pPr indent="-336550" lvl="0" marL="457200" marR="0" rtl="0" algn="l">
              <a:lnSpc>
                <a:spcPct val="100000"/>
              </a:lnSpc>
              <a:spcBef>
                <a:spcPts val="0"/>
              </a:spcBef>
              <a:spcAft>
                <a:spcPts val="0"/>
              </a:spcAft>
              <a:buClr>
                <a:schemeClr val="dk1"/>
              </a:buClr>
              <a:buSzPts val="1700"/>
              <a:buFont typeface="Average"/>
              <a:buChar char="➢"/>
            </a:pPr>
            <a:r>
              <a:rPr lang="en" sz="1700">
                <a:solidFill>
                  <a:schemeClr val="dk1"/>
                </a:solidFill>
                <a:latin typeface="Average"/>
                <a:ea typeface="Average"/>
                <a:cs typeface="Average"/>
                <a:sym typeface="Average"/>
              </a:rPr>
              <a:t>For example, if the </a:t>
            </a:r>
            <a:r>
              <a:rPr b="1" lang="en" sz="1700">
                <a:solidFill>
                  <a:schemeClr val="dk1"/>
                </a:solidFill>
                <a:latin typeface="Average"/>
                <a:ea typeface="Average"/>
                <a:cs typeface="Average"/>
                <a:sym typeface="Average"/>
              </a:rPr>
              <a:t>mRNA</a:t>
            </a:r>
            <a:r>
              <a:rPr lang="en" sz="1700">
                <a:solidFill>
                  <a:schemeClr val="dk1"/>
                </a:solidFill>
                <a:latin typeface="Average"/>
                <a:ea typeface="Average"/>
                <a:cs typeface="Average"/>
                <a:sym typeface="Average"/>
              </a:rPr>
              <a:t> sequence is AGC, the amino acid ‘serine’ will be inserted during translation</a:t>
            </a:r>
            <a:endParaRPr sz="1700">
              <a:solidFill>
                <a:schemeClr val="dk1"/>
              </a:solidFill>
              <a:latin typeface="Average"/>
              <a:ea typeface="Average"/>
              <a:cs typeface="Average"/>
              <a:sym typeface="Average"/>
            </a:endParaRPr>
          </a:p>
          <a:p>
            <a:pPr indent="-336550" lvl="0" marL="457200" marR="0" rtl="0" algn="l">
              <a:lnSpc>
                <a:spcPct val="100000"/>
              </a:lnSpc>
              <a:spcBef>
                <a:spcPts val="0"/>
              </a:spcBef>
              <a:spcAft>
                <a:spcPts val="0"/>
              </a:spcAft>
              <a:buClr>
                <a:schemeClr val="dk1"/>
              </a:buClr>
              <a:buSzPts val="1700"/>
              <a:buFont typeface="Average"/>
              <a:buChar char="➢"/>
            </a:pPr>
            <a:r>
              <a:rPr lang="en" sz="1700">
                <a:solidFill>
                  <a:schemeClr val="dk1"/>
                </a:solidFill>
                <a:latin typeface="Average"/>
                <a:ea typeface="Average"/>
                <a:cs typeface="Average"/>
                <a:sym typeface="Average"/>
              </a:rPr>
              <a:t>Remember!! You must be using mRNA to look up the amino acid in this table. </a:t>
            </a:r>
            <a:endParaRPr sz="1700">
              <a:solidFill>
                <a:schemeClr val="dk1"/>
              </a:solidFill>
              <a:latin typeface="Average"/>
              <a:ea typeface="Average"/>
              <a:cs typeface="Average"/>
              <a:sym typeface="Average"/>
            </a:endParaRPr>
          </a:p>
        </p:txBody>
      </p:sp>
      <p:pic>
        <p:nvPicPr>
          <p:cNvPr id="491" name="Google Shape;491;p44"/>
          <p:cNvPicPr preferRelativeResize="0"/>
          <p:nvPr/>
        </p:nvPicPr>
        <p:blipFill>
          <a:blip r:embed="rId3">
            <a:alphaModFix/>
          </a:blip>
          <a:stretch>
            <a:fillRect/>
          </a:stretch>
        </p:blipFill>
        <p:spPr>
          <a:xfrm>
            <a:off x="4722879" y="2190950"/>
            <a:ext cx="4135897" cy="2493125"/>
          </a:xfrm>
          <a:prstGeom prst="rect">
            <a:avLst/>
          </a:prstGeom>
          <a:noFill/>
          <a:ln>
            <a:noFill/>
          </a:ln>
        </p:spPr>
      </p:pic>
      <p:sp>
        <p:nvSpPr>
          <p:cNvPr id="492" name="Google Shape;492;p44"/>
          <p:cNvSpPr txBox="1"/>
          <p:nvPr/>
        </p:nvSpPr>
        <p:spPr>
          <a:xfrm>
            <a:off x="800075" y="2000875"/>
            <a:ext cx="3922800" cy="268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Verdana"/>
                <a:ea typeface="Verdana"/>
                <a:cs typeface="Verdana"/>
                <a:sym typeface="Verdana"/>
              </a:rPr>
              <a:t>AUG </a:t>
            </a:r>
            <a:r>
              <a:rPr lang="en" sz="1500">
                <a:solidFill>
                  <a:schemeClr val="dk1"/>
                </a:solidFill>
                <a:latin typeface="Verdana"/>
                <a:ea typeface="Verdana"/>
                <a:cs typeface="Verdana"/>
                <a:sym typeface="Verdana"/>
              </a:rPr>
              <a:t>- is an </a:t>
            </a:r>
            <a:r>
              <a:rPr b="1" lang="en" sz="1500">
                <a:solidFill>
                  <a:schemeClr val="dk1"/>
                </a:solidFill>
                <a:latin typeface="Verdana"/>
                <a:ea typeface="Verdana"/>
                <a:cs typeface="Verdana"/>
                <a:sym typeface="Verdana"/>
              </a:rPr>
              <a:t>initiator or start codon</a:t>
            </a:r>
            <a:r>
              <a:rPr lang="en" sz="1500">
                <a:solidFill>
                  <a:schemeClr val="dk1"/>
                </a:solidFill>
                <a:latin typeface="Verdana"/>
                <a:ea typeface="Verdana"/>
                <a:cs typeface="Verdana"/>
                <a:sym typeface="Verdana"/>
              </a:rPr>
              <a:t>. The ribosomes will ‘scan’ the mRNA sequence, and only begin translating at AUG. AUG therefore also set the reading frame for the mRNA.</a:t>
            </a:r>
            <a:endParaRPr sz="1500">
              <a:solidFill>
                <a:schemeClr val="dk1"/>
              </a:solidFill>
              <a:latin typeface="Verdana"/>
              <a:ea typeface="Verdana"/>
              <a:cs typeface="Verdana"/>
              <a:sym typeface="Verdana"/>
            </a:endParaRPr>
          </a:p>
          <a:p>
            <a:pPr indent="0" lvl="0" marL="0" rtl="0" algn="l">
              <a:spcBef>
                <a:spcPts val="0"/>
              </a:spcBef>
              <a:spcAft>
                <a:spcPts val="0"/>
              </a:spcAft>
              <a:buNone/>
            </a:pPr>
            <a:r>
              <a:t/>
            </a:r>
            <a:endParaRPr sz="1500">
              <a:solidFill>
                <a:schemeClr val="dk1"/>
              </a:solidFill>
              <a:latin typeface="Verdana"/>
              <a:ea typeface="Verdana"/>
              <a:cs typeface="Verdana"/>
              <a:sym typeface="Verdana"/>
            </a:endParaRPr>
          </a:p>
          <a:p>
            <a:pPr indent="0" lvl="0" marL="0" rtl="0" algn="l">
              <a:spcBef>
                <a:spcPts val="0"/>
              </a:spcBef>
              <a:spcAft>
                <a:spcPts val="0"/>
              </a:spcAft>
              <a:buNone/>
            </a:pPr>
            <a:r>
              <a:rPr b="1" lang="en" sz="1500">
                <a:solidFill>
                  <a:schemeClr val="dk1"/>
                </a:solidFill>
                <a:latin typeface="Verdana"/>
                <a:ea typeface="Verdana"/>
                <a:cs typeface="Verdana"/>
                <a:sym typeface="Verdana"/>
              </a:rPr>
              <a:t>UAA, UAG, and UGA - terminator or stop codons</a:t>
            </a:r>
            <a:r>
              <a:rPr lang="en" sz="1500">
                <a:solidFill>
                  <a:schemeClr val="dk1"/>
                </a:solidFill>
                <a:latin typeface="Verdana"/>
                <a:ea typeface="Verdana"/>
                <a:cs typeface="Verdana"/>
                <a:sym typeface="Verdana"/>
              </a:rPr>
              <a:t>. The ribosome will stop translating here and the protein in finished. </a:t>
            </a:r>
            <a:endParaRPr sz="1500">
              <a:solidFill>
                <a:schemeClr val="dk1"/>
              </a:solidFill>
              <a:latin typeface="Verdana"/>
              <a:ea typeface="Verdana"/>
              <a:cs typeface="Verdana"/>
              <a:sym typeface="Verdana"/>
            </a:endParaRPr>
          </a:p>
        </p:txBody>
      </p:sp>
      <p:sp>
        <p:nvSpPr>
          <p:cNvPr id="493" name="Google Shape;493;p44"/>
          <p:cNvSpPr txBox="1"/>
          <p:nvPr/>
        </p:nvSpPr>
        <p:spPr>
          <a:xfrm>
            <a:off x="749300" y="361950"/>
            <a:ext cx="720300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800"/>
              <a:buFont typeface="Verdana"/>
              <a:buNone/>
            </a:pPr>
            <a:r>
              <a:rPr b="1" lang="en" sz="2400">
                <a:solidFill>
                  <a:srgbClr val="393B3F"/>
                </a:solidFill>
                <a:latin typeface="Verdana"/>
                <a:ea typeface="Verdana"/>
                <a:cs typeface="Verdana"/>
                <a:sym typeface="Verdana"/>
              </a:rPr>
              <a:t>Codons to Amino Acids</a:t>
            </a:r>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5"/>
          <p:cNvSpPr txBox="1"/>
          <p:nvPr/>
        </p:nvSpPr>
        <p:spPr>
          <a:xfrm>
            <a:off x="-1106175" y="331400"/>
            <a:ext cx="7203000" cy="495300"/>
          </a:xfrm>
          <a:prstGeom prst="rect">
            <a:avLst/>
          </a:prstGeom>
          <a:noFill/>
          <a:ln>
            <a:noFill/>
          </a:ln>
        </p:spPr>
        <p:txBody>
          <a:bodyPr anchorCtr="0" anchor="t" bIns="45700" lIns="91425" spcFirstLastPara="1" rIns="91425" wrap="square" tIns="45700">
            <a:noAutofit/>
          </a:bodyPr>
          <a:lstStyle/>
          <a:p>
            <a:pPr indent="0" lvl="0" marL="457200" marR="0" rtl="0" algn="ctr">
              <a:lnSpc>
                <a:spcPct val="100000"/>
              </a:lnSpc>
              <a:spcBef>
                <a:spcPts val="0"/>
              </a:spcBef>
              <a:spcAft>
                <a:spcPts val="0"/>
              </a:spcAft>
              <a:buNone/>
            </a:pPr>
            <a:r>
              <a:rPr b="1" lang="en" sz="2800">
                <a:solidFill>
                  <a:srgbClr val="393B3F"/>
                </a:solidFill>
                <a:latin typeface="Verdana"/>
                <a:ea typeface="Verdana"/>
                <a:cs typeface="Verdana"/>
                <a:sym typeface="Verdana"/>
              </a:rPr>
              <a:t>A closer look at tRNA</a:t>
            </a:r>
            <a:endParaRPr/>
          </a:p>
        </p:txBody>
      </p:sp>
      <p:pic>
        <p:nvPicPr>
          <p:cNvPr id="499" name="Google Shape;499;p45"/>
          <p:cNvPicPr preferRelativeResize="0"/>
          <p:nvPr/>
        </p:nvPicPr>
        <p:blipFill>
          <a:blip r:embed="rId3">
            <a:alphaModFix/>
          </a:blip>
          <a:stretch>
            <a:fillRect/>
          </a:stretch>
        </p:blipFill>
        <p:spPr>
          <a:xfrm>
            <a:off x="7218900" y="1954425"/>
            <a:ext cx="1825050" cy="3289124"/>
          </a:xfrm>
          <a:prstGeom prst="rect">
            <a:avLst/>
          </a:prstGeom>
          <a:noFill/>
          <a:ln>
            <a:noFill/>
          </a:ln>
        </p:spPr>
      </p:pic>
      <p:sp>
        <p:nvSpPr>
          <p:cNvPr id="500" name="Google Shape;500;p45"/>
          <p:cNvSpPr txBox="1"/>
          <p:nvPr/>
        </p:nvSpPr>
        <p:spPr>
          <a:xfrm>
            <a:off x="450200" y="2240975"/>
            <a:ext cx="6933000" cy="11607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Verdana"/>
              <a:buChar char="➢"/>
            </a:pPr>
            <a:r>
              <a:rPr lang="en" sz="1600">
                <a:solidFill>
                  <a:schemeClr val="dk1"/>
                </a:solidFill>
                <a:latin typeface="Verdana"/>
                <a:ea typeface="Verdana"/>
                <a:cs typeface="Verdana"/>
                <a:sym typeface="Verdana"/>
              </a:rPr>
              <a:t>E.g. a tRNA with an anticodon of CGG, will carry alanine, </a:t>
            </a:r>
            <a:r>
              <a:rPr lang="en" sz="1600">
                <a:solidFill>
                  <a:schemeClr val="dk1"/>
                </a:solidFill>
                <a:latin typeface="Verdana"/>
                <a:ea typeface="Verdana"/>
                <a:cs typeface="Verdana"/>
                <a:sym typeface="Verdana"/>
              </a:rPr>
              <a:t>because</a:t>
            </a:r>
            <a:r>
              <a:rPr lang="en" sz="1600">
                <a:solidFill>
                  <a:schemeClr val="dk1"/>
                </a:solidFill>
                <a:latin typeface="Verdana"/>
                <a:ea typeface="Verdana"/>
                <a:cs typeface="Verdana"/>
                <a:sym typeface="Verdana"/>
              </a:rPr>
              <a:t> the complementary mRNA codon is GCC. REMEMBER: You have to look up mRNA in your data booklet.</a:t>
            </a:r>
            <a:endParaRPr sz="1600">
              <a:solidFill>
                <a:schemeClr val="dk1"/>
              </a:solidFill>
              <a:latin typeface="Verdana"/>
              <a:ea typeface="Verdana"/>
              <a:cs typeface="Verdana"/>
              <a:sym typeface="Verdana"/>
            </a:endParaRPr>
          </a:p>
        </p:txBody>
      </p:sp>
      <p:pic>
        <p:nvPicPr>
          <p:cNvPr id="501" name="Google Shape;501;p45"/>
          <p:cNvPicPr preferRelativeResize="0"/>
          <p:nvPr/>
        </p:nvPicPr>
        <p:blipFill rotWithShape="1">
          <a:blip r:embed="rId4">
            <a:alphaModFix/>
          </a:blip>
          <a:srcRect b="0" l="0" r="0" t="4970"/>
          <a:stretch/>
        </p:blipFill>
        <p:spPr>
          <a:xfrm>
            <a:off x="2682525" y="3099025"/>
            <a:ext cx="4270500" cy="2044474"/>
          </a:xfrm>
          <a:prstGeom prst="rect">
            <a:avLst/>
          </a:prstGeom>
          <a:noFill/>
          <a:ln>
            <a:noFill/>
          </a:ln>
        </p:spPr>
      </p:pic>
      <p:sp>
        <p:nvSpPr>
          <p:cNvPr id="502" name="Google Shape;502;p45"/>
          <p:cNvSpPr txBox="1"/>
          <p:nvPr/>
        </p:nvSpPr>
        <p:spPr>
          <a:xfrm>
            <a:off x="450200" y="980425"/>
            <a:ext cx="8303700" cy="1339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Verdana"/>
              <a:buChar char="➢"/>
            </a:pPr>
            <a:r>
              <a:rPr lang="en" sz="1500">
                <a:solidFill>
                  <a:schemeClr val="dk1"/>
                </a:solidFill>
                <a:latin typeface="Verdana"/>
                <a:ea typeface="Verdana"/>
                <a:cs typeface="Verdana"/>
                <a:sym typeface="Verdana"/>
              </a:rPr>
              <a:t>Although tRNA is still single stranded, like other RNA molecules, it also has a looped structure. </a:t>
            </a:r>
            <a:endParaRPr sz="1500">
              <a:solidFill>
                <a:schemeClr val="dk1"/>
              </a:solidFill>
              <a:latin typeface="Verdana"/>
              <a:ea typeface="Verdana"/>
              <a:cs typeface="Verdana"/>
              <a:sym typeface="Verdana"/>
            </a:endParaRPr>
          </a:p>
          <a:p>
            <a:pPr indent="-323850" lvl="0" marL="457200" rtl="0" algn="l">
              <a:spcBef>
                <a:spcPts val="0"/>
              </a:spcBef>
              <a:spcAft>
                <a:spcPts val="0"/>
              </a:spcAft>
              <a:buClr>
                <a:schemeClr val="dk1"/>
              </a:buClr>
              <a:buSzPts val="1500"/>
              <a:buFont typeface="Verdana"/>
              <a:buChar char="➢"/>
            </a:pPr>
            <a:r>
              <a:rPr lang="en" sz="1500">
                <a:solidFill>
                  <a:schemeClr val="dk1"/>
                </a:solidFill>
                <a:latin typeface="Verdana"/>
                <a:ea typeface="Verdana"/>
                <a:cs typeface="Verdana"/>
                <a:sym typeface="Verdana"/>
              </a:rPr>
              <a:t>We don’t need to worry too much about the loops, but one of its loops contains the </a:t>
            </a:r>
            <a:r>
              <a:rPr b="1" lang="en" sz="1500">
                <a:solidFill>
                  <a:schemeClr val="dk1"/>
                </a:solidFill>
                <a:latin typeface="Verdana"/>
                <a:ea typeface="Verdana"/>
                <a:cs typeface="Verdana"/>
                <a:sym typeface="Verdana"/>
              </a:rPr>
              <a:t>anticodon</a:t>
            </a:r>
            <a:r>
              <a:rPr lang="en" sz="1500">
                <a:solidFill>
                  <a:schemeClr val="dk1"/>
                </a:solidFill>
                <a:latin typeface="Verdana"/>
                <a:ea typeface="Verdana"/>
                <a:cs typeface="Verdana"/>
                <a:sym typeface="Verdana"/>
              </a:rPr>
              <a:t>, through which the tRNA molecule </a:t>
            </a:r>
            <a:r>
              <a:rPr b="1" lang="en" sz="1500">
                <a:solidFill>
                  <a:schemeClr val="dk1"/>
                </a:solidFill>
                <a:latin typeface="Verdana"/>
                <a:ea typeface="Verdana"/>
                <a:cs typeface="Verdana"/>
                <a:sym typeface="Verdana"/>
              </a:rPr>
              <a:t>binds to the complementary codon in the mRNA</a:t>
            </a:r>
            <a:r>
              <a:rPr lang="en" sz="1500">
                <a:solidFill>
                  <a:schemeClr val="dk1"/>
                </a:solidFill>
                <a:latin typeface="Verdana"/>
                <a:ea typeface="Verdana"/>
                <a:cs typeface="Verdana"/>
                <a:sym typeface="Verdana"/>
              </a:rPr>
              <a:t> molecule. </a:t>
            </a:r>
            <a:endParaRPr sz="13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id="507" name="Google Shape;507;p46"/>
          <p:cNvPicPr preferRelativeResize="0"/>
          <p:nvPr/>
        </p:nvPicPr>
        <p:blipFill>
          <a:blip r:embed="rId3">
            <a:alphaModFix/>
          </a:blip>
          <a:stretch>
            <a:fillRect/>
          </a:stretch>
        </p:blipFill>
        <p:spPr>
          <a:xfrm>
            <a:off x="1071525" y="416450"/>
            <a:ext cx="6465899" cy="43105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7"/>
          <p:cNvSpPr txBox="1"/>
          <p:nvPr/>
        </p:nvSpPr>
        <p:spPr>
          <a:xfrm>
            <a:off x="2620875" y="868250"/>
            <a:ext cx="3619500" cy="771900"/>
          </a:xfrm>
          <a:prstGeom prst="rect">
            <a:avLst/>
          </a:prstGeom>
          <a:no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5’  TTCAGACCGATCTTA  3’</a:t>
            </a:r>
            <a:endParaRPr/>
          </a:p>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3’  AAGTCTGGCTAGAAT 5’</a:t>
            </a:r>
            <a:endParaRPr/>
          </a:p>
        </p:txBody>
      </p:sp>
      <p:sp>
        <p:nvSpPr>
          <p:cNvPr id="513" name="Google Shape;513;p47"/>
          <p:cNvSpPr/>
          <p:nvPr/>
        </p:nvSpPr>
        <p:spPr>
          <a:xfrm>
            <a:off x="4231100" y="1566075"/>
            <a:ext cx="240600" cy="383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7"/>
          <p:cNvSpPr txBox="1"/>
          <p:nvPr/>
        </p:nvSpPr>
        <p:spPr>
          <a:xfrm>
            <a:off x="2620875" y="2112612"/>
            <a:ext cx="3619500" cy="479400"/>
          </a:xfrm>
          <a:prstGeom prst="rect">
            <a:avLst/>
          </a:prstGeom>
          <a:no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5’  UUCAGACCGAUCUUA  3’</a:t>
            </a:r>
            <a:endParaRPr/>
          </a:p>
        </p:txBody>
      </p:sp>
      <p:sp>
        <p:nvSpPr>
          <p:cNvPr id="515" name="Google Shape;515;p47"/>
          <p:cNvSpPr txBox="1"/>
          <p:nvPr/>
        </p:nvSpPr>
        <p:spPr>
          <a:xfrm>
            <a:off x="2620875" y="3064500"/>
            <a:ext cx="3745800" cy="479400"/>
          </a:xfrm>
          <a:prstGeom prst="rect">
            <a:avLst/>
          </a:prstGeom>
          <a:no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5’  UUC  AGA  CCG  AUC  UUA  3’</a:t>
            </a:r>
            <a:endParaRPr/>
          </a:p>
        </p:txBody>
      </p:sp>
      <p:sp>
        <p:nvSpPr>
          <p:cNvPr id="516" name="Google Shape;516;p47"/>
          <p:cNvSpPr/>
          <p:nvPr/>
        </p:nvSpPr>
        <p:spPr>
          <a:xfrm>
            <a:off x="4231100" y="2575062"/>
            <a:ext cx="240600" cy="383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7"/>
          <p:cNvSpPr txBox="1"/>
          <p:nvPr/>
        </p:nvSpPr>
        <p:spPr>
          <a:xfrm>
            <a:off x="2620875" y="4100375"/>
            <a:ext cx="3745800" cy="395400"/>
          </a:xfrm>
          <a:prstGeom prst="rect">
            <a:avLst/>
          </a:prstGeom>
          <a:no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5’  phe/arg/pro/iso/leu  3’</a:t>
            </a:r>
            <a:endParaRPr/>
          </a:p>
        </p:txBody>
      </p:sp>
      <p:sp>
        <p:nvSpPr>
          <p:cNvPr id="518" name="Google Shape;518;p47"/>
          <p:cNvSpPr/>
          <p:nvPr/>
        </p:nvSpPr>
        <p:spPr>
          <a:xfrm>
            <a:off x="4231100" y="3480425"/>
            <a:ext cx="240600" cy="383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47"/>
          <p:cNvSpPr txBox="1"/>
          <p:nvPr/>
        </p:nvSpPr>
        <p:spPr>
          <a:xfrm>
            <a:off x="6497050" y="1640150"/>
            <a:ext cx="1895100" cy="60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verage"/>
              <a:buNone/>
            </a:pPr>
            <a:r>
              <a:rPr b="0" i="1" lang="en" sz="1000" u="none" cap="none" strike="noStrike">
                <a:solidFill>
                  <a:srgbClr val="000000"/>
                </a:solidFill>
                <a:latin typeface="Average"/>
                <a:ea typeface="Average"/>
                <a:cs typeface="Average"/>
                <a:sym typeface="Average"/>
              </a:rPr>
              <a:t>Transcribe coding strand of DNA into mRNA</a:t>
            </a:r>
            <a:endParaRPr/>
          </a:p>
        </p:txBody>
      </p:sp>
      <p:sp>
        <p:nvSpPr>
          <p:cNvPr id="520" name="Google Shape;520;p47"/>
          <p:cNvSpPr txBox="1"/>
          <p:nvPr/>
        </p:nvSpPr>
        <p:spPr>
          <a:xfrm>
            <a:off x="6549175" y="2498875"/>
            <a:ext cx="1895100" cy="60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verage"/>
              <a:buNone/>
            </a:pPr>
            <a:r>
              <a:rPr b="0" i="1" lang="en" sz="1000" u="none" cap="none" strike="noStrike">
                <a:solidFill>
                  <a:srgbClr val="000000"/>
                </a:solidFill>
                <a:latin typeface="Average"/>
                <a:ea typeface="Average"/>
                <a:cs typeface="Average"/>
                <a:sym typeface="Average"/>
              </a:rPr>
              <a:t>Separate mRNA molecule into codons</a:t>
            </a:r>
            <a:endParaRPr/>
          </a:p>
        </p:txBody>
      </p:sp>
      <p:sp>
        <p:nvSpPr>
          <p:cNvPr id="521" name="Google Shape;521;p47"/>
          <p:cNvSpPr txBox="1"/>
          <p:nvPr/>
        </p:nvSpPr>
        <p:spPr>
          <a:xfrm>
            <a:off x="6549175" y="3431675"/>
            <a:ext cx="1895100" cy="60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verage"/>
              <a:buNone/>
            </a:pPr>
            <a:r>
              <a:rPr b="0" i="1" lang="en" sz="1000" u="none" cap="none" strike="noStrike">
                <a:solidFill>
                  <a:srgbClr val="000000"/>
                </a:solidFill>
                <a:latin typeface="Average"/>
                <a:ea typeface="Average"/>
                <a:cs typeface="Average"/>
                <a:sym typeface="Average"/>
              </a:rPr>
              <a:t>Translate codons into amino acids using table</a:t>
            </a:r>
            <a:endParaRPr/>
          </a:p>
        </p:txBody>
      </p:sp>
      <p:pic>
        <p:nvPicPr>
          <p:cNvPr id="522" name="Google Shape;522;p47"/>
          <p:cNvPicPr preferRelativeResize="0"/>
          <p:nvPr/>
        </p:nvPicPr>
        <p:blipFill rotWithShape="1">
          <a:blip r:embed="rId3">
            <a:alphaModFix/>
          </a:blip>
          <a:srcRect b="0" l="0" r="0" t="0"/>
          <a:stretch/>
        </p:blipFill>
        <p:spPr>
          <a:xfrm>
            <a:off x="7216000" y="1382625"/>
            <a:ext cx="457200" cy="304800"/>
          </a:xfrm>
          <a:prstGeom prst="rect">
            <a:avLst/>
          </a:prstGeom>
          <a:noFill/>
          <a:ln>
            <a:noFill/>
          </a:ln>
        </p:spPr>
      </p:pic>
      <p:pic>
        <p:nvPicPr>
          <p:cNvPr id="523" name="Google Shape;523;p47"/>
          <p:cNvPicPr preferRelativeResize="0"/>
          <p:nvPr/>
        </p:nvPicPr>
        <p:blipFill rotWithShape="1">
          <a:blip r:embed="rId4">
            <a:alphaModFix/>
          </a:blip>
          <a:srcRect b="0" l="0" r="0" t="0"/>
          <a:stretch/>
        </p:blipFill>
        <p:spPr>
          <a:xfrm>
            <a:off x="7282675" y="2241650"/>
            <a:ext cx="323850" cy="285750"/>
          </a:xfrm>
          <a:prstGeom prst="rect">
            <a:avLst/>
          </a:prstGeom>
          <a:noFill/>
          <a:ln>
            <a:noFill/>
          </a:ln>
        </p:spPr>
      </p:pic>
      <p:pic>
        <p:nvPicPr>
          <p:cNvPr id="524" name="Google Shape;524;p47"/>
          <p:cNvPicPr preferRelativeResize="0"/>
          <p:nvPr/>
        </p:nvPicPr>
        <p:blipFill rotWithShape="1">
          <a:blip r:embed="rId5">
            <a:alphaModFix/>
          </a:blip>
          <a:srcRect b="0" l="0" r="0" t="0"/>
          <a:stretch/>
        </p:blipFill>
        <p:spPr>
          <a:xfrm>
            <a:off x="7258850" y="3224250"/>
            <a:ext cx="371475" cy="285750"/>
          </a:xfrm>
          <a:prstGeom prst="rect">
            <a:avLst/>
          </a:prstGeom>
          <a:noFill/>
          <a:ln>
            <a:noFill/>
          </a:ln>
        </p:spPr>
      </p:pic>
      <p:sp>
        <p:nvSpPr>
          <p:cNvPr id="525" name="Google Shape;525;p47"/>
          <p:cNvSpPr txBox="1"/>
          <p:nvPr/>
        </p:nvSpPr>
        <p:spPr>
          <a:xfrm>
            <a:off x="445125" y="1640175"/>
            <a:ext cx="1979400" cy="30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verage"/>
              <a:buNone/>
            </a:pPr>
            <a:r>
              <a:rPr b="1" i="0" lang="en" sz="1000" u="none" cap="none" strike="noStrike">
                <a:solidFill>
                  <a:srgbClr val="000000"/>
                </a:solidFill>
                <a:latin typeface="Average"/>
                <a:ea typeface="Average"/>
                <a:cs typeface="Average"/>
                <a:sym typeface="Average"/>
              </a:rPr>
              <a:t>TRANSCRIPTION</a:t>
            </a:r>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p:txBody>
      </p:sp>
      <p:sp>
        <p:nvSpPr>
          <p:cNvPr id="526" name="Google Shape;526;p47"/>
          <p:cNvSpPr txBox="1"/>
          <p:nvPr/>
        </p:nvSpPr>
        <p:spPr>
          <a:xfrm>
            <a:off x="445125" y="3480412"/>
            <a:ext cx="1810800" cy="28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verage"/>
              <a:buNone/>
            </a:pPr>
            <a:r>
              <a:rPr b="1" i="0" lang="en" sz="1000" u="none" cap="none" strike="noStrike">
                <a:solidFill>
                  <a:srgbClr val="000000"/>
                </a:solidFill>
                <a:latin typeface="Average"/>
                <a:ea typeface="Average"/>
                <a:cs typeface="Average"/>
                <a:sym typeface="Average"/>
              </a:rPr>
              <a:t>TRANSLATION</a:t>
            </a:r>
            <a:endParaRPr/>
          </a:p>
        </p:txBody>
      </p:sp>
      <p:sp>
        <p:nvSpPr>
          <p:cNvPr id="527" name="Google Shape;527;p47"/>
          <p:cNvSpPr txBox="1"/>
          <p:nvPr/>
        </p:nvSpPr>
        <p:spPr>
          <a:xfrm>
            <a:off x="360825" y="1949175"/>
            <a:ext cx="1979400" cy="285600"/>
          </a:xfrm>
          <a:prstGeom prst="rect">
            <a:avLst/>
          </a:prstGeom>
          <a:noFill/>
          <a:ln>
            <a:noFill/>
          </a:ln>
        </p:spPr>
        <p:txBody>
          <a:bodyPr anchorCtr="0" anchor="ctr" bIns="91425" lIns="91425" spcFirstLastPara="1" rIns="91425" wrap="square" tIns="91425">
            <a:noAutofit/>
          </a:bodyPr>
          <a:lstStyle/>
          <a:p>
            <a:pPr indent="-292100" lvl="0" marL="457200" marR="0" rtl="0" algn="l">
              <a:lnSpc>
                <a:spcPct val="100000"/>
              </a:lnSpc>
              <a:spcBef>
                <a:spcPts val="0"/>
              </a:spcBef>
              <a:spcAft>
                <a:spcPts val="0"/>
              </a:spcAft>
              <a:buClr>
                <a:schemeClr val="dk1"/>
              </a:buClr>
              <a:buSzPts val="1000"/>
              <a:buFont typeface="Average"/>
              <a:buChar char="➢"/>
            </a:pPr>
            <a:r>
              <a:rPr b="0" i="0" lang="en" sz="1000" u="none" cap="none" strike="noStrike">
                <a:solidFill>
                  <a:schemeClr val="dk1"/>
                </a:solidFill>
                <a:latin typeface="Average"/>
                <a:ea typeface="Average"/>
                <a:cs typeface="Average"/>
                <a:sym typeface="Average"/>
              </a:rPr>
              <a:t>Takes place in nucleus</a:t>
            </a:r>
            <a:endParaRPr/>
          </a:p>
        </p:txBody>
      </p:sp>
      <p:sp>
        <p:nvSpPr>
          <p:cNvPr id="528" name="Google Shape;528;p47"/>
          <p:cNvSpPr txBox="1"/>
          <p:nvPr/>
        </p:nvSpPr>
        <p:spPr>
          <a:xfrm>
            <a:off x="360825" y="3814775"/>
            <a:ext cx="1979400" cy="285600"/>
          </a:xfrm>
          <a:prstGeom prst="rect">
            <a:avLst/>
          </a:prstGeom>
          <a:noFill/>
          <a:ln>
            <a:noFill/>
          </a:ln>
        </p:spPr>
        <p:txBody>
          <a:bodyPr anchorCtr="0" anchor="ctr" bIns="91425" lIns="91425" spcFirstLastPara="1" rIns="91425" wrap="square" tIns="91425">
            <a:noAutofit/>
          </a:bodyPr>
          <a:lstStyle/>
          <a:p>
            <a:pPr indent="-292100" lvl="0" marL="457200" marR="0" rtl="0" algn="l">
              <a:lnSpc>
                <a:spcPct val="100000"/>
              </a:lnSpc>
              <a:spcBef>
                <a:spcPts val="0"/>
              </a:spcBef>
              <a:spcAft>
                <a:spcPts val="0"/>
              </a:spcAft>
              <a:buClr>
                <a:schemeClr val="dk1"/>
              </a:buClr>
              <a:buSzPts val="1000"/>
              <a:buFont typeface="Average"/>
              <a:buChar char="➢"/>
            </a:pPr>
            <a:r>
              <a:rPr b="0" i="0" lang="en" sz="1000" u="none" cap="none" strike="noStrike">
                <a:solidFill>
                  <a:schemeClr val="dk1"/>
                </a:solidFill>
                <a:latin typeface="Average"/>
                <a:ea typeface="Average"/>
                <a:cs typeface="Average"/>
                <a:sym typeface="Average"/>
              </a:rPr>
              <a:t>Takes place in cytoplasm</a:t>
            </a:r>
            <a:endParaRPr/>
          </a:p>
        </p:txBody>
      </p:sp>
      <p:sp>
        <p:nvSpPr>
          <p:cNvPr id="529" name="Google Shape;529;p47"/>
          <p:cNvSpPr txBox="1"/>
          <p:nvPr/>
        </p:nvSpPr>
        <p:spPr>
          <a:xfrm>
            <a:off x="3361700" y="661425"/>
            <a:ext cx="1979400" cy="30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verage"/>
              <a:buNone/>
            </a:pPr>
            <a:r>
              <a:rPr b="1" i="0" lang="en" sz="1400" u="none" cap="none" strike="noStrike">
                <a:solidFill>
                  <a:srgbClr val="000000"/>
                </a:solidFill>
                <a:latin typeface="Average"/>
                <a:ea typeface="Average"/>
                <a:cs typeface="Average"/>
                <a:sym typeface="Average"/>
              </a:rPr>
              <a:t>DNA</a:t>
            </a:r>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p:txBody>
      </p:sp>
      <p:sp>
        <p:nvSpPr>
          <p:cNvPr id="530" name="Google Shape;530;p47"/>
          <p:cNvSpPr txBox="1"/>
          <p:nvPr/>
        </p:nvSpPr>
        <p:spPr>
          <a:xfrm>
            <a:off x="3361700" y="1886112"/>
            <a:ext cx="1979400" cy="30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verage"/>
              <a:buNone/>
            </a:pPr>
            <a:r>
              <a:rPr b="1" i="0" lang="en" sz="1400" u="none" cap="none" strike="noStrike">
                <a:solidFill>
                  <a:srgbClr val="000000"/>
                </a:solidFill>
                <a:latin typeface="Average"/>
                <a:ea typeface="Average"/>
                <a:cs typeface="Average"/>
                <a:sym typeface="Average"/>
              </a:rPr>
              <a:t>mRNA</a:t>
            </a:r>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p:txBody>
      </p:sp>
      <p:sp>
        <p:nvSpPr>
          <p:cNvPr id="531" name="Google Shape;531;p47"/>
          <p:cNvSpPr txBox="1"/>
          <p:nvPr/>
        </p:nvSpPr>
        <p:spPr>
          <a:xfrm>
            <a:off x="3361700" y="2859437"/>
            <a:ext cx="1979400" cy="30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verage"/>
              <a:buNone/>
            </a:pPr>
            <a:r>
              <a:rPr b="1" i="0" lang="en" sz="1400" u="none" cap="none" strike="noStrike">
                <a:solidFill>
                  <a:srgbClr val="000000"/>
                </a:solidFill>
                <a:latin typeface="Average"/>
                <a:ea typeface="Average"/>
                <a:cs typeface="Average"/>
                <a:sym typeface="Average"/>
              </a:rPr>
              <a:t>Codons</a:t>
            </a:r>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p:txBody>
      </p:sp>
      <p:sp>
        <p:nvSpPr>
          <p:cNvPr id="532" name="Google Shape;532;p47"/>
          <p:cNvSpPr txBox="1"/>
          <p:nvPr/>
        </p:nvSpPr>
        <p:spPr>
          <a:xfrm>
            <a:off x="3361700" y="3832775"/>
            <a:ext cx="1979400" cy="30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verage"/>
              <a:buNone/>
            </a:pPr>
            <a:r>
              <a:rPr b="1" i="0" lang="en" sz="1400" u="none" cap="none" strike="noStrike">
                <a:solidFill>
                  <a:srgbClr val="000000"/>
                </a:solidFill>
                <a:latin typeface="Average"/>
                <a:ea typeface="Average"/>
                <a:cs typeface="Average"/>
                <a:sym typeface="Average"/>
              </a:rPr>
              <a:t>Amino Acids</a:t>
            </a:r>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p:txBody>
      </p:sp>
      <p:sp>
        <p:nvSpPr>
          <p:cNvPr id="533" name="Google Shape;533;p47"/>
          <p:cNvSpPr txBox="1"/>
          <p:nvPr/>
        </p:nvSpPr>
        <p:spPr>
          <a:xfrm>
            <a:off x="749900" y="333100"/>
            <a:ext cx="720300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800"/>
              <a:buFont typeface="Verdana"/>
              <a:buNone/>
            </a:pPr>
            <a:r>
              <a:rPr b="1" lang="en" sz="2800">
                <a:solidFill>
                  <a:srgbClr val="393B3F"/>
                </a:solidFill>
                <a:latin typeface="Verdana"/>
                <a:ea typeface="Verdana"/>
                <a:cs typeface="Verdana"/>
                <a:sym typeface="Verdana"/>
              </a:rPr>
              <a:t>Example: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pic>
        <p:nvPicPr>
          <p:cNvPr descr="DNA transcription &amp; translation" id="538" name="Google Shape;538;p48" title="Transcription &amp; Translation">
            <a:hlinkClick r:id="rId3"/>
          </p:cNvPr>
          <p:cNvPicPr preferRelativeResize="0"/>
          <p:nvPr/>
        </p:nvPicPr>
        <p:blipFill>
          <a:blip r:embed="rId4">
            <a:alphaModFix/>
          </a:blip>
          <a:stretch>
            <a:fillRect/>
          </a:stretch>
        </p:blipFill>
        <p:spPr>
          <a:xfrm>
            <a:off x="2685687" y="1873975"/>
            <a:ext cx="3772625" cy="2122100"/>
          </a:xfrm>
          <a:prstGeom prst="rect">
            <a:avLst/>
          </a:prstGeom>
          <a:noFill/>
          <a:ln>
            <a:noFill/>
          </a:ln>
        </p:spPr>
      </p:pic>
      <p:sp>
        <p:nvSpPr>
          <p:cNvPr id="539" name="Google Shape;539;p48"/>
          <p:cNvSpPr txBox="1"/>
          <p:nvPr/>
        </p:nvSpPr>
        <p:spPr>
          <a:xfrm>
            <a:off x="800600" y="981675"/>
            <a:ext cx="785160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 sz="2800" u="none" cap="none" strike="noStrike">
                <a:solidFill>
                  <a:srgbClr val="393B3F"/>
                </a:solidFill>
                <a:latin typeface="Verdana"/>
                <a:ea typeface="Verdana"/>
                <a:cs typeface="Verdana"/>
                <a:sym typeface="Verdana"/>
              </a:rPr>
              <a:t>Transcription and Translation Recap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1000"/>
                                        <p:tgtEl>
                                          <p:spTgt spid="5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9"/>
          <p:cNvSpPr txBox="1"/>
          <p:nvPr/>
        </p:nvSpPr>
        <p:spPr>
          <a:xfrm>
            <a:off x="784650" y="680175"/>
            <a:ext cx="720300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800"/>
              <a:buFont typeface="Verdana"/>
              <a:buNone/>
            </a:pPr>
            <a:r>
              <a:rPr b="1" lang="en" sz="2400" u="sng">
                <a:solidFill>
                  <a:srgbClr val="393B3F"/>
                </a:solidFill>
                <a:latin typeface="Verdana"/>
                <a:ea typeface="Verdana"/>
                <a:cs typeface="Verdana"/>
                <a:sym typeface="Verdana"/>
              </a:rPr>
              <a:t>Practice #1</a:t>
            </a:r>
            <a:endParaRPr sz="2400" u="sng"/>
          </a:p>
        </p:txBody>
      </p:sp>
      <p:sp>
        <p:nvSpPr>
          <p:cNvPr id="545" name="Google Shape;545;p49"/>
          <p:cNvSpPr txBox="1"/>
          <p:nvPr/>
        </p:nvSpPr>
        <p:spPr>
          <a:xfrm>
            <a:off x="784650" y="1350325"/>
            <a:ext cx="7398900" cy="9297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00000"/>
              </a:lnSpc>
              <a:spcBef>
                <a:spcPts val="0"/>
              </a:spcBef>
              <a:spcAft>
                <a:spcPts val="0"/>
              </a:spcAft>
              <a:buClr>
                <a:srgbClr val="393B3F"/>
              </a:buClr>
              <a:buSzPts val="1400"/>
              <a:buFont typeface="Verdana"/>
              <a:buChar char="●"/>
            </a:pPr>
            <a:r>
              <a:rPr lang="en">
                <a:solidFill>
                  <a:srgbClr val="393B3F"/>
                </a:solidFill>
                <a:latin typeface="Verdana"/>
                <a:ea typeface="Verdana"/>
                <a:cs typeface="Verdana"/>
                <a:sym typeface="Verdana"/>
              </a:rPr>
              <a:t>Transcribe the following strand of DNA into mRNA:</a:t>
            </a:r>
            <a:endParaRPr>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1" sz="1700">
              <a:solidFill>
                <a:srgbClr val="393B3F"/>
              </a:solidFill>
              <a:latin typeface="Verdana"/>
              <a:ea typeface="Verdana"/>
              <a:cs typeface="Verdana"/>
              <a:sym typeface="Verdana"/>
            </a:endParaRPr>
          </a:p>
          <a:p>
            <a:pPr indent="457200" lvl="0" marL="1371600" marR="0" rtl="0" algn="l">
              <a:lnSpc>
                <a:spcPct val="100000"/>
              </a:lnSpc>
              <a:spcBef>
                <a:spcPts val="0"/>
              </a:spcBef>
              <a:spcAft>
                <a:spcPts val="0"/>
              </a:spcAft>
              <a:buNone/>
            </a:pPr>
            <a:r>
              <a:rPr b="1" lang="en" sz="1700">
                <a:solidFill>
                  <a:srgbClr val="393B3F"/>
                </a:solidFill>
                <a:latin typeface="Verdana"/>
                <a:ea typeface="Verdana"/>
                <a:cs typeface="Verdana"/>
                <a:sym typeface="Verdana"/>
              </a:rPr>
              <a:t>DNA: GCT TAG GCC CAT CTA </a:t>
            </a:r>
            <a:endParaRPr b="1" sz="17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317500" lvl="0" marL="457200" marR="0" rtl="0" algn="l">
              <a:lnSpc>
                <a:spcPct val="100000"/>
              </a:lnSpc>
              <a:spcBef>
                <a:spcPts val="0"/>
              </a:spcBef>
              <a:spcAft>
                <a:spcPts val="0"/>
              </a:spcAft>
              <a:buClr>
                <a:srgbClr val="393B3F"/>
              </a:buClr>
              <a:buSzPts val="1400"/>
              <a:buFont typeface="Verdana"/>
              <a:buChar char="●"/>
            </a:pPr>
            <a:r>
              <a:rPr lang="en">
                <a:solidFill>
                  <a:srgbClr val="393B3F"/>
                </a:solidFill>
                <a:latin typeface="Verdana"/>
                <a:ea typeface="Verdana"/>
                <a:cs typeface="Verdana"/>
                <a:sym typeface="Verdana"/>
              </a:rPr>
              <a:t>Translate your mRNA strand above into a sequence of amino acids:</a:t>
            </a:r>
            <a:endParaRPr>
              <a:solidFill>
                <a:srgbClr val="393B3F"/>
              </a:solidFill>
              <a:latin typeface="Verdana"/>
              <a:ea typeface="Verdana"/>
              <a:cs typeface="Verdana"/>
              <a:sym typeface="Verdana"/>
            </a:endParaRPr>
          </a:p>
        </p:txBody>
      </p:sp>
      <p:sp>
        <p:nvSpPr>
          <p:cNvPr id="546" name="Google Shape;546;p49"/>
          <p:cNvSpPr txBox="1"/>
          <p:nvPr/>
        </p:nvSpPr>
        <p:spPr>
          <a:xfrm>
            <a:off x="2178500" y="2196125"/>
            <a:ext cx="43269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700">
                <a:solidFill>
                  <a:srgbClr val="C27BA0"/>
                </a:solidFill>
                <a:latin typeface="Verdana"/>
                <a:ea typeface="Verdana"/>
                <a:cs typeface="Verdana"/>
                <a:sym typeface="Verdana"/>
              </a:rPr>
              <a:t>mRNA: </a:t>
            </a:r>
            <a:r>
              <a:rPr b="1" lang="en" sz="1700">
                <a:solidFill>
                  <a:srgbClr val="C27BA0"/>
                </a:solidFill>
                <a:latin typeface="Verdana"/>
                <a:ea typeface="Verdana"/>
                <a:cs typeface="Verdana"/>
                <a:sym typeface="Verdana"/>
              </a:rPr>
              <a:t>CGA AUC CGG GUA GAU </a:t>
            </a:r>
            <a:endParaRPr sz="2400">
              <a:solidFill>
                <a:srgbClr val="C27BA0"/>
              </a:solidFill>
              <a:latin typeface="Verdana"/>
              <a:ea typeface="Verdana"/>
              <a:cs typeface="Verdana"/>
              <a:sym typeface="Verdana"/>
            </a:endParaRPr>
          </a:p>
        </p:txBody>
      </p:sp>
      <p:sp>
        <p:nvSpPr>
          <p:cNvPr id="547" name="Google Shape;547;p49"/>
          <p:cNvSpPr txBox="1"/>
          <p:nvPr/>
        </p:nvSpPr>
        <p:spPr>
          <a:xfrm>
            <a:off x="972150" y="3709525"/>
            <a:ext cx="78654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C27BA0"/>
                </a:solidFill>
                <a:latin typeface="Verdana"/>
                <a:ea typeface="Verdana"/>
                <a:cs typeface="Verdana"/>
                <a:sym typeface="Verdana"/>
              </a:rPr>
              <a:t>mRNA: 			CGA AUC CGG AUA GAU </a:t>
            </a:r>
            <a:endParaRPr b="1" sz="1700">
              <a:solidFill>
                <a:srgbClr val="C27BA0"/>
              </a:solidFill>
              <a:latin typeface="Verdana"/>
              <a:ea typeface="Verdana"/>
              <a:cs typeface="Verdana"/>
              <a:sym typeface="Verdana"/>
            </a:endParaRPr>
          </a:p>
          <a:p>
            <a:pPr indent="0" lvl="0" marL="0" rtl="0" algn="l">
              <a:spcBef>
                <a:spcPts val="0"/>
              </a:spcBef>
              <a:spcAft>
                <a:spcPts val="0"/>
              </a:spcAft>
              <a:buNone/>
            </a:pPr>
            <a:r>
              <a:rPr b="1" lang="en" sz="1700">
                <a:solidFill>
                  <a:srgbClr val="C27BA0"/>
                </a:solidFill>
                <a:latin typeface="Verdana"/>
                <a:ea typeface="Verdana"/>
                <a:cs typeface="Verdana"/>
                <a:sym typeface="Verdana"/>
              </a:rPr>
              <a:t>AA sequence:   arginine-isoleucine-arginine-valine-</a:t>
            </a:r>
            <a:r>
              <a:rPr b="1" lang="en" sz="1700">
                <a:solidFill>
                  <a:srgbClr val="C27BA0"/>
                </a:solidFill>
                <a:latin typeface="Verdana"/>
                <a:ea typeface="Verdana"/>
                <a:cs typeface="Verdana"/>
                <a:sym typeface="Verdana"/>
              </a:rPr>
              <a:t>aspartate</a:t>
            </a:r>
            <a:endParaRPr b="1" sz="1700">
              <a:solidFill>
                <a:srgbClr val="C27BA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0"/>
          <p:cNvSpPr txBox="1"/>
          <p:nvPr/>
        </p:nvSpPr>
        <p:spPr>
          <a:xfrm>
            <a:off x="784650" y="508600"/>
            <a:ext cx="720300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800"/>
              <a:buFont typeface="Verdana"/>
              <a:buNone/>
            </a:pPr>
            <a:r>
              <a:rPr b="1" lang="en" sz="2400" u="sng">
                <a:solidFill>
                  <a:srgbClr val="393B3F"/>
                </a:solidFill>
                <a:latin typeface="Verdana"/>
                <a:ea typeface="Verdana"/>
                <a:cs typeface="Verdana"/>
                <a:sym typeface="Verdana"/>
              </a:rPr>
              <a:t>Practice #2</a:t>
            </a:r>
            <a:endParaRPr sz="2400" u="sng"/>
          </a:p>
        </p:txBody>
      </p:sp>
      <p:sp>
        <p:nvSpPr>
          <p:cNvPr id="553" name="Google Shape;553;p50"/>
          <p:cNvSpPr txBox="1"/>
          <p:nvPr/>
        </p:nvSpPr>
        <p:spPr>
          <a:xfrm>
            <a:off x="784650" y="1003900"/>
            <a:ext cx="7398900" cy="33354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00000"/>
              </a:lnSpc>
              <a:spcBef>
                <a:spcPts val="0"/>
              </a:spcBef>
              <a:spcAft>
                <a:spcPts val="0"/>
              </a:spcAft>
              <a:buClr>
                <a:srgbClr val="393B3F"/>
              </a:buClr>
              <a:buSzPts val="1400"/>
              <a:buFont typeface="Verdana"/>
              <a:buChar char="●"/>
            </a:pPr>
            <a:r>
              <a:rPr lang="en">
                <a:solidFill>
                  <a:srgbClr val="393B3F"/>
                </a:solidFill>
                <a:latin typeface="Verdana"/>
                <a:ea typeface="Verdana"/>
                <a:cs typeface="Verdana"/>
                <a:sym typeface="Verdana"/>
              </a:rPr>
              <a:t>How many nucleotides are required to code for the following sequence of amino acids?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rtl="0" algn="ctr">
              <a:spcBef>
                <a:spcPts val="0"/>
              </a:spcBef>
              <a:spcAft>
                <a:spcPts val="0"/>
              </a:spcAft>
              <a:buClr>
                <a:srgbClr val="000000"/>
              </a:buClr>
              <a:buSzPts val="1100"/>
              <a:buFont typeface="Arial"/>
              <a:buNone/>
            </a:pPr>
            <a:r>
              <a:rPr lang="en" sz="2700">
                <a:solidFill>
                  <a:srgbClr val="393B3F"/>
                </a:solidFill>
                <a:latin typeface="Verdana"/>
                <a:ea typeface="Verdana"/>
                <a:cs typeface="Verdana"/>
                <a:sym typeface="Verdana"/>
              </a:rPr>
              <a:t>Leu-Tyr-Arg-Trp-Ser</a:t>
            </a:r>
            <a:endParaRPr sz="2700">
              <a:solidFill>
                <a:srgbClr val="393B3F"/>
              </a:solidFill>
              <a:latin typeface="Verdana"/>
              <a:ea typeface="Verdana"/>
              <a:cs typeface="Verdana"/>
              <a:sym typeface="Verdana"/>
            </a:endParaRPr>
          </a:p>
          <a:p>
            <a:pPr indent="0" lvl="0" marL="0" rtl="0" algn="ctr">
              <a:spcBef>
                <a:spcPts val="0"/>
              </a:spcBef>
              <a:spcAft>
                <a:spcPts val="0"/>
              </a:spcAft>
              <a:buClr>
                <a:srgbClr val="000000"/>
              </a:buClr>
              <a:buSzPts val="1100"/>
              <a:buFont typeface="Arial"/>
              <a:buNone/>
            </a:pPr>
            <a:r>
              <a:t/>
            </a:r>
            <a:endParaRPr sz="30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317500" lvl="0" marL="457200" marR="0" rtl="0" algn="l">
              <a:lnSpc>
                <a:spcPct val="100000"/>
              </a:lnSpc>
              <a:spcBef>
                <a:spcPts val="0"/>
              </a:spcBef>
              <a:spcAft>
                <a:spcPts val="0"/>
              </a:spcAft>
              <a:buClr>
                <a:srgbClr val="393B3F"/>
              </a:buClr>
              <a:buSzPts val="1400"/>
              <a:buFont typeface="Verdana"/>
              <a:buChar char="●"/>
            </a:pPr>
            <a:r>
              <a:rPr lang="en">
                <a:solidFill>
                  <a:srgbClr val="393B3F"/>
                </a:solidFill>
                <a:latin typeface="Verdana"/>
                <a:ea typeface="Verdana"/>
                <a:cs typeface="Verdana"/>
                <a:sym typeface="Verdana"/>
              </a:rPr>
              <a:t>Is it possible to determine the mRNA sequence that is responsible for producing the sequence of amino acids above? Explain</a:t>
            </a:r>
            <a:r>
              <a:rPr lang="en">
                <a:solidFill>
                  <a:srgbClr val="393B3F"/>
                </a:solidFill>
                <a:latin typeface="Verdana"/>
                <a:ea typeface="Verdana"/>
                <a:cs typeface="Verdana"/>
                <a:sym typeface="Verdana"/>
              </a:rPr>
              <a:t>…</a:t>
            </a:r>
            <a:endParaRPr>
              <a:solidFill>
                <a:srgbClr val="393B3F"/>
              </a:solidFill>
              <a:latin typeface="Verdana"/>
              <a:ea typeface="Verdana"/>
              <a:cs typeface="Verdana"/>
              <a:sym typeface="Verdana"/>
            </a:endParaRPr>
          </a:p>
          <a:p>
            <a:pPr indent="0" lvl="0" marL="0" rtl="0" algn="ctr">
              <a:spcBef>
                <a:spcPts val="0"/>
              </a:spcBef>
              <a:spcAft>
                <a:spcPts val="0"/>
              </a:spcAft>
              <a:buNone/>
            </a:pPr>
            <a:r>
              <a:rPr b="1" lang="en" sz="1700">
                <a:solidFill>
                  <a:srgbClr val="C27BA0"/>
                </a:solidFill>
                <a:latin typeface="Verdana"/>
                <a:ea typeface="Verdana"/>
                <a:cs typeface="Verdana"/>
                <a:sym typeface="Verdana"/>
              </a:rPr>
              <a:t>No. More than one codon codes for most AAs. For example, leucine can come from an mRNA sequence of UUA, UUG, or anything that begins with CU_</a:t>
            </a:r>
            <a:endParaRPr sz="2400">
              <a:solidFill>
                <a:srgbClr val="C27BA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30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600">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None/>
            </a:pPr>
            <a:r>
              <a:t/>
            </a:r>
            <a:endParaRPr b="1" i="1" sz="1600">
              <a:solidFill>
                <a:srgbClr val="393B3F"/>
              </a:solidFill>
              <a:latin typeface="Verdana"/>
              <a:ea typeface="Verdana"/>
              <a:cs typeface="Verdana"/>
              <a:sym typeface="Verdana"/>
            </a:endParaRPr>
          </a:p>
        </p:txBody>
      </p:sp>
      <p:sp>
        <p:nvSpPr>
          <p:cNvPr id="554" name="Google Shape;554;p50"/>
          <p:cNvSpPr txBox="1"/>
          <p:nvPr/>
        </p:nvSpPr>
        <p:spPr>
          <a:xfrm>
            <a:off x="1022700" y="2137600"/>
            <a:ext cx="69228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rgbClr val="C27BA0"/>
                </a:solidFill>
                <a:latin typeface="Verdana"/>
                <a:ea typeface="Verdana"/>
                <a:cs typeface="Verdana"/>
                <a:sym typeface="Verdana"/>
              </a:rPr>
              <a:t>15 nucleotide (each AA requires a codon, which is a nucleotide triplet</a:t>
            </a:r>
            <a:endParaRPr sz="2400">
              <a:solidFill>
                <a:srgbClr val="C27BA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1"/>
          <p:cNvSpPr txBox="1"/>
          <p:nvPr/>
        </p:nvSpPr>
        <p:spPr>
          <a:xfrm>
            <a:off x="688100" y="1146025"/>
            <a:ext cx="7643400" cy="3601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Verdana"/>
              <a:buChar char="➢"/>
            </a:pPr>
            <a:r>
              <a:rPr lang="en" sz="1800">
                <a:solidFill>
                  <a:schemeClr val="dk1"/>
                </a:solidFill>
                <a:latin typeface="Verdana"/>
                <a:ea typeface="Verdana"/>
                <a:cs typeface="Verdana"/>
                <a:sym typeface="Verdana"/>
              </a:rPr>
              <a:t>The previous practice question illustrates the </a:t>
            </a:r>
            <a:r>
              <a:rPr b="1" lang="en" sz="1800">
                <a:solidFill>
                  <a:schemeClr val="dk1"/>
                </a:solidFill>
                <a:latin typeface="Verdana"/>
                <a:ea typeface="Verdana"/>
                <a:cs typeface="Verdana"/>
                <a:sym typeface="Verdana"/>
              </a:rPr>
              <a:t>redundancy </a:t>
            </a:r>
            <a:r>
              <a:rPr lang="en" sz="1800">
                <a:solidFill>
                  <a:schemeClr val="dk1"/>
                </a:solidFill>
                <a:latin typeface="Verdana"/>
                <a:ea typeface="Verdana"/>
                <a:cs typeface="Verdana"/>
                <a:sym typeface="Verdana"/>
              </a:rPr>
              <a:t>of the genetic code. This means that most amino acids are encoded for by different mRNA codons, and therefore different DNA nucleotide triples.</a:t>
            </a:r>
            <a:endParaRPr sz="1800">
              <a:solidFill>
                <a:schemeClr val="dk1"/>
              </a:solidFill>
              <a:latin typeface="Verdana"/>
              <a:ea typeface="Verdana"/>
              <a:cs typeface="Verdana"/>
              <a:sym typeface="Verdana"/>
            </a:endParaRPr>
          </a:p>
          <a:p>
            <a:pPr indent="-342900" lvl="1" marL="914400" rtl="0" algn="l">
              <a:spcBef>
                <a:spcPts val="1000"/>
              </a:spcBef>
              <a:spcAft>
                <a:spcPts val="0"/>
              </a:spcAft>
              <a:buClr>
                <a:schemeClr val="dk1"/>
              </a:buClr>
              <a:buSzPts val="1800"/>
              <a:buFont typeface="Verdana"/>
              <a:buChar char="○"/>
            </a:pPr>
            <a:r>
              <a:rPr lang="en" sz="1800">
                <a:solidFill>
                  <a:schemeClr val="dk1"/>
                </a:solidFill>
                <a:latin typeface="Verdana"/>
                <a:ea typeface="Verdana"/>
                <a:cs typeface="Verdana"/>
                <a:sym typeface="Verdana"/>
              </a:rPr>
              <a:t>But no codon will ever specify for two different amino acids</a:t>
            </a:r>
            <a:endParaRPr sz="1800">
              <a:solidFill>
                <a:schemeClr val="dk1"/>
              </a:solidFill>
              <a:latin typeface="Verdana"/>
              <a:ea typeface="Verdana"/>
              <a:cs typeface="Verdana"/>
              <a:sym typeface="Verdana"/>
            </a:endParaRPr>
          </a:p>
          <a:p>
            <a:pPr indent="-342900" lvl="0" marL="457200" rtl="0" algn="l">
              <a:spcBef>
                <a:spcPts val="1000"/>
              </a:spcBef>
              <a:spcAft>
                <a:spcPts val="1000"/>
              </a:spcAft>
              <a:buClr>
                <a:schemeClr val="dk1"/>
              </a:buClr>
              <a:buSzPts val="1800"/>
              <a:buFont typeface="Verdana"/>
              <a:buChar char="➢"/>
            </a:pPr>
            <a:r>
              <a:rPr lang="en" sz="1800">
                <a:solidFill>
                  <a:schemeClr val="dk1"/>
                </a:solidFill>
                <a:latin typeface="Verdana"/>
                <a:ea typeface="Verdana"/>
                <a:cs typeface="Verdana"/>
                <a:sym typeface="Verdana"/>
              </a:rPr>
              <a:t>Redundancy is a good thing, when we consider mutations.  For example, if the normal DNA </a:t>
            </a:r>
            <a:r>
              <a:rPr lang="en" sz="1800">
                <a:solidFill>
                  <a:schemeClr val="dk1"/>
                </a:solidFill>
                <a:latin typeface="Verdana"/>
                <a:ea typeface="Verdana"/>
                <a:cs typeface="Verdana"/>
                <a:sym typeface="Verdana"/>
              </a:rPr>
              <a:t>sequence</a:t>
            </a:r>
            <a:r>
              <a:rPr lang="en" sz="1800">
                <a:solidFill>
                  <a:schemeClr val="dk1"/>
                </a:solidFill>
                <a:latin typeface="Verdana"/>
                <a:ea typeface="Verdana"/>
                <a:cs typeface="Verdana"/>
                <a:sym typeface="Verdana"/>
              </a:rPr>
              <a:t> is CAA, but during DNA replication DNA polymerase inserts a G instead of the second A and now the DNA sequence is CAG, it still codes for glutamine. The finished protein will be no different. </a:t>
            </a:r>
            <a:endParaRPr sz="1800">
              <a:solidFill>
                <a:schemeClr val="dk1"/>
              </a:solidFill>
              <a:latin typeface="Verdana"/>
              <a:ea typeface="Verdana"/>
              <a:cs typeface="Verdana"/>
              <a:sym typeface="Verdana"/>
            </a:endParaRPr>
          </a:p>
        </p:txBody>
      </p:sp>
      <p:sp>
        <p:nvSpPr>
          <p:cNvPr id="560" name="Google Shape;560;p51"/>
          <p:cNvSpPr txBox="1"/>
          <p:nvPr/>
        </p:nvSpPr>
        <p:spPr>
          <a:xfrm>
            <a:off x="3064775" y="529925"/>
            <a:ext cx="720300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800"/>
              <a:buFont typeface="Verdana"/>
              <a:buNone/>
            </a:pPr>
            <a:r>
              <a:rPr b="1" lang="en" sz="2400">
                <a:solidFill>
                  <a:srgbClr val="393B3F"/>
                </a:solidFill>
                <a:latin typeface="Verdana"/>
                <a:ea typeface="Verdana"/>
                <a:cs typeface="Verdana"/>
                <a:sym typeface="Verdana"/>
              </a:rPr>
              <a:t>Redundancy</a:t>
            </a:r>
            <a:endParaRPr sz="24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52"/>
          <p:cNvSpPr txBox="1"/>
          <p:nvPr/>
        </p:nvSpPr>
        <p:spPr>
          <a:xfrm>
            <a:off x="784650" y="832575"/>
            <a:ext cx="720300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800"/>
              <a:buFont typeface="Verdana"/>
              <a:buNone/>
            </a:pPr>
            <a:r>
              <a:rPr b="1" lang="en" sz="2400" u="sng">
                <a:solidFill>
                  <a:srgbClr val="393B3F"/>
                </a:solidFill>
                <a:latin typeface="Verdana"/>
                <a:ea typeface="Verdana"/>
                <a:cs typeface="Verdana"/>
                <a:sym typeface="Verdana"/>
              </a:rPr>
              <a:t>Practice #3</a:t>
            </a:r>
            <a:endParaRPr sz="2400" u="sng"/>
          </a:p>
        </p:txBody>
      </p:sp>
      <p:sp>
        <p:nvSpPr>
          <p:cNvPr id="566" name="Google Shape;566;p52"/>
          <p:cNvSpPr txBox="1"/>
          <p:nvPr/>
        </p:nvSpPr>
        <p:spPr>
          <a:xfrm>
            <a:off x="784650" y="1502725"/>
            <a:ext cx="7398900" cy="27603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00000"/>
              </a:lnSpc>
              <a:spcBef>
                <a:spcPts val="0"/>
              </a:spcBef>
              <a:spcAft>
                <a:spcPts val="0"/>
              </a:spcAft>
              <a:buClr>
                <a:srgbClr val="393B3F"/>
              </a:buClr>
              <a:buSzPts val="1400"/>
              <a:buFont typeface="Verdana"/>
              <a:buChar char="●"/>
            </a:pPr>
            <a:r>
              <a:rPr lang="en">
                <a:solidFill>
                  <a:srgbClr val="393B3F"/>
                </a:solidFill>
                <a:latin typeface="Verdana"/>
                <a:ea typeface="Verdana"/>
                <a:cs typeface="Verdana"/>
                <a:sym typeface="Verdana"/>
              </a:rPr>
              <a:t>Identify a </a:t>
            </a:r>
            <a:r>
              <a:rPr b="1" lang="en">
                <a:solidFill>
                  <a:srgbClr val="393B3F"/>
                </a:solidFill>
                <a:latin typeface="Verdana"/>
                <a:ea typeface="Verdana"/>
                <a:cs typeface="Verdana"/>
                <a:sym typeface="Verdana"/>
              </a:rPr>
              <a:t>single-letter</a:t>
            </a:r>
            <a:r>
              <a:rPr lang="en">
                <a:solidFill>
                  <a:srgbClr val="393B3F"/>
                </a:solidFill>
                <a:latin typeface="Verdana"/>
                <a:ea typeface="Verdana"/>
                <a:cs typeface="Verdana"/>
                <a:sym typeface="Verdana"/>
              </a:rPr>
              <a:t> mutation that could occur in the following DNA sequence to produce a stop codon at some point in the amino acid:</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00">
              <a:solidFill>
                <a:srgbClr val="393B3F"/>
              </a:solidFill>
              <a:latin typeface="Verdana"/>
              <a:ea typeface="Verdana"/>
              <a:cs typeface="Verdana"/>
              <a:sym typeface="Verdana"/>
            </a:endParaRPr>
          </a:p>
          <a:p>
            <a:pPr indent="0" lvl="0" marL="0" rtl="0" algn="ctr">
              <a:spcBef>
                <a:spcPts val="0"/>
              </a:spcBef>
              <a:spcAft>
                <a:spcPts val="0"/>
              </a:spcAft>
              <a:buClr>
                <a:schemeClr val="dk1"/>
              </a:buClr>
              <a:buSzPts val="1100"/>
              <a:buFont typeface="Arial"/>
              <a:buNone/>
            </a:pPr>
            <a:r>
              <a:rPr lang="en" sz="2600">
                <a:solidFill>
                  <a:srgbClr val="393B3F"/>
                </a:solidFill>
                <a:latin typeface="Verdana"/>
                <a:ea typeface="Verdana"/>
                <a:cs typeface="Verdana"/>
                <a:sym typeface="Verdana"/>
              </a:rPr>
              <a:t>AACGAATATCGG</a:t>
            </a:r>
            <a:endParaRPr sz="10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None/>
            </a:pPr>
            <a:r>
              <a:rPr lang="en" sz="3000">
                <a:solidFill>
                  <a:srgbClr val="393B3F"/>
                </a:solidFill>
                <a:latin typeface="Verdana"/>
                <a:ea typeface="Verdana"/>
                <a:cs typeface="Verdana"/>
                <a:sym typeface="Verdana"/>
              </a:rPr>
              <a:t>	</a:t>
            </a:r>
            <a:endParaRPr b="1" i="1" sz="1600">
              <a:solidFill>
                <a:srgbClr val="393B3F"/>
              </a:solidFill>
              <a:latin typeface="Verdana"/>
              <a:ea typeface="Verdana"/>
              <a:cs typeface="Verdana"/>
              <a:sym typeface="Verdana"/>
            </a:endParaRPr>
          </a:p>
        </p:txBody>
      </p:sp>
      <p:sp>
        <p:nvSpPr>
          <p:cNvPr id="567" name="Google Shape;567;p52"/>
          <p:cNvSpPr txBox="1"/>
          <p:nvPr/>
        </p:nvSpPr>
        <p:spPr>
          <a:xfrm>
            <a:off x="1022700" y="2659000"/>
            <a:ext cx="69228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C27BA0"/>
                </a:solidFill>
                <a:latin typeface="Verdana"/>
                <a:ea typeface="Verdana"/>
                <a:cs typeface="Verdana"/>
                <a:sym typeface="Verdana"/>
              </a:rPr>
              <a:t>Remember, that AAs are determined based on mRNA codons. The STOP codons are UAA, UAG, and UGA, which would </a:t>
            </a:r>
            <a:r>
              <a:rPr b="1" lang="en" sz="1700">
                <a:solidFill>
                  <a:srgbClr val="C27BA0"/>
                </a:solidFill>
                <a:latin typeface="Verdana"/>
                <a:ea typeface="Verdana"/>
                <a:cs typeface="Verdana"/>
                <a:sym typeface="Verdana"/>
              </a:rPr>
              <a:t>correspond</a:t>
            </a:r>
            <a:r>
              <a:rPr b="1" lang="en" sz="1700">
                <a:solidFill>
                  <a:srgbClr val="C27BA0"/>
                </a:solidFill>
                <a:latin typeface="Verdana"/>
                <a:ea typeface="Verdana"/>
                <a:cs typeface="Verdana"/>
                <a:sym typeface="Verdana"/>
              </a:rPr>
              <a:t> to DNA sequences of ATT, ATC, and ACT.</a:t>
            </a:r>
            <a:endParaRPr sz="2400">
              <a:solidFill>
                <a:srgbClr val="C27BA0"/>
              </a:solidFill>
              <a:latin typeface="Verdana"/>
              <a:ea typeface="Verdana"/>
              <a:cs typeface="Verdana"/>
              <a:sym typeface="Verdana"/>
            </a:endParaRPr>
          </a:p>
        </p:txBody>
      </p:sp>
      <p:sp>
        <p:nvSpPr>
          <p:cNvPr id="568" name="Google Shape;568;p52"/>
          <p:cNvSpPr txBox="1"/>
          <p:nvPr/>
        </p:nvSpPr>
        <p:spPr>
          <a:xfrm>
            <a:off x="927950" y="3784675"/>
            <a:ext cx="75828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600">
                <a:solidFill>
                  <a:srgbClr val="A64D79"/>
                </a:solidFill>
                <a:latin typeface="Verdana"/>
                <a:ea typeface="Verdana"/>
                <a:cs typeface="Verdana"/>
                <a:sym typeface="Verdana"/>
              </a:rPr>
              <a:t>A</a:t>
            </a:r>
            <a:r>
              <a:rPr lang="en" sz="2600">
                <a:solidFill>
                  <a:srgbClr val="A64D79"/>
                </a:solidFill>
                <a:highlight>
                  <a:srgbClr val="FFF2CC"/>
                </a:highlight>
                <a:latin typeface="Verdana"/>
                <a:ea typeface="Verdana"/>
                <a:cs typeface="Verdana"/>
                <a:sym typeface="Verdana"/>
              </a:rPr>
              <a:t>A</a:t>
            </a:r>
            <a:r>
              <a:rPr lang="en" sz="2600">
                <a:solidFill>
                  <a:srgbClr val="A64D79"/>
                </a:solidFill>
                <a:latin typeface="Verdana"/>
                <a:ea typeface="Verdana"/>
                <a:cs typeface="Verdana"/>
                <a:sym typeface="Verdana"/>
              </a:rPr>
              <a:t>C GAA TAT CGG → A</a:t>
            </a:r>
            <a:r>
              <a:rPr lang="en" sz="2600">
                <a:solidFill>
                  <a:srgbClr val="A64D79"/>
                </a:solidFill>
                <a:highlight>
                  <a:srgbClr val="FFF2CC"/>
                </a:highlight>
                <a:latin typeface="Verdana"/>
                <a:ea typeface="Verdana"/>
                <a:cs typeface="Verdana"/>
                <a:sym typeface="Verdana"/>
              </a:rPr>
              <a:t>T</a:t>
            </a:r>
            <a:r>
              <a:rPr lang="en" sz="2600">
                <a:solidFill>
                  <a:srgbClr val="A64D79"/>
                </a:solidFill>
                <a:latin typeface="Verdana"/>
                <a:ea typeface="Verdana"/>
                <a:cs typeface="Verdana"/>
                <a:sym typeface="Verdana"/>
              </a:rPr>
              <a:t>C GAA TAT CGG</a:t>
            </a:r>
            <a:endParaRPr>
              <a:solidFill>
                <a:srgbClr val="A64D79"/>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3"/>
          <p:cNvSpPr txBox="1"/>
          <p:nvPr/>
        </p:nvSpPr>
        <p:spPr>
          <a:xfrm>
            <a:off x="784650" y="832575"/>
            <a:ext cx="720300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800"/>
              <a:buFont typeface="Verdana"/>
              <a:buNone/>
            </a:pPr>
            <a:r>
              <a:rPr b="1" lang="en" sz="2400" u="sng">
                <a:solidFill>
                  <a:srgbClr val="393B3F"/>
                </a:solidFill>
                <a:latin typeface="Verdana"/>
                <a:ea typeface="Verdana"/>
                <a:cs typeface="Verdana"/>
                <a:sym typeface="Verdana"/>
              </a:rPr>
              <a:t>Practice #4</a:t>
            </a:r>
            <a:endParaRPr sz="2400" u="sng"/>
          </a:p>
        </p:txBody>
      </p:sp>
      <p:sp>
        <p:nvSpPr>
          <p:cNvPr id="574" name="Google Shape;574;p53"/>
          <p:cNvSpPr txBox="1"/>
          <p:nvPr/>
        </p:nvSpPr>
        <p:spPr>
          <a:xfrm>
            <a:off x="784650" y="1502725"/>
            <a:ext cx="7398900" cy="276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
                <a:solidFill>
                  <a:srgbClr val="393B3F"/>
                </a:solidFill>
                <a:latin typeface="Verdana"/>
                <a:ea typeface="Verdana"/>
                <a:cs typeface="Verdana"/>
                <a:sym typeface="Verdana"/>
              </a:rPr>
              <a:t>Complete the following table:</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00">
              <a:solidFill>
                <a:srgbClr val="393B3F"/>
              </a:solidFill>
              <a:latin typeface="Verdana"/>
              <a:ea typeface="Verdana"/>
              <a:cs typeface="Verdana"/>
              <a:sym typeface="Verdana"/>
            </a:endParaRPr>
          </a:p>
          <a:p>
            <a:pPr indent="0" lvl="0" marL="0" rtl="0" algn="ctr">
              <a:spcBef>
                <a:spcPts val="0"/>
              </a:spcBef>
              <a:spcAft>
                <a:spcPts val="0"/>
              </a:spcAft>
              <a:buClr>
                <a:schemeClr val="dk1"/>
              </a:buClr>
              <a:buSzPts val="1100"/>
              <a:buFont typeface="Arial"/>
              <a:buNone/>
            </a:pPr>
            <a:r>
              <a:t/>
            </a:r>
            <a:endParaRPr sz="10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None/>
            </a:pPr>
            <a:r>
              <a:rPr lang="en" sz="3000">
                <a:solidFill>
                  <a:srgbClr val="393B3F"/>
                </a:solidFill>
                <a:latin typeface="Verdana"/>
                <a:ea typeface="Verdana"/>
                <a:cs typeface="Verdana"/>
                <a:sym typeface="Verdana"/>
              </a:rPr>
              <a:t>	</a:t>
            </a:r>
            <a:endParaRPr b="1" i="1" sz="1600">
              <a:solidFill>
                <a:srgbClr val="393B3F"/>
              </a:solidFill>
              <a:latin typeface="Verdana"/>
              <a:ea typeface="Verdana"/>
              <a:cs typeface="Verdana"/>
              <a:sym typeface="Verdana"/>
            </a:endParaRPr>
          </a:p>
        </p:txBody>
      </p:sp>
      <p:graphicFrame>
        <p:nvGraphicFramePr>
          <p:cNvPr id="575" name="Google Shape;575;p53"/>
          <p:cNvGraphicFramePr/>
          <p:nvPr/>
        </p:nvGraphicFramePr>
        <p:xfrm>
          <a:off x="864600" y="2139500"/>
          <a:ext cx="3000000" cy="3000000"/>
        </p:xfrm>
        <a:graphic>
          <a:graphicData uri="http://schemas.openxmlformats.org/drawingml/2006/table">
            <a:tbl>
              <a:tblPr>
                <a:noFill/>
                <a:tableStyleId>{35198A41-FCAB-4F54-8418-CBA23FF8E929}</a:tableStyleId>
              </a:tblPr>
              <a:tblGrid>
                <a:gridCol w="2368950"/>
                <a:gridCol w="4870050"/>
              </a:tblGrid>
              <a:tr h="381000">
                <a:tc>
                  <a:txBody>
                    <a:bodyPr/>
                    <a:lstStyle/>
                    <a:p>
                      <a:pPr indent="0" lvl="0" marL="0" rtl="0" algn="l">
                        <a:spcBef>
                          <a:spcPts val="0"/>
                        </a:spcBef>
                        <a:spcAft>
                          <a:spcPts val="0"/>
                        </a:spcAft>
                        <a:buNone/>
                      </a:pPr>
                      <a:r>
                        <a:rPr lang="en"/>
                        <a:t>Coding strand</a:t>
                      </a:r>
                      <a:endParaRPr/>
                    </a:p>
                  </a:txBody>
                  <a:tcPr marT="91425" marB="91425" marR="91425" marL="91425"/>
                </a:tc>
                <a:tc>
                  <a:txBody>
                    <a:bodyPr/>
                    <a:lstStyle/>
                    <a:p>
                      <a:pPr indent="0" lvl="0" marL="0" rtl="0" algn="ctr">
                        <a:spcBef>
                          <a:spcPts val="0"/>
                        </a:spcBef>
                        <a:spcAft>
                          <a:spcPts val="0"/>
                        </a:spcAft>
                        <a:buNone/>
                      </a:pPr>
                      <a:r>
                        <a:rPr lang="en"/>
                        <a:t>ACGGCTTTACAC</a:t>
                      </a:r>
                      <a:endParaRPr/>
                    </a:p>
                  </a:txBody>
                  <a:tcPr marT="91425" marB="91425" marR="91425" marL="91425"/>
                </a:tc>
              </a:tr>
              <a:tr h="381000">
                <a:tc>
                  <a:txBody>
                    <a:bodyPr/>
                    <a:lstStyle/>
                    <a:p>
                      <a:pPr indent="0" lvl="0" marL="0" rtl="0" algn="l">
                        <a:spcBef>
                          <a:spcPts val="0"/>
                        </a:spcBef>
                        <a:spcAft>
                          <a:spcPts val="0"/>
                        </a:spcAft>
                        <a:buNone/>
                      </a:pPr>
                      <a:r>
                        <a:rPr lang="en"/>
                        <a:t>Non-coding strand</a:t>
                      </a:r>
                      <a:endParaRPr/>
                    </a:p>
                  </a:txBody>
                  <a:tcPr marT="91425" marB="91425" marR="91425" marL="91425"/>
                </a:tc>
                <a:tc>
                  <a:txBody>
                    <a:bodyPr/>
                    <a:lstStyle/>
                    <a:p>
                      <a:pPr indent="0" lvl="0" marL="0" rtl="0" algn="ctr">
                        <a:spcBef>
                          <a:spcPts val="0"/>
                        </a:spcBef>
                        <a:spcAft>
                          <a:spcPts val="0"/>
                        </a:spcAft>
                        <a:buNone/>
                      </a:pPr>
                      <a:r>
                        <a:t/>
                      </a:r>
                      <a:endParaRPr>
                        <a:solidFill>
                          <a:srgbClr val="A64D79"/>
                        </a:solidFill>
                      </a:endParaRPr>
                    </a:p>
                  </a:txBody>
                  <a:tcPr marT="91425" marB="91425" marR="91425" marL="91425"/>
                </a:tc>
              </a:tr>
              <a:tr h="381000">
                <a:tc>
                  <a:txBody>
                    <a:bodyPr/>
                    <a:lstStyle/>
                    <a:p>
                      <a:pPr indent="0" lvl="0" marL="0" rtl="0" algn="l">
                        <a:spcBef>
                          <a:spcPts val="0"/>
                        </a:spcBef>
                        <a:spcAft>
                          <a:spcPts val="0"/>
                        </a:spcAft>
                        <a:buNone/>
                      </a:pPr>
                      <a:r>
                        <a:rPr lang="en"/>
                        <a:t>mRNA</a:t>
                      </a:r>
                      <a:endParaRPr/>
                    </a:p>
                  </a:txBody>
                  <a:tcPr marT="91425" marB="91425" marR="91425" marL="91425"/>
                </a:tc>
                <a:tc>
                  <a:txBody>
                    <a:bodyPr/>
                    <a:lstStyle/>
                    <a:p>
                      <a:pPr indent="0" lvl="0" marL="0" rtl="0" algn="ctr">
                        <a:spcBef>
                          <a:spcPts val="0"/>
                        </a:spcBef>
                        <a:spcAft>
                          <a:spcPts val="0"/>
                        </a:spcAft>
                        <a:buNone/>
                      </a:pPr>
                      <a:r>
                        <a:t/>
                      </a:r>
                      <a:endParaRPr>
                        <a:solidFill>
                          <a:srgbClr val="A64D79"/>
                        </a:solidFill>
                      </a:endParaRPr>
                    </a:p>
                  </a:txBody>
                  <a:tcPr marT="91425" marB="91425" marR="91425" marL="91425"/>
                </a:tc>
              </a:tr>
              <a:tr h="381000">
                <a:tc>
                  <a:txBody>
                    <a:bodyPr/>
                    <a:lstStyle/>
                    <a:p>
                      <a:pPr indent="0" lvl="0" marL="0" rtl="0" algn="l">
                        <a:spcBef>
                          <a:spcPts val="0"/>
                        </a:spcBef>
                        <a:spcAft>
                          <a:spcPts val="0"/>
                        </a:spcAft>
                        <a:buNone/>
                      </a:pPr>
                      <a:r>
                        <a:rPr lang="en"/>
                        <a:t>tRNA</a:t>
                      </a:r>
                      <a:endParaRPr/>
                    </a:p>
                  </a:txBody>
                  <a:tcPr marT="91425" marB="91425" marR="91425" marL="91425"/>
                </a:tc>
                <a:tc>
                  <a:txBody>
                    <a:bodyPr/>
                    <a:lstStyle/>
                    <a:p>
                      <a:pPr indent="0" lvl="0" marL="0" rtl="0" algn="ctr">
                        <a:spcBef>
                          <a:spcPts val="0"/>
                        </a:spcBef>
                        <a:spcAft>
                          <a:spcPts val="0"/>
                        </a:spcAft>
                        <a:buNone/>
                      </a:pPr>
                      <a:r>
                        <a:t/>
                      </a:r>
                      <a:endParaRPr>
                        <a:solidFill>
                          <a:srgbClr val="A64D79"/>
                        </a:solidFill>
                      </a:endParaRPr>
                    </a:p>
                  </a:txBody>
                  <a:tcPr marT="91425" marB="91425" marR="91425" marL="91425"/>
                </a:tc>
              </a:tr>
              <a:tr h="381000">
                <a:tc>
                  <a:txBody>
                    <a:bodyPr/>
                    <a:lstStyle/>
                    <a:p>
                      <a:pPr indent="0" lvl="0" marL="0" rtl="0" algn="l">
                        <a:spcBef>
                          <a:spcPts val="0"/>
                        </a:spcBef>
                        <a:spcAft>
                          <a:spcPts val="0"/>
                        </a:spcAft>
                        <a:buNone/>
                      </a:pPr>
                      <a:r>
                        <a:rPr lang="en"/>
                        <a:t>AA Sequence</a:t>
                      </a:r>
                      <a:endParaRPr/>
                    </a:p>
                  </a:txBody>
                  <a:tcPr marT="91425" marB="91425" marR="91425" marL="91425"/>
                </a:tc>
                <a:tc>
                  <a:txBody>
                    <a:bodyPr/>
                    <a:lstStyle/>
                    <a:p>
                      <a:pPr indent="0" lvl="0" marL="0" rtl="0" algn="ctr">
                        <a:spcBef>
                          <a:spcPts val="0"/>
                        </a:spcBef>
                        <a:spcAft>
                          <a:spcPts val="0"/>
                        </a:spcAft>
                        <a:buNone/>
                      </a:pPr>
                      <a:r>
                        <a:t/>
                      </a:r>
                      <a:endParaRPr>
                        <a:solidFill>
                          <a:srgbClr val="A64D79"/>
                        </a:solidFill>
                      </a:endParaRPr>
                    </a:p>
                  </a:txBody>
                  <a:tcPr marT="91425" marB="91425" marR="91425" marL="91425"/>
                </a:tc>
              </a:tr>
            </a:tbl>
          </a:graphicData>
        </a:graphic>
      </p:graphicFrame>
      <p:sp>
        <p:nvSpPr>
          <p:cNvPr id="576" name="Google Shape;576;p53"/>
          <p:cNvSpPr txBox="1"/>
          <p:nvPr/>
        </p:nvSpPr>
        <p:spPr>
          <a:xfrm>
            <a:off x="4427675" y="2535700"/>
            <a:ext cx="2766300" cy="32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A64D79"/>
                </a:solidFill>
              </a:rPr>
              <a:t>TGCCGAAATGTG</a:t>
            </a:r>
            <a:endParaRPr sz="2400">
              <a:solidFill>
                <a:schemeClr val="dk2"/>
              </a:solidFill>
              <a:latin typeface="Verdana"/>
              <a:ea typeface="Verdana"/>
              <a:cs typeface="Verdana"/>
              <a:sym typeface="Verdana"/>
            </a:endParaRPr>
          </a:p>
        </p:txBody>
      </p:sp>
      <p:sp>
        <p:nvSpPr>
          <p:cNvPr id="577" name="Google Shape;577;p53"/>
          <p:cNvSpPr txBox="1"/>
          <p:nvPr/>
        </p:nvSpPr>
        <p:spPr>
          <a:xfrm>
            <a:off x="4363450" y="2940550"/>
            <a:ext cx="2766300" cy="32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A64D79"/>
                </a:solidFill>
              </a:rPr>
              <a:t>UGCCGAAAUGUG</a:t>
            </a:r>
            <a:endParaRPr sz="2400">
              <a:solidFill>
                <a:schemeClr val="dk2"/>
              </a:solidFill>
              <a:latin typeface="Verdana"/>
              <a:ea typeface="Verdana"/>
              <a:cs typeface="Verdana"/>
              <a:sym typeface="Verdana"/>
            </a:endParaRPr>
          </a:p>
        </p:txBody>
      </p:sp>
      <p:sp>
        <p:nvSpPr>
          <p:cNvPr id="578" name="Google Shape;578;p53"/>
          <p:cNvSpPr txBox="1"/>
          <p:nvPr/>
        </p:nvSpPr>
        <p:spPr>
          <a:xfrm>
            <a:off x="4427675" y="3345400"/>
            <a:ext cx="2766300" cy="32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A64D79"/>
                </a:solidFill>
              </a:rPr>
              <a:t>ACGGCUUUACAC</a:t>
            </a:r>
            <a:endParaRPr sz="2400">
              <a:solidFill>
                <a:schemeClr val="dk2"/>
              </a:solidFill>
              <a:latin typeface="Verdana"/>
              <a:ea typeface="Verdana"/>
              <a:cs typeface="Verdana"/>
              <a:sym typeface="Verdana"/>
            </a:endParaRPr>
          </a:p>
        </p:txBody>
      </p:sp>
      <p:sp>
        <p:nvSpPr>
          <p:cNvPr id="579" name="Google Shape;579;p53"/>
          <p:cNvSpPr txBox="1"/>
          <p:nvPr/>
        </p:nvSpPr>
        <p:spPr>
          <a:xfrm>
            <a:off x="4363450" y="3724300"/>
            <a:ext cx="2766300" cy="32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A64D79"/>
                </a:solidFill>
              </a:rPr>
              <a:t>cys-arg-asp-val</a:t>
            </a:r>
            <a:endParaRPr sz="24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4"/>
          <p:cNvSpPr txBox="1"/>
          <p:nvPr/>
        </p:nvSpPr>
        <p:spPr>
          <a:xfrm>
            <a:off x="1225200" y="861475"/>
            <a:ext cx="6406800" cy="49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Verdana"/>
              <a:buNone/>
            </a:pPr>
            <a:r>
              <a:rPr b="1" i="0" lang="en" sz="2400" u="none" cap="none" strike="noStrike">
                <a:solidFill>
                  <a:srgbClr val="000000"/>
                </a:solidFill>
                <a:latin typeface="Verdana"/>
                <a:ea typeface="Verdana"/>
                <a:cs typeface="Verdana"/>
                <a:sym typeface="Verdana"/>
              </a:rPr>
              <a:t>Re-Cap: </a:t>
            </a:r>
            <a:r>
              <a:rPr b="1" lang="en" sz="2400">
                <a:latin typeface="Verdana"/>
                <a:ea typeface="Verdana"/>
                <a:cs typeface="Verdana"/>
                <a:sym typeface="Verdana"/>
              </a:rPr>
              <a:t>Types of Nucleic Acids</a:t>
            </a:r>
            <a:endParaRPr/>
          </a:p>
        </p:txBody>
      </p:sp>
      <p:graphicFrame>
        <p:nvGraphicFramePr>
          <p:cNvPr id="585" name="Google Shape;585;p54"/>
          <p:cNvGraphicFramePr/>
          <p:nvPr/>
        </p:nvGraphicFramePr>
        <p:xfrm>
          <a:off x="493400" y="1629300"/>
          <a:ext cx="3000000" cy="3000000"/>
        </p:xfrm>
        <a:graphic>
          <a:graphicData uri="http://schemas.openxmlformats.org/drawingml/2006/table">
            <a:tbl>
              <a:tblPr>
                <a:noFill/>
                <a:tableStyleId>{97DAA78E-1271-4725-9A1C-28E2E569F632}</a:tableStyleId>
              </a:tblPr>
              <a:tblGrid>
                <a:gridCol w="1789100"/>
                <a:gridCol w="1960175"/>
                <a:gridCol w="4317850"/>
              </a:tblGrid>
              <a:tr h="381000">
                <a:tc>
                  <a:txBody>
                    <a:bodyPr/>
                    <a:lstStyle/>
                    <a:p>
                      <a:pPr indent="0" lvl="0" marL="0" marR="0" rtl="0" algn="ctr">
                        <a:lnSpc>
                          <a:spcPct val="100000"/>
                        </a:lnSpc>
                        <a:spcBef>
                          <a:spcPts val="0"/>
                        </a:spcBef>
                        <a:spcAft>
                          <a:spcPts val="0"/>
                        </a:spcAft>
                        <a:buClr>
                          <a:srgbClr val="000000"/>
                        </a:buClr>
                        <a:buSzPts val="1400"/>
                        <a:buFont typeface="Verdana"/>
                        <a:buNone/>
                      </a:pPr>
                      <a:r>
                        <a:rPr b="1" lang="en" sz="1400" u="none" cap="none" strike="noStrike">
                          <a:latin typeface="Verdana"/>
                          <a:ea typeface="Verdana"/>
                          <a:cs typeface="Verdana"/>
                          <a:sym typeface="Verdana"/>
                        </a:rPr>
                        <a:t>NUCLEIC ACID</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Verdana"/>
                        <a:buNone/>
                      </a:pPr>
                      <a:r>
                        <a:rPr b="1" lang="en" sz="1400" u="none" cap="none" strike="noStrike">
                          <a:latin typeface="Verdana"/>
                          <a:ea typeface="Verdana"/>
                          <a:cs typeface="Verdana"/>
                          <a:sym typeface="Verdana"/>
                        </a:rPr>
                        <a:t>STRUCTURE</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Verdana"/>
                        <a:buNone/>
                      </a:pPr>
                      <a:r>
                        <a:rPr b="1" lang="en" sz="1400" u="none" cap="none" strike="noStrike">
                          <a:latin typeface="Verdana"/>
                          <a:ea typeface="Verdana"/>
                          <a:cs typeface="Verdana"/>
                          <a:sym typeface="Verdana"/>
                        </a:rPr>
                        <a:t>FUNCTION</a:t>
                      </a:r>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DNA</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Double helix</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Stores genetic info</a:t>
                      </a:r>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mRNA</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single strand</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Carries genetic info from DNA in nucleus to ribosomes in cytoplasm for protein synthesis. Transcribed from DNA.</a:t>
                      </a:r>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tRNA</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verage"/>
                        <a:buNone/>
                      </a:pPr>
                      <a:r>
                        <a:rPr lang="en" sz="1300">
                          <a:latin typeface="Average"/>
                          <a:ea typeface="Average"/>
                          <a:cs typeface="Average"/>
                          <a:sym typeface="Average"/>
                        </a:rPr>
                        <a:t>Single strand</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Carries amino acids to the correct codon site during protein synthesis. </a:t>
                      </a:r>
                      <a:r>
                        <a:rPr lang="en" sz="1300">
                          <a:solidFill>
                            <a:schemeClr val="dk1"/>
                          </a:solidFill>
                          <a:latin typeface="Average"/>
                          <a:ea typeface="Average"/>
                          <a:cs typeface="Average"/>
                          <a:sym typeface="Average"/>
                        </a:rPr>
                        <a:t>Complementary to mRNA</a:t>
                      </a:r>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rRNA</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verage"/>
                        <a:buNone/>
                      </a:pPr>
                      <a:r>
                        <a:rPr lang="en" sz="1300">
                          <a:latin typeface="Average"/>
                          <a:ea typeface="Average"/>
                          <a:cs typeface="Average"/>
                          <a:sym typeface="Average"/>
                        </a:rPr>
                        <a:t>Single strand</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verage"/>
                        <a:buNone/>
                      </a:pPr>
                      <a:r>
                        <a:rPr lang="en" sz="1300" u="none" cap="none" strike="noStrike">
                          <a:latin typeface="Average"/>
                          <a:ea typeface="Average"/>
                          <a:cs typeface="Average"/>
                          <a:sym typeface="Average"/>
                        </a:rPr>
                        <a:t>Combines to form a ribosome, the main structure required for protein synthesis</a:t>
                      </a:r>
                      <a:endParaRPr/>
                    </a:p>
                  </a:txBody>
                  <a:tcPr marT="91425" marB="91425" marR="91425" marL="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55"/>
          <p:cNvSpPr txBox="1"/>
          <p:nvPr/>
        </p:nvSpPr>
        <p:spPr>
          <a:xfrm>
            <a:off x="776250" y="1838650"/>
            <a:ext cx="7476000" cy="3309900"/>
          </a:xfrm>
          <a:prstGeom prst="rect">
            <a:avLst/>
          </a:prstGeom>
          <a:noFill/>
          <a:ln>
            <a:noFill/>
          </a:ln>
        </p:spPr>
        <p:txBody>
          <a:bodyPr anchorCtr="0" anchor="t" bIns="45700" lIns="91425" spcFirstLastPara="1" rIns="91425" wrap="square" tIns="45700">
            <a:noAutofit/>
          </a:bodyPr>
          <a:lstStyle/>
          <a:p>
            <a:pPr indent="-281073" lvl="0" marL="342900" rtl="0" algn="l">
              <a:lnSpc>
                <a:spcPct val="115000"/>
              </a:lnSpc>
              <a:spcBef>
                <a:spcPts val="40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Causes of mutations: Point mutation vs. frameshift mutation</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Effects of mutations: Silent vs. missense vs. nonsense mutation</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Mitochondrial DNA</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Recombinant DNA</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Gel electrophoresis</a:t>
            </a:r>
            <a:endParaRPr sz="1600">
              <a:solidFill>
                <a:srgbClr val="38393E"/>
              </a:solidFill>
              <a:latin typeface="Verdana"/>
              <a:ea typeface="Verdana"/>
              <a:cs typeface="Verdana"/>
              <a:sym typeface="Verdana"/>
            </a:endParaRPr>
          </a:p>
          <a:p>
            <a:pPr indent="-281073" lvl="0" marL="342900" rtl="0" algn="l">
              <a:lnSpc>
                <a:spcPct val="115000"/>
              </a:lnSpc>
              <a:spcBef>
                <a:spcPts val="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Taq polymerase &amp; PCR</a:t>
            </a:r>
            <a:endParaRPr sz="1600">
              <a:solidFill>
                <a:srgbClr val="38393E"/>
              </a:solidFill>
              <a:latin typeface="Verdana"/>
              <a:ea typeface="Verdana"/>
              <a:cs typeface="Verdana"/>
              <a:sym typeface="Verdana"/>
            </a:endParaRPr>
          </a:p>
          <a:p>
            <a:pPr indent="0" lvl="0" marL="0" rtl="0" algn="l">
              <a:lnSpc>
                <a:spcPct val="115000"/>
              </a:lnSpc>
              <a:spcBef>
                <a:spcPts val="800"/>
              </a:spcBef>
              <a:spcAft>
                <a:spcPts val="0"/>
              </a:spcAft>
              <a:buNone/>
            </a:pPr>
            <a:r>
              <a:t/>
            </a:r>
            <a:endParaRPr sz="700">
              <a:solidFill>
                <a:srgbClr val="3F3F3F"/>
              </a:solidFill>
              <a:latin typeface="Verdana"/>
              <a:ea typeface="Verdana"/>
              <a:cs typeface="Verdana"/>
              <a:sym typeface="Verdana"/>
            </a:endParaRPr>
          </a:p>
          <a:p>
            <a:pPr indent="0" lvl="0" marL="342900" rtl="0" algn="ctr">
              <a:lnSpc>
                <a:spcPct val="115000"/>
              </a:lnSpc>
              <a:spcBef>
                <a:spcPts val="800"/>
              </a:spcBef>
              <a:spcAft>
                <a:spcPts val="0"/>
              </a:spcAft>
              <a:buNone/>
            </a:pPr>
            <a:r>
              <a:rPr b="1" i="1" lang="en" sz="2000">
                <a:solidFill>
                  <a:srgbClr val="3F3F3F"/>
                </a:solidFill>
                <a:latin typeface="Verdana"/>
                <a:ea typeface="Verdana"/>
                <a:cs typeface="Verdana"/>
                <a:sym typeface="Verdana"/>
              </a:rPr>
              <a:t>Textbook pgs. 643-662</a:t>
            </a:r>
            <a:endParaRPr b="1" i="1"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l">
              <a:spcBef>
                <a:spcPts val="1407"/>
              </a:spcBef>
              <a:spcAft>
                <a:spcPts val="0"/>
              </a:spcAft>
              <a:buNone/>
            </a:pPr>
            <a:r>
              <a:t/>
            </a:r>
            <a:endParaRPr sz="2400">
              <a:solidFill>
                <a:srgbClr val="676A73"/>
              </a:solidFill>
              <a:latin typeface="Verdana"/>
              <a:ea typeface="Verdana"/>
              <a:cs typeface="Verdana"/>
              <a:sym typeface="Verdana"/>
            </a:endParaRPr>
          </a:p>
        </p:txBody>
      </p:sp>
      <p:sp>
        <p:nvSpPr>
          <p:cNvPr id="591" name="Google Shape;591;p55"/>
          <p:cNvSpPr txBox="1"/>
          <p:nvPr/>
        </p:nvSpPr>
        <p:spPr>
          <a:xfrm>
            <a:off x="1289275" y="966302"/>
            <a:ext cx="6552600" cy="66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 sz="2400">
                <a:solidFill>
                  <a:srgbClr val="4D4F55"/>
                </a:solidFill>
                <a:latin typeface="Verdana"/>
                <a:ea typeface="Verdana"/>
                <a:cs typeface="Verdana"/>
                <a:sym typeface="Verdana"/>
              </a:rPr>
              <a:t>TOPIC 3: MUTATIONS AND GENETIC TECHNOLOGIES</a:t>
            </a:r>
            <a:endParaRPr sz="2400">
              <a:solidFill>
                <a:srgbClr val="4D4F55"/>
              </a:solidFill>
              <a:latin typeface="Verdana"/>
              <a:ea typeface="Verdana"/>
              <a:cs typeface="Verdana"/>
              <a:sym typeface="Verdan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6"/>
          <p:cNvSpPr txBox="1"/>
          <p:nvPr/>
        </p:nvSpPr>
        <p:spPr>
          <a:xfrm>
            <a:off x="784650" y="540100"/>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800"/>
              <a:buFont typeface="Verdana"/>
              <a:buNone/>
            </a:pPr>
            <a:r>
              <a:rPr b="1" i="0" lang="en" sz="2800" u="none" cap="none" strike="noStrike">
                <a:solidFill>
                  <a:srgbClr val="393B3F"/>
                </a:solidFill>
                <a:latin typeface="Verdana"/>
                <a:ea typeface="Verdana"/>
                <a:cs typeface="Verdana"/>
                <a:sym typeface="Verdana"/>
              </a:rPr>
              <a:t>Mutations</a:t>
            </a:r>
            <a:endParaRPr/>
          </a:p>
        </p:txBody>
      </p:sp>
      <p:sp>
        <p:nvSpPr>
          <p:cNvPr id="597" name="Google Shape;597;p56"/>
          <p:cNvSpPr txBox="1"/>
          <p:nvPr/>
        </p:nvSpPr>
        <p:spPr>
          <a:xfrm>
            <a:off x="591550" y="1175800"/>
            <a:ext cx="79509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1400"/>
              <a:buFont typeface="Verdana"/>
              <a:buNone/>
            </a:pPr>
            <a:r>
              <a:rPr b="0" i="0" lang="en" sz="1500" u="none" cap="none" strike="noStrike">
                <a:solidFill>
                  <a:srgbClr val="393B3F"/>
                </a:solidFill>
                <a:latin typeface="Verdana"/>
                <a:ea typeface="Verdana"/>
                <a:cs typeface="Verdana"/>
                <a:sym typeface="Verdana"/>
              </a:rPr>
              <a:t>Mistakes in the coding of genetic information often take place during DNA replication, transcription and/or translation</a:t>
            </a:r>
            <a:r>
              <a:rPr lang="en" sz="1500">
                <a:solidFill>
                  <a:srgbClr val="393B3F"/>
                </a:solidFill>
                <a:latin typeface="Verdana"/>
                <a:ea typeface="Verdana"/>
                <a:cs typeface="Verdana"/>
                <a:sym typeface="Verdana"/>
              </a:rPr>
              <a:t>. Most of the mistakes get corrected right away, by various proofing mechanisms cells have. Mistakes that do not get corrected, however,</a:t>
            </a:r>
            <a:r>
              <a:rPr b="0" i="0" lang="en" sz="1500" u="none" cap="none" strike="noStrike">
                <a:solidFill>
                  <a:srgbClr val="393B3F"/>
                </a:solidFill>
                <a:latin typeface="Verdana"/>
                <a:ea typeface="Verdana"/>
                <a:cs typeface="Verdana"/>
                <a:sym typeface="Verdana"/>
              </a:rPr>
              <a:t> result in the production of a different sequence than what was intended. These mistakes are referred to as </a:t>
            </a:r>
            <a:r>
              <a:rPr b="0" i="1" lang="en" sz="1500" u="none" cap="none" strike="noStrike">
                <a:solidFill>
                  <a:srgbClr val="393B3F"/>
                </a:solidFill>
                <a:latin typeface="Verdana"/>
                <a:ea typeface="Verdana"/>
                <a:cs typeface="Verdana"/>
                <a:sym typeface="Verdana"/>
              </a:rPr>
              <a:t>mutations</a:t>
            </a:r>
            <a:r>
              <a:rPr b="0" i="0" lang="en" sz="1500" u="none" cap="none" strike="noStrike">
                <a:solidFill>
                  <a:srgbClr val="393B3F"/>
                </a:solidFill>
                <a:latin typeface="Verdana"/>
                <a:ea typeface="Verdana"/>
                <a:cs typeface="Verdana"/>
                <a:sym typeface="Verdana"/>
              </a:rPr>
              <a:t>. Certain types of mutations have more severe consequences than others. </a:t>
            </a:r>
            <a:endParaRPr sz="1500"/>
          </a:p>
        </p:txBody>
      </p:sp>
      <p:sp>
        <p:nvSpPr>
          <p:cNvPr id="598" name="Google Shape;598;p56"/>
          <p:cNvSpPr txBox="1"/>
          <p:nvPr/>
        </p:nvSpPr>
        <p:spPr>
          <a:xfrm>
            <a:off x="659800" y="2748175"/>
            <a:ext cx="3442500" cy="2064900"/>
          </a:xfrm>
          <a:prstGeom prst="rect">
            <a:avLst/>
          </a:prstGeom>
          <a:noFill/>
          <a:ln>
            <a:noFill/>
          </a:ln>
        </p:spPr>
        <p:txBody>
          <a:bodyPr anchorCtr="0" anchor="t" bIns="45700" lIns="91425" spcFirstLastPara="1" rIns="91425" wrap="square" tIns="45700">
            <a:noAutofit/>
          </a:bodyPr>
          <a:lstStyle/>
          <a:p>
            <a:pPr indent="-323850" lvl="0" marL="457200" marR="0" rtl="0" algn="l">
              <a:lnSpc>
                <a:spcPct val="100000"/>
              </a:lnSpc>
              <a:spcBef>
                <a:spcPts val="0"/>
              </a:spcBef>
              <a:spcAft>
                <a:spcPts val="0"/>
              </a:spcAft>
              <a:buClr>
                <a:srgbClr val="393B3F"/>
              </a:buClr>
              <a:buSzPts val="1500"/>
              <a:buFont typeface="Verdana"/>
              <a:buChar char="●"/>
            </a:pPr>
            <a:r>
              <a:rPr b="0" lang="en" sz="1500" u="none" cap="none" strike="noStrike">
                <a:solidFill>
                  <a:srgbClr val="393B3F"/>
                </a:solidFill>
                <a:latin typeface="Verdana"/>
                <a:ea typeface="Verdana"/>
                <a:cs typeface="Verdana"/>
                <a:sym typeface="Verdana"/>
              </a:rPr>
              <a:t>Mutations that occur in somatic cell</a:t>
            </a:r>
            <a:r>
              <a:rPr lang="en" sz="1500">
                <a:solidFill>
                  <a:srgbClr val="393B3F"/>
                </a:solidFill>
                <a:latin typeface="Verdana"/>
                <a:ea typeface="Verdana"/>
                <a:cs typeface="Verdana"/>
                <a:sym typeface="Verdana"/>
              </a:rPr>
              <a:t>s (body cells) </a:t>
            </a:r>
            <a:r>
              <a:rPr b="0" lang="en" sz="1500" u="none" cap="none" strike="noStrike">
                <a:solidFill>
                  <a:srgbClr val="393B3F"/>
                </a:solidFill>
                <a:latin typeface="Verdana"/>
                <a:ea typeface="Verdana"/>
                <a:cs typeface="Verdana"/>
                <a:sym typeface="Verdana"/>
              </a:rPr>
              <a:t>are not passed on to offspring (e.g. cancer)</a:t>
            </a:r>
            <a:endParaRPr sz="1500"/>
          </a:p>
          <a:p>
            <a:pPr indent="-323850" lvl="0" marL="457200" marR="0" rtl="0" algn="l">
              <a:lnSpc>
                <a:spcPct val="100000"/>
              </a:lnSpc>
              <a:spcBef>
                <a:spcPts val="1000"/>
              </a:spcBef>
              <a:spcAft>
                <a:spcPts val="0"/>
              </a:spcAft>
              <a:buClr>
                <a:srgbClr val="393B3F"/>
              </a:buClr>
              <a:buSzPts val="1500"/>
              <a:buFont typeface="Verdana"/>
              <a:buChar char="●"/>
            </a:pPr>
            <a:r>
              <a:rPr b="0" i="0" lang="en" sz="1500" u="none" cap="none" strike="noStrike">
                <a:solidFill>
                  <a:srgbClr val="393B3F"/>
                </a:solidFill>
                <a:latin typeface="Verdana"/>
                <a:ea typeface="Verdana"/>
                <a:cs typeface="Verdana"/>
                <a:sym typeface="Verdana"/>
              </a:rPr>
              <a:t>Mutations that occur in the germ line (reproductive cells</a:t>
            </a:r>
            <a:r>
              <a:rPr lang="en" sz="1500">
                <a:solidFill>
                  <a:srgbClr val="393B3F"/>
                </a:solidFill>
                <a:latin typeface="Verdana"/>
                <a:ea typeface="Verdana"/>
                <a:cs typeface="Verdana"/>
                <a:sym typeface="Verdana"/>
              </a:rPr>
              <a:t>) </a:t>
            </a:r>
            <a:r>
              <a:rPr b="0" i="0" lang="en" sz="1500" u="none" cap="none" strike="noStrike">
                <a:solidFill>
                  <a:srgbClr val="393B3F"/>
                </a:solidFill>
                <a:latin typeface="Verdana"/>
                <a:ea typeface="Verdana"/>
                <a:cs typeface="Verdana"/>
                <a:sym typeface="Verdana"/>
              </a:rPr>
              <a:t>are passed on to offspring (e.g.</a:t>
            </a:r>
            <a:r>
              <a:rPr lang="en" sz="1500">
                <a:solidFill>
                  <a:srgbClr val="393B3F"/>
                </a:solidFill>
                <a:latin typeface="Verdana"/>
                <a:ea typeface="Verdana"/>
                <a:cs typeface="Verdana"/>
                <a:sym typeface="Verdana"/>
              </a:rPr>
              <a:t>  </a:t>
            </a:r>
            <a:r>
              <a:rPr b="0" i="0" lang="en" sz="1500" u="none" cap="none" strike="noStrike">
                <a:solidFill>
                  <a:srgbClr val="393B3F"/>
                </a:solidFill>
                <a:latin typeface="Verdana"/>
                <a:ea typeface="Verdana"/>
                <a:cs typeface="Verdana"/>
                <a:sym typeface="Verdana"/>
              </a:rPr>
              <a:t>trisomy 21)</a:t>
            </a:r>
            <a:endParaRPr sz="1500"/>
          </a:p>
          <a:p>
            <a:pPr indent="0" lvl="0" marL="0" marR="0" rtl="0" algn="l">
              <a:lnSpc>
                <a:spcPct val="100000"/>
              </a:lnSpc>
              <a:spcBef>
                <a:spcPts val="1000"/>
              </a:spcBef>
              <a:spcAft>
                <a:spcPts val="0"/>
              </a:spcAft>
              <a:buClr>
                <a:srgbClr val="000000"/>
              </a:buClr>
              <a:buSzPts val="1600"/>
              <a:buFont typeface="Arial"/>
              <a:buNone/>
            </a:pPr>
            <a:r>
              <a:t/>
            </a:r>
            <a:endParaRPr b="0" i="0" sz="1700" u="none" cap="none" strike="noStrike">
              <a:solidFill>
                <a:srgbClr val="393B3F"/>
              </a:solidFill>
              <a:latin typeface="Verdana"/>
              <a:ea typeface="Verdana"/>
              <a:cs typeface="Verdana"/>
              <a:sym typeface="Verdana"/>
            </a:endParaRPr>
          </a:p>
        </p:txBody>
      </p:sp>
      <p:pic>
        <p:nvPicPr>
          <p:cNvPr id="599" name="Google Shape;599;p56"/>
          <p:cNvPicPr preferRelativeResize="0"/>
          <p:nvPr/>
        </p:nvPicPr>
        <p:blipFill rotWithShape="1">
          <a:blip r:embed="rId3">
            <a:alphaModFix/>
          </a:blip>
          <a:srcRect b="0" l="0" r="0" t="0"/>
          <a:stretch/>
        </p:blipFill>
        <p:spPr>
          <a:xfrm>
            <a:off x="5227500" y="2748176"/>
            <a:ext cx="2999755" cy="20649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7"/>
          <p:cNvSpPr txBox="1"/>
          <p:nvPr/>
        </p:nvSpPr>
        <p:spPr>
          <a:xfrm>
            <a:off x="784650" y="680175"/>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800"/>
              <a:buFont typeface="Verdana"/>
              <a:buNone/>
            </a:pPr>
            <a:r>
              <a:rPr b="1" lang="en" sz="2800">
                <a:solidFill>
                  <a:srgbClr val="393B3F"/>
                </a:solidFill>
                <a:latin typeface="Verdana"/>
                <a:ea typeface="Verdana"/>
                <a:cs typeface="Verdana"/>
                <a:sym typeface="Verdana"/>
              </a:rPr>
              <a:t>Types of Mutations</a:t>
            </a:r>
            <a:endParaRPr/>
          </a:p>
        </p:txBody>
      </p:sp>
      <p:sp>
        <p:nvSpPr>
          <p:cNvPr id="605" name="Google Shape;605;p57"/>
          <p:cNvSpPr txBox="1"/>
          <p:nvPr/>
        </p:nvSpPr>
        <p:spPr>
          <a:xfrm>
            <a:off x="554125" y="1463850"/>
            <a:ext cx="4768200" cy="3098100"/>
          </a:xfrm>
          <a:prstGeom prst="rect">
            <a:avLst/>
          </a:prstGeom>
          <a:noFill/>
          <a:ln>
            <a:noFill/>
          </a:ln>
        </p:spPr>
        <p:txBody>
          <a:bodyPr anchorCtr="0" anchor="t" bIns="45700" lIns="91425" spcFirstLastPara="1" rIns="91425" wrap="square" tIns="45700">
            <a:noAutofit/>
          </a:bodyPr>
          <a:lstStyle/>
          <a:p>
            <a:pPr indent="-311150" lvl="0" marL="457200" marR="0" rtl="0" algn="l">
              <a:lnSpc>
                <a:spcPct val="100000"/>
              </a:lnSpc>
              <a:spcBef>
                <a:spcPts val="0"/>
              </a:spcBef>
              <a:spcAft>
                <a:spcPts val="0"/>
              </a:spcAft>
              <a:buClr>
                <a:srgbClr val="393B3F"/>
              </a:buClr>
              <a:buSzPts val="1300"/>
              <a:buFont typeface="Verdana"/>
              <a:buAutoNum type="arabicParenR"/>
            </a:pPr>
            <a:r>
              <a:rPr b="1" i="0" lang="en" sz="1300" u="none" cap="none" strike="noStrike">
                <a:solidFill>
                  <a:srgbClr val="393B3F"/>
                </a:solidFill>
                <a:latin typeface="Verdana"/>
                <a:ea typeface="Verdana"/>
                <a:cs typeface="Verdana"/>
                <a:sym typeface="Verdana"/>
              </a:rPr>
              <a:t>POINT MUTATION</a:t>
            </a:r>
            <a:endParaRPr/>
          </a:p>
          <a:p>
            <a:pPr indent="0" lvl="0" marL="0" marR="0" rtl="0" algn="l">
              <a:lnSpc>
                <a:spcPct val="100000"/>
              </a:lnSpc>
              <a:spcBef>
                <a:spcPts val="1000"/>
              </a:spcBef>
              <a:spcAft>
                <a:spcPts val="0"/>
              </a:spcAft>
              <a:buClr>
                <a:srgbClr val="000000"/>
              </a:buClr>
              <a:buSzPts val="600"/>
              <a:buFont typeface="Arial"/>
              <a:buNone/>
            </a:pPr>
            <a:r>
              <a:t/>
            </a:r>
            <a:endParaRPr b="1" i="0" sz="600" u="none" cap="none" strike="noStrike">
              <a:solidFill>
                <a:srgbClr val="393B3F"/>
              </a:solidFill>
              <a:latin typeface="Verdana"/>
              <a:ea typeface="Verdana"/>
              <a:cs typeface="Verdana"/>
              <a:sym typeface="Verdana"/>
            </a:endParaRPr>
          </a:p>
          <a:p>
            <a:pPr indent="-311150" lvl="0" marL="914400" marR="0" rtl="0" algn="l">
              <a:lnSpc>
                <a:spcPct val="100000"/>
              </a:lnSpc>
              <a:spcBef>
                <a:spcPts val="0"/>
              </a:spcBef>
              <a:spcAft>
                <a:spcPts val="0"/>
              </a:spcAft>
              <a:buClr>
                <a:srgbClr val="393B3F"/>
              </a:buClr>
              <a:buSzPts val="1300"/>
              <a:buFont typeface="Verdana"/>
              <a:buChar char="●"/>
            </a:pPr>
            <a:r>
              <a:rPr b="0" i="0" lang="en" sz="1300" u="none" cap="none" strike="noStrike">
                <a:solidFill>
                  <a:srgbClr val="393B3F"/>
                </a:solidFill>
                <a:latin typeface="Verdana"/>
                <a:ea typeface="Verdana"/>
                <a:cs typeface="Verdana"/>
                <a:sym typeface="Verdana"/>
              </a:rPr>
              <a:t>Chemical change that affects just one nucleotide</a:t>
            </a:r>
            <a:endParaRPr/>
          </a:p>
          <a:p>
            <a:pPr indent="-311150" lvl="0" marL="914400" marR="0" rtl="0" algn="l">
              <a:lnSpc>
                <a:spcPct val="100000"/>
              </a:lnSpc>
              <a:spcBef>
                <a:spcPts val="1000"/>
              </a:spcBef>
              <a:spcAft>
                <a:spcPts val="0"/>
              </a:spcAft>
              <a:buClr>
                <a:srgbClr val="393B3F"/>
              </a:buClr>
              <a:buSzPts val="1300"/>
              <a:buFont typeface="Verdana"/>
              <a:buChar char="●"/>
            </a:pPr>
            <a:r>
              <a:rPr lang="en" sz="1300">
                <a:solidFill>
                  <a:srgbClr val="393B3F"/>
                </a:solidFill>
                <a:latin typeface="Verdana"/>
                <a:ea typeface="Verdana"/>
                <a:cs typeface="Verdana"/>
                <a:sym typeface="Verdana"/>
              </a:rPr>
              <a:t>This involves the substitution of one nucleotide for another (e.g. a “G” instead of an “A”)</a:t>
            </a:r>
            <a:endParaRPr/>
          </a:p>
          <a:p>
            <a:pPr indent="-311150" lvl="0" marL="914400" marR="0" rtl="0" algn="l">
              <a:lnSpc>
                <a:spcPct val="100000"/>
              </a:lnSpc>
              <a:spcBef>
                <a:spcPts val="1000"/>
              </a:spcBef>
              <a:spcAft>
                <a:spcPts val="0"/>
              </a:spcAft>
              <a:buClr>
                <a:srgbClr val="393B3F"/>
              </a:buClr>
              <a:buSzPts val="1300"/>
              <a:buFont typeface="Verdana"/>
              <a:buChar char="●"/>
            </a:pPr>
            <a:r>
              <a:rPr lang="en" sz="1300">
                <a:solidFill>
                  <a:srgbClr val="393B3F"/>
                </a:solidFill>
                <a:latin typeface="Verdana"/>
                <a:ea typeface="Verdana"/>
                <a:cs typeface="Verdana"/>
                <a:sym typeface="Verdana"/>
              </a:rPr>
              <a:t>Point mutations can be</a:t>
            </a:r>
            <a:endParaRPr sz="1300">
              <a:solidFill>
                <a:srgbClr val="393B3F"/>
              </a:solidFill>
              <a:latin typeface="Verdana"/>
              <a:ea typeface="Verdana"/>
              <a:cs typeface="Verdana"/>
              <a:sym typeface="Verdana"/>
            </a:endParaRPr>
          </a:p>
          <a:p>
            <a:pPr indent="-311150" lvl="2" marL="1371600" marR="0" rtl="0" algn="l">
              <a:lnSpc>
                <a:spcPct val="100000"/>
              </a:lnSpc>
              <a:spcBef>
                <a:spcPts val="1000"/>
              </a:spcBef>
              <a:spcAft>
                <a:spcPts val="0"/>
              </a:spcAft>
              <a:buClr>
                <a:srgbClr val="393B3F"/>
              </a:buClr>
              <a:buSzPts val="1300"/>
              <a:buFont typeface="Verdana"/>
              <a:buChar char="■"/>
            </a:pPr>
            <a:r>
              <a:rPr b="1" lang="en" sz="1300">
                <a:solidFill>
                  <a:srgbClr val="393B3F"/>
                </a:solidFill>
                <a:latin typeface="Verdana"/>
                <a:ea typeface="Verdana"/>
                <a:cs typeface="Verdana"/>
                <a:sym typeface="Verdana"/>
              </a:rPr>
              <a:t>s</a:t>
            </a:r>
            <a:r>
              <a:rPr b="1" lang="en" sz="1300">
                <a:solidFill>
                  <a:srgbClr val="393B3F"/>
                </a:solidFill>
                <a:latin typeface="Verdana"/>
                <a:ea typeface="Verdana"/>
                <a:cs typeface="Verdana"/>
                <a:sym typeface="Verdana"/>
              </a:rPr>
              <a:t>ilent:</a:t>
            </a:r>
            <a:r>
              <a:rPr lang="en" sz="1300">
                <a:solidFill>
                  <a:srgbClr val="393B3F"/>
                </a:solidFill>
                <a:latin typeface="Verdana"/>
                <a:ea typeface="Verdana"/>
                <a:cs typeface="Verdana"/>
                <a:sym typeface="Verdana"/>
              </a:rPr>
              <a:t> no change in AA</a:t>
            </a:r>
            <a:endParaRPr sz="1300">
              <a:solidFill>
                <a:srgbClr val="393B3F"/>
              </a:solidFill>
              <a:latin typeface="Verdana"/>
              <a:ea typeface="Verdana"/>
              <a:cs typeface="Verdana"/>
              <a:sym typeface="Verdana"/>
            </a:endParaRPr>
          </a:p>
          <a:p>
            <a:pPr indent="-311150" lvl="2" marL="1371600" marR="0" rtl="0" algn="l">
              <a:lnSpc>
                <a:spcPct val="100000"/>
              </a:lnSpc>
              <a:spcBef>
                <a:spcPts val="1000"/>
              </a:spcBef>
              <a:spcAft>
                <a:spcPts val="0"/>
              </a:spcAft>
              <a:buClr>
                <a:srgbClr val="393B3F"/>
              </a:buClr>
              <a:buSzPts val="1300"/>
              <a:buFont typeface="Verdana"/>
              <a:buChar char="■"/>
            </a:pPr>
            <a:r>
              <a:rPr b="1" lang="en" sz="1300">
                <a:solidFill>
                  <a:srgbClr val="393B3F"/>
                </a:solidFill>
                <a:latin typeface="Verdana"/>
                <a:ea typeface="Verdana"/>
                <a:cs typeface="Verdana"/>
                <a:sym typeface="Verdana"/>
              </a:rPr>
              <a:t>m</a:t>
            </a:r>
            <a:r>
              <a:rPr b="1" lang="en" sz="1300">
                <a:solidFill>
                  <a:srgbClr val="393B3F"/>
                </a:solidFill>
                <a:latin typeface="Verdana"/>
                <a:ea typeface="Verdana"/>
                <a:cs typeface="Verdana"/>
                <a:sym typeface="Verdana"/>
              </a:rPr>
              <a:t>issense</a:t>
            </a:r>
            <a:r>
              <a:rPr lang="en" sz="1300">
                <a:solidFill>
                  <a:srgbClr val="393B3F"/>
                </a:solidFill>
                <a:latin typeface="Verdana"/>
                <a:ea typeface="Verdana"/>
                <a:cs typeface="Verdana"/>
                <a:sym typeface="Verdana"/>
              </a:rPr>
              <a:t>: change to new AA</a:t>
            </a:r>
            <a:endParaRPr sz="1300">
              <a:solidFill>
                <a:srgbClr val="393B3F"/>
              </a:solidFill>
              <a:latin typeface="Verdana"/>
              <a:ea typeface="Verdana"/>
              <a:cs typeface="Verdana"/>
              <a:sym typeface="Verdana"/>
            </a:endParaRPr>
          </a:p>
          <a:p>
            <a:pPr indent="-311150" lvl="2" marL="1371600" marR="0" rtl="0" algn="l">
              <a:lnSpc>
                <a:spcPct val="100000"/>
              </a:lnSpc>
              <a:spcBef>
                <a:spcPts val="1000"/>
              </a:spcBef>
              <a:spcAft>
                <a:spcPts val="0"/>
              </a:spcAft>
              <a:buClr>
                <a:srgbClr val="393B3F"/>
              </a:buClr>
              <a:buSzPts val="1300"/>
              <a:buFont typeface="Verdana"/>
              <a:buChar char="■"/>
            </a:pPr>
            <a:r>
              <a:rPr b="1" lang="en" sz="1300">
                <a:solidFill>
                  <a:srgbClr val="393B3F"/>
                </a:solidFill>
                <a:latin typeface="Verdana"/>
                <a:ea typeface="Verdana"/>
                <a:cs typeface="Verdana"/>
                <a:sym typeface="Verdana"/>
              </a:rPr>
              <a:t>n</a:t>
            </a:r>
            <a:r>
              <a:rPr b="1" lang="en" sz="1300">
                <a:solidFill>
                  <a:srgbClr val="393B3F"/>
                </a:solidFill>
                <a:latin typeface="Verdana"/>
                <a:ea typeface="Verdana"/>
                <a:cs typeface="Verdana"/>
                <a:sym typeface="Verdana"/>
              </a:rPr>
              <a:t>onsense:</a:t>
            </a:r>
            <a:r>
              <a:rPr lang="en" sz="1300">
                <a:solidFill>
                  <a:srgbClr val="393B3F"/>
                </a:solidFill>
                <a:latin typeface="Verdana"/>
                <a:ea typeface="Verdana"/>
                <a:cs typeface="Verdana"/>
                <a:sym typeface="Verdana"/>
              </a:rPr>
              <a:t> change to stop codon</a:t>
            </a:r>
            <a:endParaRPr sz="13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1300"/>
              <a:buFont typeface="Arial"/>
              <a:buNone/>
            </a:pPr>
            <a:r>
              <a:t/>
            </a:r>
            <a:endParaRPr b="0" i="0" sz="1300" u="none" cap="none" strike="noStrike">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sp>
        <p:nvSpPr>
          <p:cNvPr id="606" name="Google Shape;606;p57"/>
          <p:cNvSpPr txBox="1"/>
          <p:nvPr/>
        </p:nvSpPr>
        <p:spPr>
          <a:xfrm>
            <a:off x="5580650" y="1566100"/>
            <a:ext cx="2476500" cy="254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UUA CCC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glu/leu/pro</a:t>
            </a: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UU</a:t>
            </a:r>
            <a:r>
              <a:rPr b="1" i="0" lang="en" sz="1800" u="none" cap="none" strike="noStrike">
                <a:solidFill>
                  <a:srgbClr val="9900FF"/>
                </a:solidFill>
                <a:latin typeface="Average"/>
                <a:ea typeface="Average"/>
                <a:cs typeface="Average"/>
                <a:sym typeface="Average"/>
              </a:rPr>
              <a:t>G</a:t>
            </a:r>
            <a:r>
              <a:rPr b="0" i="0" lang="en" sz="1800" u="none" cap="none" strike="noStrike">
                <a:solidFill>
                  <a:srgbClr val="000000"/>
                </a:solidFill>
                <a:latin typeface="Average"/>
                <a:ea typeface="Average"/>
                <a:cs typeface="Average"/>
                <a:sym typeface="Average"/>
              </a:rPr>
              <a:t> CCC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glu/leu/pro</a:t>
            </a:r>
            <a:endParaRPr/>
          </a:p>
        </p:txBody>
      </p:sp>
      <p:sp>
        <p:nvSpPr>
          <p:cNvPr id="607" name="Google Shape;607;p57"/>
          <p:cNvSpPr/>
          <p:nvPr/>
        </p:nvSpPr>
        <p:spPr>
          <a:xfrm>
            <a:off x="6718700" y="1997250"/>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57"/>
          <p:cNvSpPr/>
          <p:nvPr/>
        </p:nvSpPr>
        <p:spPr>
          <a:xfrm>
            <a:off x="6718700" y="3308325"/>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57"/>
          <p:cNvSpPr/>
          <p:nvPr/>
        </p:nvSpPr>
        <p:spPr>
          <a:xfrm>
            <a:off x="5610800" y="1566100"/>
            <a:ext cx="2416200" cy="2436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57"/>
          <p:cNvSpPr txBox="1"/>
          <p:nvPr/>
        </p:nvSpPr>
        <p:spPr>
          <a:xfrm>
            <a:off x="5472375" y="4014525"/>
            <a:ext cx="2757300" cy="49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9900FF"/>
              </a:buClr>
              <a:buSzPts val="1400"/>
              <a:buFont typeface="Average"/>
              <a:buNone/>
            </a:pPr>
            <a:r>
              <a:rPr b="0" i="1" lang="en" sz="1400" u="none" cap="none" strike="noStrike">
                <a:solidFill>
                  <a:srgbClr val="9900FF"/>
                </a:solidFill>
                <a:latin typeface="Average"/>
                <a:ea typeface="Average"/>
                <a:cs typeface="Average"/>
                <a:sym typeface="Average"/>
              </a:rPr>
              <a:t>Mutation changes “A” to “G” in second codon, but does not result in a different amino acid</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58"/>
          <p:cNvSpPr txBox="1"/>
          <p:nvPr/>
        </p:nvSpPr>
        <p:spPr>
          <a:xfrm>
            <a:off x="2967125" y="0"/>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800"/>
              <a:buFont typeface="Verdana"/>
              <a:buNone/>
            </a:pPr>
            <a:r>
              <a:rPr b="1" lang="en" sz="2800">
                <a:solidFill>
                  <a:srgbClr val="393B3F"/>
                </a:solidFill>
                <a:latin typeface="Verdana"/>
                <a:ea typeface="Verdana"/>
                <a:cs typeface="Verdana"/>
                <a:sym typeface="Verdana"/>
              </a:rPr>
              <a:t>Point Mutations</a:t>
            </a:r>
            <a:endParaRPr/>
          </a:p>
        </p:txBody>
      </p:sp>
      <p:sp>
        <p:nvSpPr>
          <p:cNvPr id="616" name="Google Shape;616;p58"/>
          <p:cNvSpPr txBox="1"/>
          <p:nvPr/>
        </p:nvSpPr>
        <p:spPr>
          <a:xfrm>
            <a:off x="520775" y="1298300"/>
            <a:ext cx="2476500" cy="254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UUA CCC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glu/leu/pro</a:t>
            </a: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UU</a:t>
            </a:r>
            <a:r>
              <a:rPr b="1" i="0" lang="en" sz="1800" u="none" cap="none" strike="noStrike">
                <a:solidFill>
                  <a:srgbClr val="9900FF"/>
                </a:solidFill>
                <a:latin typeface="Average"/>
                <a:ea typeface="Average"/>
                <a:cs typeface="Average"/>
                <a:sym typeface="Average"/>
              </a:rPr>
              <a:t>G</a:t>
            </a:r>
            <a:r>
              <a:rPr b="0" i="0" lang="en" sz="1800" u="none" cap="none" strike="noStrike">
                <a:solidFill>
                  <a:srgbClr val="000000"/>
                </a:solidFill>
                <a:latin typeface="Average"/>
                <a:ea typeface="Average"/>
                <a:cs typeface="Average"/>
                <a:sym typeface="Average"/>
              </a:rPr>
              <a:t> CCC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glu/leu/pro</a:t>
            </a:r>
            <a:endParaRPr/>
          </a:p>
        </p:txBody>
      </p:sp>
      <p:sp>
        <p:nvSpPr>
          <p:cNvPr id="617" name="Google Shape;617;p58"/>
          <p:cNvSpPr/>
          <p:nvPr/>
        </p:nvSpPr>
        <p:spPr>
          <a:xfrm>
            <a:off x="1658825" y="1729450"/>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8"/>
          <p:cNvSpPr/>
          <p:nvPr/>
        </p:nvSpPr>
        <p:spPr>
          <a:xfrm>
            <a:off x="1658825" y="3040525"/>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8"/>
          <p:cNvSpPr/>
          <p:nvPr/>
        </p:nvSpPr>
        <p:spPr>
          <a:xfrm>
            <a:off x="550925" y="1298300"/>
            <a:ext cx="2416200" cy="2436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8"/>
          <p:cNvSpPr txBox="1"/>
          <p:nvPr/>
        </p:nvSpPr>
        <p:spPr>
          <a:xfrm>
            <a:off x="412500" y="3746725"/>
            <a:ext cx="2757300" cy="49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9900FF"/>
              </a:buClr>
              <a:buSzPts val="1400"/>
              <a:buFont typeface="Average"/>
              <a:buNone/>
            </a:pPr>
            <a:r>
              <a:rPr b="0" i="1" lang="en" sz="1300" u="none" cap="none" strike="noStrike">
                <a:solidFill>
                  <a:srgbClr val="9900FF"/>
                </a:solidFill>
                <a:latin typeface="Average"/>
                <a:ea typeface="Average"/>
                <a:cs typeface="Average"/>
                <a:sym typeface="Average"/>
              </a:rPr>
              <a:t>Mutation changes “A” to “G” in second codon, but does not result in a different amino acid. </a:t>
            </a:r>
            <a:r>
              <a:rPr i="1" lang="en" sz="1300">
                <a:solidFill>
                  <a:srgbClr val="9900FF"/>
                </a:solidFill>
                <a:latin typeface="Average"/>
                <a:ea typeface="Average"/>
                <a:cs typeface="Average"/>
                <a:sym typeface="Average"/>
              </a:rPr>
              <a:t>Correct protein is made.</a:t>
            </a:r>
            <a:endParaRPr sz="1300"/>
          </a:p>
        </p:txBody>
      </p:sp>
      <p:sp>
        <p:nvSpPr>
          <p:cNvPr id="621" name="Google Shape;621;p58"/>
          <p:cNvSpPr txBox="1"/>
          <p:nvPr/>
        </p:nvSpPr>
        <p:spPr>
          <a:xfrm>
            <a:off x="3388125" y="1298300"/>
            <a:ext cx="2476500" cy="254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UUA CCC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glu/leu/pro</a:t>
            </a: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U</a:t>
            </a:r>
            <a:r>
              <a:rPr b="1" lang="en" sz="1800">
                <a:solidFill>
                  <a:srgbClr val="9900FF"/>
                </a:solidFill>
                <a:latin typeface="Average"/>
                <a:ea typeface="Average"/>
                <a:cs typeface="Average"/>
                <a:sym typeface="Average"/>
              </a:rPr>
              <a:t>C</a:t>
            </a:r>
            <a:r>
              <a:rPr lang="en" sz="1800">
                <a:latin typeface="Average"/>
                <a:ea typeface="Average"/>
                <a:cs typeface="Average"/>
                <a:sym typeface="Average"/>
              </a:rPr>
              <a:t>A</a:t>
            </a:r>
            <a:r>
              <a:rPr b="0" i="0" lang="en" sz="1800" u="none" cap="none" strike="noStrike">
                <a:solidFill>
                  <a:srgbClr val="000000"/>
                </a:solidFill>
                <a:latin typeface="Average"/>
                <a:ea typeface="Average"/>
                <a:cs typeface="Average"/>
                <a:sym typeface="Average"/>
              </a:rPr>
              <a:t> CCC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a:t>
            </a:r>
            <a:r>
              <a:rPr lang="en">
                <a:latin typeface="Average"/>
                <a:ea typeface="Average"/>
                <a:cs typeface="Average"/>
                <a:sym typeface="Average"/>
              </a:rPr>
              <a:t>ser</a:t>
            </a:r>
            <a:r>
              <a:rPr b="0" i="0" lang="en" sz="1400" u="none" cap="none" strike="noStrike">
                <a:solidFill>
                  <a:srgbClr val="000000"/>
                </a:solidFill>
                <a:latin typeface="Average"/>
                <a:ea typeface="Average"/>
                <a:cs typeface="Average"/>
                <a:sym typeface="Average"/>
              </a:rPr>
              <a:t>/pro</a:t>
            </a:r>
            <a:endParaRPr/>
          </a:p>
        </p:txBody>
      </p:sp>
      <p:sp>
        <p:nvSpPr>
          <p:cNvPr id="622" name="Google Shape;622;p58"/>
          <p:cNvSpPr/>
          <p:nvPr/>
        </p:nvSpPr>
        <p:spPr>
          <a:xfrm>
            <a:off x="4526175" y="1729450"/>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8"/>
          <p:cNvSpPr/>
          <p:nvPr/>
        </p:nvSpPr>
        <p:spPr>
          <a:xfrm>
            <a:off x="4526175" y="3040525"/>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8"/>
          <p:cNvSpPr txBox="1"/>
          <p:nvPr/>
        </p:nvSpPr>
        <p:spPr>
          <a:xfrm>
            <a:off x="3169800" y="3746725"/>
            <a:ext cx="2867400" cy="49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9900FF"/>
              </a:buClr>
              <a:buSzPts val="1400"/>
              <a:buFont typeface="Average"/>
              <a:buNone/>
            </a:pPr>
            <a:r>
              <a:rPr b="0" i="1" lang="en" sz="1300" u="none" cap="none" strike="noStrike">
                <a:solidFill>
                  <a:srgbClr val="9900FF"/>
                </a:solidFill>
                <a:latin typeface="Average"/>
                <a:ea typeface="Average"/>
                <a:cs typeface="Average"/>
                <a:sym typeface="Average"/>
              </a:rPr>
              <a:t>Mutation changes “</a:t>
            </a:r>
            <a:r>
              <a:rPr i="1" lang="en" sz="1300">
                <a:solidFill>
                  <a:srgbClr val="9900FF"/>
                </a:solidFill>
                <a:latin typeface="Average"/>
                <a:ea typeface="Average"/>
                <a:cs typeface="Average"/>
                <a:sym typeface="Average"/>
              </a:rPr>
              <a:t>U</a:t>
            </a:r>
            <a:r>
              <a:rPr b="0" i="1" lang="en" sz="1300" u="none" cap="none" strike="noStrike">
                <a:solidFill>
                  <a:srgbClr val="9900FF"/>
                </a:solidFill>
                <a:latin typeface="Average"/>
                <a:ea typeface="Average"/>
                <a:cs typeface="Average"/>
                <a:sym typeface="Average"/>
              </a:rPr>
              <a:t> to “</a:t>
            </a:r>
            <a:r>
              <a:rPr i="1" lang="en" sz="1300">
                <a:solidFill>
                  <a:srgbClr val="9900FF"/>
                </a:solidFill>
                <a:latin typeface="Average"/>
                <a:ea typeface="Average"/>
                <a:cs typeface="Average"/>
                <a:sym typeface="Average"/>
              </a:rPr>
              <a:t>C”</a:t>
            </a:r>
            <a:r>
              <a:rPr b="0" i="1" lang="en" sz="1300" u="none" cap="none" strike="noStrike">
                <a:solidFill>
                  <a:srgbClr val="9900FF"/>
                </a:solidFill>
                <a:latin typeface="Average"/>
                <a:ea typeface="Average"/>
                <a:cs typeface="Average"/>
                <a:sym typeface="Average"/>
              </a:rPr>
              <a:t> in second codon, </a:t>
            </a:r>
            <a:r>
              <a:rPr i="1" lang="en" sz="1300">
                <a:solidFill>
                  <a:srgbClr val="9900FF"/>
                </a:solidFill>
                <a:latin typeface="Average"/>
                <a:ea typeface="Average"/>
                <a:cs typeface="Average"/>
                <a:sym typeface="Average"/>
              </a:rPr>
              <a:t>which results in different AA. This can have varying impacts, depending on how similar the AAs are and where in the protein it is. </a:t>
            </a:r>
            <a:endParaRPr sz="1300"/>
          </a:p>
        </p:txBody>
      </p:sp>
      <p:sp>
        <p:nvSpPr>
          <p:cNvPr id="625" name="Google Shape;625;p58"/>
          <p:cNvSpPr/>
          <p:nvPr/>
        </p:nvSpPr>
        <p:spPr>
          <a:xfrm>
            <a:off x="3317000" y="1298300"/>
            <a:ext cx="2416200" cy="2436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8"/>
          <p:cNvSpPr txBox="1"/>
          <p:nvPr/>
        </p:nvSpPr>
        <p:spPr>
          <a:xfrm>
            <a:off x="5972900" y="1298300"/>
            <a:ext cx="2476500" cy="254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U</a:t>
            </a:r>
            <a:r>
              <a:rPr b="0" i="0" lang="en" sz="1800" u="none" cap="none" strike="noStrike">
                <a:solidFill>
                  <a:srgbClr val="000000"/>
                </a:solidFill>
                <a:latin typeface="Average"/>
                <a:ea typeface="Average"/>
                <a:cs typeface="Average"/>
                <a:sym typeface="Average"/>
              </a:rPr>
              <a:t>U</a:t>
            </a:r>
            <a:r>
              <a:rPr b="0" i="0" lang="en" sz="1800" u="none" cap="none" strike="noStrike">
                <a:solidFill>
                  <a:srgbClr val="000000"/>
                </a:solidFill>
                <a:latin typeface="Average"/>
                <a:ea typeface="Average"/>
                <a:cs typeface="Average"/>
                <a:sym typeface="Average"/>
              </a:rPr>
              <a:t>A CCC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glu/leu/pro</a:t>
            </a: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U</a:t>
            </a:r>
            <a:r>
              <a:rPr b="1" lang="en" sz="1800">
                <a:solidFill>
                  <a:srgbClr val="9900FF"/>
                </a:solidFill>
                <a:latin typeface="Average"/>
                <a:ea typeface="Average"/>
                <a:cs typeface="Average"/>
                <a:sym typeface="Average"/>
              </a:rPr>
              <a:t>A</a:t>
            </a:r>
            <a:r>
              <a:rPr lang="en" sz="1800">
                <a:latin typeface="Average"/>
                <a:ea typeface="Average"/>
                <a:cs typeface="Average"/>
                <a:sym typeface="Average"/>
              </a:rPr>
              <a:t>A</a:t>
            </a:r>
            <a:r>
              <a:rPr b="0" i="0" lang="en" sz="1800" u="none" cap="none" strike="noStrike">
                <a:solidFill>
                  <a:srgbClr val="000000"/>
                </a:solidFill>
                <a:latin typeface="Average"/>
                <a:ea typeface="Average"/>
                <a:cs typeface="Average"/>
                <a:sym typeface="Average"/>
              </a:rPr>
              <a:t> CCC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a:t>
            </a:r>
            <a:r>
              <a:rPr lang="en">
                <a:latin typeface="Average"/>
                <a:ea typeface="Average"/>
                <a:cs typeface="Average"/>
                <a:sym typeface="Average"/>
              </a:rPr>
              <a:t>STOP</a:t>
            </a:r>
            <a:endParaRPr/>
          </a:p>
        </p:txBody>
      </p:sp>
      <p:sp>
        <p:nvSpPr>
          <p:cNvPr id="627" name="Google Shape;627;p58"/>
          <p:cNvSpPr/>
          <p:nvPr/>
        </p:nvSpPr>
        <p:spPr>
          <a:xfrm>
            <a:off x="7110950" y="1729450"/>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8"/>
          <p:cNvSpPr/>
          <p:nvPr/>
        </p:nvSpPr>
        <p:spPr>
          <a:xfrm>
            <a:off x="7110950" y="3040525"/>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8"/>
          <p:cNvSpPr txBox="1"/>
          <p:nvPr/>
        </p:nvSpPr>
        <p:spPr>
          <a:xfrm>
            <a:off x="5864625" y="3746725"/>
            <a:ext cx="2757300" cy="49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9900FF"/>
              </a:buClr>
              <a:buSzPts val="1400"/>
              <a:buFont typeface="Average"/>
              <a:buNone/>
            </a:pPr>
            <a:r>
              <a:rPr b="0" i="1" lang="en" sz="1300" u="none" cap="none" strike="noStrike">
                <a:solidFill>
                  <a:srgbClr val="9900FF"/>
                </a:solidFill>
                <a:latin typeface="Average"/>
                <a:ea typeface="Average"/>
                <a:cs typeface="Average"/>
                <a:sym typeface="Average"/>
              </a:rPr>
              <a:t>Mutation changes “</a:t>
            </a:r>
            <a:r>
              <a:rPr i="1" lang="en" sz="1300">
                <a:solidFill>
                  <a:srgbClr val="9900FF"/>
                </a:solidFill>
                <a:latin typeface="Average"/>
                <a:ea typeface="Average"/>
                <a:cs typeface="Average"/>
                <a:sym typeface="Average"/>
              </a:rPr>
              <a:t>U</a:t>
            </a:r>
            <a:r>
              <a:rPr b="0" i="1" lang="en" sz="1300" u="none" cap="none" strike="noStrike">
                <a:solidFill>
                  <a:srgbClr val="9900FF"/>
                </a:solidFill>
                <a:latin typeface="Average"/>
                <a:ea typeface="Average"/>
                <a:cs typeface="Average"/>
                <a:sym typeface="Average"/>
              </a:rPr>
              <a:t> to “</a:t>
            </a:r>
            <a:r>
              <a:rPr i="1" lang="en" sz="1300">
                <a:solidFill>
                  <a:srgbClr val="9900FF"/>
                </a:solidFill>
                <a:latin typeface="Average"/>
                <a:ea typeface="Average"/>
                <a:cs typeface="Average"/>
                <a:sym typeface="Average"/>
              </a:rPr>
              <a:t>A</a:t>
            </a:r>
            <a:r>
              <a:rPr i="1" lang="en" sz="1300">
                <a:solidFill>
                  <a:srgbClr val="9900FF"/>
                </a:solidFill>
                <a:latin typeface="Average"/>
                <a:ea typeface="Average"/>
                <a:cs typeface="Average"/>
                <a:sym typeface="Average"/>
              </a:rPr>
              <a:t>”</a:t>
            </a:r>
            <a:r>
              <a:rPr b="0" i="1" lang="en" sz="1300" u="none" cap="none" strike="noStrike">
                <a:solidFill>
                  <a:srgbClr val="9900FF"/>
                </a:solidFill>
                <a:latin typeface="Average"/>
                <a:ea typeface="Average"/>
                <a:cs typeface="Average"/>
                <a:sym typeface="Average"/>
              </a:rPr>
              <a:t> in second codon, </a:t>
            </a:r>
            <a:r>
              <a:rPr i="1" lang="en" sz="1300">
                <a:solidFill>
                  <a:srgbClr val="9900FF"/>
                </a:solidFill>
                <a:latin typeface="Average"/>
                <a:ea typeface="Average"/>
                <a:cs typeface="Average"/>
                <a:sym typeface="Average"/>
              </a:rPr>
              <a:t>which results in a STOP codon. This means that no functional protein is made</a:t>
            </a:r>
            <a:endParaRPr sz="1300"/>
          </a:p>
        </p:txBody>
      </p:sp>
      <p:sp>
        <p:nvSpPr>
          <p:cNvPr id="630" name="Google Shape;630;p58"/>
          <p:cNvSpPr/>
          <p:nvPr/>
        </p:nvSpPr>
        <p:spPr>
          <a:xfrm>
            <a:off x="6052925" y="1298300"/>
            <a:ext cx="2416200" cy="2436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58"/>
          <p:cNvSpPr txBox="1"/>
          <p:nvPr/>
        </p:nvSpPr>
        <p:spPr>
          <a:xfrm>
            <a:off x="1039725" y="695750"/>
            <a:ext cx="2348400" cy="2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9900FF"/>
                </a:solidFill>
                <a:latin typeface="Verdana"/>
                <a:ea typeface="Verdana"/>
                <a:cs typeface="Verdana"/>
                <a:sym typeface="Verdana"/>
              </a:rPr>
              <a:t>Silent</a:t>
            </a:r>
            <a:endParaRPr sz="2400">
              <a:solidFill>
                <a:srgbClr val="9900FF"/>
              </a:solidFill>
              <a:latin typeface="Verdana"/>
              <a:ea typeface="Verdana"/>
              <a:cs typeface="Verdana"/>
              <a:sym typeface="Verdana"/>
            </a:endParaRPr>
          </a:p>
        </p:txBody>
      </p:sp>
      <p:sp>
        <p:nvSpPr>
          <p:cNvPr id="632" name="Google Shape;632;p58"/>
          <p:cNvSpPr txBox="1"/>
          <p:nvPr/>
        </p:nvSpPr>
        <p:spPr>
          <a:xfrm>
            <a:off x="3713150" y="695750"/>
            <a:ext cx="1623900" cy="2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9900FF"/>
                </a:solidFill>
                <a:latin typeface="Verdana"/>
                <a:ea typeface="Verdana"/>
                <a:cs typeface="Verdana"/>
                <a:sym typeface="Verdana"/>
              </a:rPr>
              <a:t>Missense</a:t>
            </a:r>
            <a:endParaRPr sz="2400">
              <a:solidFill>
                <a:srgbClr val="9900FF"/>
              </a:solidFill>
              <a:latin typeface="Verdana"/>
              <a:ea typeface="Verdana"/>
              <a:cs typeface="Verdana"/>
              <a:sym typeface="Verdana"/>
            </a:endParaRPr>
          </a:p>
        </p:txBody>
      </p:sp>
      <p:sp>
        <p:nvSpPr>
          <p:cNvPr id="633" name="Google Shape;633;p58"/>
          <p:cNvSpPr txBox="1"/>
          <p:nvPr/>
        </p:nvSpPr>
        <p:spPr>
          <a:xfrm>
            <a:off x="6399200" y="695750"/>
            <a:ext cx="17403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9900FF"/>
                </a:solidFill>
                <a:latin typeface="Verdana"/>
                <a:ea typeface="Verdana"/>
                <a:cs typeface="Verdana"/>
                <a:sym typeface="Verdana"/>
              </a:rPr>
              <a:t>Nonsense</a:t>
            </a:r>
            <a:endParaRPr sz="2400">
              <a:solidFill>
                <a:srgbClr val="9900FF"/>
              </a:solidFill>
              <a:latin typeface="Verdana"/>
              <a:ea typeface="Verdana"/>
              <a:cs typeface="Verdana"/>
              <a:sym typeface="Verdana"/>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9"/>
          <p:cNvSpPr txBox="1"/>
          <p:nvPr/>
        </p:nvSpPr>
        <p:spPr>
          <a:xfrm>
            <a:off x="5199650" y="1515975"/>
            <a:ext cx="2476500" cy="330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UUA CCC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glu/leu/pro</a:t>
            </a: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a:t>
            </a:r>
            <a:r>
              <a:rPr b="1" i="0" lang="en" sz="1800" u="none" cap="none" strike="noStrike">
                <a:solidFill>
                  <a:srgbClr val="9900FF"/>
                </a:solidFill>
                <a:latin typeface="Average"/>
                <a:ea typeface="Average"/>
                <a:cs typeface="Average"/>
                <a:sym typeface="Average"/>
              </a:rPr>
              <a:t>G</a:t>
            </a:r>
            <a:r>
              <a:rPr b="0" i="0" lang="en" sz="1800" u="none" cap="none" strike="noStrike">
                <a:solidFill>
                  <a:srgbClr val="000000"/>
                </a:solidFill>
                <a:latin typeface="Average"/>
                <a:ea typeface="Average"/>
                <a:cs typeface="Average"/>
                <a:sym typeface="Average"/>
              </a:rPr>
              <a:t>G UUA CCC</a:t>
            </a:r>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800"/>
              <a:buFont typeface="Average"/>
              <a:buNone/>
            </a:pPr>
            <a:r>
              <a:rPr b="0" i="0" lang="en" sz="1800" u="none" cap="none" strike="noStrike">
                <a:solidFill>
                  <a:srgbClr val="000000"/>
                </a:solidFill>
                <a:latin typeface="Average"/>
                <a:ea typeface="Average"/>
                <a:cs typeface="Average"/>
                <a:sym typeface="Average"/>
              </a:rPr>
              <a:t>CAG GUU ACC C</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glu/val/thr</a:t>
            </a:r>
            <a:endParaRPr/>
          </a:p>
        </p:txBody>
      </p:sp>
      <p:sp>
        <p:nvSpPr>
          <p:cNvPr id="639" name="Google Shape;639;p59"/>
          <p:cNvSpPr/>
          <p:nvPr/>
        </p:nvSpPr>
        <p:spPr>
          <a:xfrm>
            <a:off x="5199650" y="1455825"/>
            <a:ext cx="2416200" cy="311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9"/>
          <p:cNvSpPr txBox="1"/>
          <p:nvPr/>
        </p:nvSpPr>
        <p:spPr>
          <a:xfrm>
            <a:off x="766600" y="1997250"/>
            <a:ext cx="3589500" cy="191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hlink"/>
              </a:buClr>
              <a:buSzPts val="1300"/>
              <a:buFont typeface="Verdana"/>
              <a:buNone/>
            </a:pPr>
            <a:r>
              <a:rPr b="1" i="0" lang="en" sz="1300" u="none" cap="none" strike="noStrike">
                <a:solidFill>
                  <a:schemeClr val="hlink"/>
                </a:solidFill>
                <a:latin typeface="Verdana"/>
                <a:ea typeface="Verdana"/>
                <a:cs typeface="Verdana"/>
                <a:sym typeface="Verdana"/>
              </a:rPr>
              <a:t>2)   FRAMESHIFT MUTATION</a:t>
            </a:r>
            <a:endParaRPr/>
          </a:p>
          <a:p>
            <a:pPr indent="0" lvl="0" marL="0" marR="0" rtl="0" algn="l">
              <a:lnSpc>
                <a:spcPct val="100000"/>
              </a:lnSpc>
              <a:spcBef>
                <a:spcPts val="1000"/>
              </a:spcBef>
              <a:spcAft>
                <a:spcPts val="0"/>
              </a:spcAft>
              <a:buClr>
                <a:srgbClr val="000000"/>
              </a:buClr>
              <a:buSzPts val="600"/>
              <a:buFont typeface="Arial"/>
              <a:buNone/>
            </a:pPr>
            <a:r>
              <a:t/>
            </a:r>
            <a:endParaRPr b="1" i="0" sz="600" u="none" cap="none" strike="noStrike">
              <a:solidFill>
                <a:schemeClr val="hlink"/>
              </a:solidFill>
              <a:latin typeface="Verdana"/>
              <a:ea typeface="Verdana"/>
              <a:cs typeface="Verdana"/>
              <a:sym typeface="Verdana"/>
            </a:endParaRPr>
          </a:p>
          <a:p>
            <a:pPr indent="-311150" lvl="0" marL="914400" marR="0" rtl="0" algn="l">
              <a:lnSpc>
                <a:spcPct val="100000"/>
              </a:lnSpc>
              <a:spcBef>
                <a:spcPts val="0"/>
              </a:spcBef>
              <a:spcAft>
                <a:spcPts val="0"/>
              </a:spcAft>
              <a:buClr>
                <a:schemeClr val="hlink"/>
              </a:buClr>
              <a:buSzPts val="1300"/>
              <a:buFont typeface="Verdana"/>
              <a:buChar char="●"/>
            </a:pPr>
            <a:r>
              <a:rPr b="0" i="0" lang="en" sz="1300" u="none" cap="none" strike="noStrike">
                <a:solidFill>
                  <a:schemeClr val="hlink"/>
                </a:solidFill>
                <a:latin typeface="Verdana"/>
                <a:ea typeface="Verdana"/>
                <a:cs typeface="Verdana"/>
                <a:sym typeface="Verdana"/>
              </a:rPr>
              <a:t>An </a:t>
            </a:r>
            <a:r>
              <a:rPr b="1" i="0" lang="en" sz="1300" u="none" cap="none" strike="noStrike">
                <a:solidFill>
                  <a:schemeClr val="hlink"/>
                </a:solidFill>
                <a:latin typeface="Verdana"/>
                <a:ea typeface="Verdana"/>
                <a:cs typeface="Verdana"/>
                <a:sym typeface="Verdana"/>
              </a:rPr>
              <a:t>insertion</a:t>
            </a:r>
            <a:r>
              <a:rPr b="0" i="0" lang="en" sz="1300" u="none" cap="none" strike="noStrike">
                <a:solidFill>
                  <a:schemeClr val="hlink"/>
                </a:solidFill>
                <a:latin typeface="Verdana"/>
                <a:ea typeface="Verdana"/>
                <a:cs typeface="Verdana"/>
                <a:sym typeface="Verdana"/>
              </a:rPr>
              <a:t> or </a:t>
            </a:r>
            <a:r>
              <a:rPr b="1" i="0" lang="en" sz="1300" u="none" cap="none" strike="noStrike">
                <a:solidFill>
                  <a:schemeClr val="hlink"/>
                </a:solidFill>
                <a:latin typeface="Verdana"/>
                <a:ea typeface="Verdana"/>
                <a:cs typeface="Verdana"/>
                <a:sym typeface="Verdana"/>
              </a:rPr>
              <a:t>deletion</a:t>
            </a:r>
            <a:r>
              <a:rPr b="0" i="0" lang="en" sz="1300" u="none" cap="none" strike="noStrike">
                <a:solidFill>
                  <a:schemeClr val="hlink"/>
                </a:solidFill>
                <a:latin typeface="Verdana"/>
                <a:ea typeface="Verdana"/>
                <a:cs typeface="Verdana"/>
                <a:sym typeface="Verdana"/>
              </a:rPr>
              <a:t> of a nucl</a:t>
            </a:r>
            <a:r>
              <a:rPr lang="en" sz="1300">
                <a:solidFill>
                  <a:schemeClr val="hlink"/>
                </a:solidFill>
                <a:latin typeface="Verdana"/>
                <a:ea typeface="Verdana"/>
                <a:cs typeface="Verdana"/>
                <a:sym typeface="Verdana"/>
              </a:rPr>
              <a:t>eotide </a:t>
            </a:r>
            <a:r>
              <a:rPr b="0" i="0" lang="en" sz="1300" u="none" cap="none" strike="noStrike">
                <a:solidFill>
                  <a:schemeClr val="hlink"/>
                </a:solidFill>
                <a:latin typeface="Verdana"/>
                <a:ea typeface="Verdana"/>
                <a:cs typeface="Verdana"/>
                <a:sym typeface="Verdana"/>
              </a:rPr>
              <a:t>that causes the </a:t>
            </a:r>
            <a:r>
              <a:rPr b="1" i="0" lang="en" sz="1300" u="none" cap="none" strike="noStrike">
                <a:solidFill>
                  <a:schemeClr val="hlink"/>
                </a:solidFill>
                <a:latin typeface="Verdana"/>
                <a:ea typeface="Verdana"/>
                <a:cs typeface="Verdana"/>
                <a:sym typeface="Verdana"/>
              </a:rPr>
              <a:t>entire reading frame of the gene to be altered</a:t>
            </a:r>
            <a:endParaRPr b="1"/>
          </a:p>
          <a:p>
            <a:pPr indent="-311150" lvl="0" marL="914400" marR="0" rtl="0" algn="l">
              <a:lnSpc>
                <a:spcPct val="100000"/>
              </a:lnSpc>
              <a:spcBef>
                <a:spcPts val="1000"/>
              </a:spcBef>
              <a:spcAft>
                <a:spcPts val="0"/>
              </a:spcAft>
              <a:buClr>
                <a:schemeClr val="hlink"/>
              </a:buClr>
              <a:buSzPts val="1300"/>
              <a:buFont typeface="Verdana"/>
              <a:buChar char="●"/>
            </a:pPr>
            <a:r>
              <a:rPr b="0" i="0" lang="en" sz="1300" u="none" cap="none" strike="noStrike">
                <a:solidFill>
                  <a:schemeClr val="hlink"/>
                </a:solidFill>
                <a:latin typeface="Verdana"/>
                <a:ea typeface="Verdana"/>
                <a:cs typeface="Verdana"/>
                <a:sym typeface="Verdana"/>
              </a:rPr>
              <a:t>Typically has more severe consequences, as it changes the protein entirely (not just a single amino acid)</a:t>
            </a:r>
            <a:endParaRPr b="0" i="0" sz="1300" u="none" cap="none" strike="noStrike">
              <a:solidFill>
                <a:schemeClr val="hlink"/>
              </a:solidFill>
              <a:latin typeface="Verdana"/>
              <a:ea typeface="Verdana"/>
              <a:cs typeface="Verdana"/>
              <a:sym typeface="Verdana"/>
            </a:endParaRPr>
          </a:p>
          <a:p>
            <a:pPr indent="0" lvl="0" marL="914400" marR="0" rtl="0" algn="l">
              <a:lnSpc>
                <a:spcPct val="100000"/>
              </a:lnSpc>
              <a:spcBef>
                <a:spcPts val="1000"/>
              </a:spcBef>
              <a:spcAft>
                <a:spcPts val="0"/>
              </a:spcAft>
              <a:buNone/>
            </a:pPr>
            <a:r>
              <a:t/>
            </a:r>
            <a:endParaRPr sz="1300">
              <a:solidFill>
                <a:schemeClr val="hlink"/>
              </a:solidFill>
              <a:latin typeface="Verdana"/>
              <a:ea typeface="Verdana"/>
              <a:cs typeface="Verdana"/>
              <a:sym typeface="Verdana"/>
            </a:endParaRPr>
          </a:p>
        </p:txBody>
      </p:sp>
      <p:sp>
        <p:nvSpPr>
          <p:cNvPr id="641" name="Google Shape;641;p59"/>
          <p:cNvSpPr txBox="1"/>
          <p:nvPr/>
        </p:nvSpPr>
        <p:spPr>
          <a:xfrm>
            <a:off x="784650" y="680175"/>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800"/>
              <a:buFont typeface="Verdana"/>
              <a:buNone/>
            </a:pPr>
            <a:r>
              <a:rPr b="1" lang="en" sz="2800">
                <a:solidFill>
                  <a:srgbClr val="393B3F"/>
                </a:solidFill>
                <a:latin typeface="Verdana"/>
                <a:ea typeface="Verdana"/>
                <a:cs typeface="Verdana"/>
                <a:sym typeface="Verdana"/>
              </a:rPr>
              <a:t>Causes</a:t>
            </a:r>
            <a:r>
              <a:rPr b="1" i="0" lang="en" sz="2800" u="none" cap="none" strike="noStrike">
                <a:solidFill>
                  <a:srgbClr val="393B3F"/>
                </a:solidFill>
                <a:latin typeface="Verdana"/>
                <a:ea typeface="Verdana"/>
                <a:cs typeface="Verdana"/>
                <a:sym typeface="Verdana"/>
              </a:rPr>
              <a:t> of Mutations</a:t>
            </a:r>
            <a:endParaRPr/>
          </a:p>
        </p:txBody>
      </p:sp>
      <p:sp>
        <p:nvSpPr>
          <p:cNvPr id="642" name="Google Shape;642;p59"/>
          <p:cNvSpPr/>
          <p:nvPr/>
        </p:nvSpPr>
        <p:spPr>
          <a:xfrm>
            <a:off x="6337700" y="1947125"/>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9"/>
          <p:cNvSpPr/>
          <p:nvPr/>
        </p:nvSpPr>
        <p:spPr>
          <a:xfrm>
            <a:off x="6337700" y="3258200"/>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9"/>
          <p:cNvSpPr/>
          <p:nvPr/>
        </p:nvSpPr>
        <p:spPr>
          <a:xfrm>
            <a:off x="6337700" y="3892125"/>
            <a:ext cx="200400" cy="260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0"/>
          <p:cNvSpPr txBox="1"/>
          <p:nvPr/>
        </p:nvSpPr>
        <p:spPr>
          <a:xfrm>
            <a:off x="784650" y="756375"/>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800"/>
              <a:buFont typeface="Verdana"/>
              <a:buNone/>
            </a:pPr>
            <a:r>
              <a:rPr b="1" lang="en" sz="2800" u="sng">
                <a:solidFill>
                  <a:srgbClr val="393B3F"/>
                </a:solidFill>
                <a:latin typeface="Verdana"/>
                <a:ea typeface="Verdana"/>
                <a:cs typeface="Verdana"/>
                <a:sym typeface="Verdana"/>
              </a:rPr>
              <a:t>Practice</a:t>
            </a:r>
            <a:endParaRPr u="sng"/>
          </a:p>
        </p:txBody>
      </p:sp>
      <p:sp>
        <p:nvSpPr>
          <p:cNvPr id="650" name="Google Shape;650;p60"/>
          <p:cNvSpPr txBox="1"/>
          <p:nvPr/>
        </p:nvSpPr>
        <p:spPr>
          <a:xfrm>
            <a:off x="510225" y="1647225"/>
            <a:ext cx="7477500" cy="19560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0"/>
              </a:spcBef>
              <a:spcAft>
                <a:spcPts val="0"/>
              </a:spcAft>
              <a:buClr>
                <a:schemeClr val="dk1"/>
              </a:buClr>
              <a:buSzPts val="1100"/>
              <a:buFont typeface="Arial"/>
              <a:buNone/>
            </a:pPr>
            <a:r>
              <a:t/>
            </a:r>
            <a:endParaRPr sz="1200">
              <a:solidFill>
                <a:schemeClr val="dk1"/>
              </a:solidFill>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Verdana"/>
              <a:ea typeface="Verdana"/>
              <a:cs typeface="Verdana"/>
              <a:sym typeface="Verdana"/>
            </a:endParaRPr>
          </a:p>
          <a:p>
            <a:pPr indent="-304800" lvl="0" marL="285750" rtl="0" algn="l">
              <a:lnSpc>
                <a:spcPct val="115000"/>
              </a:lnSpc>
              <a:spcBef>
                <a:spcPts val="0"/>
              </a:spcBef>
              <a:spcAft>
                <a:spcPts val="0"/>
              </a:spcAft>
              <a:buClr>
                <a:schemeClr val="dk1"/>
              </a:buClr>
              <a:buSzPts val="1200"/>
              <a:buFont typeface="Verdana"/>
              <a:buAutoNum type="alphaLcPeriod"/>
            </a:pPr>
            <a:r>
              <a:rPr lang="en" sz="1200">
                <a:solidFill>
                  <a:schemeClr val="dk1"/>
                </a:solidFill>
                <a:latin typeface="Verdana"/>
                <a:ea typeface="Verdana"/>
                <a:cs typeface="Verdana"/>
                <a:sym typeface="Verdana"/>
              </a:rPr>
              <a:t>Original strand:  AUG   UUU   UUG   CCU   UAU   CAU   CGU</a:t>
            </a:r>
            <a:endParaRPr sz="1200">
              <a:solidFill>
                <a:schemeClr val="dk1"/>
              </a:solidFill>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Verdana"/>
                <a:ea typeface="Verdana"/>
                <a:cs typeface="Verdana"/>
                <a:sym typeface="Verdana"/>
              </a:rPr>
              <a:t>     Mutated strand:  AUG   UUU   UUG   CCU   UAC   CAU   CGU</a:t>
            </a:r>
            <a:endParaRPr sz="1200">
              <a:solidFill>
                <a:schemeClr val="dk1"/>
              </a:solidFill>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Verdana"/>
              <a:ea typeface="Verdana"/>
              <a:cs typeface="Verdana"/>
              <a:sym typeface="Verdana"/>
            </a:endParaRPr>
          </a:p>
          <a:p>
            <a:pPr indent="-304800" lvl="0" marL="285750" rtl="0" algn="l">
              <a:lnSpc>
                <a:spcPct val="115000"/>
              </a:lnSpc>
              <a:spcBef>
                <a:spcPts val="0"/>
              </a:spcBef>
              <a:spcAft>
                <a:spcPts val="0"/>
              </a:spcAft>
              <a:buClr>
                <a:schemeClr val="dk1"/>
              </a:buClr>
              <a:buSzPts val="1200"/>
              <a:buFont typeface="Verdana"/>
              <a:buAutoNum type="alphaLcPeriod"/>
            </a:pPr>
            <a:r>
              <a:rPr lang="en" sz="1200">
                <a:solidFill>
                  <a:schemeClr val="dk1"/>
                </a:solidFill>
                <a:latin typeface="Verdana"/>
                <a:ea typeface="Verdana"/>
                <a:cs typeface="Verdana"/>
                <a:sym typeface="Verdana"/>
              </a:rPr>
              <a:t>Original strand:  AUG   UUU   UUG   CCU   UAU   CAU   CGU</a:t>
            </a:r>
            <a:endParaRPr sz="1200">
              <a:solidFill>
                <a:schemeClr val="dk1"/>
              </a:solidFill>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Verdana"/>
                <a:ea typeface="Verdana"/>
                <a:cs typeface="Verdana"/>
                <a:sym typeface="Verdana"/>
              </a:rPr>
              <a:t>     Mutated strand:  AUG   UUU   UUG   CCU   UAA   CAU   CGU</a:t>
            </a:r>
            <a:endParaRPr sz="1200">
              <a:solidFill>
                <a:schemeClr val="dk1"/>
              </a:solidFill>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Verdana"/>
              <a:ea typeface="Verdana"/>
              <a:cs typeface="Verdana"/>
              <a:sym typeface="Verdana"/>
            </a:endParaRPr>
          </a:p>
          <a:p>
            <a:pPr indent="-304800" lvl="0" marL="285750" rtl="0" algn="l">
              <a:lnSpc>
                <a:spcPct val="115000"/>
              </a:lnSpc>
              <a:spcBef>
                <a:spcPts val="0"/>
              </a:spcBef>
              <a:spcAft>
                <a:spcPts val="0"/>
              </a:spcAft>
              <a:buClr>
                <a:schemeClr val="dk1"/>
              </a:buClr>
              <a:buSzPts val="1200"/>
              <a:buFont typeface="Verdana"/>
              <a:buAutoNum type="alphaLcPeriod"/>
            </a:pPr>
            <a:r>
              <a:rPr lang="en" sz="1200">
                <a:solidFill>
                  <a:schemeClr val="dk1"/>
                </a:solidFill>
                <a:latin typeface="Verdana"/>
                <a:ea typeface="Verdana"/>
                <a:cs typeface="Verdana"/>
                <a:sym typeface="Verdana"/>
              </a:rPr>
              <a:t>Original strand:  AUG   UUU   UUG   CCU   UAU   CAU   CGU</a:t>
            </a:r>
            <a:endParaRPr sz="1200">
              <a:solidFill>
                <a:schemeClr val="dk1"/>
              </a:solidFill>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Verdana"/>
                <a:ea typeface="Verdana"/>
                <a:cs typeface="Verdana"/>
                <a:sym typeface="Verdana"/>
              </a:rPr>
              <a:t>     Mutated strand:  AUG   UUU   UUG   CCU   AUC   AUC   GU</a:t>
            </a:r>
            <a:endParaRPr sz="13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sp>
        <p:nvSpPr>
          <p:cNvPr id="651" name="Google Shape;651;p60"/>
          <p:cNvSpPr txBox="1"/>
          <p:nvPr/>
        </p:nvSpPr>
        <p:spPr>
          <a:xfrm>
            <a:off x="667950" y="1419225"/>
            <a:ext cx="7808100" cy="495300"/>
          </a:xfrm>
          <a:prstGeom prst="rect">
            <a:avLst/>
          </a:prstGeom>
          <a:no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800">
                <a:solidFill>
                  <a:schemeClr val="dk1"/>
                </a:solidFill>
                <a:latin typeface="Verdana"/>
                <a:ea typeface="Verdana"/>
                <a:cs typeface="Verdana"/>
                <a:sym typeface="Verdana"/>
              </a:rPr>
              <a:t>Identify the type of mutation in each of the following situations</a:t>
            </a:r>
            <a:endParaRPr sz="1800"/>
          </a:p>
        </p:txBody>
      </p:sp>
      <p:sp>
        <p:nvSpPr>
          <p:cNvPr id="652" name="Google Shape;652;p60"/>
          <p:cNvSpPr txBox="1"/>
          <p:nvPr/>
        </p:nvSpPr>
        <p:spPr>
          <a:xfrm>
            <a:off x="5664925" y="2082075"/>
            <a:ext cx="2872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A64D79"/>
                </a:solidFill>
                <a:latin typeface="Verdana"/>
                <a:ea typeface="Verdana"/>
                <a:cs typeface="Verdana"/>
                <a:sym typeface="Verdana"/>
              </a:rPr>
              <a:t>Silent mutation</a:t>
            </a:r>
            <a:endParaRPr sz="1600">
              <a:solidFill>
                <a:srgbClr val="A64D79"/>
              </a:solidFill>
              <a:latin typeface="Verdana"/>
              <a:ea typeface="Verdana"/>
              <a:cs typeface="Verdana"/>
              <a:sym typeface="Verdana"/>
            </a:endParaRPr>
          </a:p>
        </p:txBody>
      </p:sp>
      <p:sp>
        <p:nvSpPr>
          <p:cNvPr id="653" name="Google Shape;653;p60"/>
          <p:cNvSpPr txBox="1"/>
          <p:nvPr/>
        </p:nvSpPr>
        <p:spPr>
          <a:xfrm>
            <a:off x="5664925" y="2853775"/>
            <a:ext cx="2998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A64D79"/>
                </a:solidFill>
                <a:latin typeface="Verdana"/>
                <a:ea typeface="Verdana"/>
                <a:cs typeface="Verdana"/>
                <a:sym typeface="Verdana"/>
              </a:rPr>
              <a:t>Nonsense</a:t>
            </a:r>
            <a:r>
              <a:rPr lang="en" sz="1600">
                <a:solidFill>
                  <a:srgbClr val="A64D79"/>
                </a:solidFill>
                <a:latin typeface="Verdana"/>
                <a:ea typeface="Verdana"/>
                <a:cs typeface="Verdana"/>
                <a:sym typeface="Verdana"/>
              </a:rPr>
              <a:t> </a:t>
            </a:r>
            <a:r>
              <a:rPr lang="en" sz="1600">
                <a:solidFill>
                  <a:srgbClr val="A64D79"/>
                </a:solidFill>
                <a:latin typeface="Verdana"/>
                <a:ea typeface="Verdana"/>
                <a:cs typeface="Verdana"/>
                <a:sym typeface="Verdana"/>
              </a:rPr>
              <a:t>mutation</a:t>
            </a:r>
            <a:endParaRPr sz="1600">
              <a:solidFill>
                <a:srgbClr val="A64D79"/>
              </a:solidFill>
              <a:latin typeface="Verdana"/>
              <a:ea typeface="Verdana"/>
              <a:cs typeface="Verdana"/>
              <a:sym typeface="Verdana"/>
            </a:endParaRPr>
          </a:p>
        </p:txBody>
      </p:sp>
      <p:sp>
        <p:nvSpPr>
          <p:cNvPr id="654" name="Google Shape;654;p60"/>
          <p:cNvSpPr txBox="1"/>
          <p:nvPr/>
        </p:nvSpPr>
        <p:spPr>
          <a:xfrm>
            <a:off x="5664925" y="3794275"/>
            <a:ext cx="2872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A64D79"/>
                </a:solidFill>
                <a:latin typeface="Verdana"/>
                <a:ea typeface="Verdana"/>
                <a:cs typeface="Verdana"/>
                <a:sym typeface="Verdana"/>
              </a:rPr>
              <a:t>Deletion frameshift</a:t>
            </a:r>
            <a:endParaRPr sz="1600">
              <a:solidFill>
                <a:srgbClr val="A64D79"/>
              </a:solidFill>
              <a:latin typeface="Verdana"/>
              <a:ea typeface="Verdana"/>
              <a:cs typeface="Verdana"/>
              <a:sym typeface="Verdana"/>
            </a:endParaRPr>
          </a:p>
        </p:txBody>
      </p:sp>
      <p:sp>
        <p:nvSpPr>
          <p:cNvPr id="655" name="Google Shape;655;p60"/>
          <p:cNvSpPr txBox="1"/>
          <p:nvPr/>
        </p:nvSpPr>
        <p:spPr>
          <a:xfrm>
            <a:off x="578550" y="4313100"/>
            <a:ext cx="7986900" cy="8304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Verdana"/>
                <a:ea typeface="Verdana"/>
                <a:cs typeface="Verdana"/>
                <a:sym typeface="Verdana"/>
              </a:rPr>
              <a:t>Remember, you always need to be considering the mRNA sequence. So if a similar question gave you DNA, you would first have to transcribe it into mRNA to identify the type of mutation.</a:t>
            </a:r>
            <a:endParaRPr>
              <a:solidFill>
                <a:schemeClr val="dk1"/>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pic>
        <p:nvPicPr>
          <p:cNvPr descr="This video was produced by the Howard Hughes Medical Institute. HHMI.org. It gives an excellent presentation of recent work done by H. E. Hoekstra and W. Nachman on the evolution of fur color of the rock pocket mouse on lava flows in the American southwest. I am posting it here because of YouTube's superior streaming technology, and to make it more easily accessible for my students at Fullerton College.&#10;&#10;Reference&#10;Hoekstra, H. E., &amp; Nachman, W. (2003). Different genes underlie adaptive melanism in different populations of rock pocket mice. Molecular Ecology, 12, 1185-1194." id="660" name="Google Shape;660;p61" title="HHMI: The Making of the Fittest: Natural Selection and Adaptation (Rock Pocket Mouse)">
            <a:hlinkClick r:id="rId3"/>
          </p:cNvPr>
          <p:cNvPicPr preferRelativeResize="0"/>
          <p:nvPr/>
        </p:nvPicPr>
        <p:blipFill>
          <a:blip r:embed="rId4">
            <a:alphaModFix/>
          </a:blip>
          <a:stretch>
            <a:fillRect/>
          </a:stretch>
        </p:blipFill>
        <p:spPr>
          <a:xfrm>
            <a:off x="5016375" y="1608900"/>
            <a:ext cx="3653250" cy="2739925"/>
          </a:xfrm>
          <a:prstGeom prst="rect">
            <a:avLst/>
          </a:prstGeom>
          <a:noFill/>
          <a:ln>
            <a:noFill/>
          </a:ln>
        </p:spPr>
      </p:pic>
      <p:sp>
        <p:nvSpPr>
          <p:cNvPr id="661" name="Google Shape;661;p61"/>
          <p:cNvSpPr txBox="1"/>
          <p:nvPr/>
        </p:nvSpPr>
        <p:spPr>
          <a:xfrm>
            <a:off x="4927050" y="656350"/>
            <a:ext cx="38319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800"/>
              <a:buFont typeface="Verdana"/>
              <a:buNone/>
            </a:pPr>
            <a:r>
              <a:rPr b="1" lang="en" sz="2800" u="sng">
                <a:solidFill>
                  <a:srgbClr val="393B3F"/>
                </a:solidFill>
                <a:latin typeface="Verdana"/>
                <a:ea typeface="Verdana"/>
                <a:cs typeface="Verdana"/>
                <a:sym typeface="Verdana"/>
              </a:rPr>
              <a:t>Mutations &amp; Natural Selection</a:t>
            </a:r>
            <a:endParaRPr u="sng"/>
          </a:p>
        </p:txBody>
      </p:sp>
      <p:pic>
        <p:nvPicPr>
          <p:cNvPr descr="Join the Amoeba Sisters as they explain gene and chromosome mutations, and explore the significance of these changes. This updated video has improved audio and images! Check out our updated handout on https://www.amoebasisters.com/handouts and expand for table of contents!&#10;&#10;Factual Reference:&#10;OpenStax Biology 2nd Edition, Biology 2e. OpenStax CNX. May 8, 2019 http://cnx.org/contents/8d50a0af-948b-4204-a71d-4826cba765b8@15.43.&#10;&#10;Codons and the amino acids they code for is represented by standard charts can be found in the public domain. While the rectangle chart is the common format, there may be other ways to represent the information. P.S. If exploring more about mutations, check out this cool codon chart that  includes mutations(!!) in the public domain: https://commons.wikimedia.org/wiki/File:Notable_mutations.svg&#10;&#10;***Further Reading Suggestions to Go Beyond This Content!***&#10;-Yes, mutations can happen in viruses! Check out master teacher John Mead's National Geographic Education blog post on this with the influenza virus: &#10;https://blog.education.nationalgeographic.org/2017/12/08/talking-evolution-the-challenge-of-influenza-part-2/&#10;&#10;-Mutations in fruit flies? Learn more:&#10;https://www.ncbi.nlm.nih.gov/pmc/articles/PMC4649653/&#10;https://www.ncbi.nlm.nih.gov/pmc/articles/PMC4349060/&#10;&#10;-Careers in Genetics?&#10;National Society of Genetic Counselors: https://www.nsgc.org/page/aboutgeneticcounselors&#10;Bioinformatics: https://www.ncbi.nlm.nih.gov/pmc/articles/PMC4408859/&#10;Flowchart from American Society of Human Genetics-  http://www.ashg.org/education/career_flowchart.shtml&#10;&#10;The Amoeba Sisters videos demystify science with humor and relevance. The videos center on Pinky's certification and experience in teaching biology at the high school level. Learn more about our videos here: https://www.amoebasisters.com/our-videos&#10;&#10;⭐We have a menu of our resources that complement our videos! Visit https://docs.google.com/spreadsheets/d/1b3kmAzFEjWgoMKCrkeNCKFYunWk04IuLY93jI4OY0gY/edit?usp=sharing&#10;&#10;Support Us? https://www.amoebasisters.com/support-us&#10;&#10;Our Resources:&#10;Biology Playlist: https://www.youtube.com/playlist?list=PLwL0Myd7Dk1F0iQPGrjehze3eDpco1eVz&#10;GIFs: https://www.amoebasisters.com/gifs.html&#10;Handouts: https://www.amoebasisters.com/handouts.html&#10;Comics: https://www.amoebasisters.com/parameciumparlorcomics&#10;Unlectured Series: https://www.amoebasisters.com/unlectured&#10;&#10;Connect with us!&#10;Website: http://www.AmoebaSisters.com&#10;Twitter: http://www.twitter.com/AmoebaSisters&#10;Facebook: http://www.facebook.com/AmoebaSisters&#10;Tumblr: http://www.amoebasisters.tumblr.com&#10;Pinterest: http://www.pinterest.com/AmoebaSister­s&#10;Instagram: https://www.instagram.com/amoebasistersofficial/&#10;&#10;Visit our Redbubble store at https://www.amoebasisters.com/store&#10;&#10;TIPS FOR VIEWING EDU YOUTUBE VIDEOS:&#10;Want to learn tips for viewing edu YouTube videos including changing the speed, language, viewing the transcript, etc? https://www.amoebasisters.com/pinkys-ed-tech-favorites/10-youtube-tips-from-an-edu-youtuber-duo&#10;&#10;MUSIC:&#10;Our intro music designed and performed by Jeremiah Cheshire.&#10;&#10;End music in this video is listed free to use/no attribution required from the YouTube audio library https://www.youtube.com/audiolibrary/music?feature=blog&#10;&#10;COMMUNITY:&#10;We take pride in our AWESOME community, and we welcome feedback and discussion.  However, please remember that this is an education channel. See YouTube's community guidelines and how YouTube handles comments that are reported by the community. We also reserve the right to remove comments.&#10;&#10;TRANSLATIONS:&#10;Hindi Subtitles Credit: Alisha Aggarwal&#10;Turkish Subtitles Credit: Emre Durak&#10;&#10;Some translated subtitles on our videos were translated by the community using YouTube's community-contributed subtitle feature. After the feature was discontinued by YouTube, we have another option for submitting translated subtitles here:  https://www.amoebasisters.com/pinkys-ed-tech-favorites/community-contributed-subtitles We want to thank our amazing community for the generosity of their time in continuing to create translated subtitles. If you have a concern about community contributed contributions, please contact us.&#10;&#10;Our Amoeba Sisters en Español channel has our videos dubbed in Spanish!  https://www.youtube.com/channel/UC1Njo3LBy53cOPngz6ArV8Q" id="662" name="Google Shape;662;p61" title="Mutations (Updated)">
            <a:hlinkClick r:id="rId5"/>
          </p:cNvPr>
          <p:cNvPicPr preferRelativeResize="0"/>
          <p:nvPr/>
        </p:nvPicPr>
        <p:blipFill>
          <a:blip r:embed="rId6">
            <a:alphaModFix/>
          </a:blip>
          <a:stretch>
            <a:fillRect/>
          </a:stretch>
        </p:blipFill>
        <p:spPr>
          <a:xfrm>
            <a:off x="612600" y="1860825"/>
            <a:ext cx="4137025" cy="2327075"/>
          </a:xfrm>
          <a:prstGeom prst="rect">
            <a:avLst/>
          </a:prstGeom>
          <a:noFill/>
          <a:ln>
            <a:noFill/>
          </a:ln>
        </p:spPr>
      </p:pic>
      <p:sp>
        <p:nvSpPr>
          <p:cNvPr id="663" name="Google Shape;663;p61"/>
          <p:cNvSpPr txBox="1"/>
          <p:nvPr/>
        </p:nvSpPr>
        <p:spPr>
          <a:xfrm>
            <a:off x="817675" y="656350"/>
            <a:ext cx="38319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800"/>
              <a:buFont typeface="Verdana"/>
              <a:buNone/>
            </a:pPr>
            <a:r>
              <a:rPr b="1" lang="en" sz="2800" u="sng">
                <a:solidFill>
                  <a:srgbClr val="393B3F"/>
                </a:solidFill>
                <a:latin typeface="Verdana"/>
                <a:ea typeface="Verdana"/>
                <a:cs typeface="Verdana"/>
                <a:sym typeface="Verdana"/>
              </a:rPr>
              <a:t>Mutations Summary</a:t>
            </a:r>
            <a:endParaRPr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000"/>
                                        <p:tgtEl>
                                          <p:spTgt spid="6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62"/>
          <p:cNvSpPr txBox="1"/>
          <p:nvPr/>
        </p:nvSpPr>
        <p:spPr>
          <a:xfrm>
            <a:off x="551500" y="552950"/>
            <a:ext cx="34791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400"/>
              <a:buFont typeface="Verdana"/>
              <a:buNone/>
            </a:pPr>
            <a:r>
              <a:rPr b="1" i="0" lang="en" sz="2400" u="none" cap="none" strike="noStrike">
                <a:solidFill>
                  <a:srgbClr val="393B3F"/>
                </a:solidFill>
                <a:latin typeface="Verdana"/>
                <a:ea typeface="Verdana"/>
                <a:cs typeface="Verdana"/>
                <a:sym typeface="Verdana"/>
              </a:rPr>
              <a:t>Mitochondrial DNA</a:t>
            </a:r>
            <a:endParaRPr/>
          </a:p>
        </p:txBody>
      </p:sp>
      <p:sp>
        <p:nvSpPr>
          <p:cNvPr id="669" name="Google Shape;669;p62"/>
          <p:cNvSpPr txBox="1"/>
          <p:nvPr/>
        </p:nvSpPr>
        <p:spPr>
          <a:xfrm>
            <a:off x="503350" y="2162775"/>
            <a:ext cx="4663800" cy="25404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rgbClr val="393B3F"/>
              </a:buClr>
              <a:buSzPts val="1400"/>
              <a:buFont typeface="Verdana"/>
              <a:buChar char="●"/>
            </a:pPr>
            <a:r>
              <a:rPr lang="en">
                <a:solidFill>
                  <a:srgbClr val="393B3F"/>
                </a:solidFill>
                <a:latin typeface="Verdana"/>
                <a:ea typeface="Verdana"/>
                <a:cs typeface="Verdana"/>
                <a:sym typeface="Verdana"/>
              </a:rPr>
              <a:t>By analyzing the mtDNA of a species, we can actually trace back lineages through time to identify a common ancestor	</a:t>
            </a:r>
            <a:endParaRPr>
              <a:solidFill>
                <a:srgbClr val="393B3F"/>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
                <a:solidFill>
                  <a:srgbClr val="393B3F"/>
                </a:solidFill>
                <a:latin typeface="Verdana"/>
                <a:ea typeface="Verdana"/>
                <a:cs typeface="Verdana"/>
                <a:sym typeface="Verdana"/>
              </a:rPr>
              <a:t>mtDNA mutations usually aren’t lethal, so mutations can accumulate in great numbers over time</a:t>
            </a:r>
            <a:endParaRPr>
              <a:solidFill>
                <a:srgbClr val="393B3F"/>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
                <a:solidFill>
                  <a:srgbClr val="393B3F"/>
                </a:solidFill>
                <a:latin typeface="Verdana"/>
                <a:ea typeface="Verdana"/>
                <a:cs typeface="Verdana"/>
                <a:sym typeface="Verdana"/>
              </a:rPr>
              <a:t>mtDNA is also shorter, which makes sequencing easier</a:t>
            </a:r>
            <a:endParaRPr>
              <a:solidFill>
                <a:srgbClr val="393B3F"/>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
                <a:solidFill>
                  <a:srgbClr val="393B3F"/>
                </a:solidFill>
                <a:latin typeface="Verdana"/>
                <a:ea typeface="Verdana"/>
                <a:cs typeface="Verdana"/>
                <a:sym typeface="Verdana"/>
              </a:rPr>
              <a:t>The more similar mtDNA sequences, the more closely related organisms are</a:t>
            </a:r>
            <a:endParaRPr>
              <a:solidFill>
                <a:srgbClr val="393B3F"/>
              </a:solidFill>
              <a:latin typeface="Verdana"/>
              <a:ea typeface="Verdana"/>
              <a:cs typeface="Verdana"/>
              <a:sym typeface="Verdana"/>
            </a:endParaRPr>
          </a:p>
          <a:p>
            <a:pPr indent="0" lvl="0" marL="914400" rtl="0" algn="l">
              <a:spcBef>
                <a:spcPts val="1000"/>
              </a:spcBef>
              <a:spcAft>
                <a:spcPts val="1000"/>
              </a:spcAft>
              <a:buNone/>
            </a:pPr>
            <a:r>
              <a:t/>
            </a:r>
            <a:endParaRPr>
              <a:solidFill>
                <a:srgbClr val="393B3F"/>
              </a:solidFill>
              <a:latin typeface="Verdana"/>
              <a:ea typeface="Verdana"/>
              <a:cs typeface="Verdana"/>
              <a:sym typeface="Verdana"/>
            </a:endParaRPr>
          </a:p>
        </p:txBody>
      </p:sp>
      <p:pic>
        <p:nvPicPr>
          <p:cNvPr id="670" name="Google Shape;670;p62"/>
          <p:cNvPicPr preferRelativeResize="0"/>
          <p:nvPr/>
        </p:nvPicPr>
        <p:blipFill rotWithShape="1">
          <a:blip r:embed="rId3">
            <a:alphaModFix/>
          </a:blip>
          <a:srcRect b="0" l="0" r="0" t="0"/>
          <a:stretch/>
        </p:blipFill>
        <p:spPr>
          <a:xfrm>
            <a:off x="5261425" y="1985700"/>
            <a:ext cx="3633499" cy="2821300"/>
          </a:xfrm>
          <a:prstGeom prst="rect">
            <a:avLst/>
          </a:prstGeom>
          <a:noFill/>
          <a:ln cap="flat" cmpd="sng" w="9525">
            <a:solidFill>
              <a:srgbClr val="666666"/>
            </a:solidFill>
            <a:prstDash val="solid"/>
            <a:round/>
            <a:headEnd len="sm" w="sm" type="none"/>
            <a:tailEnd len="sm" w="sm" type="none"/>
          </a:ln>
        </p:spPr>
      </p:pic>
      <p:sp>
        <p:nvSpPr>
          <p:cNvPr id="671" name="Google Shape;671;p62"/>
          <p:cNvSpPr txBox="1"/>
          <p:nvPr/>
        </p:nvSpPr>
        <p:spPr>
          <a:xfrm>
            <a:off x="551500" y="1016775"/>
            <a:ext cx="81234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1000"/>
              </a:spcAft>
              <a:buClr>
                <a:srgbClr val="393B3F"/>
              </a:buClr>
              <a:buSzPts val="1400"/>
              <a:buFont typeface="Verdana"/>
              <a:buChar char="●"/>
            </a:pPr>
            <a:r>
              <a:rPr lang="en">
                <a:solidFill>
                  <a:srgbClr val="393B3F"/>
                </a:solidFill>
                <a:latin typeface="Verdana"/>
                <a:ea typeface="Verdana"/>
                <a:cs typeface="Verdana"/>
                <a:sym typeface="Verdana"/>
              </a:rPr>
              <a:t>DNA is not just found in the nucleus of the cell; it is also stored in the mitochondria. However, unlike nuclear DNA, mtDNA is only inherited from the mother. This is because all cytoplasm and organelles, such as mitochondria, come from the egg; sperm just contributes DNA. </a:t>
            </a:r>
            <a:endParaRPr>
              <a:solidFill>
                <a:srgbClr val="393B3F"/>
              </a:solidFill>
              <a:latin typeface="Verdana"/>
              <a:ea typeface="Verdana"/>
              <a:cs typeface="Verdana"/>
              <a:sym typeface="Verdana"/>
            </a:endParaRPr>
          </a:p>
        </p:txBody>
      </p:sp>
      <p:sp>
        <p:nvSpPr>
          <p:cNvPr id="672" name="Google Shape;672;p62"/>
          <p:cNvSpPr txBox="1"/>
          <p:nvPr/>
        </p:nvSpPr>
        <p:spPr>
          <a:xfrm>
            <a:off x="4750275" y="147025"/>
            <a:ext cx="4309800" cy="8334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chemeClr val="dk2"/>
                </a:solidFill>
                <a:highlight>
                  <a:srgbClr val="FFF2CC"/>
                </a:highlight>
                <a:latin typeface="Verdana"/>
                <a:ea typeface="Verdana"/>
                <a:cs typeface="Verdana"/>
                <a:sym typeface="Verdana"/>
              </a:rPr>
              <a:t>According to our most current understanding, some mitochondria may be donated by the </a:t>
            </a:r>
            <a:r>
              <a:rPr i="1" lang="en" sz="1200">
                <a:solidFill>
                  <a:schemeClr val="dk2"/>
                </a:solidFill>
                <a:highlight>
                  <a:srgbClr val="FFF2CC"/>
                </a:highlight>
                <a:latin typeface="Verdana"/>
                <a:ea typeface="Verdana"/>
                <a:cs typeface="Verdana"/>
                <a:sym typeface="Verdana"/>
              </a:rPr>
              <a:t>sperm</a:t>
            </a:r>
            <a:r>
              <a:rPr i="1" lang="en" sz="1200">
                <a:solidFill>
                  <a:schemeClr val="dk2"/>
                </a:solidFill>
                <a:highlight>
                  <a:srgbClr val="FFF2CC"/>
                </a:highlight>
                <a:latin typeface="Verdana"/>
                <a:ea typeface="Verdana"/>
                <a:cs typeface="Verdana"/>
                <a:sym typeface="Verdana"/>
              </a:rPr>
              <a:t> and therefore mtDNA can be paternal, but this is much less frequent and we will ignore for Bio 30. </a:t>
            </a:r>
            <a:endParaRPr i="1" sz="1200">
              <a:solidFill>
                <a:schemeClr val="dk2"/>
              </a:solidFill>
              <a:highlight>
                <a:srgbClr val="FFF2CC"/>
              </a:highlight>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63"/>
          <p:cNvSpPr txBox="1"/>
          <p:nvPr/>
        </p:nvSpPr>
        <p:spPr>
          <a:xfrm>
            <a:off x="551500" y="552950"/>
            <a:ext cx="9075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400"/>
              <a:buFont typeface="Verdana"/>
              <a:buNone/>
            </a:pPr>
            <a:r>
              <a:rPr b="1" lang="en" sz="2400">
                <a:solidFill>
                  <a:srgbClr val="393B3F"/>
                </a:solidFill>
                <a:latin typeface="Verdana"/>
                <a:ea typeface="Verdana"/>
                <a:cs typeface="Verdana"/>
                <a:sym typeface="Verdana"/>
              </a:rPr>
              <a:t>Why do mitochondria contain DNA?</a:t>
            </a:r>
            <a:endParaRPr/>
          </a:p>
        </p:txBody>
      </p:sp>
      <p:sp>
        <p:nvSpPr>
          <p:cNvPr id="678" name="Google Shape;678;p63"/>
          <p:cNvSpPr txBox="1"/>
          <p:nvPr/>
        </p:nvSpPr>
        <p:spPr>
          <a:xfrm>
            <a:off x="551500" y="1672825"/>
            <a:ext cx="4119300" cy="10290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rgbClr val="393B3F"/>
              </a:buClr>
              <a:buSzPts val="1400"/>
              <a:buFont typeface="Verdana"/>
              <a:buChar char="●"/>
            </a:pPr>
            <a:r>
              <a:rPr lang="en">
                <a:solidFill>
                  <a:schemeClr val="dk1"/>
                </a:solidFill>
                <a:latin typeface="Verdana"/>
                <a:ea typeface="Verdana"/>
                <a:cs typeface="Verdana"/>
                <a:sym typeface="Verdana"/>
              </a:rPr>
              <a:t>Mitochondria (and chloroplasts) have their own DNA, because they used to be their own free living bacteria. Through the process of endosymbiosis they came to be part of eukaryotic cells. </a:t>
            </a:r>
            <a:endParaRPr>
              <a:solidFill>
                <a:srgbClr val="393B3F"/>
              </a:solidFill>
              <a:latin typeface="Verdana"/>
              <a:ea typeface="Verdana"/>
              <a:cs typeface="Verdana"/>
              <a:sym typeface="Verdana"/>
            </a:endParaRPr>
          </a:p>
          <a:p>
            <a:pPr indent="0" lvl="0" marL="457200" rtl="0" algn="l">
              <a:spcBef>
                <a:spcPts val="0"/>
              </a:spcBef>
              <a:spcAft>
                <a:spcPts val="1000"/>
              </a:spcAft>
              <a:buNone/>
            </a:pPr>
            <a:r>
              <a:t/>
            </a:r>
            <a:endParaRPr>
              <a:solidFill>
                <a:srgbClr val="393B3F"/>
              </a:solidFill>
              <a:latin typeface="Verdana"/>
              <a:ea typeface="Verdana"/>
              <a:cs typeface="Verdana"/>
              <a:sym typeface="Verdana"/>
            </a:endParaRPr>
          </a:p>
        </p:txBody>
      </p:sp>
      <p:pic>
        <p:nvPicPr>
          <p:cNvPr descr="Explore the endosymbiotic theory with the Amoeba Sisters! This theory explains the development of the eukaryote cell from prokaryote cell symbiosis. Scientific theories are also briefly defined. Expand details to see table of contents. 👇 This video has a handout here: http://www.amoebasisters.com/handouts.html&#10;&#10;Table of Contents:&#10;Intro 00:00&#10;What is a Scientific Theory? 0:17&#10;Endosymbiotic Theory Defined 0:45&#10;Prokaryotes vs. Eukaryotes 1:03&#10;Prokaryote Diversity (focusing on select ones in theory) 1:52&#10;Endosymbiotic Theory Shown 2:21&#10;Revealing Organelle Development 3:06&#10;Facts that Support Endosymbiotic Theory 3:46&#10;   -Video mentions 4 facts but video mentions this is only a few of many more.&#10;Endosymbiosis Example in Termites 4:39&#10;&#10;The Amoeba Sisters videos demystify science with humor and relevance. The videos center on Pinky's certification and experience in teaching biology at the high school level. For more information about The Amoeba Sisters, visit: &#10;http://www.amoebasisters.com/about-us.html&#10;&#10;⭐We have a menu of our resources that complement our videos! Visit https://docs.google.com/spreadsheets/d/1b3kmAzFEjWgoMKCrkeNCKFYunWk04IuLY93jI4OY0gY/edit?usp=sharing&#10;&#10;We cover the basics in biology concepts at the secondary level. If you are looking to discover more about biology and go into depth beyond these basics, our recommended reference is the FREE, peer reviewed, open source OpenStax biology textbook: https://openstax.org/details/books/biology&#10;&#10;We did want to note that there are different models for the potential host cell shown. This &quot;early mitochondria&quot; model shows a prokaryote - likely an Archaean - this is the model this video shows. However, other models can show a more complex proto-eukaryote or ancestor eukaryotic cell host. There is debate about the host cell based on these models. Some further reading suggestions that show these models: https://mbio.asm.org/content/11/3/e00955-20 , https://www.ncbi.nlm.nih.gov/pmc/articles/PMC4640172/  , and https://www.cell.com/current-biology/comments/S0960-9822(15)00889-1# . If we ever remake this video, we think it would be neat to discuss these in regard to the host cell. &#10;---------------------------------&#10;&#10;&#10;&#10;Support Us? https://www.amoebasisters.com/support-us&#10;&#10;Our Resources:&#10;Biology Playlist: https://www.youtube.com/playlist?list=PLwL0Myd7Dk1F0iQPGrjehze3eDpco1eVz&#10;GIFs: https://www.amoebasisters.com/gifs.html&#10;Handouts: https://www.amoebasisters.com/handouts.html&#10;Comics: https://www.amoebasisters.com/parameciumparlorcomics&#10;Unlectured Series: https://www.amoebasisters.com/unlectured&#10;&#10;Connect with us!&#10;Website: http://www.AmoebaSisters.com&#10;Twitter: http://www.twitter.com/AmoebaSisters&#10;Facebook: http://www.facebook.com/AmoebaSisters&#10;Tumblr: http://www.amoebasisters.tumblr.com&#10;Pinterest: http://www.pinterest.com/AmoebaSister­s&#10;Instagram: https://www.instagram.com/amoebasistersofficial/&#10;&#10;Visit our Redbubble store at https://www.amoebasisters.com/store&#10;&#10;TIPS FOR VIEWING EDU YOUTUBE VIDEOS:&#10;Want to learn tips for viewing edu YouTube videos including changing the speed, language, viewing the transcript, etc? https://www.amoebasisters.com/pinkys-ed-tech-favorites/10-youtube-tips-from-an-edu-youtuber-duo&#10;&#10;MUSIC:&#10;Music in this video is listed free to use/no attribution required from the YouTube audio library https://www.youtube.com/audiolibrary/music?feature=blog&#10;&#10;COMMUNITY:&#10;We take pride in our AWESOME community, and we welcome feedback and discussion.  However, please remember that this is an education channel. See YouTube's community guidelines and how YouTube handles comments that are reported by the community. We also reserve the right to remove comments.&#10;&#10;TRANSLATIONS:&#10;&#10;Hindi Subtitling Credit: Alisha Aggarwal&#10;&#10;While we don't allow dubbing of our videos, we do gladly accept subtitle translations from our community. Some translated subtitles on our videos were translated by the community using YouTube's community-contributed subtitle feature. After the feature was discontinued by YouTube, we have another option for submitting translated subtitles here:  https://www.amoebasisters.com/pinkys-ed-tech-favorites/community-contributed-subtitles We want to thank our amazing community for the generosity of their time in continuing to create translated subtitles. If you have a concern about community contributed contributions, please contact us." id="679" name="Google Shape;679;p63" title="Endosymbiotic Theory">
            <a:hlinkClick r:id="rId3"/>
          </p:cNvPr>
          <p:cNvPicPr preferRelativeResize="0"/>
          <p:nvPr/>
        </p:nvPicPr>
        <p:blipFill>
          <a:blip r:embed="rId4">
            <a:alphaModFix/>
          </a:blip>
          <a:stretch>
            <a:fillRect/>
          </a:stretch>
        </p:blipFill>
        <p:spPr>
          <a:xfrm>
            <a:off x="1427875" y="3232025"/>
            <a:ext cx="2465125" cy="1386625"/>
          </a:xfrm>
          <a:prstGeom prst="rect">
            <a:avLst/>
          </a:prstGeom>
          <a:noFill/>
          <a:ln>
            <a:noFill/>
          </a:ln>
        </p:spPr>
      </p:pic>
      <p:pic>
        <p:nvPicPr>
          <p:cNvPr id="680" name="Google Shape;680;p63"/>
          <p:cNvPicPr preferRelativeResize="0"/>
          <p:nvPr/>
        </p:nvPicPr>
        <p:blipFill>
          <a:blip r:embed="rId5">
            <a:alphaModFix/>
          </a:blip>
          <a:stretch>
            <a:fillRect/>
          </a:stretch>
        </p:blipFill>
        <p:spPr>
          <a:xfrm>
            <a:off x="0" y="11"/>
            <a:ext cx="1884575" cy="1492589"/>
          </a:xfrm>
          <a:prstGeom prst="rect">
            <a:avLst/>
          </a:prstGeom>
          <a:noFill/>
          <a:ln>
            <a:noFill/>
          </a:ln>
        </p:spPr>
      </p:pic>
      <p:pic>
        <p:nvPicPr>
          <p:cNvPr id="681" name="Google Shape;681;p63"/>
          <p:cNvPicPr preferRelativeResize="0"/>
          <p:nvPr/>
        </p:nvPicPr>
        <p:blipFill>
          <a:blip r:embed="rId6">
            <a:alphaModFix/>
          </a:blip>
          <a:stretch>
            <a:fillRect/>
          </a:stretch>
        </p:blipFill>
        <p:spPr>
          <a:xfrm>
            <a:off x="5340125" y="1284675"/>
            <a:ext cx="3067225" cy="3333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1000"/>
                                        <p:tgtEl>
                                          <p:spTgt spid="6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64"/>
          <p:cNvSpPr txBox="1"/>
          <p:nvPr/>
        </p:nvSpPr>
        <p:spPr>
          <a:xfrm>
            <a:off x="856300" y="441550"/>
            <a:ext cx="4248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400"/>
              <a:buFont typeface="Verdana"/>
              <a:buNone/>
            </a:pPr>
            <a:r>
              <a:rPr b="1" lang="en" sz="2400">
                <a:solidFill>
                  <a:srgbClr val="393B3F"/>
                </a:solidFill>
                <a:latin typeface="Verdana"/>
                <a:ea typeface="Verdana"/>
                <a:cs typeface="Verdana"/>
                <a:sym typeface="Verdana"/>
              </a:rPr>
              <a:t>Genetic Engineering</a:t>
            </a:r>
            <a:endParaRPr/>
          </a:p>
        </p:txBody>
      </p:sp>
      <p:sp>
        <p:nvSpPr>
          <p:cNvPr id="687" name="Google Shape;687;p64"/>
          <p:cNvSpPr txBox="1"/>
          <p:nvPr/>
        </p:nvSpPr>
        <p:spPr>
          <a:xfrm>
            <a:off x="660025" y="1049475"/>
            <a:ext cx="5049600" cy="75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1400"/>
              <a:buFont typeface="Verdana"/>
              <a:buNone/>
            </a:pPr>
            <a:r>
              <a:rPr b="0" i="0" lang="en" sz="1400" u="none" cap="none" strike="noStrike">
                <a:solidFill>
                  <a:srgbClr val="393B3F"/>
                </a:solidFill>
                <a:latin typeface="Verdana"/>
                <a:ea typeface="Verdana"/>
                <a:cs typeface="Verdana"/>
                <a:sym typeface="Verdana"/>
              </a:rPr>
              <a:t>A molecule of DNA that includes genetic material from different sources is called </a:t>
            </a:r>
            <a:r>
              <a:rPr b="0" i="1" lang="en" sz="1400" u="none" cap="none" strike="noStrike">
                <a:solidFill>
                  <a:srgbClr val="393B3F"/>
                </a:solidFill>
                <a:latin typeface="Verdana"/>
                <a:ea typeface="Verdana"/>
                <a:cs typeface="Verdana"/>
                <a:sym typeface="Verdana"/>
              </a:rPr>
              <a:t>recombinant DNA. </a:t>
            </a:r>
            <a:r>
              <a:rPr b="0" i="0" lang="en" sz="1400" u="none" cap="none" strike="noStrike">
                <a:solidFill>
                  <a:srgbClr val="393B3F"/>
                </a:solidFill>
                <a:latin typeface="Verdana"/>
                <a:ea typeface="Verdana"/>
                <a:cs typeface="Verdana"/>
                <a:sym typeface="Verdana"/>
              </a:rPr>
              <a:t>It is produced through the process of </a:t>
            </a:r>
            <a:r>
              <a:rPr b="0" i="1" lang="en" sz="1400" u="none" cap="none" strike="noStrike">
                <a:solidFill>
                  <a:srgbClr val="393B3F"/>
                </a:solidFill>
                <a:latin typeface="Verdana"/>
                <a:ea typeface="Verdana"/>
                <a:cs typeface="Verdana"/>
                <a:sym typeface="Verdana"/>
              </a:rPr>
              <a:t>genetic engineering</a:t>
            </a:r>
            <a:r>
              <a:rPr b="0" i="0" lang="en" sz="1400" u="none" cap="none" strike="noStrike">
                <a:solidFill>
                  <a:srgbClr val="393B3F"/>
                </a:solidFill>
                <a:latin typeface="Verdana"/>
                <a:ea typeface="Verdana"/>
                <a:cs typeface="Verdana"/>
                <a:sym typeface="Verdana"/>
              </a:rPr>
              <a:t>. </a:t>
            </a:r>
            <a:endParaRPr/>
          </a:p>
        </p:txBody>
      </p:sp>
      <p:sp>
        <p:nvSpPr>
          <p:cNvPr id="688" name="Google Shape;688;p64"/>
          <p:cNvSpPr txBox="1"/>
          <p:nvPr/>
        </p:nvSpPr>
        <p:spPr>
          <a:xfrm>
            <a:off x="530650" y="1866525"/>
            <a:ext cx="4510500" cy="2907300"/>
          </a:xfrm>
          <a:prstGeom prst="rect">
            <a:avLst/>
          </a:prstGeom>
          <a:noFill/>
          <a:ln>
            <a:noFill/>
          </a:ln>
        </p:spPr>
        <p:txBody>
          <a:bodyPr anchorCtr="0" anchor="t" bIns="45700" lIns="91425" spcFirstLastPara="1" rIns="91425" wrap="square" tIns="45700">
            <a:noAutofit/>
          </a:bodyPr>
          <a:lstStyle/>
          <a:p>
            <a:pPr indent="-292100" lvl="0" marL="457200" marR="0" rtl="0" algn="l">
              <a:lnSpc>
                <a:spcPct val="100000"/>
              </a:lnSpc>
              <a:spcBef>
                <a:spcPts val="0"/>
              </a:spcBef>
              <a:spcAft>
                <a:spcPts val="0"/>
              </a:spcAft>
              <a:buClr>
                <a:srgbClr val="393B3F"/>
              </a:buClr>
              <a:buSzPts val="1000"/>
              <a:buFont typeface="Verdana"/>
              <a:buChar char="●"/>
            </a:pPr>
            <a:r>
              <a:rPr b="0" i="0" lang="en" sz="1000" u="none" cap="none" strike="noStrike">
                <a:solidFill>
                  <a:srgbClr val="393B3F"/>
                </a:solidFill>
                <a:latin typeface="Verdana"/>
                <a:ea typeface="Verdana"/>
                <a:cs typeface="Verdana"/>
                <a:sym typeface="Verdana"/>
              </a:rPr>
              <a:t>Genetic engineering is used globally to produce organisms with desirable traits that could not be produced via selective breeding (Genetically Modified Organisms -</a:t>
            </a:r>
            <a:r>
              <a:rPr lang="en" sz="1000">
                <a:solidFill>
                  <a:srgbClr val="393B3F"/>
                </a:solidFill>
                <a:latin typeface="Verdana"/>
                <a:ea typeface="Verdana"/>
                <a:cs typeface="Verdana"/>
                <a:sym typeface="Verdana"/>
              </a:rPr>
              <a:t> </a:t>
            </a:r>
            <a:r>
              <a:rPr b="0" i="0" lang="en" sz="1000" u="none" cap="none" strike="noStrike">
                <a:solidFill>
                  <a:srgbClr val="393B3F"/>
                </a:solidFill>
                <a:latin typeface="Verdana"/>
                <a:ea typeface="Verdana"/>
                <a:cs typeface="Verdana"/>
                <a:sym typeface="Verdana"/>
              </a:rPr>
              <a:t>GMO</a:t>
            </a:r>
            <a:r>
              <a:rPr lang="en" sz="1000">
                <a:solidFill>
                  <a:srgbClr val="393B3F"/>
                </a:solidFill>
                <a:latin typeface="Verdana"/>
                <a:ea typeface="Verdana"/>
                <a:cs typeface="Verdana"/>
                <a:sym typeface="Verdana"/>
              </a:rPr>
              <a:t>s</a:t>
            </a:r>
            <a:r>
              <a:rPr b="0" i="0" lang="en" sz="1000" u="none" cap="none" strike="noStrike">
                <a:solidFill>
                  <a:srgbClr val="393B3F"/>
                </a:solidFill>
                <a:latin typeface="Verdana"/>
                <a:ea typeface="Verdana"/>
                <a:cs typeface="Verdana"/>
                <a:sym typeface="Verdana"/>
              </a:rPr>
              <a:t>). </a:t>
            </a:r>
            <a:endParaRPr sz="1000"/>
          </a:p>
          <a:p>
            <a:pPr indent="-292100" lvl="1" marL="914400" marR="0" rtl="0" algn="l">
              <a:lnSpc>
                <a:spcPct val="100000"/>
              </a:lnSpc>
              <a:spcBef>
                <a:spcPts val="0"/>
              </a:spcBef>
              <a:spcAft>
                <a:spcPts val="0"/>
              </a:spcAft>
              <a:buClr>
                <a:srgbClr val="393B3F"/>
              </a:buClr>
              <a:buSzPts val="1000"/>
              <a:buFont typeface="Verdana"/>
              <a:buChar char="○"/>
            </a:pPr>
            <a:r>
              <a:rPr lang="en" sz="1000">
                <a:solidFill>
                  <a:srgbClr val="393B3F"/>
                </a:solidFill>
                <a:latin typeface="Verdana"/>
                <a:ea typeface="Verdana"/>
                <a:cs typeface="Verdana"/>
                <a:sym typeface="Verdana"/>
              </a:rPr>
              <a:t>E.g. herbicide resistant canola or corn</a:t>
            </a:r>
            <a:endParaRPr sz="1000">
              <a:solidFill>
                <a:srgbClr val="393B3F"/>
              </a:solidFill>
              <a:latin typeface="Verdana"/>
              <a:ea typeface="Verdana"/>
              <a:cs typeface="Verdana"/>
              <a:sym typeface="Verdana"/>
            </a:endParaRPr>
          </a:p>
          <a:p>
            <a:pPr indent="-292100" lvl="1" marL="914400" marR="0" rtl="0" algn="l">
              <a:lnSpc>
                <a:spcPct val="100000"/>
              </a:lnSpc>
              <a:spcBef>
                <a:spcPts val="0"/>
              </a:spcBef>
              <a:spcAft>
                <a:spcPts val="0"/>
              </a:spcAft>
              <a:buClr>
                <a:srgbClr val="393B3F"/>
              </a:buClr>
              <a:buSzPts val="1000"/>
              <a:buFont typeface="Verdana"/>
              <a:buChar char="○"/>
            </a:pPr>
            <a:r>
              <a:rPr b="0" i="0" lang="en" sz="1000" u="none" cap="none" strike="noStrike">
                <a:solidFill>
                  <a:srgbClr val="393B3F"/>
                </a:solidFill>
                <a:latin typeface="Verdana"/>
                <a:ea typeface="Verdana"/>
                <a:cs typeface="Verdana"/>
                <a:sym typeface="Verdana"/>
              </a:rPr>
              <a:t>E.g. mass-production of human insulin by bacteria.</a:t>
            </a:r>
            <a:endParaRPr b="0" i="0" sz="1000" u="none" cap="none" strike="noStrike">
              <a:solidFill>
                <a:srgbClr val="393B3F"/>
              </a:solidFill>
              <a:latin typeface="Verdana"/>
              <a:ea typeface="Verdana"/>
              <a:cs typeface="Verdana"/>
              <a:sym typeface="Verdana"/>
            </a:endParaRPr>
          </a:p>
          <a:p>
            <a:pPr indent="-292100" lvl="0" marL="457200" marR="0" rtl="0" algn="l">
              <a:lnSpc>
                <a:spcPct val="100000"/>
              </a:lnSpc>
              <a:spcBef>
                <a:spcPts val="1000"/>
              </a:spcBef>
              <a:spcAft>
                <a:spcPts val="0"/>
              </a:spcAft>
              <a:buClr>
                <a:srgbClr val="393B3F"/>
              </a:buClr>
              <a:buSzPts val="1000"/>
              <a:buFont typeface="Verdana"/>
              <a:buChar char="●"/>
            </a:pPr>
            <a:r>
              <a:rPr lang="en" sz="1000">
                <a:solidFill>
                  <a:srgbClr val="393B3F"/>
                </a:solidFill>
                <a:latin typeface="Verdana"/>
                <a:ea typeface="Verdana"/>
                <a:cs typeface="Verdana"/>
                <a:sym typeface="Verdana"/>
              </a:rPr>
              <a:t>Genetic engineering often involves taking </a:t>
            </a:r>
            <a:r>
              <a:rPr b="1" i="1" lang="en" sz="1000">
                <a:solidFill>
                  <a:srgbClr val="393B3F"/>
                </a:solidFill>
                <a:latin typeface="Verdana"/>
                <a:ea typeface="Verdana"/>
                <a:cs typeface="Verdana"/>
                <a:sym typeface="Verdana"/>
              </a:rPr>
              <a:t>plasmids</a:t>
            </a:r>
            <a:r>
              <a:rPr lang="en" sz="1000">
                <a:solidFill>
                  <a:srgbClr val="393B3F"/>
                </a:solidFill>
                <a:latin typeface="Verdana"/>
                <a:ea typeface="Verdana"/>
                <a:cs typeface="Verdana"/>
                <a:sym typeface="Verdana"/>
              </a:rPr>
              <a:t> from bacteria (circular segments of DNA which contain their genetic info) and re-programming them to express certain genes.</a:t>
            </a:r>
            <a:r>
              <a:rPr b="0" i="0" lang="en" sz="1000" u="none" cap="none" strike="noStrike">
                <a:solidFill>
                  <a:srgbClr val="393B3F"/>
                </a:solidFill>
                <a:latin typeface="Verdana"/>
                <a:ea typeface="Verdana"/>
                <a:cs typeface="Verdana"/>
                <a:sym typeface="Verdana"/>
              </a:rPr>
              <a:t> </a:t>
            </a:r>
            <a:endParaRPr b="0" i="0" sz="1000" u="none" cap="none" strike="noStrike">
              <a:solidFill>
                <a:srgbClr val="393B3F"/>
              </a:solidFill>
              <a:latin typeface="Verdana"/>
              <a:ea typeface="Verdana"/>
              <a:cs typeface="Verdana"/>
              <a:sym typeface="Verdana"/>
            </a:endParaRPr>
          </a:p>
          <a:p>
            <a:pPr indent="-292100" lvl="0" marL="457200" marR="0" rtl="0" algn="l">
              <a:lnSpc>
                <a:spcPct val="100000"/>
              </a:lnSpc>
              <a:spcBef>
                <a:spcPts val="1000"/>
              </a:spcBef>
              <a:spcAft>
                <a:spcPts val="0"/>
              </a:spcAft>
              <a:buClr>
                <a:srgbClr val="393B3F"/>
              </a:buClr>
              <a:buSzPts val="1000"/>
              <a:buFont typeface="Verdana"/>
              <a:buChar char="●"/>
            </a:pPr>
            <a:r>
              <a:rPr b="1" lang="en" sz="1000">
                <a:solidFill>
                  <a:srgbClr val="393B3F"/>
                </a:solidFill>
                <a:latin typeface="Verdana"/>
                <a:ea typeface="Verdana"/>
                <a:cs typeface="Verdana"/>
                <a:sym typeface="Verdana"/>
              </a:rPr>
              <a:t>Restriction endonucleases (restriction enzymes)</a:t>
            </a:r>
            <a:r>
              <a:rPr lang="en" sz="1000">
                <a:solidFill>
                  <a:srgbClr val="393B3F"/>
                </a:solidFill>
                <a:latin typeface="Verdana"/>
                <a:ea typeface="Verdana"/>
                <a:cs typeface="Verdana"/>
                <a:sym typeface="Verdana"/>
              </a:rPr>
              <a:t> “cut” the DNA sequence at a specific recognition site to allow for the insertion of a desired gene, which is “glued” into the genome using DNA ligase.</a:t>
            </a:r>
            <a:endParaRPr sz="10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393B3F"/>
              </a:buClr>
              <a:buSzPts val="1200"/>
              <a:buFont typeface="Verdana"/>
              <a:buNone/>
            </a:pPr>
            <a:r>
              <a:t/>
            </a:r>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393B3F"/>
              </a:solidFill>
              <a:latin typeface="Verdana"/>
              <a:ea typeface="Verdana"/>
              <a:cs typeface="Verdana"/>
              <a:sym typeface="Verdana"/>
            </a:endParaRPr>
          </a:p>
        </p:txBody>
      </p:sp>
      <p:pic>
        <p:nvPicPr>
          <p:cNvPr id="689" name="Google Shape;689;p64"/>
          <p:cNvPicPr preferRelativeResize="0"/>
          <p:nvPr/>
        </p:nvPicPr>
        <p:blipFill rotWithShape="1">
          <a:blip r:embed="rId3">
            <a:alphaModFix/>
          </a:blip>
          <a:srcRect b="0" l="0" r="0" t="0"/>
          <a:stretch/>
        </p:blipFill>
        <p:spPr>
          <a:xfrm>
            <a:off x="6108280" y="441550"/>
            <a:ext cx="1921613" cy="3236425"/>
          </a:xfrm>
          <a:prstGeom prst="rect">
            <a:avLst/>
          </a:prstGeom>
          <a:noFill/>
          <a:ln>
            <a:noFill/>
          </a:ln>
        </p:spPr>
      </p:pic>
      <p:sp>
        <p:nvSpPr>
          <p:cNvPr id="690" name="Google Shape;690;p64"/>
          <p:cNvSpPr txBox="1"/>
          <p:nvPr/>
        </p:nvSpPr>
        <p:spPr>
          <a:xfrm>
            <a:off x="7346271" y="1269373"/>
            <a:ext cx="1290000" cy="31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verage"/>
              <a:buNone/>
            </a:pPr>
            <a:r>
              <a:rPr b="0" i="0" lang="en" sz="1000" u="none" cap="none" strike="noStrike">
                <a:solidFill>
                  <a:srgbClr val="000000"/>
                </a:solidFill>
                <a:latin typeface="Average"/>
                <a:ea typeface="Average"/>
                <a:cs typeface="Average"/>
                <a:sym typeface="Average"/>
              </a:rPr>
              <a:t>(by restriction endonucleases)</a:t>
            </a:r>
            <a:endParaRPr/>
          </a:p>
        </p:txBody>
      </p:sp>
      <p:sp>
        <p:nvSpPr>
          <p:cNvPr id="691" name="Google Shape;691;p64"/>
          <p:cNvSpPr txBox="1"/>
          <p:nvPr/>
        </p:nvSpPr>
        <p:spPr>
          <a:xfrm>
            <a:off x="5434325" y="2522959"/>
            <a:ext cx="1290000" cy="31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verage"/>
              <a:buNone/>
            </a:pPr>
            <a:r>
              <a:rPr b="0" i="0" lang="en" sz="1000" u="none" cap="none" strike="noStrike">
                <a:solidFill>
                  <a:srgbClr val="000000"/>
                </a:solidFill>
                <a:latin typeface="Average"/>
                <a:ea typeface="Average"/>
                <a:cs typeface="Average"/>
                <a:sym typeface="Average"/>
              </a:rPr>
              <a:t>(restriction fragment)</a:t>
            </a:r>
            <a:endParaRPr/>
          </a:p>
        </p:txBody>
      </p:sp>
      <p:pic>
        <p:nvPicPr>
          <p:cNvPr descr="Plasmids. Any life scientist working in a lab has surely heard about them. But what is a plasmid? Where are they found? And why are they so useful to scientists? Find out, in this animation!&#10;&#10;https://blog.addgene.org/plasmids-101-what-is-a-plasmid&#10;&#10;Our Plasmids 101 videos are designed to educate all levels of scientists and plasmid lovers. For more, https://blog.addgene.org/topic/plasmids-101&#10;________________________________________________________________&#10;Credits&#10;Written, Directed &amp; Animated by: Quintin Marcelino&#10;Based on Previous Material by: Will Arnold and Margo R. Monroe &amp; Marcy Patrick&#10;Designs and Illustrations by: Jason Snair&#10;Narration by: Matt Ellis&#10;Sound Design &amp; Sound Editing by: Quintin Marcelino&#10;Special Thanks to: Jennifer Tsang, Angela Abitua, Aliyah Weinstein, and everyone at Addgene who provided support and feedback on this project. &#10;Music by: Wayne Jones, Vibe Mountain, and the Grand Affair, courtesy of Youtube Audio Library&#10;&#10;www.addgene.org" id="692" name="Google Shape;692;p64" title="What is a Plasmid? - Plasmids 101">
            <a:hlinkClick r:id="rId4"/>
          </p:cNvPr>
          <p:cNvPicPr preferRelativeResize="0"/>
          <p:nvPr/>
        </p:nvPicPr>
        <p:blipFill>
          <a:blip r:embed="rId5">
            <a:alphaModFix/>
          </a:blip>
          <a:stretch>
            <a:fillRect/>
          </a:stretch>
        </p:blipFill>
        <p:spPr>
          <a:xfrm>
            <a:off x="4326888" y="3995486"/>
            <a:ext cx="1921625" cy="1080914"/>
          </a:xfrm>
          <a:prstGeom prst="rect">
            <a:avLst/>
          </a:prstGeom>
          <a:noFill/>
          <a:ln>
            <a:noFill/>
          </a:ln>
        </p:spPr>
      </p:pic>
      <p:pic>
        <p:nvPicPr>
          <p:cNvPr descr="Explore an intro to genetic engineering with The Amoeba Sisters. This video provides a general definition, introduces some biotechnology tools that can be used in genetic engineering, and discusses some related vocabulary (such as plasmid, vector, transformation, transgenic, and more). CRISPR is also mentioned; expand to see further reading to explore more. To see more Amoeba Sisters biotechnology related videos, visit https://www.youtube.com/playlist?list=PLwL0Myd7Dk1Gxs9mwISTCEi8i1xex94p2&#10;&#10;-----------&#10;Table of Contents:&#10;00:00 Intro&#10;1:51 Genetic Engineering Defined&#10;2:01 Insulin Production in Bacteria&#10;3:55 Some Vocab&#10;4:20 Vectors &amp; More&#10;5:25 CRISPR&#10;6:40 Genetic Engineering Uses&#10;7:30 Ethics&#10;-------------&#10;Factual References:&#10;&#10;Clark, M. A., Douglas, M., &amp; Choi, J. (2018, March 18). 17.1 Biotechnology - Biology 2e | OpenStax. Openstax.org. https://openstax.org/books/biology-2e/pages/17-1-biotechnology&#10;&#10;Urry, Lisa A, et al. Campbell Biology. 11th ed., New York, Ny, Pearson Education, Inc, 2017.&#10;&#10;Zedalis, J., &amp; Eggebrecht, J. (2018, March 8). 17.1 Biotechnology - Biology for AP® Courses | OpenStax. Openstax.org. https://openstax.org/books/biology-ap-courses/pages/17-1-biotechnology&#10;&#10;---------------&#10;FURTHER READING: &#10;Note: our description is limited in characters; we encourage you to keep exploring beyond these recommendations!&#10;&#10;*GFP and fluorescence?&#10;https://embryo.asu.edu/pages/green-fluorescent-protein&#10;&#10;*This link has a great bacterial transformation exploration!&#10;https://openoregon.pressbooks.pub/mhccbiology112/chapter/bacterial-transformation-lab/&#10;&#10;*How is genetic engineering (which video focuses on) &amp; gene therapy (which video doesn't mention) DIFFERENT? --- this also talks about using viruses:&#10;https://medicine.missouri.edu/centers-institutes-labs/health-ethics/faq/gene-therapy&#10;&#10;*Includes charts of different cells used to produce biopharmaceuticals:&#10;https://www.ncbi.nlm.nih.gov/pmc/articles/PMC4748523/&#10;&#10;*History of synthesizing growth factor (interesting!)&#10;https://americanhistory.si.edu/blog/2012/10/human-growth-hormone.html&#10;&#10;*Genetically engineered plants and...&#10;**Pollutants in air or soils: &#10;https://www.nih.gov/news-events/nih-research-matters/trees-created-clean-pollutants &#10;https://www.nih.gov/news-events/nih-research-matters/genetically-modified-houseplant-cleans-indoor-air# &#10;https://onlinelibrary.wiley.com/doi/10.1111/pce.12963&#10;**Climate change mitigation?&#10;https://doi.org/10.1016/j.tplants.2022.01.004&#10;&#10;*Genetically Engineered Chickens and Avian Influenza Resistance?https://doi.org/10.3390/v10100561https://www.ncbi.nlm.nih.gov/pmc/articles/PMC6149294/&#10;&#10;*Genetically Engineered Mice:&#10;https://www.ncbi.nlm.nih.gov/books/NBK231336/&#10;&#10;*More on CRISPR:&#10;https://medlineplus.gov/genetics/understanding/genomicresearch/genomeediting/&#10;https://www.ncbi.nlm.nih.gov/pmc/articles/PMC4971521/&#10;**Book recommendation: &#10;&quot;The Code Breaker: Jennifer Doudna, Gene Editing, and the Future of the Human Race&quot; by Walter Isaacson&#10;&#10;ETHICAL ISSUES:&#10;*What is bioethics? (from Michigan State University)&#10;https://bioethics.msu.edu/what-is-bioethics&#10;&#10;*CRISPR and Gene Editing Ethical Issues:&#10;https://doi.org/10.21775/cimb.026.103&#10;https://www.genome.gov/about-genomics/policy-issues/Genome-Editing/ethical concerns&#10;&#10;*Agriculture:&#10;https://www.nature.com/scitable/topicpage/genetically-modified-organisms-gmos-transgenic-crops-and-732/&#10;&#10;*Animals:&#10;https://www.ncbi.nlm.nih.gov/pmc/articles/PMC3078015/#genetics &#10;&#10;GENETIC ENGINEERING AS A CAREER:&#10;The US Bureau of Labor Statistics puts genetic engineering in the category of bioengineers: https://www.bls.gov/ooh/architecture-and-engineering/biomedical-engineers.htm &#10;&#10;-----------------------------------------------&#10;The Amoeba Sisters videos demystify science with humor and relevance. The videos center on Pinky's certification and experience in teaching biology at the high school level. Amoeba Sisters videos only cover concepts that Pinky is certified to teach, and they focus on her specialty: secondary life science. Learn more about our videos here: https://www.amoebasisters.com/our-videos&#10;&#10;Support Us? https://www.amoebasisters.com/support-us&#10;&#10;Our Resources and Handouts: https://www.amoebasisters.com/handouts&#10;Biology Video Playlist: https://www.youtube.com/playlist?list=PLwL0Myd7Dk1F0iQPGrjehze3eDpco1eVz&#10;&#10;&#10;MUSIC:&#10;Our intro music designed and performed by Jeremiah Cheshire.&#10;End music in this video is listed free to use/no attribution required from the YouTube audio library.&#10;&#10;TRANSLATIONS:&#10;We gladly accept subtitle translations from our community. Learn more here: https://www.amoebasisters.com/pinkys-ed-tech-favorites/community-contributed-subtitles  &#10;We also have videos using an artificial voice via https://aloud.area120.google.com to increase accessibility. See our dubbed channels on https://www.amoebasisters.com/pinkys-ed-tech-favorites/community-contributed-subtitles" id="693" name="Google Shape;693;p64" title="Genetic Engineering">
            <a:hlinkClick r:id="rId6"/>
          </p:cNvPr>
          <p:cNvPicPr preferRelativeResize="0"/>
          <p:nvPr/>
        </p:nvPicPr>
        <p:blipFill>
          <a:blip r:embed="rId7">
            <a:alphaModFix/>
          </a:blip>
          <a:stretch>
            <a:fillRect/>
          </a:stretch>
        </p:blipFill>
        <p:spPr>
          <a:xfrm>
            <a:off x="6945175" y="4031125"/>
            <a:ext cx="1921600" cy="1080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1000"/>
                                        <p:tgtEl>
                                          <p:spTgt spid="6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1000"/>
                                        <p:tgtEl>
                                          <p:spTgt spid="6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65"/>
          <p:cNvSpPr txBox="1"/>
          <p:nvPr/>
        </p:nvSpPr>
        <p:spPr>
          <a:xfrm>
            <a:off x="187800" y="496625"/>
            <a:ext cx="50028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400"/>
              <a:buFont typeface="Verdana"/>
              <a:buNone/>
            </a:pPr>
            <a:r>
              <a:rPr b="1" lang="en" sz="2400">
                <a:solidFill>
                  <a:srgbClr val="393B3F"/>
                </a:solidFill>
                <a:latin typeface="Verdana"/>
                <a:ea typeface="Verdana"/>
                <a:cs typeface="Verdana"/>
                <a:sym typeface="Verdana"/>
              </a:rPr>
              <a:t>Genetic Engineering</a:t>
            </a:r>
            <a:endParaRPr/>
          </a:p>
        </p:txBody>
      </p:sp>
      <p:sp>
        <p:nvSpPr>
          <p:cNvPr id="699" name="Google Shape;699;p65"/>
          <p:cNvSpPr txBox="1"/>
          <p:nvPr/>
        </p:nvSpPr>
        <p:spPr>
          <a:xfrm>
            <a:off x="526950" y="1061725"/>
            <a:ext cx="4404300" cy="17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Verdana"/>
                <a:ea typeface="Verdana"/>
                <a:cs typeface="Verdana"/>
                <a:sym typeface="Verdana"/>
              </a:rPr>
              <a:t>General steps involved</a:t>
            </a:r>
            <a:r>
              <a:rPr lang="en" sz="1300">
                <a:solidFill>
                  <a:schemeClr val="dk1"/>
                </a:solidFill>
                <a:latin typeface="Verdana"/>
                <a:ea typeface="Verdana"/>
                <a:cs typeface="Verdana"/>
                <a:sym typeface="Verdana"/>
              </a:rPr>
              <a:t> with genetic </a:t>
            </a:r>
            <a:r>
              <a:rPr lang="en" sz="1300">
                <a:solidFill>
                  <a:schemeClr val="dk1"/>
                </a:solidFill>
                <a:latin typeface="Verdana"/>
                <a:ea typeface="Verdana"/>
                <a:cs typeface="Verdana"/>
                <a:sym typeface="Verdana"/>
              </a:rPr>
              <a:t>engineering</a:t>
            </a:r>
            <a:r>
              <a:rPr lang="en" sz="1300">
                <a:solidFill>
                  <a:schemeClr val="dk1"/>
                </a:solidFill>
                <a:latin typeface="Verdana"/>
                <a:ea typeface="Verdana"/>
                <a:cs typeface="Verdana"/>
                <a:sym typeface="Verdana"/>
              </a:rPr>
              <a:t> and creating insulin producing bacteria:</a:t>
            </a:r>
            <a:endParaRPr sz="1300">
              <a:solidFill>
                <a:schemeClr val="dk1"/>
              </a:solidFill>
              <a:latin typeface="Verdana"/>
              <a:ea typeface="Verdana"/>
              <a:cs typeface="Verdana"/>
              <a:sym typeface="Verdana"/>
            </a:endParaRPr>
          </a:p>
          <a:p>
            <a:pPr indent="-311150" lvl="0" marL="457200" rtl="0" algn="l">
              <a:spcBef>
                <a:spcPts val="1000"/>
              </a:spcBef>
              <a:spcAft>
                <a:spcPts val="0"/>
              </a:spcAft>
              <a:buClr>
                <a:schemeClr val="dk1"/>
              </a:buClr>
              <a:buSzPts val="1300"/>
              <a:buFont typeface="Verdana"/>
              <a:buAutoNum type="arabicPeriod"/>
            </a:pPr>
            <a:r>
              <a:rPr b="1" lang="en" sz="1300">
                <a:solidFill>
                  <a:schemeClr val="dk1"/>
                </a:solidFill>
                <a:latin typeface="Verdana"/>
                <a:ea typeface="Verdana"/>
                <a:cs typeface="Verdana"/>
                <a:sym typeface="Verdana"/>
              </a:rPr>
              <a:t>Use restriction enzymes to cut and remove functioning insulin gene</a:t>
            </a:r>
            <a:r>
              <a:rPr lang="en" sz="1300">
                <a:solidFill>
                  <a:schemeClr val="dk1"/>
                </a:solidFill>
                <a:latin typeface="Verdana"/>
                <a:ea typeface="Verdana"/>
                <a:cs typeface="Verdana"/>
                <a:sym typeface="Verdana"/>
              </a:rPr>
              <a:t> from a human pancreatic cell</a:t>
            </a:r>
            <a:endParaRPr sz="1300">
              <a:solidFill>
                <a:schemeClr val="dk1"/>
              </a:solidFill>
              <a:latin typeface="Verdana"/>
              <a:ea typeface="Verdana"/>
              <a:cs typeface="Verdana"/>
              <a:sym typeface="Verdana"/>
            </a:endParaRPr>
          </a:p>
          <a:p>
            <a:pPr indent="-311150" lvl="0" marL="457200" rtl="0" algn="l">
              <a:spcBef>
                <a:spcPts val="1000"/>
              </a:spcBef>
              <a:spcAft>
                <a:spcPts val="0"/>
              </a:spcAft>
              <a:buClr>
                <a:schemeClr val="dk1"/>
              </a:buClr>
              <a:buSzPts val="1300"/>
              <a:buFont typeface="Verdana"/>
              <a:buAutoNum type="arabicPeriod"/>
            </a:pPr>
            <a:r>
              <a:rPr b="1" lang="en" sz="1300">
                <a:solidFill>
                  <a:schemeClr val="dk1"/>
                </a:solidFill>
                <a:latin typeface="Verdana"/>
                <a:ea typeface="Verdana"/>
                <a:cs typeface="Verdana"/>
                <a:sym typeface="Verdana"/>
              </a:rPr>
              <a:t>Use the same restriction enzyme on a plasmid</a:t>
            </a:r>
            <a:r>
              <a:rPr lang="en" sz="1300">
                <a:solidFill>
                  <a:schemeClr val="dk1"/>
                </a:solidFill>
                <a:latin typeface="Verdana"/>
                <a:ea typeface="Verdana"/>
                <a:cs typeface="Verdana"/>
                <a:sym typeface="Verdana"/>
              </a:rPr>
              <a:t> to get same ‘sticky ends’. These are usually palindromic sequences. </a:t>
            </a:r>
            <a:endParaRPr sz="1300">
              <a:solidFill>
                <a:schemeClr val="dk1"/>
              </a:solidFill>
              <a:latin typeface="Verdana"/>
              <a:ea typeface="Verdana"/>
              <a:cs typeface="Verdana"/>
              <a:sym typeface="Verdana"/>
            </a:endParaRPr>
          </a:p>
          <a:p>
            <a:pPr indent="0" lvl="0" marL="457200" rtl="0" algn="l">
              <a:spcBef>
                <a:spcPts val="1000"/>
              </a:spcBef>
              <a:spcAft>
                <a:spcPts val="0"/>
              </a:spcAft>
              <a:buNone/>
            </a:pPr>
            <a:r>
              <a:rPr lang="en" sz="1300">
                <a:solidFill>
                  <a:schemeClr val="dk1"/>
                </a:solidFill>
                <a:latin typeface="Verdana"/>
                <a:ea typeface="Verdana"/>
                <a:cs typeface="Verdana"/>
                <a:sym typeface="Verdana"/>
              </a:rPr>
              <a:t>For example:</a:t>
            </a:r>
            <a:endParaRPr sz="1300">
              <a:solidFill>
                <a:schemeClr val="dk1"/>
              </a:solidFill>
              <a:latin typeface="Verdana"/>
              <a:ea typeface="Verdana"/>
              <a:cs typeface="Verdana"/>
              <a:sym typeface="Verdana"/>
            </a:endParaRPr>
          </a:p>
          <a:p>
            <a:pPr indent="0" lvl="0" marL="457200" rtl="0" algn="l">
              <a:spcBef>
                <a:spcPts val="1000"/>
              </a:spcBef>
              <a:spcAft>
                <a:spcPts val="1000"/>
              </a:spcAft>
              <a:buNone/>
            </a:pPr>
            <a:r>
              <a:t/>
            </a:r>
            <a:endParaRPr sz="1300">
              <a:solidFill>
                <a:schemeClr val="dk1"/>
              </a:solidFill>
              <a:latin typeface="Verdana"/>
              <a:ea typeface="Verdana"/>
              <a:cs typeface="Verdana"/>
              <a:sym typeface="Verdana"/>
            </a:endParaRPr>
          </a:p>
        </p:txBody>
      </p:sp>
      <p:pic>
        <p:nvPicPr>
          <p:cNvPr id="700" name="Google Shape;700;p65"/>
          <p:cNvPicPr preferRelativeResize="0"/>
          <p:nvPr/>
        </p:nvPicPr>
        <p:blipFill>
          <a:blip r:embed="rId3">
            <a:alphaModFix/>
          </a:blip>
          <a:stretch>
            <a:fillRect/>
          </a:stretch>
        </p:blipFill>
        <p:spPr>
          <a:xfrm>
            <a:off x="4931250" y="755000"/>
            <a:ext cx="4082625" cy="4082625"/>
          </a:xfrm>
          <a:prstGeom prst="rect">
            <a:avLst/>
          </a:prstGeom>
          <a:noFill/>
          <a:ln>
            <a:noFill/>
          </a:ln>
        </p:spPr>
      </p:pic>
      <p:pic>
        <p:nvPicPr>
          <p:cNvPr id="701" name="Google Shape;701;p65"/>
          <p:cNvPicPr preferRelativeResize="0"/>
          <p:nvPr/>
        </p:nvPicPr>
        <p:blipFill>
          <a:blip r:embed="rId4">
            <a:alphaModFix/>
          </a:blip>
          <a:stretch>
            <a:fillRect/>
          </a:stretch>
        </p:blipFill>
        <p:spPr>
          <a:xfrm>
            <a:off x="889275" y="3417025"/>
            <a:ext cx="3679650" cy="1420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pic>
        <p:nvPicPr>
          <p:cNvPr descr="Genetic engineering | Genetics | Biology | FuseSchool&#10;&#10;In this video we'll go in depth with genetic engineering; on how it is made and what is it used for!&#10;Keep watching to unravel the meaning of genetics!&#10;&#10;&#10;CREDITS&#10;Animation &amp; Design: Chloe Fyvie Adams&#10;Narration: Dale Bennett&#10;Script: Helen de Wet&#10;&#10;SUBSCRIBE to the FuseSchool YouTube channel for many more educational videos. Our teachers and animators come together to make fun &amp; easy-to-understand videos in Chemistry, Biology, Physics, Maths &amp; ICT.&#10;&#10;VISIT us at www.fuseschool.org, where all of our videos are carefully organised into topics and specific orders, and to see what else we have on offer. Comment, like and share with other learners. You can both ask and answer questions, and teachers will get back to you.&#10;&#10;These videos can be used in a flipped classroom model or as a revision aid. &#10;&#10;Find all of our Chemistry videos here: https://www.youtube.com/playlist?list=PLW0gavSzhMlReKGMVfUt6YuNQsO0bqSMV&#10;&#10;Find all of our Biology videos here: https://www.youtube.com/playlist?list=PLW0gavSzhMlQYSpKryVcEr3ERup5SxHl0&#10;&#10;Find all of our Physics videos here: https://www.youtube.com/playlist?list=PLW0gavSzhMlTWm6Sr5uN2Uv5TXHiZUq8b&#10;&#10;Find all of our Maths videos here: https://www.youtube.com/playlist?list=PLW0gavSzhMlTKBNbHH5u1SNnsrOaacKLu&#10;&#10;Instagram: https://www.instagram.com/fuseschool/&#10;Facebook: https://www.facebook.com/fuseschool/&#10;Twitter: https://twitter.com/fuseSchool&#10;&#10;Access a deeper Learning Experience in the FuseSchool platform and app: www.fuseschool.org&#10;Follow us: http://www.youtube.com/fuseschool&#10;Befriend us: http://www.facebook.com/fuseschool&#10;&#10;This is an Open Educational Resource. If you would like to use the video, please contact us: info@fuseschool.org" id="706" name="Google Shape;706;p66" title="Genetic engineering | Genetics | Biology | FuseSchool">
            <a:hlinkClick r:id="rId3"/>
          </p:cNvPr>
          <p:cNvPicPr preferRelativeResize="0"/>
          <p:nvPr/>
        </p:nvPicPr>
        <p:blipFill>
          <a:blip r:embed="rId4">
            <a:alphaModFix/>
          </a:blip>
          <a:stretch>
            <a:fillRect/>
          </a:stretch>
        </p:blipFill>
        <p:spPr>
          <a:xfrm>
            <a:off x="2533400" y="3700303"/>
            <a:ext cx="2397850" cy="1348797"/>
          </a:xfrm>
          <a:prstGeom prst="rect">
            <a:avLst/>
          </a:prstGeom>
          <a:noFill/>
          <a:ln>
            <a:noFill/>
          </a:ln>
        </p:spPr>
      </p:pic>
      <p:sp>
        <p:nvSpPr>
          <p:cNvPr id="707" name="Google Shape;707;p66"/>
          <p:cNvSpPr txBox="1"/>
          <p:nvPr/>
        </p:nvSpPr>
        <p:spPr>
          <a:xfrm>
            <a:off x="187800" y="496625"/>
            <a:ext cx="50028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400"/>
              <a:buFont typeface="Verdana"/>
              <a:buNone/>
            </a:pPr>
            <a:r>
              <a:rPr b="1" lang="en" sz="2400">
                <a:solidFill>
                  <a:srgbClr val="393B3F"/>
                </a:solidFill>
                <a:latin typeface="Verdana"/>
                <a:ea typeface="Verdana"/>
                <a:cs typeface="Verdana"/>
                <a:sym typeface="Verdana"/>
              </a:rPr>
              <a:t>Genetic Engineering</a:t>
            </a:r>
            <a:endParaRPr/>
          </a:p>
        </p:txBody>
      </p:sp>
      <p:sp>
        <p:nvSpPr>
          <p:cNvPr id="708" name="Google Shape;708;p66"/>
          <p:cNvSpPr txBox="1"/>
          <p:nvPr/>
        </p:nvSpPr>
        <p:spPr>
          <a:xfrm>
            <a:off x="526950" y="1061725"/>
            <a:ext cx="4404300" cy="17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Verdana"/>
                <a:ea typeface="Verdana"/>
                <a:cs typeface="Verdana"/>
                <a:sym typeface="Verdana"/>
              </a:rPr>
              <a:t>Cont.</a:t>
            </a:r>
            <a:endParaRPr sz="1300">
              <a:solidFill>
                <a:schemeClr val="dk1"/>
              </a:solidFill>
              <a:latin typeface="Verdana"/>
              <a:ea typeface="Verdana"/>
              <a:cs typeface="Verdana"/>
              <a:sym typeface="Verdana"/>
            </a:endParaRPr>
          </a:p>
          <a:p>
            <a:pPr indent="-311150" lvl="0" marL="457200" rtl="0" algn="l">
              <a:spcBef>
                <a:spcPts val="1000"/>
              </a:spcBef>
              <a:spcAft>
                <a:spcPts val="0"/>
              </a:spcAft>
              <a:buClr>
                <a:schemeClr val="dk1"/>
              </a:buClr>
              <a:buSzPts val="1300"/>
              <a:buFont typeface="Verdana"/>
              <a:buAutoNum type="arabicPeriod" startAt="3"/>
            </a:pPr>
            <a:r>
              <a:rPr lang="en" sz="1300">
                <a:solidFill>
                  <a:schemeClr val="dk1"/>
                </a:solidFill>
                <a:latin typeface="Verdana"/>
                <a:ea typeface="Verdana"/>
                <a:cs typeface="Verdana"/>
                <a:sym typeface="Verdana"/>
              </a:rPr>
              <a:t>Mix the samples and use </a:t>
            </a:r>
            <a:r>
              <a:rPr b="1" lang="en" sz="1300">
                <a:solidFill>
                  <a:schemeClr val="dk1"/>
                </a:solidFill>
                <a:latin typeface="Verdana"/>
                <a:ea typeface="Verdana"/>
                <a:cs typeface="Verdana"/>
                <a:sym typeface="Verdana"/>
              </a:rPr>
              <a:t>DNA ligase to fuse/glue</a:t>
            </a:r>
            <a:r>
              <a:rPr lang="en" sz="1300">
                <a:solidFill>
                  <a:schemeClr val="dk1"/>
                </a:solidFill>
                <a:latin typeface="Verdana"/>
                <a:ea typeface="Verdana"/>
                <a:cs typeface="Verdana"/>
                <a:sym typeface="Verdana"/>
              </a:rPr>
              <a:t> the cut-out insulin gene into the plasmid</a:t>
            </a:r>
            <a:endParaRPr sz="1300">
              <a:solidFill>
                <a:schemeClr val="dk1"/>
              </a:solidFill>
              <a:latin typeface="Verdana"/>
              <a:ea typeface="Verdana"/>
              <a:cs typeface="Verdana"/>
              <a:sym typeface="Verdana"/>
            </a:endParaRPr>
          </a:p>
          <a:p>
            <a:pPr indent="-311150" lvl="0" marL="457200" rtl="0" algn="l">
              <a:spcBef>
                <a:spcPts val="1000"/>
              </a:spcBef>
              <a:spcAft>
                <a:spcPts val="0"/>
              </a:spcAft>
              <a:buClr>
                <a:schemeClr val="dk1"/>
              </a:buClr>
              <a:buSzPts val="1300"/>
              <a:buFont typeface="Verdana"/>
              <a:buAutoNum type="arabicPeriod" startAt="3"/>
            </a:pPr>
            <a:r>
              <a:rPr lang="en" sz="1300">
                <a:solidFill>
                  <a:schemeClr val="dk1"/>
                </a:solidFill>
                <a:latin typeface="Verdana"/>
                <a:ea typeface="Verdana"/>
                <a:cs typeface="Verdana"/>
                <a:sym typeface="Verdana"/>
              </a:rPr>
              <a:t>Allow bacteria to take up plasmid from their environment by transformation</a:t>
            </a:r>
            <a:endParaRPr sz="1300">
              <a:solidFill>
                <a:schemeClr val="dk1"/>
              </a:solidFill>
              <a:latin typeface="Verdana"/>
              <a:ea typeface="Verdana"/>
              <a:cs typeface="Verdana"/>
              <a:sym typeface="Verdana"/>
            </a:endParaRPr>
          </a:p>
          <a:p>
            <a:pPr indent="-311150" lvl="0" marL="457200" rtl="0" algn="l">
              <a:spcBef>
                <a:spcPts val="1000"/>
              </a:spcBef>
              <a:spcAft>
                <a:spcPts val="0"/>
              </a:spcAft>
              <a:buClr>
                <a:schemeClr val="dk1"/>
              </a:buClr>
              <a:buSzPts val="1300"/>
              <a:buFont typeface="Verdana"/>
              <a:buAutoNum type="arabicPeriod" startAt="3"/>
            </a:pPr>
            <a:r>
              <a:rPr lang="en" sz="1300">
                <a:solidFill>
                  <a:schemeClr val="dk1"/>
                </a:solidFill>
                <a:latin typeface="Verdana"/>
                <a:ea typeface="Verdana"/>
                <a:cs typeface="Verdana"/>
                <a:sym typeface="Verdana"/>
              </a:rPr>
              <a:t>Allow growth of bacterial colonies on petri dish</a:t>
            </a:r>
            <a:endParaRPr sz="1300">
              <a:solidFill>
                <a:schemeClr val="dk1"/>
              </a:solidFill>
              <a:latin typeface="Verdana"/>
              <a:ea typeface="Verdana"/>
              <a:cs typeface="Verdana"/>
              <a:sym typeface="Verdana"/>
            </a:endParaRPr>
          </a:p>
          <a:p>
            <a:pPr indent="-311150" lvl="0" marL="457200" rtl="0" algn="l">
              <a:spcBef>
                <a:spcPts val="1000"/>
              </a:spcBef>
              <a:spcAft>
                <a:spcPts val="1000"/>
              </a:spcAft>
              <a:buClr>
                <a:schemeClr val="dk1"/>
              </a:buClr>
              <a:buSzPts val="1300"/>
              <a:buFont typeface="Verdana"/>
              <a:buAutoNum type="arabicPeriod" startAt="3"/>
            </a:pPr>
            <a:r>
              <a:rPr lang="en" sz="1300">
                <a:solidFill>
                  <a:schemeClr val="dk1"/>
                </a:solidFill>
                <a:latin typeface="Verdana"/>
                <a:ea typeface="Verdana"/>
                <a:cs typeface="Verdana"/>
                <a:sym typeface="Verdana"/>
              </a:rPr>
              <a:t>Isolate insulin producing bacteria and extract insulin</a:t>
            </a:r>
            <a:endParaRPr sz="1300">
              <a:solidFill>
                <a:schemeClr val="dk1"/>
              </a:solidFill>
              <a:latin typeface="Verdana"/>
              <a:ea typeface="Verdana"/>
              <a:cs typeface="Verdana"/>
              <a:sym typeface="Verdana"/>
            </a:endParaRPr>
          </a:p>
        </p:txBody>
      </p:sp>
      <p:pic>
        <p:nvPicPr>
          <p:cNvPr id="709" name="Google Shape;709;p66"/>
          <p:cNvPicPr preferRelativeResize="0"/>
          <p:nvPr/>
        </p:nvPicPr>
        <p:blipFill>
          <a:blip r:embed="rId5">
            <a:alphaModFix/>
          </a:blip>
          <a:stretch>
            <a:fillRect/>
          </a:stretch>
        </p:blipFill>
        <p:spPr>
          <a:xfrm>
            <a:off x="4931250" y="755000"/>
            <a:ext cx="4082625" cy="4082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1000"/>
                                        <p:tgtEl>
                                          <p:spTgt spid="7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pic>
        <p:nvPicPr>
          <p:cNvPr id="714" name="Google Shape;714;p67"/>
          <p:cNvPicPr preferRelativeResize="0"/>
          <p:nvPr/>
        </p:nvPicPr>
        <p:blipFill>
          <a:blip r:embed="rId3">
            <a:alphaModFix/>
          </a:blip>
          <a:stretch>
            <a:fillRect/>
          </a:stretch>
        </p:blipFill>
        <p:spPr>
          <a:xfrm>
            <a:off x="1261325" y="757425"/>
            <a:ext cx="6477524" cy="38645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68"/>
          <p:cNvSpPr txBox="1"/>
          <p:nvPr/>
        </p:nvSpPr>
        <p:spPr>
          <a:xfrm>
            <a:off x="824850" y="528050"/>
            <a:ext cx="81882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2400"/>
              <a:buFont typeface="Verdana"/>
              <a:buNone/>
            </a:pPr>
            <a:r>
              <a:rPr b="1" lang="en" sz="2400">
                <a:solidFill>
                  <a:srgbClr val="393B3F"/>
                </a:solidFill>
                <a:latin typeface="Verdana"/>
                <a:ea typeface="Verdana"/>
                <a:cs typeface="Verdana"/>
                <a:sym typeface="Verdana"/>
              </a:rPr>
              <a:t>Extra: </a:t>
            </a:r>
            <a:r>
              <a:rPr b="1" lang="en" sz="2400">
                <a:solidFill>
                  <a:srgbClr val="393B3F"/>
                </a:solidFill>
                <a:latin typeface="Verdana"/>
                <a:ea typeface="Verdana"/>
                <a:cs typeface="Verdana"/>
                <a:sym typeface="Verdana"/>
              </a:rPr>
              <a:t>Genetic Engineering</a:t>
            </a:r>
            <a:endParaRPr/>
          </a:p>
        </p:txBody>
      </p:sp>
      <p:sp>
        <p:nvSpPr>
          <p:cNvPr id="720" name="Google Shape;720;p68"/>
          <p:cNvSpPr txBox="1"/>
          <p:nvPr/>
        </p:nvSpPr>
        <p:spPr>
          <a:xfrm>
            <a:off x="604200" y="1023350"/>
            <a:ext cx="7935600" cy="1746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1000"/>
              </a:spcAft>
              <a:buClr>
                <a:schemeClr val="dk1"/>
              </a:buClr>
              <a:buSzPts val="1300"/>
              <a:buFont typeface="Verdana"/>
              <a:buChar char="●"/>
            </a:pPr>
            <a:r>
              <a:rPr lang="en" sz="1300">
                <a:solidFill>
                  <a:schemeClr val="dk1"/>
                </a:solidFill>
                <a:latin typeface="Verdana"/>
                <a:ea typeface="Verdana"/>
                <a:cs typeface="Verdana"/>
                <a:sym typeface="Verdana"/>
              </a:rPr>
              <a:t>Genetic engineering is a fast growing field of science. There are so many fascinating and instructional videos on the internet. I encourage you to seek out some videos on this topic to learn more. Here are a few to get started with:</a:t>
            </a:r>
            <a:endParaRPr sz="1300">
              <a:solidFill>
                <a:schemeClr val="dk1"/>
              </a:solidFill>
              <a:latin typeface="Verdana"/>
              <a:ea typeface="Verdana"/>
              <a:cs typeface="Verdana"/>
              <a:sym typeface="Verdana"/>
            </a:endParaRPr>
          </a:p>
        </p:txBody>
      </p:sp>
      <p:pic>
        <p:nvPicPr>
          <p:cNvPr descr="Are GMOs bad for your health? Or is this fear unfounded?&#10;&#10;&#10;OUR CHANNELS&#10;▀▀▀▀▀▀▀▀▀▀▀▀▀▀▀▀▀▀▀▀▀▀▀▀▀▀&#10;German Channel: https://kgs.link/youtubeDE &#10;Spanish Channel: https://kgs.link/youtubeES &#10;&#10;&#10;HOW CAN YOU SUPPORT US?&#10;▀▀▀▀▀▀▀▀▀▀▀▀▀▀▀▀▀▀▀▀▀▀▀▀▀▀&#10;This is how we make our living and it would be a pleasure if you support us!&#10;&#10;Get Merch designed with ❤ from https://kgs.link/shop  &#10;Join the Patreon Bird Army 🐧 https://kgs.link/patreon  &#10;&#10;&#10;DISCUSSIONS &amp; SOCIAL MEDIA&#10;▀▀▀▀▀▀▀▀▀▀▀▀▀▀▀▀▀▀▀▀▀▀▀▀▀▀&#10;Reddit:            https://kgs.link/reddit&#10;Instagram:     https://kgs.link/instagram&#10;Twitter:           https://kgs.link/twitter&#10;Facebook:      https://kgs.link/facebook&#10;Discord:          https://kgs.link/discord&#10;Newsletter:    https://kgs.link/newsletter&#10;&#10;&#10;OUR VOICE&#10;▀▀▀▀▀▀▀▀▀▀▀▀▀▀▀▀▀▀▀▀▀▀▀▀▀▀&#10;The Kurzgesagt voice is from &#10;Steve Taylor:  https://kgs.link/youtube-voice&#10;&#10;&#10;OUR MUSIC ♬♪&#10;▀▀▀▀▀▀▀▀▀▀▀▀▀▀▀▀▀▀▀▀▀▀▀▀▀▀&#10;700+ minutes of Kurzgesagt Soundtracks by Epic Mountain:&#10;&#10;Spotify:            https://kgs.link/music-spotify&#10;Soundcloud:   https://kgs.link/music-soundcloud&#10;Bandcamp:     https://kgs.link/music-bandcamp&#10;Youtube:          https://kgs.link/music-youtube&#10;Facebook:       https://kgs.link/music-facebook&#10;&#10;The Soundtrack of this video:&#10;&#10;Soundcloud: http://bit.ly/2okalIy&#10;Bandcamp: http://bit.ly/2nCOQnR&#10;Facebook: https://www.facebook.com/epic-mountain-music&#10;&#10;&#10;🐦🐧🐤 PATREON BIRD ARMY 🐤🐧🐦&#10;▀▀▀▀▀▀▀▀▀▀▀▀▀▀▀▀▀▀▀▀▀▀▀▀▀▀&#10;Many Thanks to our wonderful Patreons from http://kgs.link/patreon who support us every month and made this video possible:&#10;&#10;Richard Martinez, Festive  Madman, Christopher Jimenez, William Robertson, Peter, Christin Paul, Sitong Li, Noah T Blanchard, conquesttintin, Lukas Schopphoff, Vivian Wagner, Leon Klang, Max Wahrhaftig, Adrià, Vila Ruaix, Christian Fiedler, Adam Martin, Benjamin Bethea, Robert Smith, Stif, Alexandria  Walters, Jack  Neubauer, Gabriele Simeone, ComradKing, Michael  Malocha, Paul Rozs, Mark Provan, oskars, Dar, Daria  Blednova, Joshua Smith, Ke2theKe, Constantin-Marius  Jaeck, Christopher  Davidson, DK DK, Jon, Richter, Nova Kane, Someone, David Joseph, nsa  smith, Husita, Robert Arnaud, SG2 Infinity, Jawnan, Dan Lukas  Lundh, Jose Retana, Jake wirtanen, Abdulaziz Al-Kuwari, Roy Malamud, Krishna Yogi, Gonçalo Marques, Duke spork, itamar steigrad, I3aneFuL, Georg Kranz, Shiro Kawa, Janet Kim, Santina Lin, Chris Serdaris, Occam, Radek Starý, Abraham Callahan, Brent Charles, Emil Kampp, Scott Chamberlin-Wibbeke, Sebastian  Gemal Vitting, Ray Jobbins, Jacques Quail, Scott Yanos, Tim Preuß, Attila Bögözi, Tarot, Noah Fechter-Dickson, Bogdan Bucur, James Bell, Jarek, Noah T-Blanchard, Adriana Vila&#10;&#10;&#10;SOURCES&#10;▀▀▀▀▀▀▀▀▀▀▀▀▀▀▀▀▀▀▀▀▀▀▀▀▀▀&#10;#What is natural:&#10;&#10;GM insulin:&#10;http://bit.ly/2ncHaW5&#10;&#10;Genetic engineering for thousands of years:&#10;http://bit.ly/2eCHKfi&#10;http://bit.ly/2mLCvPm&#10;&#10;CRISPR:&#10;http://bit.ly/2ncI2uN&#10;&#10;# Are GMOs bad for your health&#10;GMOs and gene flow:&#10;http://bit.ly/2bKauBe&#10;&#10;terminator seeds:&#10;http://n.pr/2o0ADSZ&#10;http://bit.ly/2obZ9NS&#10;&#10;Plants that are destined to be eaten are evaluated by different agencies&#10;http://bit.ly/2mLbU5g&#10;http://bit.ly/2nGPtNy&#10;http://bit.ly/2ncMXf0&#10;&#10;GMOs are safe– various studies and reports by respected authorities:&#10;National Academies of Science, Engineering and Medicine:&#10;http://bit.ly/2o0IT55&#10;&#10;An overview of the last 10 years of genetically engineered crop safety research:&#10;http://bit.ly/2ot8tfH&#10;&#10;Letter of 110 Nobel laureates vouching for GMOs:&#10;http://bit.ly/295Nvg1&#10;&#10;WHO:&#10;http://bit.ly/1slbfSV&#10;&#10;Various others:&#10;http://bit.ly/1pEOq9T&#10;http://bit.ly/1xq9iGn&#10;http://bit.ly/14XU8yl&#10;http://pewrsr.ch/1LqMLAe&#10;http://bit.ly/2nduCOV&#10;http://bit.ly/20BHOsU&#10;&#10;Bt crops:&#10;http://bit.ly/2nd9rg8&#10;&#10;herbicide-resistant crops:&#10;http://bit.ly/2o5kdJk&#10;http://bit.ly/2o5nSGQ&#10;&#10;# What good GMOs can do&#10;&#10;Bt eggplants:&#10;http://bit.ly/2nHbdsW&#10;http://bit.ly/2nvmg89&#10;&#10;Gm papaya:&#10;http://bit.ly/2nbN0ab&#10;http://bit.ly/2nvl6cz&#10;http://bit.ly/2ndxPy0&#10;&#10;# Look in the crystal ball: &#10;&#10;drought-resistant crops:&#10;http://bit.ly/2mLmnxf&#10;&#10;plants that produce more nutrients:&#10;http://bbc.in/1WxsfnJ&#10;&#10;vitamin-fortified banana:&#10;http://bit.ly/1MKS0sJ&#10;&#10;nitrogen-fixing crops:&#10;http://bit.ly/2mLN9Wn&#10;http://bit.ly/2nc9mrZ&#10;&#10;Chestnut tree:&#10;http://bit.ly/1VqkL2D&#10;&#10;Potential for landsparing:&#10;http://go.nature.com/2oc18Sp&#10;http://bit.ly/1T1J2NX&#10;&#10;# Further reading:&#10;&#10;Bt cotton in India:&#10;http://bit.ly/2nH5AdZ&#10;http://bit.ly/1JQKG1u&#10;&#10;Article on popular science:&#10;http://bit.ly/2o5oVqp&#10;&#10;Blog series on GMOs:&#10;http://bit.ly/2o18w5X&#10;&#10;Ecomodernist manifesto:&#10;http://bit.ly/1PSVE6n&#10;&#10;&#10;&#10;Help us caption &amp; translate this video!&#10;&#10;http://www.youtube.com/timedtext_cs_panel?c=UCsXVk37bltHxD1rDPwtNM8Q&amp;tab=2&#10;&#10;Are GMOs Good or Bad? Genetic Engineering &amp; Our Food" id="721" name="Google Shape;721;p68" title="Are GMOs Good or Bad? Genetic Engineering &amp; Our Food">
            <a:hlinkClick r:id="rId3"/>
          </p:cNvPr>
          <p:cNvPicPr preferRelativeResize="0"/>
          <p:nvPr/>
        </p:nvPicPr>
        <p:blipFill>
          <a:blip r:embed="rId4">
            <a:alphaModFix/>
          </a:blip>
          <a:stretch>
            <a:fillRect/>
          </a:stretch>
        </p:blipFill>
        <p:spPr>
          <a:xfrm>
            <a:off x="3010075" y="3203950"/>
            <a:ext cx="3048000" cy="1714500"/>
          </a:xfrm>
          <a:prstGeom prst="rect">
            <a:avLst/>
          </a:prstGeom>
          <a:noFill/>
          <a:ln>
            <a:noFill/>
          </a:ln>
        </p:spPr>
      </p:pic>
      <p:pic>
        <p:nvPicPr>
          <p:cNvPr descr="Designer babies, the end of diseases, genetically modified humans that never age. Outrageous things that used to be science fiction are suddenly becoming reality. The only thing we know for sure is that things will change irreversibly.&#10;&#10;&#10;OUR CHANNELS&#10;▀▀▀▀▀▀▀▀▀▀▀▀▀▀▀▀▀▀▀▀▀▀▀▀▀▀&#10;German Channel: https://kgs.link/youtubeDE &#10;Spanish Channel: https://kgs.link/youtubeES &#10;&#10;&#10;HOW CAN YOU SUPPORT US?&#10;▀▀▀▀▀▀▀▀▀▀▀▀▀▀▀▀▀▀▀▀▀▀▀▀▀▀&#10;This is how we make our living and it would be a pleasure if you support us!&#10;&#10;Get Merch designed with ❤ from https://kgs.link/shop  &#10;Join the Patreon Bird Army 🐧 https://kgs.link/patreon  &#10;&#10;&#10;DISCUSSIONS &amp; SOCIAL MEDIA&#10;▀▀▀▀▀▀▀▀▀▀▀▀▀▀▀▀▀▀▀▀▀▀▀▀▀▀&#10;Reddit:            https://kgs.link/reddit&#10;Instagram:     https://kgs.link/instagram&#10;Twitter:           https://kgs.link/twitter&#10;Facebook:      https://kgs.link/facebook&#10;Discord:          https://kgs.link/discord&#10;Newsletter:    https://kgs.link/newsletter&#10;&#10;&#10;OUR VOICE&#10;▀▀▀▀▀▀▀▀▀▀▀▀▀▀▀▀▀▀▀▀▀▀▀▀▀▀&#10;The Kurzgesagt voice is from &#10;Steve Taylor:  https://kgs.link/youtube-voice&#10;&#10;&#10;OUR MUSIC ♬♪&#10;▀▀▀▀▀▀▀▀▀▀▀▀▀▀▀▀▀▀▀▀▀▀▀▀▀▀&#10;700+ minutes of Kurzgesagt Soundtracks by Epic Mountain:&#10;&#10;Spotify:            https://kgs.link/music-spotify&#10;Soundcloud:   https://kgs.link/music-soundcloud&#10;Bandcamp:     https://kgs.link/music-bandcamp&#10;Youtube:          https://kgs.link/music-youtube&#10;Facebook:       https://kgs.link/music-facebook&#10;&#10;The Soundtrack of this video:&#10;&#10;Soundcloud: http://bit.ly/2aRxNZd&#10;Bandcamp: http://bit.ly/2berrSW&#10; &#10;Thanks to Volker Henn, James Gurney and (prefers anonymity) for help with this video! &#10;&#10;🐦🐧🐤 PATREON BIRD ARMY 🐤🐧🐦&#10;▀▀▀▀▀▀▀▀▀▀▀▀▀▀▀▀▀▀▀▀▀▀▀▀▀▀&#10;Many Thanks to our wonderful Patreons from http://kgs.link/patreon who support us every month and made this video possible:&#10;&#10;Jeffrey Schneider, Konstantin Kaganovich, Tom Leiser, Archie Castillo, Russell Eishard, Ben Kershaw, Marius Stollen,  Henry Bowman, Ben Johns, Bogdan Radu, Sam Toland, Pierre Thalamy, Christopher Morgan, Rocks Arent People, Ross Devereux, Pascal Michaud, Derek DuBreuil, Sofia Quintero, Robert Swiniarski, Merkt Kızılırmak, Michelle Rowley, Andy Dong, Saphir Patel, Harris Rotto, Thomas Huzij, Ryan James Burke, NTRX, Chaz Lewis, Amir Resali, The War on Stupid, John Pestana, Lucien Delbert, iaDRM, Jacob Edwards, Lauritz Klaus, Jason Hunt, Marcus : ), Taylor Lau, Rhett H Eisenberg, Mr.Z, Jeremy Dumet, Fatman13, Kasturi Raghavan,  Kousora, Rich Sekmistrz, Mozart Peter, Gaby Germanos, Andreas Hertle, Alena Vlachova, Zdravko Šašek&#10;&#10;&#10;SOURCES AND FURTHER READING: &#10;▀▀▀▀▀▀▀▀▀▀▀▀▀▀▀▀▀▀▀▀▀▀▀▀▀▀&#10;&#10;The best book we read about the topic:  GMO Sapiens &#10;&#10;https://goo.gl/NxFmk8&#10;&#10;(affiliate link, we get a cut if buy the book!)&#10;&#10;&#10;– Good Overview by Wired:&#10;http://bit.ly/1DuM4zq&#10;&#10;–timeline of computer development:&#10;http://bit.ly/1VtiJ0N&#10;&#10;– Selective breeding: &#10;http://bit.ly/29GaPVS&#10;&#10;– DNA:&#10;http://bit.ly/1rQs8Yk&#10;&#10;– Radiation research:&#10;http://bit.ly/2ad6wT1&#10;&#10;– inserting DNA snippets into organisms:&#10;http://bit.ly/2apyqbj&#10;&#10;– First genetically modified animal:&#10;http://bit.ly/2abkfYO&#10;&#10;– First GM patent:&#10;http://bit.ly/2a5cCox&#10;&#10;– chemicals produced by GMOs:&#10;http://bit.ly/29UvTbh&#10;http://bit.ly/2abeHwU&#10;http://bit.ly/2a86sBy&#10;&#10;– Flavr Savr Tomato:&#10;http://bit.ly/29YPVwN&#10;&#10;– First Human Engineering:&#10;http://bit.ly/29ZTfsf&#10;&#10;– glowing fish:&#10;http://bit.ly/29UwuJU&#10;&#10;– CRISPR:&#10;http://go.nature.com/24Nhykm&#10;&#10;– HIV cut from cells and rats with CRISPR:&#10;http://go.nature.com/1RwR1xI&#10;http://ti.me/1TlADSi&#10;&#10;– first human CRISPR trials fighting cancer:&#10;http://go.nature.com/28PW40r&#10;&#10;first human CRISPR trial approved by Chinese for August 2016:&#10;http://go.nature.com/29RYNnK&#10;&#10;– genetic diseases:&#10;http://go.nature.com/2a8f7ny&#10;&#10;– pregnancies with Down Syndrome terminated:&#10;http://bit.ly/2acVyvg&#10;( 1999 European study)&#10;&#10;– CRISPR and aging:&#10;http://bit.ly/2a3NYAV&#10;http://bit.ly/SuomTy&#10;http://go.nature.com/29WpDj1&#10;http://ti.me/1R7Vus9&#10;&#10;Help us caption &amp; translate this video!&#10;&#10;http://www.youtube.com/timedtext_cs_panel?c=UCsXVk37bltHxD1rDPwtNM8Q&amp;tab=2" id="722" name="Google Shape;722;p68" title="Genetic Engineering Will Change Everything Forever – CRISPR">
            <a:hlinkClick r:id="rId5"/>
          </p:cNvPr>
          <p:cNvPicPr preferRelativeResize="0"/>
          <p:nvPr/>
        </p:nvPicPr>
        <p:blipFill>
          <a:blip r:embed="rId6">
            <a:alphaModFix/>
          </a:blip>
          <a:stretch>
            <a:fillRect/>
          </a:stretch>
        </p:blipFill>
        <p:spPr>
          <a:xfrm>
            <a:off x="5932425" y="1851225"/>
            <a:ext cx="3048000" cy="1714500"/>
          </a:xfrm>
          <a:prstGeom prst="rect">
            <a:avLst/>
          </a:prstGeom>
          <a:noFill/>
          <a:ln>
            <a:noFill/>
          </a:ln>
        </p:spPr>
      </p:pic>
      <p:pic>
        <p:nvPicPr>
          <p:cNvPr descr="Explore the science of the groundbreaking technology for editing genes, called CRISPR- Cas9, and how the tool could be used to cure diseases.&#10;&#10;--&#10;&#10;From the smallest single-celled organism to the largest creatures on Earth, every living thing is defined by its genes. With recent advancements, scientists can change an organism’s fundamental features in record time using gene editing tools such as CRISPR. But where did this medical marvel come from and how does it work? Andrea M. Henle examines the science behind this new technology.&#10;&#10;Lesson by Andrea M. Henle, directed by Adam Wells.&#10;&#10;Sign up for our newsletter: http://bit.ly/TEDEdNewsletter&#10;Support us on Patreon: http://bit.ly/TEDEdPatreon&#10;Follow us on Facebook: http://bit.ly/TEDEdFacebook&#10;Find us on Twitter: http://bit.ly/TEDEdTwitter&#10;Peep us on Instagram: http://bit.ly/TEDEdInstagram&#10;View full lesson: https://ed.ted.com/lessons/how-crispr-lets-you-edit-dna-andrea-m-henle&#10;&#10;Thank you so much to our patrons for your support! Without you this video would not be possible! Felipe Hoff, Kyanta Yap, Lewis Westbury, Ojas Kapoor, Mirzat Turap, Jaime Arriola, Emilia Alvarado, Javid Gozalov, Paul Beard, Deepak Iyer, Markus Goldhacker, Mihai Sandu, Keven Webb, Maurice Castonguay, Kristiyan Bonev, Maryam Dadkhah, Joshua Wasniewski, Michał Friedrich, Arlene Spiegelman, Doug Henry, denison martins fernandes, Hashem Al, Daniel Nester, Richard A Berkley, Benjamin Chan, Dee Wei, Abdallah Absi, Denise A Pitts, Pi Guanghui, Doris, Kurt Almendras, Raymond Lee, Nicolas Silva, Tsz Hin Edmund Chan, Melvin Williams, Tirath Singh Pandher, Athena Grace Franco, Terry Minion, Mauricio Basso, Kelvin Lam, jj5252, Karlee Finch, Chumi Ogbonna, Barthélémy Michalon, Lefty McGoo, Lucas Pincerato, Mohamed Elsayed, Amin Shahril, Mihail Radu Pantilimon and Chris Thompson." id="723" name="Google Shape;723;p68" title="How CRISPR lets you edit DNA - Andrea M. Henle">
            <a:hlinkClick r:id="rId7"/>
          </p:cNvPr>
          <p:cNvPicPr preferRelativeResize="0"/>
          <p:nvPr/>
        </p:nvPicPr>
        <p:blipFill>
          <a:blip r:embed="rId8">
            <a:alphaModFix/>
          </a:blip>
          <a:stretch>
            <a:fillRect/>
          </a:stretch>
        </p:blipFill>
        <p:spPr>
          <a:xfrm>
            <a:off x="526950" y="1851225"/>
            <a:ext cx="2609175" cy="1467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gtEl>
                                        <p:attrNameLst>
                                          <p:attrName>style.visibility</p:attrName>
                                        </p:attrNameLst>
                                      </p:cBhvr>
                                      <p:to>
                                        <p:strVal val="visible"/>
                                      </p:to>
                                    </p:set>
                                    <p:animEffect filter="fade" transition="in">
                                      <p:cBhvr>
                                        <p:cTn dur="1000"/>
                                        <p:tgtEl>
                                          <p:spTgt spid="7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1000"/>
                                        <p:tgtEl>
                                          <p:spTgt spid="7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1000"/>
                                        <p:tgtEl>
                                          <p:spTgt spid="7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69"/>
          <p:cNvSpPr txBox="1"/>
          <p:nvPr/>
        </p:nvSpPr>
        <p:spPr>
          <a:xfrm>
            <a:off x="1031550" y="475700"/>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 sz="2800" u="none" cap="none" strike="noStrike">
                <a:solidFill>
                  <a:srgbClr val="393B3F"/>
                </a:solidFill>
                <a:latin typeface="Verdana"/>
                <a:ea typeface="Verdana"/>
                <a:cs typeface="Verdana"/>
                <a:sym typeface="Verdana"/>
              </a:rPr>
              <a:t>Gel Electrophoresis</a:t>
            </a:r>
            <a:endParaRPr/>
          </a:p>
        </p:txBody>
      </p:sp>
      <p:sp>
        <p:nvSpPr>
          <p:cNvPr id="729" name="Google Shape;729;p69"/>
          <p:cNvSpPr txBox="1"/>
          <p:nvPr/>
        </p:nvSpPr>
        <p:spPr>
          <a:xfrm>
            <a:off x="784650" y="1037200"/>
            <a:ext cx="76968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 sz="1800" u="none" cap="none" strike="noStrike">
                <a:solidFill>
                  <a:srgbClr val="393B3F"/>
                </a:solidFill>
                <a:latin typeface="Verdana"/>
                <a:ea typeface="Verdana"/>
                <a:cs typeface="Verdana"/>
                <a:sym typeface="Verdana"/>
              </a:rPr>
              <a:t>Through a process known as </a:t>
            </a:r>
            <a:r>
              <a:rPr b="1" i="1" lang="en" sz="1800" u="none" cap="none" strike="noStrike">
                <a:solidFill>
                  <a:srgbClr val="393B3F"/>
                </a:solidFill>
                <a:latin typeface="Verdana"/>
                <a:ea typeface="Verdana"/>
                <a:cs typeface="Verdana"/>
                <a:sym typeface="Verdana"/>
              </a:rPr>
              <a:t>gel electrophoresis</a:t>
            </a:r>
            <a:r>
              <a:rPr b="0" i="0" lang="en" sz="1800" u="none" cap="none" strike="noStrike">
                <a:solidFill>
                  <a:srgbClr val="393B3F"/>
                </a:solidFill>
                <a:latin typeface="Verdana"/>
                <a:ea typeface="Verdana"/>
                <a:cs typeface="Verdana"/>
                <a:sym typeface="Verdana"/>
              </a:rPr>
              <a:t>, we can analyze and compare the DNA of any organism:</a:t>
            </a:r>
            <a:endParaRPr/>
          </a:p>
        </p:txBody>
      </p:sp>
      <p:sp>
        <p:nvSpPr>
          <p:cNvPr id="730" name="Google Shape;730;p69"/>
          <p:cNvSpPr txBox="1"/>
          <p:nvPr/>
        </p:nvSpPr>
        <p:spPr>
          <a:xfrm>
            <a:off x="548425" y="1730225"/>
            <a:ext cx="4445700" cy="1871700"/>
          </a:xfrm>
          <a:prstGeom prst="rect">
            <a:avLst/>
          </a:prstGeom>
          <a:noFill/>
          <a:ln>
            <a:noFill/>
          </a:ln>
        </p:spPr>
        <p:txBody>
          <a:bodyPr anchorCtr="0" anchor="t" bIns="45700" lIns="91425" spcFirstLastPara="1" rIns="91425" wrap="square" tIns="45700">
            <a:noAutofit/>
          </a:bodyPr>
          <a:lstStyle/>
          <a:p>
            <a:pPr indent="-304800" lvl="0" marL="457200" marR="0" rtl="0" algn="l">
              <a:lnSpc>
                <a:spcPct val="100000"/>
              </a:lnSpc>
              <a:spcBef>
                <a:spcPts val="0"/>
              </a:spcBef>
              <a:spcAft>
                <a:spcPts val="0"/>
              </a:spcAft>
              <a:buClr>
                <a:srgbClr val="393B3F"/>
              </a:buClr>
              <a:buSzPts val="1200"/>
              <a:buFont typeface="Verdana"/>
              <a:buChar char="●"/>
            </a:pPr>
            <a:r>
              <a:rPr lang="en" sz="1200">
                <a:solidFill>
                  <a:srgbClr val="393B3F"/>
                </a:solidFill>
                <a:latin typeface="Verdana"/>
                <a:ea typeface="Verdana"/>
                <a:cs typeface="Verdana"/>
                <a:sym typeface="Verdana"/>
              </a:rPr>
              <a:t>Involves applying a current to a gel made of agarose sugar → </a:t>
            </a:r>
            <a:r>
              <a:rPr b="1" lang="en" sz="1200">
                <a:solidFill>
                  <a:srgbClr val="393B3F"/>
                </a:solidFill>
                <a:latin typeface="Verdana"/>
                <a:ea typeface="Verdana"/>
                <a:cs typeface="Verdana"/>
                <a:sym typeface="Verdana"/>
              </a:rPr>
              <a:t>there is a positive electrode end and a negative electrode end</a:t>
            </a:r>
            <a:endParaRPr b="1" sz="12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b="1" sz="1200">
              <a:solidFill>
                <a:srgbClr val="393B3F"/>
              </a:solidFill>
              <a:latin typeface="Verdana"/>
              <a:ea typeface="Verdana"/>
              <a:cs typeface="Verdana"/>
              <a:sym typeface="Verdana"/>
            </a:endParaRPr>
          </a:p>
          <a:p>
            <a:pPr indent="-304800" lvl="0" marL="457200" marR="0" rtl="0" algn="l">
              <a:lnSpc>
                <a:spcPct val="100000"/>
              </a:lnSpc>
              <a:spcBef>
                <a:spcPts val="0"/>
              </a:spcBef>
              <a:spcAft>
                <a:spcPts val="0"/>
              </a:spcAft>
              <a:buClr>
                <a:srgbClr val="393B3F"/>
              </a:buClr>
              <a:buSzPts val="1200"/>
              <a:buFont typeface="Verdana"/>
              <a:buChar char="●"/>
            </a:pPr>
            <a:r>
              <a:rPr b="1" i="0" lang="en" sz="1200" u="none" cap="none" strike="noStrike">
                <a:solidFill>
                  <a:srgbClr val="393B3F"/>
                </a:solidFill>
                <a:latin typeface="Verdana"/>
                <a:ea typeface="Verdana"/>
                <a:cs typeface="Verdana"/>
                <a:sym typeface="Verdana"/>
              </a:rPr>
              <a:t>Restriction enzymes</a:t>
            </a:r>
            <a:r>
              <a:rPr b="0" i="0" lang="en" sz="1200" u="none" cap="none" strike="noStrike">
                <a:solidFill>
                  <a:srgbClr val="393B3F"/>
                </a:solidFill>
                <a:latin typeface="Verdana"/>
                <a:ea typeface="Verdana"/>
                <a:cs typeface="Verdana"/>
                <a:sym typeface="Verdana"/>
              </a:rPr>
              <a:t> cut DNA at specific points, </a:t>
            </a:r>
            <a:r>
              <a:rPr lang="en" sz="1200">
                <a:solidFill>
                  <a:srgbClr val="393B3F"/>
                </a:solidFill>
                <a:latin typeface="Verdana"/>
                <a:ea typeface="Verdana"/>
                <a:cs typeface="Verdana"/>
                <a:sym typeface="Verdana"/>
              </a:rPr>
              <a:t>forming a series of varying sized fragments</a:t>
            </a:r>
            <a:endParaRPr sz="1300"/>
          </a:p>
          <a:p>
            <a:pPr indent="-304800" lvl="0" marL="457200" marR="0" rtl="0" algn="l">
              <a:lnSpc>
                <a:spcPct val="100000"/>
              </a:lnSpc>
              <a:spcBef>
                <a:spcPts val="1000"/>
              </a:spcBef>
              <a:spcAft>
                <a:spcPts val="0"/>
              </a:spcAft>
              <a:buClr>
                <a:srgbClr val="393B3F"/>
              </a:buClr>
              <a:buSzPts val="1200"/>
              <a:buFont typeface="Verdana"/>
              <a:buChar char="●"/>
            </a:pPr>
            <a:r>
              <a:rPr b="1" i="0" lang="en" sz="1200" u="none" cap="none" strike="noStrike">
                <a:solidFill>
                  <a:srgbClr val="393B3F"/>
                </a:solidFill>
                <a:latin typeface="Verdana"/>
                <a:ea typeface="Verdana"/>
                <a:cs typeface="Verdana"/>
                <a:sym typeface="Verdana"/>
              </a:rPr>
              <a:t>DNA is negatively charged</a:t>
            </a:r>
            <a:r>
              <a:rPr b="0" i="0" lang="en" sz="1200" u="none" cap="none" strike="noStrike">
                <a:solidFill>
                  <a:srgbClr val="393B3F"/>
                </a:solidFill>
                <a:latin typeface="Verdana"/>
                <a:ea typeface="Verdana"/>
                <a:cs typeface="Verdana"/>
                <a:sym typeface="Verdana"/>
              </a:rPr>
              <a:t>, so </a:t>
            </a:r>
            <a:r>
              <a:rPr lang="en" sz="1200">
                <a:solidFill>
                  <a:srgbClr val="393B3F"/>
                </a:solidFill>
                <a:latin typeface="Verdana"/>
                <a:ea typeface="Verdana"/>
                <a:cs typeface="Verdana"/>
                <a:sym typeface="Verdana"/>
              </a:rPr>
              <a:t>it </a:t>
            </a:r>
            <a:r>
              <a:rPr b="0" i="0" lang="en" sz="1200" u="none" cap="none" strike="noStrike">
                <a:solidFill>
                  <a:srgbClr val="393B3F"/>
                </a:solidFill>
                <a:latin typeface="Verdana"/>
                <a:ea typeface="Verdana"/>
                <a:cs typeface="Verdana"/>
                <a:sym typeface="Verdana"/>
              </a:rPr>
              <a:t>will migrate towards the positive electrode</a:t>
            </a:r>
            <a:endParaRPr b="0" i="0" sz="1200" u="none" cap="none" strike="noStrike">
              <a:solidFill>
                <a:srgbClr val="393B3F"/>
              </a:solidFill>
              <a:latin typeface="Verdana"/>
              <a:ea typeface="Verdana"/>
              <a:cs typeface="Verdana"/>
              <a:sym typeface="Verdana"/>
            </a:endParaRPr>
          </a:p>
          <a:p>
            <a:pPr indent="-304800" lvl="0" marL="457200" marR="0" rtl="0" algn="l">
              <a:lnSpc>
                <a:spcPct val="100000"/>
              </a:lnSpc>
              <a:spcBef>
                <a:spcPts val="1000"/>
              </a:spcBef>
              <a:spcAft>
                <a:spcPts val="0"/>
              </a:spcAft>
              <a:buClr>
                <a:srgbClr val="393B3F"/>
              </a:buClr>
              <a:buSzPts val="1200"/>
              <a:buFont typeface="Verdana"/>
              <a:buChar char="●"/>
            </a:pPr>
            <a:r>
              <a:rPr lang="en" sz="1200">
                <a:solidFill>
                  <a:srgbClr val="393B3F"/>
                </a:solidFill>
                <a:latin typeface="Verdana"/>
                <a:ea typeface="Verdana"/>
                <a:cs typeface="Verdana"/>
                <a:sym typeface="Verdana"/>
              </a:rPr>
              <a:t>The smaller the fragment, the easier it is to move through the gel, therefore </a:t>
            </a:r>
            <a:r>
              <a:rPr b="1" lang="en" sz="1200">
                <a:solidFill>
                  <a:srgbClr val="393B3F"/>
                </a:solidFill>
                <a:latin typeface="Verdana"/>
                <a:ea typeface="Verdana"/>
                <a:cs typeface="Verdana"/>
                <a:sym typeface="Verdana"/>
              </a:rPr>
              <a:t>smaller fragments will migrate further</a:t>
            </a:r>
            <a:endParaRPr b="1" sz="1200">
              <a:solidFill>
                <a:srgbClr val="393B3F"/>
              </a:solidFill>
              <a:latin typeface="Verdana"/>
              <a:ea typeface="Verdana"/>
              <a:cs typeface="Verdana"/>
              <a:sym typeface="Verdana"/>
            </a:endParaRPr>
          </a:p>
          <a:p>
            <a:pPr indent="-304800" lvl="0" marL="457200" marR="0" rtl="0" algn="l">
              <a:lnSpc>
                <a:spcPct val="100000"/>
              </a:lnSpc>
              <a:spcBef>
                <a:spcPts val="1000"/>
              </a:spcBef>
              <a:spcAft>
                <a:spcPts val="0"/>
              </a:spcAft>
              <a:buClr>
                <a:srgbClr val="393B3F"/>
              </a:buClr>
              <a:buSzPts val="1200"/>
              <a:buFont typeface="Verdana"/>
              <a:buChar char="●"/>
            </a:pPr>
            <a:r>
              <a:rPr b="0" i="0" lang="en" sz="1200" u="none" cap="none" strike="noStrike">
                <a:solidFill>
                  <a:srgbClr val="393B3F"/>
                </a:solidFill>
                <a:latin typeface="Verdana"/>
                <a:ea typeface="Verdana"/>
                <a:cs typeface="Verdana"/>
                <a:sym typeface="Verdana"/>
              </a:rPr>
              <a:t>The banding pattern of the gel allows us to compare samples of DNA </a:t>
            </a:r>
            <a:endParaRPr sz="1300"/>
          </a:p>
          <a:p>
            <a:pPr indent="0" lvl="0" marL="0" marR="0" rtl="0" algn="l">
              <a:lnSpc>
                <a:spcPct val="100000"/>
              </a:lnSpc>
              <a:spcBef>
                <a:spcPts val="1000"/>
              </a:spcBef>
              <a:spcAft>
                <a:spcPts val="0"/>
              </a:spcAft>
              <a:buClr>
                <a:srgbClr val="000000"/>
              </a:buClr>
              <a:buSzPts val="1600"/>
              <a:buFont typeface="Arial"/>
              <a:buNone/>
            </a:pPr>
            <a:r>
              <a:t/>
            </a:r>
            <a:endParaRPr b="0" i="0" sz="1500" u="none" cap="none" strike="noStrike">
              <a:solidFill>
                <a:srgbClr val="393B3F"/>
              </a:solidFill>
              <a:latin typeface="Verdana"/>
              <a:ea typeface="Verdana"/>
              <a:cs typeface="Verdana"/>
              <a:sym typeface="Verdana"/>
            </a:endParaRPr>
          </a:p>
        </p:txBody>
      </p:sp>
      <p:pic>
        <p:nvPicPr>
          <p:cNvPr id="731" name="Google Shape;731;p69"/>
          <p:cNvPicPr preferRelativeResize="0"/>
          <p:nvPr/>
        </p:nvPicPr>
        <p:blipFill rotWithShape="1">
          <a:blip r:embed="rId3">
            <a:alphaModFix/>
          </a:blip>
          <a:srcRect b="0" l="0" r="0" t="0"/>
          <a:stretch/>
        </p:blipFill>
        <p:spPr>
          <a:xfrm>
            <a:off x="4921250" y="3122275"/>
            <a:ext cx="4222750" cy="1922675"/>
          </a:xfrm>
          <a:prstGeom prst="rect">
            <a:avLst/>
          </a:prstGeom>
          <a:noFill/>
          <a:ln>
            <a:noFill/>
          </a:ln>
        </p:spPr>
      </p:pic>
      <p:pic>
        <p:nvPicPr>
          <p:cNvPr descr="Explore electrophoresis with The Amoeba Sisters! This biotechnology video introduces gel electrophoresis and how it functions to separate molecules by size. Expand video details for table of contents. 👇 Video has handout: http://www.amoebasisters.com/handouts. &#10;&#10;Special thanks for feedback from Dr. Brian W Davis and his team at Texas A&amp;M University!&#10;&#10;Major Points in Video:&#10;Intro 00:00&#10;(Example of) How Gel Electrophoresis Can Sort Molecules 1:42&#10;Restriction Enzyme Role 3:20&#10;Example 1: Mother and Baby Guppy Electrophoresis 4:31&#10;Longer DNA Fragments vs. Smaller DNA Fragments 4:49&#10;Example 2: Problem Solving with Gel Electrophoresis 5:33&#10;DNA Ladder: 6:05&#10;DNA Fingerprinting 7:14&#10;&#10;CORRECTIONS:&#10;1:39 we should add the word &quot;tool&quot; like we mention at end of video as gel electrophoresis is a tool used in the field of biotechnology&#10;&#10;The Amoeba Sisters videos demystify science with humor and relevance. The videos center on Pinky's certification and experience in teaching biology at the high school level. For more information about The Amoeba Sisters, visit: &#10;http://www.amoebasisters.com/about-us.html&#10;&#10;We cover the basics in biology concepts at the secondary level. If you are looking to discover more about biology and go into depth beyond these basics, our recommended reference is the FREE, peer reviewed, open source OpenStax biology textbook: https://openstax.org/details/books/biology&#10;&#10;⭐We have a menu of our resources that complement our videos! Visit https://docs.google.com/spreadsheets/d/1b3kmAzFEjWgoMKCrkeNCKFYunWk04IuLY93jI4OY0gY/edit?usp=sharing&#10;&#10;Support Us? https://www.amoebasisters.com/support-us&#10;&#10;Our Resources:&#10;Biology Playlist: https://www.youtube.com/playlist?list=PLwL0Myd7Dk1F0iQPGrjehze3eDpco1eVz&#10;GIFs: https://www.amoebasisters.com/gifs.html&#10;Handouts: https://www.amoebasisters.com/handouts.html&#10;Comics: https://www.amoebasisters.com/parameciumparlorcomics&#10;Unlectured Series: https://www.amoebasisters.com/unlectured&#10;&#10;Connect with us!&#10;Website: http://www.AmoebaSisters.com&#10;Twitter: http://www.twitter.com/AmoebaSisters&#10;Facebook: http://www.facebook.com/AmoebaSisters&#10;Tumblr: http://www.amoebasisters.tumblr.com&#10;Pinterest: http://www.pinterest.com/AmoebaSister­s&#10;Instagram: https://www.instagram.com/amoebasistersofficial/&#10;&#10;Visit our Redbubble store at https://www.amoebasisters.com/store&#10;&#10;TIPS FOR VIEWING EDU YOUTUBE VIDEOS:&#10;Want to learn tips for viewing edu YouTube videos including changing the speed, language, viewing the transcript, etc? https://www.amoebasisters.com/pinkys-ed-tech-favorites/10-youtube-tips-from-an-edu-youtuber-duo&#10;&#10;MUSIC:&#10;Music in this video is listed free to use/no attribution required from the YouTube audio library https://www.youtube.com/audiolibrary/music?feature=blog&#10;&#10;COMMUNITY:&#10;We take pride in our AWESOME community, and we welcome feedback and discussion.  However, please remember that this is an education channel. See YouTube's community guidelines and how YouTube handles comments that are reported by the community. We also reserve the right to remove comments.&#10;&#10;TRANSLATIONS:&#10;Hindi Subtitles Credit: Alisha Aggarwal&#10;&#10;While we don't allow dubbing of our videos, we do gladly accept subtitle translations from our community. Some translated subtitles on our videos were translated by the community using YouTube's community-contributed subtitle feature. After the feature was discontinued by YouTube, we have another option for submitting translated subtitles here:  https://www.amoebasisters.com/pinkys-ed-tech-favorites/community-contributed-subtitles We want to thank our amazing community for the generosity of their time in continuing to create translated subtitles. If you have a concern about community contributed contributions, please contact us." id="732" name="Google Shape;732;p69" title="Gel Electrophoresis">
            <a:hlinkClick r:id="rId4"/>
          </p:cNvPr>
          <p:cNvPicPr preferRelativeResize="0"/>
          <p:nvPr/>
        </p:nvPicPr>
        <p:blipFill>
          <a:blip r:embed="rId5">
            <a:alphaModFix/>
          </a:blip>
          <a:stretch>
            <a:fillRect/>
          </a:stretch>
        </p:blipFill>
        <p:spPr>
          <a:xfrm>
            <a:off x="6041076" y="1659426"/>
            <a:ext cx="2407564" cy="1354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1000"/>
                                        <p:tgtEl>
                                          <p:spTgt spid="7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id="737" name="Google Shape;737;p70"/>
          <p:cNvPicPr preferRelativeResize="0"/>
          <p:nvPr/>
        </p:nvPicPr>
        <p:blipFill rotWithShape="1">
          <a:blip r:embed="rId3">
            <a:alphaModFix/>
          </a:blip>
          <a:srcRect b="0" l="0" r="0" t="0"/>
          <a:stretch/>
        </p:blipFill>
        <p:spPr>
          <a:xfrm>
            <a:off x="818225" y="556325"/>
            <a:ext cx="2648850" cy="1960149"/>
          </a:xfrm>
          <a:prstGeom prst="rect">
            <a:avLst/>
          </a:prstGeom>
          <a:noFill/>
          <a:ln>
            <a:noFill/>
          </a:ln>
        </p:spPr>
      </p:pic>
      <p:pic>
        <p:nvPicPr>
          <p:cNvPr id="738" name="Google Shape;738;p70"/>
          <p:cNvPicPr preferRelativeResize="0"/>
          <p:nvPr/>
        </p:nvPicPr>
        <p:blipFill rotWithShape="1">
          <a:blip r:embed="rId4">
            <a:alphaModFix/>
          </a:blip>
          <a:srcRect b="0" l="0" r="0" t="0"/>
          <a:stretch/>
        </p:blipFill>
        <p:spPr>
          <a:xfrm>
            <a:off x="1751774" y="1584175"/>
            <a:ext cx="3258749" cy="3128224"/>
          </a:xfrm>
          <a:prstGeom prst="rect">
            <a:avLst/>
          </a:prstGeom>
          <a:noFill/>
          <a:ln>
            <a:noFill/>
          </a:ln>
        </p:spPr>
      </p:pic>
      <p:sp>
        <p:nvSpPr>
          <p:cNvPr id="739" name="Google Shape;739;p70"/>
          <p:cNvSpPr txBox="1"/>
          <p:nvPr/>
        </p:nvSpPr>
        <p:spPr>
          <a:xfrm>
            <a:off x="5217750" y="1839750"/>
            <a:ext cx="3208500" cy="14640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0"/>
              </a:spcBef>
              <a:spcAft>
                <a:spcPts val="0"/>
              </a:spcAft>
              <a:buClr>
                <a:srgbClr val="000000"/>
              </a:buClr>
              <a:buSzPts val="1700"/>
              <a:buFont typeface="Average"/>
              <a:buChar char="➢"/>
            </a:pPr>
            <a:r>
              <a:rPr b="0" i="0" lang="en" sz="1700" u="none" cap="none" strike="noStrike">
                <a:solidFill>
                  <a:srgbClr val="000000"/>
                </a:solidFill>
                <a:latin typeface="Average"/>
                <a:ea typeface="Average"/>
                <a:cs typeface="Average"/>
                <a:sym typeface="Average"/>
              </a:rPr>
              <a:t>E.g. Samples #1 and #4 display the same banding pattern, indicating that the organisms they were taken from are closely related, most </a:t>
            </a:r>
            <a:r>
              <a:rPr lang="en" sz="1700">
                <a:latin typeface="Average"/>
                <a:ea typeface="Average"/>
                <a:cs typeface="Average"/>
                <a:sym typeface="Average"/>
              </a:rPr>
              <a:t>likely being the same individual</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pic>
        <p:nvPicPr>
          <p:cNvPr id="744" name="Google Shape;744;p71"/>
          <p:cNvPicPr preferRelativeResize="0"/>
          <p:nvPr/>
        </p:nvPicPr>
        <p:blipFill>
          <a:blip r:embed="rId3">
            <a:alphaModFix/>
          </a:blip>
          <a:stretch>
            <a:fillRect/>
          </a:stretch>
        </p:blipFill>
        <p:spPr>
          <a:xfrm>
            <a:off x="2008450" y="0"/>
            <a:ext cx="5116607" cy="514350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72"/>
          <p:cNvSpPr txBox="1"/>
          <p:nvPr/>
        </p:nvSpPr>
        <p:spPr>
          <a:xfrm>
            <a:off x="711900" y="1025450"/>
            <a:ext cx="3338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Who committed the crime?</a:t>
            </a:r>
            <a:endParaRPr/>
          </a:p>
        </p:txBody>
      </p:sp>
      <p:sp>
        <p:nvSpPr>
          <p:cNvPr id="750" name="Google Shape;750;p72"/>
          <p:cNvSpPr txBox="1"/>
          <p:nvPr/>
        </p:nvSpPr>
        <p:spPr>
          <a:xfrm>
            <a:off x="4693025" y="1025450"/>
            <a:ext cx="3338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Who is the father?</a:t>
            </a:r>
            <a:endParaRPr/>
          </a:p>
        </p:txBody>
      </p:sp>
      <p:sp>
        <p:nvSpPr>
          <p:cNvPr id="751" name="Google Shape;751;p72"/>
          <p:cNvSpPr txBox="1"/>
          <p:nvPr/>
        </p:nvSpPr>
        <p:spPr>
          <a:xfrm>
            <a:off x="932900" y="530150"/>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 sz="2800" u="none" cap="none" strike="noStrike">
                <a:solidFill>
                  <a:srgbClr val="393B3F"/>
                </a:solidFill>
                <a:latin typeface="Verdana"/>
                <a:ea typeface="Verdana"/>
                <a:cs typeface="Verdana"/>
                <a:sym typeface="Verdana"/>
              </a:rPr>
              <a:t>Applications of Gel Electrophoresis</a:t>
            </a:r>
            <a:endParaRPr/>
          </a:p>
        </p:txBody>
      </p:sp>
      <p:sp>
        <p:nvSpPr>
          <p:cNvPr id="752" name="Google Shape;752;p72"/>
          <p:cNvSpPr txBox="1"/>
          <p:nvPr/>
        </p:nvSpPr>
        <p:spPr>
          <a:xfrm>
            <a:off x="910500" y="3823450"/>
            <a:ext cx="2941500" cy="9123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Verdana"/>
                <a:ea typeface="Verdana"/>
                <a:cs typeface="Verdana"/>
                <a:sym typeface="Verdana"/>
              </a:rPr>
              <a:t>Note: To identify a suspect, it needs to be a perfect match. Every band has to have an exact match.</a:t>
            </a:r>
            <a:endParaRPr sz="1300">
              <a:solidFill>
                <a:schemeClr val="dk2"/>
              </a:solidFill>
              <a:latin typeface="Verdana"/>
              <a:ea typeface="Verdana"/>
              <a:cs typeface="Verdana"/>
              <a:sym typeface="Verdana"/>
            </a:endParaRPr>
          </a:p>
        </p:txBody>
      </p:sp>
      <p:sp>
        <p:nvSpPr>
          <p:cNvPr id="753" name="Google Shape;753;p72"/>
          <p:cNvSpPr txBox="1"/>
          <p:nvPr/>
        </p:nvSpPr>
        <p:spPr>
          <a:xfrm>
            <a:off x="4817400" y="3629575"/>
            <a:ext cx="3402300" cy="11142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Verdana"/>
                <a:ea typeface="Verdana"/>
                <a:cs typeface="Verdana"/>
                <a:sym typeface="Verdana"/>
              </a:rPr>
              <a:t>Note: Remember that a child has half of its DNA from mom and half from dad. To identify a father, every band that could not from the mother, has to be from the father. </a:t>
            </a:r>
            <a:endParaRPr sz="1300">
              <a:solidFill>
                <a:schemeClr val="dk2"/>
              </a:solidFill>
              <a:latin typeface="Verdana"/>
              <a:ea typeface="Verdana"/>
              <a:cs typeface="Verdana"/>
              <a:sym typeface="Verdana"/>
            </a:endParaRPr>
          </a:p>
        </p:txBody>
      </p:sp>
      <p:pic>
        <p:nvPicPr>
          <p:cNvPr id="754" name="Google Shape;754;p72"/>
          <p:cNvPicPr preferRelativeResize="0"/>
          <p:nvPr/>
        </p:nvPicPr>
        <p:blipFill rotWithShape="1">
          <a:blip r:embed="rId3">
            <a:alphaModFix/>
          </a:blip>
          <a:srcRect b="0" l="0" r="49336" t="0"/>
          <a:stretch/>
        </p:blipFill>
        <p:spPr>
          <a:xfrm>
            <a:off x="4730288" y="1426550"/>
            <a:ext cx="3875375" cy="2203025"/>
          </a:xfrm>
          <a:prstGeom prst="rect">
            <a:avLst/>
          </a:prstGeom>
          <a:noFill/>
          <a:ln>
            <a:noFill/>
          </a:ln>
        </p:spPr>
      </p:pic>
      <p:pic>
        <p:nvPicPr>
          <p:cNvPr id="755" name="Google Shape;755;p72"/>
          <p:cNvPicPr preferRelativeResize="0"/>
          <p:nvPr/>
        </p:nvPicPr>
        <p:blipFill rotWithShape="1">
          <a:blip r:embed="rId3">
            <a:alphaModFix/>
          </a:blip>
          <a:srcRect b="0" l="53078" r="0" t="0"/>
          <a:stretch/>
        </p:blipFill>
        <p:spPr>
          <a:xfrm>
            <a:off x="711900" y="1397050"/>
            <a:ext cx="3589275" cy="22030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pic>
        <p:nvPicPr>
          <p:cNvPr id="760" name="Google Shape;760;p73"/>
          <p:cNvPicPr preferRelativeResize="0"/>
          <p:nvPr/>
        </p:nvPicPr>
        <p:blipFill rotWithShape="1">
          <a:blip r:embed="rId3">
            <a:alphaModFix/>
          </a:blip>
          <a:srcRect b="0" l="0" r="0" t="0"/>
          <a:stretch/>
        </p:blipFill>
        <p:spPr>
          <a:xfrm>
            <a:off x="4966813" y="1426549"/>
            <a:ext cx="2791125" cy="2338524"/>
          </a:xfrm>
          <a:prstGeom prst="rect">
            <a:avLst/>
          </a:prstGeom>
          <a:noFill/>
          <a:ln>
            <a:noFill/>
          </a:ln>
        </p:spPr>
      </p:pic>
      <p:sp>
        <p:nvSpPr>
          <p:cNvPr id="761" name="Google Shape;761;p73"/>
          <p:cNvSpPr txBox="1"/>
          <p:nvPr/>
        </p:nvSpPr>
        <p:spPr>
          <a:xfrm>
            <a:off x="711900" y="1025450"/>
            <a:ext cx="3338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Who committed the crime?</a:t>
            </a:r>
            <a:endParaRPr/>
          </a:p>
        </p:txBody>
      </p:sp>
      <p:sp>
        <p:nvSpPr>
          <p:cNvPr id="762" name="Google Shape;762;p73"/>
          <p:cNvSpPr txBox="1"/>
          <p:nvPr/>
        </p:nvSpPr>
        <p:spPr>
          <a:xfrm>
            <a:off x="4693025" y="1025450"/>
            <a:ext cx="3338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verage"/>
              <a:buNone/>
            </a:pPr>
            <a:r>
              <a:rPr b="0" i="0" lang="en" sz="1400" u="none" cap="none" strike="noStrike">
                <a:solidFill>
                  <a:srgbClr val="000000"/>
                </a:solidFill>
                <a:latin typeface="Average"/>
                <a:ea typeface="Average"/>
                <a:cs typeface="Average"/>
                <a:sym typeface="Average"/>
              </a:rPr>
              <a:t>Who is the father?</a:t>
            </a:r>
            <a:endParaRPr/>
          </a:p>
        </p:txBody>
      </p:sp>
      <p:sp>
        <p:nvSpPr>
          <p:cNvPr id="763" name="Google Shape;763;p73"/>
          <p:cNvSpPr txBox="1"/>
          <p:nvPr/>
        </p:nvSpPr>
        <p:spPr>
          <a:xfrm>
            <a:off x="932900" y="530150"/>
            <a:ext cx="7203000" cy="49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 sz="2800">
                <a:solidFill>
                  <a:srgbClr val="393B3F"/>
                </a:solidFill>
                <a:latin typeface="Verdana"/>
                <a:ea typeface="Verdana"/>
                <a:cs typeface="Verdana"/>
                <a:sym typeface="Verdana"/>
              </a:rPr>
              <a:t>Practice</a:t>
            </a:r>
            <a:endParaRPr/>
          </a:p>
        </p:txBody>
      </p:sp>
      <p:sp>
        <p:nvSpPr>
          <p:cNvPr id="764" name="Google Shape;764;p73"/>
          <p:cNvSpPr/>
          <p:nvPr/>
        </p:nvSpPr>
        <p:spPr>
          <a:xfrm>
            <a:off x="6936650" y="1454975"/>
            <a:ext cx="456300" cy="2162700"/>
          </a:xfrm>
          <a:prstGeom prst="rect">
            <a:avLst/>
          </a:prstGeom>
          <a:noFill/>
          <a:ln cap="flat" cmpd="sng" w="3810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pic>
        <p:nvPicPr>
          <p:cNvPr id="765" name="Google Shape;765;p73"/>
          <p:cNvPicPr preferRelativeResize="0"/>
          <p:nvPr/>
        </p:nvPicPr>
        <p:blipFill>
          <a:blip r:embed="rId4">
            <a:alphaModFix/>
          </a:blip>
          <a:stretch>
            <a:fillRect/>
          </a:stretch>
        </p:blipFill>
        <p:spPr>
          <a:xfrm>
            <a:off x="711900" y="1454974"/>
            <a:ext cx="3734475" cy="2477325"/>
          </a:xfrm>
          <a:prstGeom prst="rect">
            <a:avLst/>
          </a:prstGeom>
          <a:noFill/>
          <a:ln>
            <a:noFill/>
          </a:ln>
        </p:spPr>
      </p:pic>
      <p:sp>
        <p:nvSpPr>
          <p:cNvPr id="766" name="Google Shape;766;p73"/>
          <p:cNvSpPr/>
          <p:nvPr/>
        </p:nvSpPr>
        <p:spPr>
          <a:xfrm>
            <a:off x="2897175" y="1454975"/>
            <a:ext cx="547500" cy="2477400"/>
          </a:xfrm>
          <a:prstGeom prst="rect">
            <a:avLst/>
          </a:prstGeom>
          <a:noFill/>
          <a:ln cap="flat" cmpd="sng" w="3810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stin">
  <a:themeElements>
    <a:clrScheme name="Custom 16">
      <a:dk1>
        <a:srgbClr val="000000"/>
      </a:dk1>
      <a:lt1>
        <a:srgbClr val="FFFFFF"/>
      </a:lt1>
      <a:dk2>
        <a:srgbClr val="676A73"/>
      </a:dk2>
      <a:lt2>
        <a:srgbClr val="676A73"/>
      </a:lt2>
      <a:accent1>
        <a:srgbClr val="4D4F55"/>
      </a:accent1>
      <a:accent2>
        <a:srgbClr val="87FFB8"/>
      </a:accent2>
      <a:accent3>
        <a:srgbClr val="87FFB8"/>
      </a:accent3>
      <a:accent4>
        <a:srgbClr val="87FFB8"/>
      </a:accent4>
      <a:accent5>
        <a:srgbClr val="87FFB8"/>
      </a:accent5>
      <a:accent6>
        <a:srgbClr val="87FFB8"/>
      </a:accent6>
      <a:hlink>
        <a:srgbClr val="26272A"/>
      </a:hlink>
      <a:folHlink>
        <a:srgbClr val="2627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