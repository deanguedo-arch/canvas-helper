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7D1D32-54A4-4CD0-9579-C6DFF6211CF5}">
  <a:tblStyle styleId="{347D1D32-54A4-4CD0-9579-C6DFF6211CF5}" styleName="Table_0">
    <a:wholeTbl>
      <a:tcTxStyle b="off" i="off">
        <a:font>
          <a:latin typeface="Verdana"/>
          <a:ea typeface="Verdana"/>
          <a:cs typeface="Verdana"/>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E8E8E8"/>
          </a:solidFill>
        </a:fill>
      </a:tcStyle>
    </a:wholeTbl>
    <a:band1H>
      <a:tcTxStyle/>
      <a:tcStyle>
        <a:fill>
          <a:solidFill>
            <a:srgbClr val="CDCDCE"/>
          </a:solidFill>
        </a:fill>
      </a:tcStyle>
    </a:band1H>
    <a:band2H>
      <a:tcTxStyle/>
    </a:band2H>
    <a:band1V>
      <a:tcTxStyle/>
      <a:tcStyle>
        <a:fill>
          <a:solidFill>
            <a:srgbClr val="CDCDCE"/>
          </a:solidFill>
        </a:fill>
      </a:tcStyle>
    </a:band1V>
    <a:band2V>
      <a:tcTxStyle/>
    </a:band2V>
    <a:lastCol>
      <a:tcTxStyle b="on" i="off"/>
    </a:lastCol>
    <a:firstCol>
      <a:tcTxStyle b="on" i="off"/>
    </a:firstCol>
    <a:lastRow>
      <a:tcTxStyle b="on" i="off"/>
      <a:tcStyle>
        <a:tcBdr>
          <a:top>
            <a:ln cap="flat" cmpd="sng" w="25400">
              <a:solidFill>
                <a:schemeClr val="accent1"/>
              </a:solidFill>
              <a:prstDash val="solid"/>
              <a:round/>
              <a:headEnd len="sm" w="sm" type="none"/>
              <a:tailEnd len="sm" w="sm" type="none"/>
            </a:ln>
          </a:top>
        </a:tcBdr>
        <a:fill>
          <a:solidFill>
            <a:srgbClr val="E8E8E8"/>
          </a:solidFill>
        </a:fill>
      </a:tcStyle>
    </a:lastRow>
    <a:seCell>
      <a:tcTxStyle/>
    </a:seCell>
    <a:swCell>
      <a:tcTxStyle/>
    </a:swCell>
    <a:firstRow>
      <a:tcTxStyle b="on" i="off"/>
      <a:tcStyle>
        <a:fill>
          <a:solidFill>
            <a:srgbClr val="E8E8E8"/>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slide" Target="slides/slide42.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CA" sz="1200" u="none" cap="none" strike="noStrike">
                <a:solidFill>
                  <a:schemeClr val="dk1"/>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57" name="Google Shape;25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6ba40b36be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6ba40b36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70" name="Google Shape;270;p39: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4feddc54c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4feddc54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4feddc54c_0_16: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4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83" name="Google Shape;28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91" name="Google Shape;29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db01e3e8ca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db01e3e8c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2db01e3e8ca_0_24: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07" name="Google Shape;30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16" name="Google Shape;31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d15a77ceba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d15a77ceb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2d15a77ceba_0_2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32" name="Google Shape;33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d15a77ce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41" name="Google Shape;341;g2d15a77ceb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d15a77ceba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d15a77ceb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2d15a77ceba_0_1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58" name="Google Shape;358;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66" name="Google Shape;36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d15a77ceba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d15a77ceb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2d15a77ceba_0_2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79" name="Google Shape;379;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88" name="Google Shape;38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96" name="Google Shape;39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5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02" name="Google Shape;40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db01e3e8ca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db01e3e8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2db01e3e8ca_0_5: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15" name="Google Shape;415;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23" name="Google Shape;42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31" name="Google Shape;431;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db01e3e8ca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db01e3e8c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2db01e3e8ca_0_1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5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46" name="Google Shape;446;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dc43f2300e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2dc43f2300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2dc43f2300e_0_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62" name="Google Shape;46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715087401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71508740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27150874016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4feddc54c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4feddc54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34feddc54c_0_22: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82" name="Google Shape;48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94" name="Google Shape;494;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05" name="Google Shape;50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12" name="Google Shape;51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21" name="Google Shape;52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02f3dcb5f7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02f3dcb5f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302f3dcb5f7_0_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0427e0534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0427e053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0427e05346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02f3dcb5f7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02f3dcb5f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g302f3dcb5f7_0_1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0427e05346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0427e0534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g30427e05346_0_1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0427e05346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0427e0534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g30427e05346_0_1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0427e05346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0427e0534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g30427e05346_0_34: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0427e05346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0427e0534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g30427e05346_0_25: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7" name="Shape 57"/>
        <p:cNvGrpSpPr/>
        <p:nvPr/>
      </p:nvGrpSpPr>
      <p:grpSpPr>
        <a:xfrm>
          <a:off x="0" y="0"/>
          <a:ext cx="0" cy="0"/>
          <a:chOff x="0" y="0"/>
          <a:chExt cx="0" cy="0"/>
        </a:xfrm>
      </p:grpSpPr>
      <p:grpSp>
        <p:nvGrpSpPr>
          <p:cNvPr id="58" name="Google Shape;58;p2"/>
          <p:cNvGrpSpPr/>
          <p:nvPr/>
        </p:nvGrpSpPr>
        <p:grpSpPr>
          <a:xfrm>
            <a:off x="-645041" y="0"/>
            <a:ext cx="10458613" cy="7116923"/>
            <a:chOff x="-645041" y="0"/>
            <a:chExt cx="10458613" cy="7116923"/>
          </a:xfrm>
        </p:grpSpPr>
        <p:grpSp>
          <p:nvGrpSpPr>
            <p:cNvPr id="59" name="Google Shape;59;p2"/>
            <p:cNvGrpSpPr/>
            <p:nvPr/>
          </p:nvGrpSpPr>
          <p:grpSpPr>
            <a:xfrm>
              <a:off x="0" y="0"/>
              <a:ext cx="9144000" cy="6858000"/>
              <a:chOff x="0" y="0"/>
              <a:chExt cx="9144000" cy="6858000"/>
            </a:xfrm>
          </p:grpSpPr>
          <p:grpSp>
            <p:nvGrpSpPr>
              <p:cNvPr id="60" name="Google Shape;60;p2"/>
              <p:cNvGrpSpPr/>
              <p:nvPr/>
            </p:nvGrpSpPr>
            <p:grpSpPr>
              <a:xfrm>
                <a:off x="0" y="0"/>
                <a:ext cx="2514600" cy="6858000"/>
                <a:chOff x="0" y="0"/>
                <a:chExt cx="2514600" cy="6858000"/>
              </a:xfrm>
            </p:grpSpPr>
            <p:sp>
              <p:nvSpPr>
                <p:cNvPr id="61" name="Google Shape;61;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2" name="Google Shape;62;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3" name="Google Shape;63;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4" name="Google Shape;64;p2"/>
              <p:cNvGrpSpPr/>
              <p:nvPr/>
            </p:nvGrpSpPr>
            <p:grpSpPr>
              <a:xfrm>
                <a:off x="422910" y="0"/>
                <a:ext cx="2514600" cy="6858000"/>
                <a:chOff x="0" y="0"/>
                <a:chExt cx="2514600" cy="6858000"/>
              </a:xfrm>
            </p:grpSpPr>
            <p:sp>
              <p:nvSpPr>
                <p:cNvPr id="65" name="Google Shape;65;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6" name="Google Shape;66;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7" name="Google Shape;67;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8" name="Google Shape;68;p2"/>
              <p:cNvGrpSpPr/>
              <p:nvPr/>
            </p:nvGrpSpPr>
            <p:grpSpPr>
              <a:xfrm rot="10800000">
                <a:off x="6629400" y="0"/>
                <a:ext cx="2514600" cy="6858000"/>
                <a:chOff x="0" y="0"/>
                <a:chExt cx="2514600" cy="6858000"/>
              </a:xfrm>
            </p:grpSpPr>
            <p:sp>
              <p:nvSpPr>
                <p:cNvPr id="69" name="Google Shape;69;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0" name="Google Shape;70;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1" name="Google Shape;71;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2" name="Google Shape;72;p2"/>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3" name="Google Shape;73;p2"/>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4" name="Google Shape;74;p2"/>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5" name="Google Shape;75;p2"/>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6" name="Google Shape;76;p2"/>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7" name="Google Shape;77;p2"/>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8" name="Google Shape;78;p2"/>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9" name="Google Shape;79;p2"/>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80" name="Google Shape;80;p2"/>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1" name="Google Shape;81;p2"/>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2" name="Google Shape;82;p2"/>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3" name="Google Shape;83;p2"/>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4" name="Google Shape;84;p2"/>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5" name="Google Shape;85;p2"/>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6" name="Google Shape;86;p2"/>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7" name="Google Shape;87;p2"/>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8" name="Google Shape;88;p2"/>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9" name="Google Shape;89;p2"/>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0" name="Google Shape;90;p2"/>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1" name="Google Shape;91;p2"/>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2" name="Google Shape;92;p2"/>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3" name="Google Shape;93;p2"/>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4" name="Google Shape;94;p2"/>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5" name="Google Shape;95;p2"/>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6" name="Google Shape;96;p2"/>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97" name="Google Shape;97;p2"/>
          <p:cNvSpPr/>
          <p:nvPr/>
        </p:nvSpPr>
        <p:spPr>
          <a:xfrm>
            <a:off x="4561242" y="-21511"/>
            <a:ext cx="3679200" cy="62718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8" name="Google Shape;98;p2"/>
          <p:cNvSpPr/>
          <p:nvPr/>
        </p:nvSpPr>
        <p:spPr>
          <a:xfrm>
            <a:off x="4649096" y="-21511"/>
            <a:ext cx="3505200" cy="2313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9" name="Google Shape;99;p2"/>
          <p:cNvSpPr txBox="1"/>
          <p:nvPr>
            <p:ph type="ctrTitle"/>
          </p:nvPr>
        </p:nvSpPr>
        <p:spPr>
          <a:xfrm>
            <a:off x="4733365" y="2708476"/>
            <a:ext cx="3313500" cy="17022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3600"/>
              <a:buFont typeface="Verdana"/>
              <a:buNone/>
              <a:defRPr b="0" i="0" sz="36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0" name="Google Shape;100;p2"/>
          <p:cNvSpPr txBox="1"/>
          <p:nvPr>
            <p:ph idx="1" type="subTitle"/>
          </p:nvPr>
        </p:nvSpPr>
        <p:spPr>
          <a:xfrm>
            <a:off x="4733365" y="4421080"/>
            <a:ext cx="3309900" cy="1260600"/>
          </a:xfrm>
          <a:prstGeom prst="rect">
            <a:avLst/>
          </a:prstGeom>
          <a:noFill/>
          <a:ln>
            <a:noFill/>
          </a:ln>
        </p:spPr>
        <p:txBody>
          <a:bodyPr anchorCtr="0" anchor="t" bIns="91425" lIns="91425" spcFirstLastPara="1" rIns="91425" wrap="square" tIns="91425">
            <a:noAutofit/>
          </a:bodyPr>
          <a:lstStyle>
            <a:lvl1pPr lvl="0" marR="0" rtl="0" algn="l">
              <a:spcBef>
                <a:spcPts val="360"/>
              </a:spcBef>
              <a:spcAft>
                <a:spcPts val="0"/>
              </a:spcAft>
              <a:buClr>
                <a:schemeClr val="accent1"/>
              </a:buClr>
              <a:buSzPts val="1368"/>
              <a:buFont typeface="Noto Sans Symbols"/>
              <a:buNone/>
              <a:defRPr b="0" i="0" sz="1800" u="none" cap="none" strike="noStrike">
                <a:solidFill>
                  <a:srgbClr val="424242"/>
                </a:solidFill>
                <a:latin typeface="Verdana"/>
                <a:ea typeface="Verdana"/>
                <a:cs typeface="Verdana"/>
                <a:sym typeface="Verdana"/>
              </a:defRPr>
            </a:lvl1pPr>
            <a:lvl2pPr lvl="1" marR="0" rtl="0" algn="ctr">
              <a:spcBef>
                <a:spcPts val="440"/>
              </a:spcBef>
              <a:spcAft>
                <a:spcPts val="0"/>
              </a:spcAft>
              <a:buClr>
                <a:schemeClr val="accent1"/>
              </a:buClr>
              <a:buSzPts val="1672"/>
              <a:buFont typeface="Noto Sans Symbols"/>
              <a:buNone/>
              <a:defRPr b="0" i="0" sz="2200" u="none" cap="none" strike="noStrike">
                <a:solidFill>
                  <a:srgbClr val="888888"/>
                </a:solidFill>
                <a:latin typeface="Verdana"/>
                <a:ea typeface="Verdana"/>
                <a:cs typeface="Verdana"/>
                <a:sym typeface="Verdana"/>
              </a:defRPr>
            </a:lvl2pPr>
            <a:lvl3pPr lvl="2" marR="0" rtl="0" algn="ctr">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3pPr>
            <a:lvl4pPr lvl="3" marR="0" rtl="0" algn="ctr">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4pPr>
            <a:lvl5pPr lvl="4" marR="0" rtl="0" algn="ctr">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5pPr>
            <a:lvl6pPr lvl="5"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lvl="6"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lvl="7"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lvl="8"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01" name="Google Shape;101;p2"/>
          <p:cNvSpPr txBox="1"/>
          <p:nvPr>
            <p:ph idx="10" type="dt"/>
          </p:nvPr>
        </p:nvSpPr>
        <p:spPr>
          <a:xfrm>
            <a:off x="4738744" y="1516828"/>
            <a:ext cx="2133600" cy="7509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24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2" name="Google Shape;102;p2"/>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03" name="Google Shape;103;p2"/>
          <p:cNvSpPr txBox="1"/>
          <p:nvPr>
            <p:ph idx="11" type="ftr"/>
          </p:nvPr>
        </p:nvSpPr>
        <p:spPr>
          <a:xfrm>
            <a:off x="5303520" y="5719966"/>
            <a:ext cx="28317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4" name="Google Shape;104;p2"/>
          <p:cNvSpPr txBox="1"/>
          <p:nvPr>
            <p:ph idx="12" type="sldNum"/>
          </p:nvPr>
        </p:nvSpPr>
        <p:spPr>
          <a:xfrm>
            <a:off x="4649096" y="5719966"/>
            <a:ext cx="6438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chemeClr val="accent1"/>
                </a:solidFill>
                <a:latin typeface="Verdana"/>
                <a:ea typeface="Verdana"/>
                <a:cs typeface="Verdana"/>
                <a:sym typeface="Verdana"/>
              </a:defRPr>
            </a:lvl1pPr>
            <a:lvl2pPr indent="0" lvl="1" marL="0" marR="0" rtl="0" algn="l">
              <a:spcBef>
                <a:spcPts val="0"/>
              </a:spcBef>
              <a:buNone/>
              <a:defRPr b="0" i="0" sz="1200" u="none" cap="none" strike="noStrike">
                <a:solidFill>
                  <a:schemeClr val="accent1"/>
                </a:solidFill>
                <a:latin typeface="Verdana"/>
                <a:ea typeface="Verdana"/>
                <a:cs typeface="Verdana"/>
                <a:sym typeface="Verdana"/>
              </a:defRPr>
            </a:lvl2pPr>
            <a:lvl3pPr indent="0" lvl="2" marL="0" marR="0" rtl="0" algn="l">
              <a:spcBef>
                <a:spcPts val="0"/>
              </a:spcBef>
              <a:buNone/>
              <a:defRPr b="0" i="0" sz="1200" u="none" cap="none" strike="noStrike">
                <a:solidFill>
                  <a:schemeClr val="accent1"/>
                </a:solidFill>
                <a:latin typeface="Verdana"/>
                <a:ea typeface="Verdana"/>
                <a:cs typeface="Verdana"/>
                <a:sym typeface="Verdana"/>
              </a:defRPr>
            </a:lvl3pPr>
            <a:lvl4pPr indent="0" lvl="3" marL="0" marR="0" rtl="0" algn="l">
              <a:spcBef>
                <a:spcPts val="0"/>
              </a:spcBef>
              <a:buNone/>
              <a:defRPr b="0" i="0" sz="1200" u="none" cap="none" strike="noStrike">
                <a:solidFill>
                  <a:schemeClr val="accent1"/>
                </a:solidFill>
                <a:latin typeface="Verdana"/>
                <a:ea typeface="Verdana"/>
                <a:cs typeface="Verdana"/>
                <a:sym typeface="Verdana"/>
              </a:defRPr>
            </a:lvl4pPr>
            <a:lvl5pPr indent="0" lvl="4" marL="0" marR="0" rtl="0" algn="l">
              <a:spcBef>
                <a:spcPts val="0"/>
              </a:spcBef>
              <a:buNone/>
              <a:defRPr b="0" i="0" sz="1200" u="none" cap="none" strike="noStrike">
                <a:solidFill>
                  <a:schemeClr val="accent1"/>
                </a:solidFill>
                <a:latin typeface="Verdana"/>
                <a:ea typeface="Verdana"/>
                <a:cs typeface="Verdana"/>
                <a:sym typeface="Verdana"/>
              </a:defRPr>
            </a:lvl5pPr>
            <a:lvl6pPr indent="0" lvl="5" marL="0" marR="0" rtl="0" algn="l">
              <a:spcBef>
                <a:spcPts val="0"/>
              </a:spcBef>
              <a:buNone/>
              <a:defRPr b="0" i="0" sz="1200" u="none" cap="none" strike="noStrike">
                <a:solidFill>
                  <a:schemeClr val="accent1"/>
                </a:solidFill>
                <a:latin typeface="Verdana"/>
                <a:ea typeface="Verdana"/>
                <a:cs typeface="Verdana"/>
                <a:sym typeface="Verdana"/>
              </a:defRPr>
            </a:lvl6pPr>
            <a:lvl7pPr indent="0" lvl="6" marL="0" marR="0" rtl="0" algn="l">
              <a:spcBef>
                <a:spcPts val="0"/>
              </a:spcBef>
              <a:buNone/>
              <a:defRPr b="0" i="0" sz="1200" u="none" cap="none" strike="noStrike">
                <a:solidFill>
                  <a:schemeClr val="accent1"/>
                </a:solidFill>
                <a:latin typeface="Verdana"/>
                <a:ea typeface="Verdana"/>
                <a:cs typeface="Verdana"/>
                <a:sym typeface="Verdana"/>
              </a:defRPr>
            </a:lvl7pPr>
            <a:lvl8pPr indent="0" lvl="7" marL="0" marR="0" rtl="0" algn="l">
              <a:spcBef>
                <a:spcPts val="0"/>
              </a:spcBef>
              <a:buNone/>
              <a:defRPr b="0" i="0" sz="1200" u="none" cap="none" strike="noStrike">
                <a:solidFill>
                  <a:schemeClr val="accent1"/>
                </a:solidFill>
                <a:latin typeface="Verdana"/>
                <a:ea typeface="Verdana"/>
                <a:cs typeface="Verdana"/>
                <a:sym typeface="Verdana"/>
              </a:defRPr>
            </a:lvl8pPr>
            <a:lvl9pPr indent="0" lvl="8" marL="0" marR="0" rtl="0" algn="l">
              <a:spcBef>
                <a:spcPts val="0"/>
              </a:spcBef>
              <a:buNone/>
              <a:defRPr b="0" i="0" sz="1200" u="none" cap="none" strike="noStrike">
                <a:solidFill>
                  <a:schemeClr val="accent1"/>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
        <p:nvSpPr>
          <p:cNvPr id="105" name="Google Shape;105;p2"/>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6" name="Shape 106"/>
        <p:cNvGrpSpPr/>
        <p:nvPr/>
      </p:nvGrpSpPr>
      <p:grpSpPr>
        <a:xfrm>
          <a:off x="0" y="0"/>
          <a:ext cx="0" cy="0"/>
          <a:chOff x="0" y="0"/>
          <a:chExt cx="0" cy="0"/>
        </a:xfrm>
      </p:grpSpPr>
      <p:sp>
        <p:nvSpPr>
          <p:cNvPr id="107" name="Google Shape;107;p3"/>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8" name="Google Shape;108;p3"/>
          <p:cNvSpPr txBox="1"/>
          <p:nvPr>
            <p:ph idx="1" type="body"/>
          </p:nvPr>
        </p:nvSpPr>
        <p:spPr>
          <a:xfrm>
            <a:off x="1043492" y="2323652"/>
            <a:ext cx="6777300" cy="3509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09" name="Google Shape;109;p3"/>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0" name="Google Shape;110;p3"/>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1" name="Google Shape;111;p3"/>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2" name="Shape 112"/>
        <p:cNvGrpSpPr/>
        <p:nvPr/>
      </p:nvGrpSpPr>
      <p:grpSpPr>
        <a:xfrm>
          <a:off x="0" y="0"/>
          <a:ext cx="0" cy="0"/>
          <a:chOff x="0" y="0"/>
          <a:chExt cx="0" cy="0"/>
        </a:xfrm>
      </p:grpSpPr>
      <p:sp>
        <p:nvSpPr>
          <p:cNvPr id="113" name="Google Shape;113;p4"/>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4" name="Google Shape;114;p4"/>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5" name="Google Shape;115;p4"/>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6" name="Shape 116"/>
        <p:cNvGrpSpPr/>
        <p:nvPr/>
      </p:nvGrpSpPr>
      <p:grpSpPr>
        <a:xfrm>
          <a:off x="0" y="0"/>
          <a:ext cx="0" cy="0"/>
          <a:chOff x="0" y="0"/>
          <a:chExt cx="0" cy="0"/>
        </a:xfrm>
      </p:grpSpPr>
      <p:sp>
        <p:nvSpPr>
          <p:cNvPr id="117" name="Google Shape;117;p5"/>
          <p:cNvSpPr txBox="1"/>
          <p:nvPr>
            <p:ph type="title"/>
          </p:nvPr>
        </p:nvSpPr>
        <p:spPr>
          <a:xfrm>
            <a:off x="1258645" y="2900829"/>
            <a:ext cx="6637500" cy="1362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8" name="Google Shape;118;p5"/>
          <p:cNvSpPr txBox="1"/>
          <p:nvPr>
            <p:ph idx="1" type="body"/>
          </p:nvPr>
        </p:nvSpPr>
        <p:spPr>
          <a:xfrm>
            <a:off x="1258645" y="4267200"/>
            <a:ext cx="6637500" cy="15204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1pPr>
            <a:lvl2pPr indent="-228600" lvl="1" marL="914400" marR="0" rtl="0" algn="l">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2pPr>
            <a:lvl3pPr indent="-228600" lvl="2" marL="1371600" marR="0" rtl="0" algn="l">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3pPr>
            <a:lvl4pPr indent="-228600" lvl="3" marL="1828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4pPr>
            <a:lvl5pPr indent="-228600" lvl="4" marL="22860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5pPr>
            <a:lvl6pPr indent="-228600" lvl="5" marL="27432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indent="-228600" lvl="6" marL="32004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indent="-228600" lvl="7" marL="36576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indent="-228600" lvl="8" marL="4114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19" name="Google Shape;119;p5"/>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0" name="Google Shape;120;p5"/>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1" name="Google Shape;121;p5"/>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2" name="Shape 122"/>
        <p:cNvGrpSpPr/>
        <p:nvPr/>
      </p:nvGrpSpPr>
      <p:grpSpPr>
        <a:xfrm>
          <a:off x="0" y="0"/>
          <a:ext cx="0" cy="0"/>
          <a:chOff x="0" y="0"/>
          <a:chExt cx="0" cy="0"/>
        </a:xfrm>
      </p:grpSpPr>
      <p:sp>
        <p:nvSpPr>
          <p:cNvPr id="123" name="Google Shape;123;p6"/>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4" name="Google Shape;124;p6"/>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5" name="Google Shape;125;p6"/>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6" name="Google Shape;126;p6"/>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
        <p:nvSpPr>
          <p:cNvPr id="127" name="Google Shape;127;p6"/>
          <p:cNvSpPr txBox="1"/>
          <p:nvPr>
            <p:ph idx="1" type="body"/>
          </p:nvPr>
        </p:nvSpPr>
        <p:spPr>
          <a:xfrm>
            <a:off x="1042416" y="2313432"/>
            <a:ext cx="3420000" cy="3492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28" name="Google Shape;128;p6"/>
          <p:cNvSpPr txBox="1"/>
          <p:nvPr>
            <p:ph idx="2" type="body"/>
          </p:nvPr>
        </p:nvSpPr>
        <p:spPr>
          <a:xfrm>
            <a:off x="4645152" y="2313431"/>
            <a:ext cx="3420000" cy="3492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9" name="Shape 129"/>
        <p:cNvGrpSpPr/>
        <p:nvPr/>
      </p:nvGrpSpPr>
      <p:grpSpPr>
        <a:xfrm>
          <a:off x="0" y="0"/>
          <a:ext cx="0" cy="0"/>
          <a:chOff x="0" y="0"/>
          <a:chExt cx="0" cy="0"/>
        </a:xfrm>
      </p:grpSpPr>
      <p:sp>
        <p:nvSpPr>
          <p:cNvPr id="130" name="Google Shape;130;p7"/>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31" name="Google Shape;131;p7"/>
          <p:cNvSpPr txBox="1"/>
          <p:nvPr>
            <p:ph idx="1" type="body"/>
          </p:nvPr>
        </p:nvSpPr>
        <p:spPr>
          <a:xfrm>
            <a:off x="1412111" y="2316009"/>
            <a:ext cx="3057000" cy="6399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2" name="Google Shape;132;p7"/>
          <p:cNvSpPr txBox="1"/>
          <p:nvPr>
            <p:ph idx="2" type="body"/>
          </p:nvPr>
        </p:nvSpPr>
        <p:spPr>
          <a:xfrm>
            <a:off x="1041721" y="2974694"/>
            <a:ext cx="3420000" cy="2835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3" name="Google Shape;133;p7"/>
          <p:cNvSpPr txBox="1"/>
          <p:nvPr>
            <p:ph idx="3" type="body"/>
          </p:nvPr>
        </p:nvSpPr>
        <p:spPr>
          <a:xfrm>
            <a:off x="5011837" y="2316010"/>
            <a:ext cx="3055800" cy="6399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4" name="Google Shape;134;p7"/>
          <p:cNvSpPr txBox="1"/>
          <p:nvPr>
            <p:ph idx="4" type="body"/>
          </p:nvPr>
        </p:nvSpPr>
        <p:spPr>
          <a:xfrm>
            <a:off x="4645152" y="2974694"/>
            <a:ext cx="3420000" cy="2835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5" name="Google Shape;135;p7"/>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6" name="Google Shape;136;p7"/>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7" name="Google Shape;137;p7"/>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8" name="Shape 138"/>
        <p:cNvGrpSpPr/>
        <p:nvPr/>
      </p:nvGrpSpPr>
      <p:grpSpPr>
        <a:xfrm>
          <a:off x="0" y="0"/>
          <a:ext cx="0" cy="0"/>
          <a:chOff x="0" y="0"/>
          <a:chExt cx="0" cy="0"/>
        </a:xfrm>
      </p:grpSpPr>
      <p:sp>
        <p:nvSpPr>
          <p:cNvPr id="139" name="Google Shape;139;p8"/>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0" name="Google Shape;140;p8"/>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41" name="Google Shape;141;p8"/>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42" name="Google Shape;142;p8"/>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43" name="Shape 143"/>
        <p:cNvGrpSpPr/>
        <p:nvPr/>
      </p:nvGrpSpPr>
      <p:grpSpPr>
        <a:xfrm>
          <a:off x="0" y="0"/>
          <a:ext cx="0" cy="0"/>
          <a:chOff x="0" y="0"/>
          <a:chExt cx="0" cy="0"/>
        </a:xfrm>
      </p:grpSpPr>
      <p:grpSp>
        <p:nvGrpSpPr>
          <p:cNvPr id="144" name="Google Shape;144;p9"/>
          <p:cNvGrpSpPr/>
          <p:nvPr/>
        </p:nvGrpSpPr>
        <p:grpSpPr>
          <a:xfrm>
            <a:off x="-645041" y="0"/>
            <a:ext cx="10458613" cy="7116923"/>
            <a:chOff x="-645041" y="0"/>
            <a:chExt cx="10458613" cy="7116923"/>
          </a:xfrm>
        </p:grpSpPr>
        <p:grpSp>
          <p:nvGrpSpPr>
            <p:cNvPr id="145" name="Google Shape;145;p9"/>
            <p:cNvGrpSpPr/>
            <p:nvPr/>
          </p:nvGrpSpPr>
          <p:grpSpPr>
            <a:xfrm>
              <a:off x="0" y="0"/>
              <a:ext cx="9144000" cy="6858000"/>
              <a:chOff x="0" y="0"/>
              <a:chExt cx="9144000" cy="6858000"/>
            </a:xfrm>
          </p:grpSpPr>
          <p:grpSp>
            <p:nvGrpSpPr>
              <p:cNvPr id="146" name="Google Shape;146;p9"/>
              <p:cNvGrpSpPr/>
              <p:nvPr/>
            </p:nvGrpSpPr>
            <p:grpSpPr>
              <a:xfrm>
                <a:off x="0" y="0"/>
                <a:ext cx="2514600" cy="6858000"/>
                <a:chOff x="0" y="0"/>
                <a:chExt cx="2514600" cy="6858000"/>
              </a:xfrm>
            </p:grpSpPr>
            <p:sp>
              <p:nvSpPr>
                <p:cNvPr id="147" name="Google Shape;147;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8" name="Google Shape;148;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9" name="Google Shape;149;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0" name="Google Shape;150;p9"/>
              <p:cNvGrpSpPr/>
              <p:nvPr/>
            </p:nvGrpSpPr>
            <p:grpSpPr>
              <a:xfrm>
                <a:off x="422910" y="0"/>
                <a:ext cx="2514600" cy="6858000"/>
                <a:chOff x="0" y="0"/>
                <a:chExt cx="2514600" cy="6858000"/>
              </a:xfrm>
            </p:grpSpPr>
            <p:sp>
              <p:nvSpPr>
                <p:cNvPr id="151" name="Google Shape;151;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2" name="Google Shape;152;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3" name="Google Shape;153;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4" name="Google Shape;154;p9"/>
              <p:cNvGrpSpPr/>
              <p:nvPr/>
            </p:nvGrpSpPr>
            <p:grpSpPr>
              <a:xfrm rot="10800000">
                <a:off x="6629400" y="0"/>
                <a:ext cx="2514600" cy="6858000"/>
                <a:chOff x="0" y="0"/>
                <a:chExt cx="2514600" cy="6858000"/>
              </a:xfrm>
            </p:grpSpPr>
            <p:sp>
              <p:nvSpPr>
                <p:cNvPr id="155" name="Google Shape;155;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6" name="Google Shape;156;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7" name="Google Shape;157;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8" name="Google Shape;158;p9"/>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9" name="Google Shape;159;p9"/>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0" name="Google Shape;160;p9"/>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61" name="Google Shape;161;p9"/>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2" name="Google Shape;162;p9"/>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3" name="Google Shape;163;p9"/>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4" name="Google Shape;164;p9"/>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5" name="Google Shape;165;p9"/>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6" name="Google Shape;166;p9"/>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7" name="Google Shape;167;p9"/>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8" name="Google Shape;168;p9"/>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9" name="Google Shape;169;p9"/>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0" name="Google Shape;170;p9"/>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1" name="Google Shape;171;p9"/>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2" name="Google Shape;172;p9"/>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3" name="Google Shape;173;p9"/>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4" name="Google Shape;174;p9"/>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5" name="Google Shape;175;p9"/>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6" name="Google Shape;176;p9"/>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7" name="Google Shape;177;p9"/>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8" name="Google Shape;178;p9"/>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9" name="Google Shape;179;p9"/>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0" name="Google Shape;180;p9"/>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1" name="Google Shape;181;p9"/>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2" name="Google Shape;182;p9"/>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83" name="Google Shape;183;p9"/>
          <p:cNvSpPr/>
          <p:nvPr/>
        </p:nvSpPr>
        <p:spPr>
          <a:xfrm>
            <a:off x="4561242" y="-21511"/>
            <a:ext cx="3679200" cy="62718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4" name="Google Shape;184;p9"/>
          <p:cNvSpPr/>
          <p:nvPr/>
        </p:nvSpPr>
        <p:spPr>
          <a:xfrm>
            <a:off x="4649096" y="-21510"/>
            <a:ext cx="3505200" cy="62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5" name="Google Shape;185;p9"/>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6" name="Google Shape;186;p9"/>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
        <p:nvSpPr>
          <p:cNvPr id="187" name="Google Shape;187;p9"/>
          <p:cNvSpPr/>
          <p:nvPr/>
        </p:nvSpPr>
        <p:spPr>
          <a:xfrm>
            <a:off x="905571" y="601883"/>
            <a:ext cx="3562200" cy="5648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8" name="Google Shape;188;p9"/>
          <p:cNvSpPr txBox="1"/>
          <p:nvPr>
            <p:ph idx="1" type="body"/>
          </p:nvPr>
        </p:nvSpPr>
        <p:spPr>
          <a:xfrm>
            <a:off x="1145894" y="856527"/>
            <a:ext cx="3090300" cy="5150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25120" lvl="5" marL="27432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6pPr>
            <a:lvl7pPr indent="-325120" lvl="6" marL="3200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7pPr>
            <a:lvl8pPr indent="-325120" lvl="7" marL="3657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8pPr>
            <a:lvl9pPr indent="-325120" lvl="8" marL="41148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9pPr>
          </a:lstStyle>
          <a:p/>
        </p:txBody>
      </p:sp>
      <p:sp>
        <p:nvSpPr>
          <p:cNvPr id="189" name="Google Shape;189;p9"/>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0" name="Google Shape;190;p9"/>
          <p:cNvSpPr txBox="1"/>
          <p:nvPr>
            <p:ph idx="11" type="ftr"/>
          </p:nvPr>
        </p:nvSpPr>
        <p:spPr>
          <a:xfrm>
            <a:off x="4641448" y="5724835"/>
            <a:ext cx="34938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91" name="Google Shape;191;p9"/>
          <p:cNvSpPr txBox="1"/>
          <p:nvPr>
            <p:ph type="title"/>
          </p:nvPr>
        </p:nvSpPr>
        <p:spPr>
          <a:xfrm>
            <a:off x="4739833" y="2657434"/>
            <a:ext cx="3304500" cy="14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92" name="Google Shape;192;p9"/>
          <p:cNvSpPr txBox="1"/>
          <p:nvPr>
            <p:ph idx="2" type="body"/>
          </p:nvPr>
        </p:nvSpPr>
        <p:spPr>
          <a:xfrm>
            <a:off x="4736592" y="4136994"/>
            <a:ext cx="3298800" cy="1518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93" name="Shape 193"/>
        <p:cNvGrpSpPr/>
        <p:nvPr/>
      </p:nvGrpSpPr>
      <p:grpSpPr>
        <a:xfrm>
          <a:off x="0" y="0"/>
          <a:ext cx="0" cy="0"/>
          <a:chOff x="0" y="0"/>
          <a:chExt cx="0" cy="0"/>
        </a:xfrm>
      </p:grpSpPr>
      <p:grpSp>
        <p:nvGrpSpPr>
          <p:cNvPr id="194" name="Google Shape;194;p10"/>
          <p:cNvGrpSpPr/>
          <p:nvPr/>
        </p:nvGrpSpPr>
        <p:grpSpPr>
          <a:xfrm>
            <a:off x="-645041" y="0"/>
            <a:ext cx="10458613" cy="7116923"/>
            <a:chOff x="-645041" y="0"/>
            <a:chExt cx="10458613" cy="7116923"/>
          </a:xfrm>
        </p:grpSpPr>
        <p:grpSp>
          <p:nvGrpSpPr>
            <p:cNvPr id="195" name="Google Shape;195;p10"/>
            <p:cNvGrpSpPr/>
            <p:nvPr/>
          </p:nvGrpSpPr>
          <p:grpSpPr>
            <a:xfrm>
              <a:off x="0" y="0"/>
              <a:ext cx="9144000" cy="6858000"/>
              <a:chOff x="0" y="0"/>
              <a:chExt cx="9144000" cy="6858000"/>
            </a:xfrm>
          </p:grpSpPr>
          <p:grpSp>
            <p:nvGrpSpPr>
              <p:cNvPr id="196" name="Google Shape;196;p10"/>
              <p:cNvGrpSpPr/>
              <p:nvPr/>
            </p:nvGrpSpPr>
            <p:grpSpPr>
              <a:xfrm>
                <a:off x="0" y="0"/>
                <a:ext cx="2514600" cy="6858000"/>
                <a:chOff x="0" y="0"/>
                <a:chExt cx="2514600" cy="6858000"/>
              </a:xfrm>
            </p:grpSpPr>
            <p:sp>
              <p:nvSpPr>
                <p:cNvPr id="197" name="Google Shape;197;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8" name="Google Shape;198;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9" name="Google Shape;199;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0" name="Google Shape;200;p10"/>
              <p:cNvGrpSpPr/>
              <p:nvPr/>
            </p:nvGrpSpPr>
            <p:grpSpPr>
              <a:xfrm>
                <a:off x="422910" y="0"/>
                <a:ext cx="2514600" cy="6858000"/>
                <a:chOff x="0" y="0"/>
                <a:chExt cx="2514600" cy="6858000"/>
              </a:xfrm>
            </p:grpSpPr>
            <p:sp>
              <p:nvSpPr>
                <p:cNvPr id="201" name="Google Shape;201;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2" name="Google Shape;202;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3" name="Google Shape;203;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4" name="Google Shape;204;p10"/>
              <p:cNvGrpSpPr/>
              <p:nvPr/>
            </p:nvGrpSpPr>
            <p:grpSpPr>
              <a:xfrm rot="10800000">
                <a:off x="6629400" y="0"/>
                <a:ext cx="2514600" cy="6858000"/>
                <a:chOff x="0" y="0"/>
                <a:chExt cx="2514600" cy="6858000"/>
              </a:xfrm>
            </p:grpSpPr>
            <p:sp>
              <p:nvSpPr>
                <p:cNvPr id="205" name="Google Shape;205;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6" name="Google Shape;206;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7" name="Google Shape;207;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8" name="Google Shape;208;p10"/>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9" name="Google Shape;209;p10"/>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0" name="Google Shape;210;p10"/>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11" name="Google Shape;211;p10"/>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2" name="Google Shape;212;p10"/>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3" name="Google Shape;213;p10"/>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4" name="Google Shape;214;p10"/>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5" name="Google Shape;215;p10"/>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6" name="Google Shape;216;p10"/>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7" name="Google Shape;217;p10"/>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8" name="Google Shape;218;p10"/>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9" name="Google Shape;219;p10"/>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0" name="Google Shape;220;p10"/>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1" name="Google Shape;221;p10"/>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2" name="Google Shape;222;p10"/>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3" name="Google Shape;223;p10"/>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4" name="Google Shape;224;p10"/>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5" name="Google Shape;225;p10"/>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6" name="Google Shape;226;p10"/>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7" name="Google Shape;227;p10"/>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8" name="Google Shape;228;p10"/>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9" name="Google Shape;229;p10"/>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0" name="Google Shape;230;p10"/>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1" name="Google Shape;231;p10"/>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2" name="Google Shape;232;p10"/>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33" name="Google Shape;233;p10"/>
          <p:cNvSpPr/>
          <p:nvPr/>
        </p:nvSpPr>
        <p:spPr>
          <a:xfrm>
            <a:off x="4561242" y="-21511"/>
            <a:ext cx="3679200" cy="62718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4" name="Google Shape;234;p10"/>
          <p:cNvSpPr/>
          <p:nvPr/>
        </p:nvSpPr>
        <p:spPr>
          <a:xfrm>
            <a:off x="4649096" y="-21510"/>
            <a:ext cx="3505200" cy="62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5" name="Google Shape;235;p10"/>
          <p:cNvSpPr/>
          <p:nvPr/>
        </p:nvSpPr>
        <p:spPr>
          <a:xfrm>
            <a:off x="905571" y="601883"/>
            <a:ext cx="3562200" cy="5648400"/>
          </a:xfrm>
          <a:prstGeom prst="rect">
            <a:avLst/>
          </a:prstGeom>
          <a:solidFill>
            <a:srgbClr val="FFFFFF"/>
          </a:solidFill>
          <a:ln cap="flat" cmpd="sng" w="952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6" name="Google Shape;236;p10"/>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7" name="Google Shape;237;p10"/>
          <p:cNvSpPr txBox="1"/>
          <p:nvPr>
            <p:ph type="title"/>
          </p:nvPr>
        </p:nvSpPr>
        <p:spPr>
          <a:xfrm>
            <a:off x="4734424" y="2660904"/>
            <a:ext cx="3300900" cy="14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38" name="Google Shape;238;p10"/>
          <p:cNvSpPr/>
          <p:nvPr>
            <p:ph idx="2" type="pic"/>
          </p:nvPr>
        </p:nvSpPr>
        <p:spPr>
          <a:xfrm>
            <a:off x="1005208" y="693795"/>
            <a:ext cx="3359700" cy="5468100"/>
          </a:xfrm>
          <a:prstGeom prst="rect">
            <a:avLst/>
          </a:prstGeom>
          <a:noFill/>
          <a:ln>
            <a:noFill/>
          </a:ln>
        </p:spPr>
        <p:txBody>
          <a:bodyPr anchorCtr="0" anchor="t" bIns="91425" lIns="91425" spcFirstLastPara="1" rIns="91425" wrap="square" tIns="91425">
            <a:noAutofit/>
          </a:bodyPr>
          <a:lstStyle>
            <a:lvl1pPr lvl="0" marR="0" rtl="0" algn="l">
              <a:spcBef>
                <a:spcPts val="640"/>
              </a:spcBef>
              <a:spcAft>
                <a:spcPts val="0"/>
              </a:spcAft>
              <a:buClr>
                <a:schemeClr val="accent1"/>
              </a:buClr>
              <a:buSzPts val="2432"/>
              <a:buFont typeface="Noto Sans Symbols"/>
              <a:buNone/>
              <a:defRPr b="0" i="0" sz="3200" u="none" cap="none" strike="noStrike">
                <a:solidFill>
                  <a:schemeClr val="accent1"/>
                </a:solidFill>
                <a:latin typeface="Verdana"/>
                <a:ea typeface="Verdana"/>
                <a:cs typeface="Verdana"/>
                <a:sym typeface="Verdana"/>
              </a:defRPr>
            </a:lvl1pPr>
            <a:lvl2pPr lvl="1" marR="0" rtl="0" algn="l">
              <a:spcBef>
                <a:spcPts val="560"/>
              </a:spcBef>
              <a:spcAft>
                <a:spcPts val="0"/>
              </a:spcAft>
              <a:buClr>
                <a:schemeClr val="accent1"/>
              </a:buClr>
              <a:buSzPts val="2128"/>
              <a:buFont typeface="Noto Sans Symbols"/>
              <a:buNone/>
              <a:defRPr b="0" i="0" sz="2800" u="none" cap="none" strike="noStrike">
                <a:solidFill>
                  <a:schemeClr val="dk2"/>
                </a:solidFill>
                <a:latin typeface="Verdana"/>
                <a:ea typeface="Verdana"/>
                <a:cs typeface="Verdana"/>
                <a:sym typeface="Verdana"/>
              </a:defRPr>
            </a:lvl2pPr>
            <a:lvl3pPr lvl="2" marR="0" rtl="0" algn="l">
              <a:spcBef>
                <a:spcPts val="480"/>
              </a:spcBef>
              <a:spcAft>
                <a:spcPts val="0"/>
              </a:spcAft>
              <a:buClr>
                <a:schemeClr val="accent1"/>
              </a:buClr>
              <a:buSzPts val="1824"/>
              <a:buFont typeface="Noto Sans Symbols"/>
              <a:buNone/>
              <a:defRPr b="0" i="0" sz="2400" u="none" cap="none" strike="noStrike">
                <a:solidFill>
                  <a:schemeClr val="dk2"/>
                </a:solidFill>
                <a:latin typeface="Verdana"/>
                <a:ea typeface="Verdana"/>
                <a:cs typeface="Verdana"/>
                <a:sym typeface="Verdana"/>
              </a:defRPr>
            </a:lvl3pPr>
            <a:lvl4pPr lvl="3"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4pPr>
            <a:lvl5pPr lvl="4"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5pPr>
            <a:lvl6pPr lvl="5"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6pPr>
            <a:lvl7pPr lvl="6"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7pPr>
            <a:lvl8pPr lvl="7"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8pPr>
            <a:lvl9pPr lvl="8"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9pPr>
          </a:lstStyle>
          <a:p/>
        </p:txBody>
      </p:sp>
      <p:sp>
        <p:nvSpPr>
          <p:cNvPr id="239" name="Google Shape;239;p10"/>
          <p:cNvSpPr txBox="1"/>
          <p:nvPr>
            <p:ph idx="1" type="body"/>
          </p:nvPr>
        </p:nvSpPr>
        <p:spPr>
          <a:xfrm>
            <a:off x="4734630" y="4133088"/>
            <a:ext cx="3300600" cy="15195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
        <p:nvSpPr>
          <p:cNvPr id="240" name="Google Shape;240;p10"/>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1" name="Google Shape;241;p10"/>
          <p:cNvSpPr txBox="1"/>
          <p:nvPr>
            <p:ph idx="11" type="ftr"/>
          </p:nvPr>
        </p:nvSpPr>
        <p:spPr>
          <a:xfrm>
            <a:off x="4641448" y="5724835"/>
            <a:ext cx="34938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2" name="Google Shape;242;p10"/>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3" name="Shape 243"/>
        <p:cNvGrpSpPr/>
        <p:nvPr/>
      </p:nvGrpSpPr>
      <p:grpSpPr>
        <a:xfrm>
          <a:off x="0" y="0"/>
          <a:ext cx="0" cy="0"/>
          <a:chOff x="0" y="0"/>
          <a:chExt cx="0" cy="0"/>
        </a:xfrm>
      </p:grpSpPr>
      <p:sp>
        <p:nvSpPr>
          <p:cNvPr id="244" name="Google Shape;244;p11"/>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5" name="Google Shape;245;p11"/>
          <p:cNvSpPr txBox="1"/>
          <p:nvPr>
            <p:ph idx="1" type="body"/>
          </p:nvPr>
        </p:nvSpPr>
        <p:spPr>
          <a:xfrm rot="5400000">
            <a:off x="2677609" y="689552"/>
            <a:ext cx="3509100" cy="67773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6" name="Google Shape;246;p11"/>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7" name="Google Shape;247;p11"/>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8" name="Google Shape;248;p11"/>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9" name="Shape 249"/>
        <p:cNvGrpSpPr/>
        <p:nvPr/>
      </p:nvGrpSpPr>
      <p:grpSpPr>
        <a:xfrm>
          <a:off x="0" y="0"/>
          <a:ext cx="0" cy="0"/>
          <a:chOff x="0" y="0"/>
          <a:chExt cx="0" cy="0"/>
        </a:xfrm>
      </p:grpSpPr>
      <p:sp>
        <p:nvSpPr>
          <p:cNvPr id="250" name="Google Shape;250;p12"/>
          <p:cNvSpPr txBox="1"/>
          <p:nvPr>
            <p:ph type="title"/>
          </p:nvPr>
        </p:nvSpPr>
        <p:spPr>
          <a:xfrm rot="5400000">
            <a:off x="4981553" y="2678047"/>
            <a:ext cx="4780200" cy="1484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51" name="Google Shape;251;p12"/>
          <p:cNvSpPr txBox="1"/>
          <p:nvPr>
            <p:ph idx="1" type="body"/>
          </p:nvPr>
        </p:nvSpPr>
        <p:spPr>
          <a:xfrm rot="5400000">
            <a:off x="1375050" y="708397"/>
            <a:ext cx="4780200" cy="5423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52" name="Google Shape;252;p12"/>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3" name="Google Shape;253;p12"/>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4" name="Google Shape;254;p12"/>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F616A"/>
            </a:gs>
            <a:gs pos="62000">
              <a:srgbClr val="505258"/>
            </a:gs>
            <a:gs pos="100000">
              <a:srgbClr val="4A4C4F"/>
            </a:gs>
          </a:gsLst>
          <a:lin ang="5400000" scaled="0"/>
        </a:gradFill>
      </p:bgPr>
    </p:bg>
    <p:spTree>
      <p:nvGrpSpPr>
        <p:cNvPr id="9" name="Shape 9"/>
        <p:cNvGrpSpPr/>
        <p:nvPr/>
      </p:nvGrpSpPr>
      <p:grpSpPr>
        <a:xfrm>
          <a:off x="0" y="0"/>
          <a:ext cx="0" cy="0"/>
          <a:chOff x="0" y="0"/>
          <a:chExt cx="0" cy="0"/>
        </a:xfrm>
      </p:grpSpPr>
      <p:grpSp>
        <p:nvGrpSpPr>
          <p:cNvPr id="10" name="Google Shape;10;p1"/>
          <p:cNvGrpSpPr/>
          <p:nvPr/>
        </p:nvGrpSpPr>
        <p:grpSpPr>
          <a:xfrm>
            <a:off x="-567437" y="0"/>
            <a:ext cx="10458613" cy="7116923"/>
            <a:chOff x="-645041" y="0"/>
            <a:chExt cx="10458613" cy="7116923"/>
          </a:xfrm>
        </p:grpSpPr>
        <p:grpSp>
          <p:nvGrpSpPr>
            <p:cNvPr id="11" name="Google Shape;11;p1"/>
            <p:cNvGrpSpPr/>
            <p:nvPr/>
          </p:nvGrpSpPr>
          <p:grpSpPr>
            <a:xfrm>
              <a:off x="0" y="0"/>
              <a:ext cx="9144000" cy="6858000"/>
              <a:chOff x="0" y="0"/>
              <a:chExt cx="9144000" cy="6858000"/>
            </a:xfrm>
          </p:grpSpPr>
          <p:grpSp>
            <p:nvGrpSpPr>
              <p:cNvPr id="12" name="Google Shape;12;p1"/>
              <p:cNvGrpSpPr/>
              <p:nvPr/>
            </p:nvGrpSpPr>
            <p:grpSpPr>
              <a:xfrm>
                <a:off x="0" y="0"/>
                <a:ext cx="2514600" cy="6858000"/>
                <a:chOff x="0" y="0"/>
                <a:chExt cx="2514600" cy="6858000"/>
              </a:xfrm>
            </p:grpSpPr>
            <p:sp>
              <p:nvSpPr>
                <p:cNvPr id="13" name="Google Shape;13;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4" name="Google Shape;14;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5" name="Google Shape;15;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6" name="Google Shape;16;p1"/>
              <p:cNvGrpSpPr/>
              <p:nvPr/>
            </p:nvGrpSpPr>
            <p:grpSpPr>
              <a:xfrm>
                <a:off x="422910" y="0"/>
                <a:ext cx="2514600" cy="6858000"/>
                <a:chOff x="0" y="0"/>
                <a:chExt cx="2514600" cy="6858000"/>
              </a:xfrm>
            </p:grpSpPr>
            <p:sp>
              <p:nvSpPr>
                <p:cNvPr id="17" name="Google Shape;17;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8" name="Google Shape;18;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9" name="Google Shape;19;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20" name="Google Shape;20;p1"/>
              <p:cNvGrpSpPr/>
              <p:nvPr/>
            </p:nvGrpSpPr>
            <p:grpSpPr>
              <a:xfrm rot="10800000">
                <a:off x="6629400" y="0"/>
                <a:ext cx="2514600" cy="6858000"/>
                <a:chOff x="0" y="0"/>
                <a:chExt cx="2514600" cy="6858000"/>
              </a:xfrm>
            </p:grpSpPr>
            <p:sp>
              <p:nvSpPr>
                <p:cNvPr id="21" name="Google Shape;21;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2" name="Google Shape;22;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3" name="Google Shape;23;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4" name="Google Shape;24;p1"/>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5" name="Google Shape;25;p1"/>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6" name="Google Shape;26;p1"/>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7" name="Google Shape;27;p1"/>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 name="Google Shape;28;p1"/>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9" name="Google Shape;29;p1"/>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1"/>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1" name="Google Shape;31;p1"/>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2" name="Google Shape;32;p1"/>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3" name="Google Shape;33;p1"/>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4" name="Google Shape;34;p1"/>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5" name="Google Shape;35;p1"/>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6" name="Google Shape;36;p1"/>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7" name="Google Shape;37;p1"/>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8" name="Google Shape;38;p1"/>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9" name="Google Shape;39;p1"/>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0" name="Google Shape;40;p1"/>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1" name="Google Shape;41;p1"/>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2" name="Google Shape;42;p1"/>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3" name="Google Shape;43;p1"/>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4" name="Google Shape;44;p1"/>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5" name="Google Shape;45;p1"/>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6" name="Google Shape;46;p1"/>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7" name="Google Shape;47;p1"/>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8" name="Google Shape;48;p1"/>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49" name="Google Shape;49;p1"/>
          <p:cNvSpPr/>
          <p:nvPr/>
        </p:nvSpPr>
        <p:spPr>
          <a:xfrm>
            <a:off x="457200" y="333487"/>
            <a:ext cx="8229600" cy="6185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0" name="Google Shape;50;p1"/>
          <p:cNvSpPr/>
          <p:nvPr/>
        </p:nvSpPr>
        <p:spPr>
          <a:xfrm>
            <a:off x="4561242" y="-21511"/>
            <a:ext cx="3679200" cy="6993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1" name="Google Shape;51;p1"/>
          <p:cNvSpPr/>
          <p:nvPr/>
        </p:nvSpPr>
        <p:spPr>
          <a:xfrm>
            <a:off x="4649096" y="-21510"/>
            <a:ext cx="3505200" cy="62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2" name="Google Shape;52;p1"/>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53" name="Google Shape;53;p1"/>
          <p:cNvSpPr txBox="1"/>
          <p:nvPr>
            <p:ph idx="1" type="body"/>
          </p:nvPr>
        </p:nvSpPr>
        <p:spPr>
          <a:xfrm>
            <a:off x="1043492" y="2323652"/>
            <a:ext cx="6777300" cy="3509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54" name="Google Shape;54;p1"/>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5" name="Google Shape;55;p1"/>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6" name="Google Shape;56;p1"/>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youtube.com/watch?v=SUdAEGXLO-8" TargetMode="Externa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hyperlink" Target="http://www.youtube.com/watch?v=_5OvgQW6FG4" TargetMode="External"/><Relationship Id="rId5"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www.youtube.com/watch?v=izOa3-AX8zQ" TargetMode="External"/><Relationship Id="rId4" Type="http://schemas.openxmlformats.org/officeDocument/2006/relationships/image" Target="../media/image1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hyperlink" Target="http://www.youtube.com/watch?v=heWOEkjutHc" TargetMode="External"/><Relationship Id="rId5" Type="http://schemas.openxmlformats.org/officeDocument/2006/relationships/image" Target="../media/image1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www.youtube.com/watch?v=BtsSbZ85yiQ" TargetMode="External"/><Relationship Id="rId4" Type="http://schemas.openxmlformats.org/officeDocument/2006/relationships/image" Target="../media/image1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www.youtube.com/watch?v=gVH1gY05MsA" TargetMode="External"/><Relationship Id="rId4" Type="http://schemas.openxmlformats.org/officeDocument/2006/relationships/image" Target="../media/image27.jpg"/><Relationship Id="rId5" Type="http://schemas.openxmlformats.org/officeDocument/2006/relationships/hyperlink" Target="http://www.youtube.com/watch?v=KOz-bNhEHhQ" TargetMode="External"/><Relationship Id="rId6" Type="http://schemas.openxmlformats.org/officeDocument/2006/relationships/image" Target="../media/image3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9.png"/><Relationship Id="rId4" Type="http://schemas.openxmlformats.org/officeDocument/2006/relationships/hyperlink" Target="http://www.youtube.com/watch?v=VKQLtgBWQ9Q" TargetMode="External"/><Relationship Id="rId5" Type="http://schemas.openxmlformats.org/officeDocument/2006/relationships/image" Target="../media/image2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9.jpg"/><Relationship Id="rId4" Type="http://schemas.openxmlformats.org/officeDocument/2006/relationships/hyperlink" Target="http://www.youtube.com/watch?v=kMWxuF9YW38" TargetMode="External"/><Relationship Id="rId5" Type="http://schemas.openxmlformats.org/officeDocument/2006/relationships/image" Target="../media/image26.jpg"/><Relationship Id="rId6" Type="http://schemas.openxmlformats.org/officeDocument/2006/relationships/hyperlink" Target="http://www.youtube.com/watch?v=kT0HJkr1jj4" TargetMode="External"/><Relationship Id="rId7" Type="http://schemas.openxmlformats.org/officeDocument/2006/relationships/image" Target="../media/image2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2.png"/><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3"/>
          <p:cNvSpPr txBox="1"/>
          <p:nvPr>
            <p:ph type="ctrTitle"/>
          </p:nvPr>
        </p:nvSpPr>
        <p:spPr>
          <a:xfrm>
            <a:off x="4704250" y="3363875"/>
            <a:ext cx="3366900" cy="1437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lang="en-CA" sz="2400"/>
              <a:t>UNIT 2: </a:t>
            </a:r>
            <a:endParaRPr b="1" sz="2400"/>
          </a:p>
          <a:p>
            <a:pPr indent="0" lvl="0" marL="0" marR="0" rtl="0" algn="ctr">
              <a:lnSpc>
                <a:spcPct val="100000"/>
              </a:lnSpc>
              <a:spcBef>
                <a:spcPts val="1000"/>
              </a:spcBef>
              <a:spcAft>
                <a:spcPts val="0"/>
              </a:spcAft>
              <a:buClr>
                <a:schemeClr val="accent1"/>
              </a:buClr>
              <a:buSzPts val="800"/>
              <a:buFont typeface="Verdana"/>
              <a:buNone/>
            </a:pPr>
            <a:r>
              <a:rPr b="1" i="0" lang="en-CA" sz="2800" u="none" cap="none" strike="noStrike">
                <a:solidFill>
                  <a:schemeClr val="accent1"/>
                </a:solidFill>
                <a:latin typeface="Verdana"/>
                <a:ea typeface="Verdana"/>
                <a:cs typeface="Verdana"/>
                <a:sym typeface="Verdana"/>
              </a:rPr>
              <a:t>Reproduction </a:t>
            </a:r>
            <a:r>
              <a:rPr b="1" lang="en-CA" sz="2800"/>
              <a:t>&amp; </a:t>
            </a:r>
            <a:r>
              <a:rPr b="1" i="0" lang="en-CA" sz="2800" u="none" cap="none" strike="noStrike">
                <a:solidFill>
                  <a:schemeClr val="accent1"/>
                </a:solidFill>
                <a:latin typeface="Verdana"/>
                <a:ea typeface="Verdana"/>
                <a:cs typeface="Verdana"/>
                <a:sym typeface="Verdana"/>
              </a:rPr>
              <a:t>Development</a:t>
            </a:r>
            <a:endParaRPr b="1" i="0" sz="2800" u="none" cap="none" strike="noStrike">
              <a:solidFill>
                <a:schemeClr val="accent1"/>
              </a:solidFill>
              <a:latin typeface="Verdana"/>
              <a:ea typeface="Verdana"/>
              <a:cs typeface="Verdana"/>
              <a:sym typeface="Verdana"/>
            </a:endParaRPr>
          </a:p>
          <a:p>
            <a:pPr indent="0" lvl="0" marL="0" marR="0" rtl="0" algn="ctr">
              <a:lnSpc>
                <a:spcPct val="100000"/>
              </a:lnSpc>
              <a:spcBef>
                <a:spcPts val="0"/>
              </a:spcBef>
              <a:spcAft>
                <a:spcPts val="0"/>
              </a:spcAft>
              <a:buClr>
                <a:schemeClr val="accent1"/>
              </a:buClr>
              <a:buSzPts val="800"/>
              <a:buFont typeface="Verdana"/>
              <a:buNone/>
            </a:pPr>
            <a:r>
              <a:t/>
            </a:r>
            <a:endParaRPr b="1" sz="2800"/>
          </a:p>
        </p:txBody>
      </p:sp>
      <p:sp>
        <p:nvSpPr>
          <p:cNvPr id="260" name="Google Shape;260;p13"/>
          <p:cNvSpPr txBox="1"/>
          <p:nvPr/>
        </p:nvSpPr>
        <p:spPr>
          <a:xfrm>
            <a:off x="5039950" y="1592250"/>
            <a:ext cx="2695500" cy="4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a:solidFill>
                  <a:srgbClr val="424242"/>
                </a:solidFill>
                <a:latin typeface="Verdana"/>
                <a:ea typeface="Verdana"/>
                <a:cs typeface="Verdana"/>
                <a:sym typeface="Verdana"/>
              </a:rPr>
              <a:t>BIOLOGY 30</a:t>
            </a:r>
            <a:endParaRPr b="1">
              <a:solidFill>
                <a:srgbClr val="424242"/>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4"/>
          <p:cNvSpPr txBox="1"/>
          <p:nvPr>
            <p:ph type="ctrTitle"/>
          </p:nvPr>
        </p:nvSpPr>
        <p:spPr>
          <a:xfrm>
            <a:off x="4781240" y="2055401"/>
            <a:ext cx="3313500" cy="226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Chapter 15</a:t>
            </a:r>
            <a:endParaRPr/>
          </a:p>
        </p:txBody>
      </p:sp>
      <p:sp>
        <p:nvSpPr>
          <p:cNvPr id="266" name="Google Shape;266;p14"/>
          <p:cNvSpPr txBox="1"/>
          <p:nvPr>
            <p:ph idx="1" type="subTitle"/>
          </p:nvPr>
        </p:nvSpPr>
        <p:spPr>
          <a:xfrm>
            <a:off x="4783040" y="4578248"/>
            <a:ext cx="3309900" cy="16809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en-CA"/>
              <a:t>Human Development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5"/>
          <p:cNvSpPr txBox="1"/>
          <p:nvPr>
            <p:ph idx="4294967295" type="body"/>
          </p:nvPr>
        </p:nvSpPr>
        <p:spPr>
          <a:xfrm>
            <a:off x="827575" y="2484500"/>
            <a:ext cx="7476000" cy="3881400"/>
          </a:xfrm>
          <a:prstGeom prst="rect">
            <a:avLst/>
          </a:prstGeom>
          <a:noFill/>
          <a:ln>
            <a:noFill/>
          </a:ln>
        </p:spPr>
        <p:txBody>
          <a:bodyPr anchorCtr="0" anchor="t" bIns="45700" lIns="91425" spcFirstLastPara="1" rIns="91425" wrap="square" tIns="45700">
            <a:noAutofit/>
          </a:bodyPr>
          <a:lstStyle/>
          <a:p>
            <a:pPr indent="-295490" lvl="0" marL="342900" marR="0" rtl="0" algn="l">
              <a:lnSpc>
                <a:spcPct val="115000"/>
              </a:lnSpc>
              <a:spcBef>
                <a:spcPts val="0"/>
              </a:spcBef>
              <a:spcAft>
                <a:spcPts val="0"/>
              </a:spcAft>
              <a:buClr>
                <a:schemeClr val="accent1"/>
              </a:buClr>
              <a:buSzPts val="1800"/>
              <a:buFont typeface="Noto Sans Symbols"/>
              <a:buChar char="○"/>
            </a:pPr>
            <a:r>
              <a:rPr lang="en-CA" sz="1800">
                <a:solidFill>
                  <a:schemeClr val="accent1"/>
                </a:solidFill>
              </a:rPr>
              <a:t>Reproductive technologies</a:t>
            </a:r>
            <a:endParaRPr sz="1800">
              <a:solidFill>
                <a:schemeClr val="accent1"/>
              </a:solidFill>
            </a:endParaRPr>
          </a:p>
          <a:p>
            <a:pPr indent="-295490" lvl="0" marL="342900" rtl="0" algn="l">
              <a:lnSpc>
                <a:spcPct val="115000"/>
              </a:lnSpc>
              <a:spcBef>
                <a:spcPts val="400"/>
              </a:spcBef>
              <a:spcAft>
                <a:spcPts val="0"/>
              </a:spcAft>
              <a:buClr>
                <a:srgbClr val="3F3F3F"/>
              </a:buClr>
              <a:buSzPts val="1800"/>
              <a:buFont typeface="Verdana"/>
              <a:buChar char="○"/>
            </a:pPr>
            <a:r>
              <a:rPr lang="en-CA" sz="1800">
                <a:solidFill>
                  <a:srgbClr val="3F3F3F"/>
                </a:solidFill>
              </a:rPr>
              <a:t>Fertilization</a:t>
            </a:r>
            <a:endParaRPr sz="1800">
              <a:solidFill>
                <a:srgbClr val="3F3F3F"/>
              </a:solidFill>
            </a:endParaRPr>
          </a:p>
          <a:p>
            <a:pPr indent="-295490" lvl="0" marL="342900" rtl="0" algn="l">
              <a:lnSpc>
                <a:spcPct val="115000"/>
              </a:lnSpc>
              <a:spcBef>
                <a:spcPts val="400"/>
              </a:spcBef>
              <a:spcAft>
                <a:spcPts val="0"/>
              </a:spcAft>
              <a:buClr>
                <a:srgbClr val="3F3F3F"/>
              </a:buClr>
              <a:buSzPts val="1800"/>
              <a:buFont typeface="Verdana"/>
              <a:buChar char="○"/>
            </a:pPr>
            <a:r>
              <a:rPr lang="en-CA" sz="1800">
                <a:solidFill>
                  <a:srgbClr val="3F3F3F"/>
                </a:solidFill>
              </a:rPr>
              <a:t>Cleavage, gastrulation &amp; implantation</a:t>
            </a:r>
            <a:endParaRPr sz="1800">
              <a:solidFill>
                <a:srgbClr val="3F3F3F"/>
              </a:solidFill>
            </a:endParaRPr>
          </a:p>
          <a:p>
            <a:pPr indent="-295490" lvl="0" marL="342900" rtl="0" algn="l">
              <a:lnSpc>
                <a:spcPct val="115000"/>
              </a:lnSpc>
              <a:spcBef>
                <a:spcPts val="400"/>
              </a:spcBef>
              <a:spcAft>
                <a:spcPts val="0"/>
              </a:spcAft>
              <a:buClr>
                <a:srgbClr val="3F3F3F"/>
              </a:buClr>
              <a:buSzPts val="1800"/>
              <a:buFont typeface="Verdana"/>
              <a:buChar char="○"/>
            </a:pPr>
            <a:r>
              <a:rPr lang="en-CA" sz="1800">
                <a:solidFill>
                  <a:srgbClr val="3F3F3F"/>
                </a:solidFill>
              </a:rPr>
              <a:t>Neurulation &amp; organ development</a:t>
            </a:r>
            <a:endParaRPr sz="1800">
              <a:solidFill>
                <a:srgbClr val="3F3F3F"/>
              </a:solidFill>
            </a:endParaRPr>
          </a:p>
          <a:p>
            <a:pPr indent="-295490" lvl="0" marL="342900" rtl="0" algn="l">
              <a:lnSpc>
                <a:spcPct val="115000"/>
              </a:lnSpc>
              <a:spcBef>
                <a:spcPts val="400"/>
              </a:spcBef>
              <a:spcAft>
                <a:spcPts val="0"/>
              </a:spcAft>
              <a:buClr>
                <a:srgbClr val="3F3F3F"/>
              </a:buClr>
              <a:buSzPts val="1800"/>
              <a:buFont typeface="Verdana"/>
              <a:buChar char="○"/>
            </a:pPr>
            <a:r>
              <a:rPr lang="en-CA" sz="1800">
                <a:solidFill>
                  <a:srgbClr val="3F3F3F"/>
                </a:solidFill>
              </a:rPr>
              <a:t>Supportive structures (placenta, amniotic cavity)</a:t>
            </a:r>
            <a:endParaRPr sz="1800">
              <a:solidFill>
                <a:srgbClr val="3F3F3F"/>
              </a:solidFill>
            </a:endParaRPr>
          </a:p>
          <a:p>
            <a:pPr indent="-295490" lvl="0" marL="342900" rtl="0" algn="l">
              <a:lnSpc>
                <a:spcPct val="115000"/>
              </a:lnSpc>
              <a:spcBef>
                <a:spcPts val="400"/>
              </a:spcBef>
              <a:spcAft>
                <a:spcPts val="0"/>
              </a:spcAft>
              <a:buClr>
                <a:srgbClr val="3F3F3F"/>
              </a:buClr>
              <a:buSzPts val="1800"/>
              <a:buFont typeface="Verdana"/>
              <a:buChar char="○"/>
            </a:pPr>
            <a:r>
              <a:rPr lang="en-CA" sz="1800">
                <a:solidFill>
                  <a:srgbClr val="3F3F3F"/>
                </a:solidFill>
              </a:rPr>
              <a:t>Stages of fetal development </a:t>
            </a:r>
            <a:endParaRPr sz="1800">
              <a:solidFill>
                <a:srgbClr val="3F3F3F"/>
              </a:solidFill>
            </a:endParaRPr>
          </a:p>
          <a:p>
            <a:pPr indent="-295490" lvl="0" marL="342900" rtl="0" algn="l">
              <a:lnSpc>
                <a:spcPct val="115000"/>
              </a:lnSpc>
              <a:spcBef>
                <a:spcPts val="400"/>
              </a:spcBef>
              <a:spcAft>
                <a:spcPts val="0"/>
              </a:spcAft>
              <a:buClr>
                <a:srgbClr val="3F3F3F"/>
              </a:buClr>
              <a:buSzPts val="1800"/>
              <a:buFont typeface="Noto Sans Symbols"/>
              <a:buChar char="○"/>
            </a:pPr>
            <a:r>
              <a:rPr lang="en-CA" sz="1800">
                <a:solidFill>
                  <a:srgbClr val="3F3F3F"/>
                </a:solidFill>
              </a:rPr>
              <a:t>Environmental factors &amp; fetal development</a:t>
            </a:r>
            <a:endParaRPr sz="1800">
              <a:solidFill>
                <a:srgbClr val="3F3F3F"/>
              </a:solidFill>
            </a:endParaRPr>
          </a:p>
          <a:p>
            <a:pPr indent="-295490" lvl="0" marL="342900" rtl="0" algn="l">
              <a:lnSpc>
                <a:spcPct val="115000"/>
              </a:lnSpc>
              <a:spcBef>
                <a:spcPts val="400"/>
              </a:spcBef>
              <a:spcAft>
                <a:spcPts val="0"/>
              </a:spcAft>
              <a:buClr>
                <a:srgbClr val="3F3F3F"/>
              </a:buClr>
              <a:buSzPts val="1800"/>
              <a:buFont typeface="Noto Sans Symbols"/>
              <a:buChar char="○"/>
            </a:pPr>
            <a:r>
              <a:rPr lang="en-CA" sz="1800">
                <a:solidFill>
                  <a:srgbClr val="3F3F3F"/>
                </a:solidFill>
              </a:rPr>
              <a:t>Parturition &amp; lactation (role of prolactin &amp; oxytocin)</a:t>
            </a:r>
            <a:endParaRPr sz="1800">
              <a:solidFill>
                <a:srgbClr val="3F3F3F"/>
              </a:solidFill>
            </a:endParaRPr>
          </a:p>
          <a:p>
            <a:pPr indent="0" lvl="0" marL="342900" rtl="0" algn="l">
              <a:lnSpc>
                <a:spcPct val="115000"/>
              </a:lnSpc>
              <a:spcBef>
                <a:spcPts val="400"/>
              </a:spcBef>
              <a:spcAft>
                <a:spcPts val="0"/>
              </a:spcAft>
              <a:buNone/>
            </a:pPr>
            <a:r>
              <a:t/>
            </a:r>
            <a:endParaRPr sz="1800">
              <a:solidFill>
                <a:srgbClr val="3F3F3F"/>
              </a:solidFill>
            </a:endParaRPr>
          </a:p>
          <a:p>
            <a:pPr indent="0" lvl="0" marL="342900" rtl="0" algn="ctr">
              <a:lnSpc>
                <a:spcPct val="115000"/>
              </a:lnSpc>
              <a:spcBef>
                <a:spcPts val="400"/>
              </a:spcBef>
              <a:spcAft>
                <a:spcPts val="0"/>
              </a:spcAft>
              <a:buNone/>
            </a:pPr>
            <a:r>
              <a:rPr b="1" i="1" lang="en-CA" sz="2000">
                <a:solidFill>
                  <a:srgbClr val="3F3F3F"/>
                </a:solidFill>
              </a:rPr>
              <a:t>Textbook pgs. 506-543</a:t>
            </a:r>
            <a:endParaRPr b="1" i="1" sz="2000">
              <a:solidFill>
                <a:srgbClr val="3F3F3F"/>
              </a:solidFill>
            </a:endParaRPr>
          </a:p>
          <a:p>
            <a:pPr indent="0" lvl="0" marL="342900" marR="0" rtl="0" algn="l">
              <a:lnSpc>
                <a:spcPct val="100000"/>
              </a:lnSpc>
              <a:spcBef>
                <a:spcPts val="0"/>
              </a:spcBef>
              <a:spcAft>
                <a:spcPts val="0"/>
              </a:spcAft>
              <a:buNone/>
            </a:pPr>
            <a:r>
              <a:t/>
            </a:r>
            <a:endParaRPr sz="1800">
              <a:solidFill>
                <a:schemeClr val="accent1"/>
              </a:solidFill>
            </a:endParaRPr>
          </a:p>
          <a:p>
            <a:pPr indent="0" lvl="0" marL="0" marR="0" rtl="0" algn="l">
              <a:lnSpc>
                <a:spcPct val="100000"/>
              </a:lnSpc>
              <a:spcBef>
                <a:spcPts val="1407"/>
              </a:spcBef>
              <a:spcAft>
                <a:spcPts val="0"/>
              </a:spcAft>
              <a:buNone/>
            </a:pPr>
            <a:r>
              <a:t/>
            </a:r>
            <a:endParaRPr/>
          </a:p>
        </p:txBody>
      </p:sp>
      <p:sp>
        <p:nvSpPr>
          <p:cNvPr id="273" name="Google Shape;273;p15"/>
          <p:cNvSpPr txBox="1"/>
          <p:nvPr>
            <p:ph idx="4294967295" type="title"/>
          </p:nvPr>
        </p:nvSpPr>
        <p:spPr>
          <a:xfrm>
            <a:off x="1289275" y="1407650"/>
            <a:ext cx="6548700" cy="6696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CA" sz="2800"/>
              <a:t>Chapter 15: </a:t>
            </a:r>
            <a:endParaRPr b="1" sz="2800"/>
          </a:p>
          <a:p>
            <a:pPr indent="0" lvl="0" marL="0" marR="0" rtl="0" algn="ctr">
              <a:lnSpc>
                <a:spcPct val="100000"/>
              </a:lnSpc>
              <a:spcBef>
                <a:spcPts val="0"/>
              </a:spcBef>
              <a:spcAft>
                <a:spcPts val="0"/>
              </a:spcAft>
              <a:buClr>
                <a:schemeClr val="accent1"/>
              </a:buClr>
              <a:buSzPts val="700"/>
              <a:buFont typeface="Verdana"/>
              <a:buNone/>
            </a:pPr>
            <a:r>
              <a:rPr b="1" lang="en-CA" sz="2800"/>
              <a:t>Human Development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After weeks of discussion of human reproduction, today we arrive at the main event: THE SEX. Hank explains the four phases of the human sexual response, how a sperm finds and fertilizes an egg, creating a zygote, and how different types of contraception work to prevent that from happening.&#10;&#10;A&amp;P poster: http://store.dftba.com/products/crashcourse-anatomy-and-physiology-poster&#10;&#10;Table of Contents&#10;Four Phases of the Human Sexual Response 1:34&#10;Fertilization 3:01&#10;Creating a Zygote 3:21&#10;Methods of Birth Control 7:15&#10;&#10;***&#10;&#10;Crash Course is on Patreon! You can support us directly by signing up at http://www.patreon.com/crashcourse&#10;&#10;Thanks to the following Patrons for their generous monthly contributions that help keep Crash Course free for everyone forever:&#10;&#10;Mark, Eric Kitchen, Jessica Wode, Jeffrey Thompson, Steve Marshall, Moritz Schmidt, Robert Kunz, Tim Curwick, Jason A Saslow, SR Foxley, Elliot Beter, Jacob Ash, Christian, Jan Schmid, Jirat, Christy Huddleston, Daniel Baulig, Chris Peters, Anna-Ester Volozh, Ian Dundore, Caleb Weeks&#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279" name="Google Shape;279;p16" title="Reproductive System, part 3 - Sex &amp; Fertilization: Crash Course A&amp;P #42">
            <a:hlinkClick r:id="rId3"/>
          </p:cNvPr>
          <p:cNvPicPr preferRelativeResize="0"/>
          <p:nvPr/>
        </p:nvPicPr>
        <p:blipFill>
          <a:blip r:embed="rId4">
            <a:alphaModFix/>
          </a:blip>
          <a:stretch>
            <a:fillRect/>
          </a:stretch>
        </p:blipFill>
        <p:spPr>
          <a:xfrm>
            <a:off x="2286000" y="2141075"/>
            <a:ext cx="4572000" cy="3429000"/>
          </a:xfrm>
          <a:prstGeom prst="rect">
            <a:avLst/>
          </a:prstGeom>
          <a:noFill/>
          <a:ln>
            <a:noFill/>
          </a:ln>
        </p:spPr>
      </p:pic>
      <p:sp>
        <p:nvSpPr>
          <p:cNvPr id="280" name="Google Shape;280;p16"/>
          <p:cNvSpPr txBox="1"/>
          <p:nvPr>
            <p:ph idx="4294967295" type="title"/>
          </p:nvPr>
        </p:nvSpPr>
        <p:spPr>
          <a:xfrm>
            <a:off x="1059590" y="1179104"/>
            <a:ext cx="7024800" cy="685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3200" u="none" cap="none" strike="noStrike">
                <a:solidFill>
                  <a:schemeClr val="accent1"/>
                </a:solidFill>
                <a:latin typeface="Verdana"/>
                <a:ea typeface="Verdana"/>
                <a:cs typeface="Verdana"/>
                <a:sym typeface="Verdana"/>
              </a:rPr>
              <a:t>Fertilization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7"/>
          <p:cNvSpPr txBox="1"/>
          <p:nvPr>
            <p:ph type="title"/>
          </p:nvPr>
        </p:nvSpPr>
        <p:spPr>
          <a:xfrm>
            <a:off x="-959385" y="331104"/>
            <a:ext cx="7024800" cy="685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3200" u="none" cap="none" strike="noStrike">
                <a:solidFill>
                  <a:schemeClr val="accent1"/>
                </a:solidFill>
                <a:latin typeface="Verdana"/>
                <a:ea typeface="Verdana"/>
                <a:cs typeface="Verdana"/>
                <a:sym typeface="Verdana"/>
              </a:rPr>
              <a:t>Fertilization</a:t>
            </a:r>
            <a:endParaRPr/>
          </a:p>
        </p:txBody>
      </p:sp>
      <p:sp>
        <p:nvSpPr>
          <p:cNvPr id="286" name="Google Shape;286;p17"/>
          <p:cNvSpPr txBox="1"/>
          <p:nvPr/>
        </p:nvSpPr>
        <p:spPr>
          <a:xfrm>
            <a:off x="587225" y="1268825"/>
            <a:ext cx="7513200" cy="1224300"/>
          </a:xfrm>
          <a:prstGeom prst="rect">
            <a:avLst/>
          </a:prstGeom>
          <a:noFill/>
          <a:ln>
            <a:noFill/>
          </a:ln>
        </p:spPr>
        <p:txBody>
          <a:bodyPr anchorCtr="0" anchor="t" bIns="45700" lIns="91425" spcFirstLastPara="1" rIns="91425" wrap="square" tIns="45700">
            <a:noAutofit/>
          </a:bodyPr>
          <a:lstStyle/>
          <a:p>
            <a:pPr indent="-336550" lvl="0" marL="457200" marR="0" rtl="0" algn="l">
              <a:lnSpc>
                <a:spcPct val="115000"/>
              </a:lnSpc>
              <a:spcBef>
                <a:spcPts val="0"/>
              </a:spcBef>
              <a:spcAft>
                <a:spcPts val="0"/>
              </a:spcAft>
              <a:buClr>
                <a:schemeClr val="accent1"/>
              </a:buClr>
              <a:buSzPts val="1700"/>
              <a:buFont typeface="Verdana"/>
              <a:buChar char="➢"/>
            </a:pPr>
            <a:r>
              <a:rPr lang="en-CA" sz="1700">
                <a:solidFill>
                  <a:schemeClr val="accent1"/>
                </a:solidFill>
                <a:latin typeface="Verdana"/>
                <a:ea typeface="Verdana"/>
                <a:cs typeface="Verdana"/>
                <a:sym typeface="Verdana"/>
              </a:rPr>
              <a:t>Fertilization if t</a:t>
            </a:r>
            <a:r>
              <a:rPr b="0" lang="en-CA" sz="1700" u="none" cap="none" strike="noStrike">
                <a:solidFill>
                  <a:schemeClr val="accent1"/>
                </a:solidFill>
                <a:latin typeface="Verdana"/>
                <a:ea typeface="Verdana"/>
                <a:cs typeface="Verdana"/>
                <a:sym typeface="Verdana"/>
              </a:rPr>
              <a:t>he </a:t>
            </a:r>
            <a:r>
              <a:rPr b="1" lang="en-CA" sz="1700" u="none" cap="none" strike="noStrike">
                <a:solidFill>
                  <a:schemeClr val="accent1"/>
                </a:solidFill>
                <a:latin typeface="Verdana"/>
                <a:ea typeface="Verdana"/>
                <a:cs typeface="Verdana"/>
                <a:sym typeface="Verdana"/>
              </a:rPr>
              <a:t>joining of male and female gametes </a:t>
            </a:r>
            <a:r>
              <a:rPr b="0" lang="en-CA" sz="1700" u="none" cap="none" strike="noStrike">
                <a:solidFill>
                  <a:schemeClr val="accent1"/>
                </a:solidFill>
                <a:latin typeface="Verdana"/>
                <a:ea typeface="Verdana"/>
                <a:cs typeface="Verdana"/>
                <a:sym typeface="Verdana"/>
              </a:rPr>
              <a:t>(sperm and egg) to form a</a:t>
            </a:r>
            <a:r>
              <a:rPr b="1" lang="en-CA" sz="1700" u="none" cap="none" strike="noStrike">
                <a:solidFill>
                  <a:schemeClr val="accent1"/>
                </a:solidFill>
                <a:latin typeface="Verdana"/>
                <a:ea typeface="Verdana"/>
                <a:cs typeface="Verdana"/>
                <a:sym typeface="Verdana"/>
              </a:rPr>
              <a:t> </a:t>
            </a:r>
            <a:r>
              <a:rPr b="1" lang="en-CA" sz="1700">
                <a:solidFill>
                  <a:schemeClr val="accent1"/>
                </a:solidFill>
                <a:latin typeface="Verdana"/>
                <a:ea typeface="Verdana"/>
                <a:cs typeface="Verdana"/>
                <a:sym typeface="Verdana"/>
              </a:rPr>
              <a:t>zygote </a:t>
            </a:r>
            <a:r>
              <a:rPr lang="en-CA" sz="1700">
                <a:solidFill>
                  <a:schemeClr val="accent1"/>
                </a:solidFill>
                <a:latin typeface="Verdana"/>
                <a:ea typeface="Verdana"/>
                <a:cs typeface="Verdana"/>
                <a:sym typeface="Verdana"/>
              </a:rPr>
              <a:t>(a fertilized egg). </a:t>
            </a:r>
            <a:endParaRPr sz="1700">
              <a:solidFill>
                <a:schemeClr val="accent1"/>
              </a:solidFill>
              <a:latin typeface="Verdana"/>
              <a:ea typeface="Verdana"/>
              <a:cs typeface="Verdana"/>
              <a:sym typeface="Verdana"/>
            </a:endParaRPr>
          </a:p>
          <a:p>
            <a:pPr indent="-336550" lvl="0" marL="457200" marR="0" rtl="0" algn="l">
              <a:lnSpc>
                <a:spcPct val="115000"/>
              </a:lnSpc>
              <a:spcBef>
                <a:spcPts val="1000"/>
              </a:spcBef>
              <a:spcAft>
                <a:spcPts val="1000"/>
              </a:spcAft>
              <a:buClr>
                <a:schemeClr val="accent1"/>
              </a:buClr>
              <a:buSzPts val="1700"/>
              <a:buFont typeface="Verdana"/>
              <a:buChar char="➢"/>
            </a:pPr>
            <a:r>
              <a:rPr lang="en-CA" sz="1700">
                <a:solidFill>
                  <a:schemeClr val="accent1"/>
                </a:solidFill>
                <a:latin typeface="Verdana"/>
                <a:ea typeface="Verdana"/>
                <a:cs typeface="Verdana"/>
                <a:sym typeface="Verdana"/>
              </a:rPr>
              <a:t>Each </a:t>
            </a:r>
            <a:r>
              <a:rPr b="1" lang="en-CA" sz="1700">
                <a:solidFill>
                  <a:schemeClr val="accent1"/>
                </a:solidFill>
                <a:latin typeface="Verdana"/>
                <a:ea typeface="Verdana"/>
                <a:cs typeface="Verdana"/>
                <a:sym typeface="Verdana"/>
              </a:rPr>
              <a:t>gamete is haploid</a:t>
            </a:r>
            <a:r>
              <a:rPr lang="en-CA" sz="1700">
                <a:solidFill>
                  <a:schemeClr val="accent1"/>
                </a:solidFill>
                <a:latin typeface="Verdana"/>
                <a:ea typeface="Verdana"/>
                <a:cs typeface="Verdana"/>
                <a:sym typeface="Verdana"/>
              </a:rPr>
              <a:t>, meaning they contain only 23 chromosomes or half the amount other cells have. As these two haploid cells fuse, they form a </a:t>
            </a:r>
            <a:r>
              <a:rPr b="1" lang="en-CA" sz="1700">
                <a:solidFill>
                  <a:schemeClr val="accent1"/>
                </a:solidFill>
                <a:latin typeface="Verdana"/>
                <a:ea typeface="Verdana"/>
                <a:cs typeface="Verdana"/>
                <a:sym typeface="Verdana"/>
              </a:rPr>
              <a:t>diploid zygote </a:t>
            </a:r>
            <a:r>
              <a:rPr lang="en-CA" sz="1700">
                <a:solidFill>
                  <a:schemeClr val="accent1"/>
                </a:solidFill>
                <a:latin typeface="Verdana"/>
                <a:ea typeface="Verdana"/>
                <a:cs typeface="Verdana"/>
                <a:sym typeface="Verdana"/>
              </a:rPr>
              <a:t>with 46 chromosomes. (More on ploidy and cell division in Unit C)</a:t>
            </a:r>
            <a:endParaRPr sz="1300"/>
          </a:p>
        </p:txBody>
      </p:sp>
      <p:sp>
        <p:nvSpPr>
          <p:cNvPr id="287" name="Google Shape;287;p17"/>
          <p:cNvSpPr txBox="1"/>
          <p:nvPr/>
        </p:nvSpPr>
        <p:spPr>
          <a:xfrm>
            <a:off x="5364075" y="3523376"/>
            <a:ext cx="2899800" cy="2543400"/>
          </a:xfrm>
          <a:prstGeom prst="rect">
            <a:avLst/>
          </a:prstGeom>
          <a:noFill/>
          <a:ln>
            <a:noFill/>
          </a:ln>
        </p:spPr>
        <p:txBody>
          <a:bodyPr anchorCtr="0" anchor="t" bIns="45700" lIns="91425" spcFirstLastPara="1" rIns="91425" wrap="square" tIns="45700">
            <a:noAutofit/>
          </a:bodyPr>
          <a:lstStyle/>
          <a:p>
            <a:pPr indent="-292100" lvl="0" marL="285750" marR="0" rtl="0" algn="l">
              <a:lnSpc>
                <a:spcPct val="100000"/>
              </a:lnSpc>
              <a:spcBef>
                <a:spcPts val="0"/>
              </a:spcBef>
              <a:spcAft>
                <a:spcPts val="0"/>
              </a:spcAft>
              <a:buClr>
                <a:schemeClr val="accent1"/>
              </a:buClr>
              <a:buSzPts val="1700"/>
              <a:buFont typeface="Courier New"/>
              <a:buChar char="➢"/>
            </a:pPr>
            <a:r>
              <a:rPr b="1" i="0" lang="en-CA" sz="1700" u="none" cap="none" strike="noStrike">
                <a:solidFill>
                  <a:schemeClr val="accent1"/>
                </a:solidFill>
                <a:latin typeface="Verdana"/>
                <a:ea typeface="Verdana"/>
                <a:cs typeface="Verdana"/>
                <a:sym typeface="Verdana"/>
              </a:rPr>
              <a:t>Occurs within the oviduct</a:t>
            </a:r>
            <a:r>
              <a:rPr b="1" lang="en-CA" sz="1700">
                <a:solidFill>
                  <a:schemeClr val="accent1"/>
                </a:solidFill>
                <a:latin typeface="Verdana"/>
                <a:ea typeface="Verdana"/>
                <a:cs typeface="Verdana"/>
                <a:sym typeface="Verdana"/>
              </a:rPr>
              <a:t> (fallopian tubes)</a:t>
            </a:r>
            <a:endParaRPr b="1" sz="1800"/>
          </a:p>
          <a:p>
            <a:pPr indent="-292100" lvl="0" marL="285750" marR="0" rtl="0" algn="l">
              <a:lnSpc>
                <a:spcPct val="100000"/>
              </a:lnSpc>
              <a:spcBef>
                <a:spcPts val="1000"/>
              </a:spcBef>
              <a:spcAft>
                <a:spcPts val="0"/>
              </a:spcAft>
              <a:buClr>
                <a:schemeClr val="accent1"/>
              </a:buClr>
              <a:buSzPts val="1700"/>
              <a:buFont typeface="Courier New"/>
              <a:buChar char="➢"/>
            </a:pPr>
            <a:r>
              <a:rPr b="0" i="0" lang="en-CA" sz="1700" u="none" cap="none" strike="noStrike">
                <a:solidFill>
                  <a:schemeClr val="accent1"/>
                </a:solidFill>
                <a:latin typeface="Verdana"/>
                <a:ea typeface="Verdana"/>
                <a:cs typeface="Verdana"/>
                <a:sym typeface="Verdana"/>
              </a:rPr>
              <a:t>Unique coating layers of the egg (corona radiata and zona pellucida) ensure that only one sperm may successfully attach</a:t>
            </a:r>
            <a:endParaRPr sz="1500"/>
          </a:p>
          <a:p>
            <a:pPr indent="0" lvl="0" marL="0" marR="0" rtl="0" algn="l">
              <a:lnSpc>
                <a:spcPct val="100000"/>
              </a:lnSpc>
              <a:spcBef>
                <a:spcPts val="1000"/>
              </a:spcBef>
              <a:spcAft>
                <a:spcPts val="0"/>
              </a:spcAft>
              <a:buClr>
                <a:schemeClr val="accent1"/>
              </a:buClr>
              <a:buSzPts val="400"/>
              <a:buFont typeface="Verdana"/>
              <a:buNone/>
            </a:pPr>
            <a:r>
              <a:rPr b="0" i="0" lang="en-CA" sz="1700" u="none" cap="none" strike="noStrike">
                <a:solidFill>
                  <a:schemeClr val="accent1"/>
                </a:solidFill>
                <a:latin typeface="Verdana"/>
                <a:ea typeface="Verdana"/>
                <a:cs typeface="Verdana"/>
                <a:sym typeface="Verdana"/>
              </a:rPr>
              <a:t> </a:t>
            </a:r>
            <a:endParaRPr sz="1500"/>
          </a:p>
        </p:txBody>
      </p:sp>
      <p:pic>
        <p:nvPicPr>
          <p:cNvPr id="288" name="Google Shape;288;p17"/>
          <p:cNvPicPr preferRelativeResize="0"/>
          <p:nvPr/>
        </p:nvPicPr>
        <p:blipFill rotWithShape="1">
          <a:blip r:embed="rId3">
            <a:alphaModFix/>
          </a:blip>
          <a:srcRect b="0" l="0" r="0" t="0"/>
          <a:stretch/>
        </p:blipFill>
        <p:spPr>
          <a:xfrm>
            <a:off x="587237" y="3294471"/>
            <a:ext cx="4536503" cy="30476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descr="F15_1.jpg" id="293" name="Google Shape;293;p18"/>
          <p:cNvPicPr preferRelativeResize="0"/>
          <p:nvPr/>
        </p:nvPicPr>
        <p:blipFill rotWithShape="1">
          <a:blip r:embed="rId3">
            <a:alphaModFix/>
          </a:blip>
          <a:srcRect b="0" l="0" r="23945" t="0"/>
          <a:stretch/>
        </p:blipFill>
        <p:spPr>
          <a:xfrm>
            <a:off x="4388817" y="515389"/>
            <a:ext cx="4059324" cy="3356886"/>
          </a:xfrm>
          <a:prstGeom prst="rect">
            <a:avLst/>
          </a:prstGeom>
          <a:noFill/>
          <a:ln>
            <a:noFill/>
          </a:ln>
        </p:spPr>
      </p:pic>
      <p:sp>
        <p:nvSpPr>
          <p:cNvPr id="294" name="Google Shape;294;p18"/>
          <p:cNvSpPr txBox="1"/>
          <p:nvPr/>
        </p:nvSpPr>
        <p:spPr>
          <a:xfrm>
            <a:off x="611560" y="1035253"/>
            <a:ext cx="3528300" cy="5109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1600"/>
              <a:buFont typeface="Verdana"/>
              <a:buAutoNum type="arabicPeriod"/>
            </a:pPr>
            <a:r>
              <a:rPr b="0" i="0" lang="en-CA" sz="1600" u="none" cap="none" strike="noStrike">
                <a:solidFill>
                  <a:schemeClr val="accent1"/>
                </a:solidFill>
                <a:latin typeface="Verdana"/>
                <a:ea typeface="Verdana"/>
                <a:cs typeface="Verdana"/>
                <a:sym typeface="Verdana"/>
              </a:rPr>
              <a:t>Sperm cells release enzymes from their acrosome cap to digest the outer coating of the egg</a:t>
            </a:r>
            <a:endParaRPr/>
          </a:p>
          <a:p>
            <a:pPr indent="-342900" lvl="0" marL="342900" marR="0" rtl="0" algn="l">
              <a:lnSpc>
                <a:spcPct val="100000"/>
              </a:lnSpc>
              <a:spcBef>
                <a:spcPts val="1000"/>
              </a:spcBef>
              <a:spcAft>
                <a:spcPts val="0"/>
              </a:spcAft>
              <a:buClr>
                <a:schemeClr val="accent1"/>
              </a:buClr>
              <a:buSzPts val="1600"/>
              <a:buFont typeface="Verdana"/>
              <a:buAutoNum type="arabicPeriod"/>
            </a:pPr>
            <a:r>
              <a:rPr b="0" i="0" lang="en-CA" sz="1600" u="none" cap="none" strike="noStrike">
                <a:solidFill>
                  <a:schemeClr val="accent1"/>
                </a:solidFill>
                <a:latin typeface="Verdana"/>
                <a:ea typeface="Verdana"/>
                <a:cs typeface="Verdana"/>
                <a:sym typeface="Verdana"/>
              </a:rPr>
              <a:t>Sperm cells move farther through the coating towards the plasma membrane</a:t>
            </a:r>
            <a:endParaRPr/>
          </a:p>
          <a:p>
            <a:pPr indent="-342900" lvl="0" marL="342900" marR="0" rtl="0" algn="l">
              <a:lnSpc>
                <a:spcPct val="100000"/>
              </a:lnSpc>
              <a:spcBef>
                <a:spcPts val="1000"/>
              </a:spcBef>
              <a:spcAft>
                <a:spcPts val="0"/>
              </a:spcAft>
              <a:buClr>
                <a:schemeClr val="accent1"/>
              </a:buClr>
              <a:buSzPts val="1600"/>
              <a:buFont typeface="Verdana"/>
              <a:buAutoNum type="arabicPeriod"/>
            </a:pPr>
            <a:r>
              <a:rPr b="0" i="0" lang="en-CA" sz="1600" u="none" cap="none" strike="noStrike">
                <a:solidFill>
                  <a:schemeClr val="accent1"/>
                </a:solidFill>
                <a:latin typeface="Verdana"/>
                <a:ea typeface="Verdana"/>
                <a:cs typeface="Verdana"/>
                <a:sym typeface="Verdana"/>
              </a:rPr>
              <a:t>Once a sperm enters the egg, the egg’s plasma membrane depolarizes, preventing other sperm from entering</a:t>
            </a:r>
            <a:endParaRPr/>
          </a:p>
          <a:p>
            <a:pPr indent="-342900" lvl="0" marL="342900" marR="0" rtl="0" algn="l">
              <a:lnSpc>
                <a:spcPct val="100000"/>
              </a:lnSpc>
              <a:spcBef>
                <a:spcPts val="1000"/>
              </a:spcBef>
              <a:spcAft>
                <a:spcPts val="0"/>
              </a:spcAft>
              <a:buClr>
                <a:schemeClr val="accent1"/>
              </a:buClr>
              <a:buSzPts val="1600"/>
              <a:buFont typeface="Verdana"/>
              <a:buAutoNum type="arabicPeriod"/>
            </a:pPr>
            <a:r>
              <a:rPr b="0" i="0" lang="en-CA" sz="1600" u="none" cap="none" strike="noStrike">
                <a:solidFill>
                  <a:schemeClr val="accent1"/>
                </a:solidFill>
                <a:latin typeface="Verdana"/>
                <a:ea typeface="Verdana"/>
                <a:cs typeface="Verdana"/>
                <a:sym typeface="Verdana"/>
              </a:rPr>
              <a:t>The nuclei of the sperm and egg fuse, resulting in a single cell with a complete set of 46 chromosomes (referred to as the </a:t>
            </a:r>
            <a:r>
              <a:rPr b="0" i="1" lang="en-CA" sz="1600" u="none" cap="none" strike="noStrike">
                <a:solidFill>
                  <a:schemeClr val="accent1"/>
                </a:solidFill>
                <a:latin typeface="Verdana"/>
                <a:ea typeface="Verdana"/>
                <a:cs typeface="Verdana"/>
                <a:sym typeface="Verdana"/>
              </a:rPr>
              <a:t>zygote</a:t>
            </a:r>
            <a:r>
              <a:rPr b="0" i="0" lang="en-CA" sz="1600" u="none" cap="none" strike="noStrike">
                <a:solidFill>
                  <a:schemeClr val="accent1"/>
                </a:solidFill>
                <a:latin typeface="Verdana"/>
                <a:ea typeface="Verdana"/>
                <a:cs typeface="Verdana"/>
                <a:sym typeface="Verdana"/>
              </a:rPr>
              <a:t>)</a:t>
            </a:r>
            <a:endParaRPr/>
          </a:p>
          <a:p>
            <a:pPr indent="-342900" lvl="0" marL="342900" marR="0" rtl="0" algn="l">
              <a:lnSpc>
                <a:spcPct val="100000"/>
              </a:lnSpc>
              <a:spcBef>
                <a:spcPts val="1000"/>
              </a:spcBef>
              <a:spcAft>
                <a:spcPts val="0"/>
              </a:spcAft>
              <a:buClr>
                <a:schemeClr val="dk1"/>
              </a:buClr>
              <a:buSzPts val="1800"/>
              <a:buFont typeface="Verdana"/>
              <a:buNone/>
            </a:pPr>
            <a:r>
              <a:t/>
            </a:r>
            <a:endParaRPr b="0" i="0" sz="18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Verdana"/>
              <a:ea typeface="Verdana"/>
              <a:cs typeface="Verdana"/>
              <a:sym typeface="Verdana"/>
            </a:endParaRPr>
          </a:p>
        </p:txBody>
      </p:sp>
      <p:sp>
        <p:nvSpPr>
          <p:cNvPr id="295" name="Google Shape;295;p18"/>
          <p:cNvSpPr txBox="1"/>
          <p:nvPr/>
        </p:nvSpPr>
        <p:spPr>
          <a:xfrm>
            <a:off x="1184264" y="515408"/>
            <a:ext cx="20883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450"/>
              <a:buFont typeface="Verdana"/>
              <a:buNone/>
            </a:pPr>
            <a:r>
              <a:rPr b="1" i="0" lang="en-CA" sz="1800" u="none" cap="none" strike="noStrike">
                <a:solidFill>
                  <a:schemeClr val="accent1"/>
                </a:solidFill>
                <a:latin typeface="Verdana"/>
                <a:ea typeface="Verdana"/>
                <a:cs typeface="Verdana"/>
                <a:sym typeface="Verdana"/>
              </a:rPr>
              <a:t>THE PROCESS:</a:t>
            </a:r>
            <a:endParaRPr/>
          </a:p>
        </p:txBody>
      </p:sp>
      <p:pic>
        <p:nvPicPr>
          <p:cNvPr descr="If you enjoy watching Nucleus animations, you can help us by clicking the THANKS button below the video, making a donation, and telling us what animation you would like us to make next. All suggestions will go to our Editorial Team for consideration, and every little bit helps! &#10;&#10;For Employees of Hospitals, Schools, Universities and Libraries: Download 8 FREE medical animations from Nucleus by signing up for a free trial:  http://nmal.nucleusmedicalmedia.com/free-trial-membership-a&#10;&#10;Biology students: Subscribe to the Nucleus Biology channel to see new animations on biology and other science topics, plus short quizzes to ace your next exam: https://bit.ly/3lH1CzV&#10;&#10;This video, created by Nucleus Medical Media, shows human fertilization, also known as conception. Shown at a cellular level magnification, sperm struggle through many obstacles in the female reproductive tract to reach the egg. Then genetic material from the egg and a single sperm combines to form a new human being.&#10;&#10;#fertilization #conception #medicalanimation&#10;&#10;Nucleus Team: Thomas Brown, Stephen Boyd, Ron Collins, Mary Beth Clough, Kelvin Li, Erin Frederikson, Eric Small, Walid Aziz, Nobles Green.&#10;&#10;#Fertilization #Conception #Zygote&#10;ANH12063&#10;&#10;&#10;https://tinyurl.com/yb3f8g5u&#10;https://bit.ly/316hArC" id="296" name="Google Shape;296;p18" title="Fertilization">
            <a:hlinkClick r:id="rId4"/>
          </p:cNvPr>
          <p:cNvPicPr preferRelativeResize="0"/>
          <p:nvPr/>
        </p:nvPicPr>
        <p:blipFill>
          <a:blip r:embed="rId5">
            <a:alphaModFix/>
          </a:blip>
          <a:stretch>
            <a:fillRect/>
          </a:stretch>
        </p:blipFill>
        <p:spPr>
          <a:xfrm>
            <a:off x="4587351" y="4150500"/>
            <a:ext cx="3662275" cy="2060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9"/>
          <p:cNvSpPr txBox="1"/>
          <p:nvPr>
            <p:ph type="title"/>
          </p:nvPr>
        </p:nvSpPr>
        <p:spPr>
          <a:xfrm>
            <a:off x="1824600" y="1027675"/>
            <a:ext cx="6243600" cy="57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Stages of Development</a:t>
            </a:r>
            <a:endParaRPr/>
          </a:p>
        </p:txBody>
      </p:sp>
      <p:sp>
        <p:nvSpPr>
          <p:cNvPr id="303" name="Google Shape;303;p19"/>
          <p:cNvSpPr txBox="1"/>
          <p:nvPr/>
        </p:nvSpPr>
        <p:spPr>
          <a:xfrm>
            <a:off x="1027650" y="1992375"/>
            <a:ext cx="6900000" cy="13422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dk2"/>
              </a:buClr>
              <a:buSzPts val="2400"/>
              <a:buFont typeface="Verdana"/>
              <a:buChar char="➢"/>
            </a:pPr>
            <a:r>
              <a:rPr lang="en-CA" sz="2400">
                <a:solidFill>
                  <a:schemeClr val="dk2"/>
                </a:solidFill>
                <a:latin typeface="Verdana"/>
                <a:ea typeface="Verdana"/>
                <a:cs typeface="Verdana"/>
                <a:sym typeface="Verdana"/>
              </a:rPr>
              <a:t>Pregnancy can be divided into:</a:t>
            </a:r>
            <a:endParaRPr sz="2400">
              <a:solidFill>
                <a:schemeClr val="dk2"/>
              </a:solidFill>
              <a:latin typeface="Verdana"/>
              <a:ea typeface="Verdana"/>
              <a:cs typeface="Verdana"/>
              <a:sym typeface="Verdana"/>
            </a:endParaRPr>
          </a:p>
          <a:p>
            <a:pPr indent="-381000" lvl="1" marL="914400" rtl="0" algn="l">
              <a:spcBef>
                <a:spcPts val="0"/>
              </a:spcBef>
              <a:spcAft>
                <a:spcPts val="0"/>
              </a:spcAft>
              <a:buClr>
                <a:schemeClr val="dk2"/>
              </a:buClr>
              <a:buSzPts val="2400"/>
              <a:buFont typeface="Verdana"/>
              <a:buChar char="○"/>
            </a:pPr>
            <a:r>
              <a:rPr lang="en-CA" sz="2400">
                <a:solidFill>
                  <a:schemeClr val="dk2"/>
                </a:solidFill>
                <a:latin typeface="Verdana"/>
                <a:ea typeface="Verdana"/>
                <a:cs typeface="Verdana"/>
                <a:sym typeface="Verdana"/>
              </a:rPr>
              <a:t>2 stages</a:t>
            </a:r>
            <a:endParaRPr sz="2400">
              <a:solidFill>
                <a:schemeClr val="dk2"/>
              </a:solidFill>
              <a:latin typeface="Verdana"/>
              <a:ea typeface="Verdana"/>
              <a:cs typeface="Verdana"/>
              <a:sym typeface="Verdana"/>
            </a:endParaRPr>
          </a:p>
          <a:p>
            <a:pPr indent="-381000" lvl="2" marL="1371600" rtl="0" algn="l">
              <a:spcBef>
                <a:spcPts val="0"/>
              </a:spcBef>
              <a:spcAft>
                <a:spcPts val="0"/>
              </a:spcAft>
              <a:buClr>
                <a:schemeClr val="dk2"/>
              </a:buClr>
              <a:buSzPts val="2400"/>
              <a:buFont typeface="Verdana"/>
              <a:buChar char="■"/>
            </a:pPr>
            <a:r>
              <a:rPr lang="en-CA" sz="2400">
                <a:solidFill>
                  <a:schemeClr val="dk2"/>
                </a:solidFill>
                <a:latin typeface="Verdana"/>
                <a:ea typeface="Verdana"/>
                <a:cs typeface="Verdana"/>
                <a:sym typeface="Verdana"/>
              </a:rPr>
              <a:t>Embryonic stage: weeks 1-8</a:t>
            </a:r>
            <a:endParaRPr sz="2400">
              <a:solidFill>
                <a:schemeClr val="dk2"/>
              </a:solidFill>
              <a:latin typeface="Verdana"/>
              <a:ea typeface="Verdana"/>
              <a:cs typeface="Verdana"/>
              <a:sym typeface="Verdana"/>
            </a:endParaRPr>
          </a:p>
          <a:p>
            <a:pPr indent="-381000" lvl="2" marL="1371600" rtl="0" algn="l">
              <a:spcBef>
                <a:spcPts val="0"/>
              </a:spcBef>
              <a:spcAft>
                <a:spcPts val="0"/>
              </a:spcAft>
              <a:buClr>
                <a:schemeClr val="dk2"/>
              </a:buClr>
              <a:buSzPts val="2400"/>
              <a:buFont typeface="Verdana"/>
              <a:buChar char="■"/>
            </a:pPr>
            <a:r>
              <a:rPr lang="en-CA" sz="2400">
                <a:solidFill>
                  <a:schemeClr val="dk2"/>
                </a:solidFill>
                <a:latin typeface="Verdana"/>
                <a:ea typeface="Verdana"/>
                <a:cs typeface="Verdana"/>
                <a:sym typeface="Verdana"/>
              </a:rPr>
              <a:t>Fetal stage: weeks 9-12</a:t>
            </a:r>
            <a:endParaRPr sz="2400">
              <a:solidFill>
                <a:schemeClr val="dk2"/>
              </a:solidFill>
              <a:latin typeface="Verdana"/>
              <a:ea typeface="Verdana"/>
              <a:cs typeface="Verdana"/>
              <a:sym typeface="Verdana"/>
            </a:endParaRPr>
          </a:p>
          <a:p>
            <a:pPr indent="457200" lvl="0" marL="2743200" rtl="0" algn="l">
              <a:spcBef>
                <a:spcPts val="0"/>
              </a:spcBef>
              <a:spcAft>
                <a:spcPts val="0"/>
              </a:spcAft>
              <a:buNone/>
            </a:pPr>
            <a:r>
              <a:rPr b="1" lang="en-CA" sz="2400">
                <a:solidFill>
                  <a:schemeClr val="dk2"/>
                </a:solidFill>
                <a:latin typeface="Verdana"/>
                <a:ea typeface="Verdana"/>
                <a:cs typeface="Verdana"/>
                <a:sym typeface="Verdana"/>
              </a:rPr>
              <a:t>OR</a:t>
            </a:r>
            <a:endParaRPr b="1" sz="2400">
              <a:solidFill>
                <a:schemeClr val="dk2"/>
              </a:solidFill>
              <a:latin typeface="Verdana"/>
              <a:ea typeface="Verdana"/>
              <a:cs typeface="Verdana"/>
              <a:sym typeface="Verdana"/>
            </a:endParaRPr>
          </a:p>
          <a:p>
            <a:pPr indent="-381000" lvl="1" marL="914400" rtl="0" algn="l">
              <a:spcBef>
                <a:spcPts val="0"/>
              </a:spcBef>
              <a:spcAft>
                <a:spcPts val="0"/>
              </a:spcAft>
              <a:buClr>
                <a:schemeClr val="dk2"/>
              </a:buClr>
              <a:buSzPts val="2400"/>
              <a:buFont typeface="Verdana"/>
              <a:buChar char="○"/>
            </a:pPr>
            <a:r>
              <a:rPr lang="en-CA" sz="2400">
                <a:solidFill>
                  <a:schemeClr val="dk2"/>
                </a:solidFill>
                <a:latin typeface="Verdana"/>
                <a:ea typeface="Verdana"/>
                <a:cs typeface="Verdana"/>
                <a:sym typeface="Verdana"/>
              </a:rPr>
              <a:t>3 trimesters</a:t>
            </a:r>
            <a:endParaRPr sz="2400">
              <a:solidFill>
                <a:schemeClr val="dk2"/>
              </a:solidFill>
              <a:latin typeface="Verdana"/>
              <a:ea typeface="Verdana"/>
              <a:cs typeface="Verdana"/>
              <a:sym typeface="Verdana"/>
            </a:endParaRPr>
          </a:p>
          <a:p>
            <a:pPr indent="-381000" lvl="2" marL="1371600" rtl="0" algn="l">
              <a:spcBef>
                <a:spcPts val="0"/>
              </a:spcBef>
              <a:spcAft>
                <a:spcPts val="0"/>
              </a:spcAft>
              <a:buClr>
                <a:schemeClr val="dk2"/>
              </a:buClr>
              <a:buSzPts val="2400"/>
              <a:buFont typeface="Verdana"/>
              <a:buChar char="■"/>
            </a:pPr>
            <a:r>
              <a:rPr lang="en-CA" sz="2400">
                <a:solidFill>
                  <a:schemeClr val="dk2"/>
                </a:solidFill>
                <a:latin typeface="Verdana"/>
                <a:ea typeface="Verdana"/>
                <a:cs typeface="Verdana"/>
                <a:sym typeface="Verdana"/>
              </a:rPr>
              <a:t>First trimester: months 1-3</a:t>
            </a:r>
            <a:endParaRPr sz="2400">
              <a:solidFill>
                <a:schemeClr val="dk2"/>
              </a:solidFill>
              <a:latin typeface="Verdana"/>
              <a:ea typeface="Verdana"/>
              <a:cs typeface="Verdana"/>
              <a:sym typeface="Verdana"/>
            </a:endParaRPr>
          </a:p>
          <a:p>
            <a:pPr indent="-381000" lvl="2" marL="1371600" rtl="0" algn="l">
              <a:spcBef>
                <a:spcPts val="0"/>
              </a:spcBef>
              <a:spcAft>
                <a:spcPts val="0"/>
              </a:spcAft>
              <a:buClr>
                <a:schemeClr val="dk2"/>
              </a:buClr>
              <a:buSzPts val="2400"/>
              <a:buFont typeface="Verdana"/>
              <a:buChar char="■"/>
            </a:pPr>
            <a:r>
              <a:rPr lang="en-CA" sz="2400">
                <a:solidFill>
                  <a:schemeClr val="dk2"/>
                </a:solidFill>
                <a:latin typeface="Verdana"/>
                <a:ea typeface="Verdana"/>
                <a:cs typeface="Verdana"/>
                <a:sym typeface="Verdana"/>
              </a:rPr>
              <a:t>Second trimester: months 4-6</a:t>
            </a:r>
            <a:endParaRPr sz="2400">
              <a:solidFill>
                <a:schemeClr val="dk2"/>
              </a:solidFill>
              <a:latin typeface="Verdana"/>
              <a:ea typeface="Verdana"/>
              <a:cs typeface="Verdana"/>
              <a:sym typeface="Verdana"/>
            </a:endParaRPr>
          </a:p>
          <a:p>
            <a:pPr indent="-381000" lvl="2" marL="1371600" rtl="0" algn="l">
              <a:spcBef>
                <a:spcPts val="0"/>
              </a:spcBef>
              <a:spcAft>
                <a:spcPts val="0"/>
              </a:spcAft>
              <a:buClr>
                <a:schemeClr val="dk2"/>
              </a:buClr>
              <a:buSzPts val="2400"/>
              <a:buFont typeface="Verdana"/>
              <a:buChar char="■"/>
            </a:pPr>
            <a:r>
              <a:rPr lang="en-CA" sz="2400">
                <a:solidFill>
                  <a:schemeClr val="dk2"/>
                </a:solidFill>
                <a:latin typeface="Verdana"/>
                <a:ea typeface="Verdana"/>
                <a:cs typeface="Verdana"/>
                <a:sym typeface="Verdana"/>
              </a:rPr>
              <a:t>Third trimester: months 7-9</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04" name="Google Shape;304;p19"/>
          <p:cNvSpPr txBox="1"/>
          <p:nvPr/>
        </p:nvSpPr>
        <p:spPr>
          <a:xfrm>
            <a:off x="849375" y="5641600"/>
            <a:ext cx="6994200" cy="36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CA" sz="2400">
                <a:solidFill>
                  <a:schemeClr val="dk2"/>
                </a:solidFill>
                <a:latin typeface="Verdana"/>
                <a:ea typeface="Verdana"/>
                <a:cs typeface="Verdana"/>
                <a:sym typeface="Verdana"/>
              </a:rPr>
              <a:t>Important developmental milestones occur during these periods. </a:t>
            </a:r>
            <a:endParaRPr sz="2400">
              <a:solidFill>
                <a:schemeClr val="dk2"/>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0"/>
          <p:cNvSpPr txBox="1"/>
          <p:nvPr>
            <p:ph type="title"/>
          </p:nvPr>
        </p:nvSpPr>
        <p:spPr>
          <a:xfrm>
            <a:off x="1043490" y="908720"/>
            <a:ext cx="7024744" cy="613871"/>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3200" u="none" cap="none" strike="noStrike">
                <a:solidFill>
                  <a:schemeClr val="accent1"/>
                </a:solidFill>
                <a:latin typeface="Verdana"/>
                <a:ea typeface="Verdana"/>
                <a:cs typeface="Verdana"/>
                <a:sym typeface="Verdana"/>
              </a:rPr>
              <a:t>Cleavage and Implantation</a:t>
            </a:r>
            <a:endParaRPr/>
          </a:p>
        </p:txBody>
      </p:sp>
      <p:sp>
        <p:nvSpPr>
          <p:cNvPr id="310" name="Google Shape;310;p20"/>
          <p:cNvSpPr txBox="1"/>
          <p:nvPr/>
        </p:nvSpPr>
        <p:spPr>
          <a:xfrm>
            <a:off x="1043608" y="1628800"/>
            <a:ext cx="7200799" cy="92332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450"/>
              <a:buFont typeface="Verdana"/>
              <a:buNone/>
            </a:pPr>
            <a:r>
              <a:rPr i="1" lang="en-CA" sz="1800">
                <a:solidFill>
                  <a:schemeClr val="accent1"/>
                </a:solidFill>
                <a:latin typeface="Verdana"/>
                <a:ea typeface="Verdana"/>
                <a:cs typeface="Verdana"/>
                <a:sym typeface="Verdana"/>
              </a:rPr>
              <a:t>After fertilization, the zygote </a:t>
            </a:r>
            <a:r>
              <a:rPr b="0" i="1" lang="en-CA" sz="1800" u="none" cap="none" strike="noStrike">
                <a:solidFill>
                  <a:schemeClr val="accent1"/>
                </a:solidFill>
                <a:latin typeface="Verdana"/>
                <a:ea typeface="Verdana"/>
                <a:cs typeface="Verdana"/>
                <a:sym typeface="Verdana"/>
              </a:rPr>
              <a:t>continues moving through the oviduct towards the uterus. During this time, several cell divisions occur, leading to the formation of the morula.</a:t>
            </a:r>
            <a:endParaRPr/>
          </a:p>
        </p:txBody>
      </p:sp>
      <p:sp>
        <p:nvSpPr>
          <p:cNvPr id="311" name="Google Shape;311;p20"/>
          <p:cNvSpPr txBox="1"/>
          <p:nvPr/>
        </p:nvSpPr>
        <p:spPr>
          <a:xfrm>
            <a:off x="801841" y="5088085"/>
            <a:ext cx="7730597" cy="1077217"/>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Initial cell division occurs rapidly, leaving little time for cell growth. </a:t>
            </a:r>
            <a:endParaRPr/>
          </a:p>
          <a:p>
            <a:pPr indent="0" lvl="0" marL="0" marR="0" rtl="0" algn="l">
              <a:lnSpc>
                <a:spcPct val="100000"/>
              </a:lnSpc>
              <a:spcBef>
                <a:spcPts val="0"/>
              </a:spcBef>
              <a:spcAft>
                <a:spcPts val="0"/>
              </a:spcAft>
              <a:buClr>
                <a:schemeClr val="accent1"/>
              </a:buClr>
              <a:buSzPts val="400"/>
              <a:buFont typeface="Verdana"/>
              <a:buNone/>
            </a:pPr>
            <a:r>
              <a:rPr b="0" i="0" lang="en-CA" sz="1600" u="none" cap="none" strike="noStrike">
                <a:solidFill>
                  <a:schemeClr val="accent1"/>
                </a:solidFill>
                <a:latin typeface="Verdana"/>
                <a:ea typeface="Verdana"/>
                <a:cs typeface="Verdana"/>
                <a:sym typeface="Verdana"/>
              </a:rPr>
              <a:t>    This process of </a:t>
            </a:r>
            <a:r>
              <a:rPr b="0" i="0" lang="en-CA" sz="1600" u="sng" cap="none" strike="noStrike">
                <a:solidFill>
                  <a:schemeClr val="accent1"/>
                </a:solidFill>
                <a:latin typeface="Verdana"/>
                <a:ea typeface="Verdana"/>
                <a:cs typeface="Verdana"/>
                <a:sym typeface="Verdana"/>
              </a:rPr>
              <a:t>cell division without enlargement</a:t>
            </a:r>
            <a:r>
              <a:rPr b="0" i="0" lang="en-CA" sz="1600" u="none" cap="none" strike="noStrike">
                <a:solidFill>
                  <a:schemeClr val="accent1"/>
                </a:solidFill>
                <a:latin typeface="Verdana"/>
                <a:ea typeface="Verdana"/>
                <a:cs typeface="Verdana"/>
                <a:sym typeface="Verdana"/>
              </a:rPr>
              <a:t> is called </a:t>
            </a:r>
            <a:r>
              <a:rPr b="1" i="1" lang="en-CA" sz="1600" u="none" cap="none" strike="noStrike">
                <a:solidFill>
                  <a:schemeClr val="accent1"/>
                </a:solidFill>
                <a:latin typeface="Verdana"/>
                <a:ea typeface="Verdana"/>
                <a:cs typeface="Verdana"/>
                <a:sym typeface="Verdana"/>
              </a:rPr>
              <a:t>cleavage</a:t>
            </a:r>
            <a:r>
              <a:rPr b="0" i="0" lang="en-CA" sz="1600" u="none" cap="none" strike="noStrike">
                <a:solidFill>
                  <a:schemeClr val="accent1"/>
                </a:solidFill>
                <a:latin typeface="Verdana"/>
                <a:ea typeface="Verdana"/>
                <a:cs typeface="Verdana"/>
                <a:sym typeface="Verdana"/>
              </a:rPr>
              <a:t>. </a:t>
            </a:r>
            <a:endParaRPr/>
          </a:p>
          <a:p>
            <a:pPr indent="-285750" lvl="0" marL="285750" marR="0" rtl="0" algn="l">
              <a:lnSpc>
                <a:spcPct val="100000"/>
              </a:lnSpc>
              <a:spcBef>
                <a:spcPts val="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Over the 3-5 day period required to reach the uterus, cleavage </a:t>
            </a:r>
            <a:endParaRPr/>
          </a:p>
          <a:p>
            <a:pPr indent="0" lvl="0" marL="0" marR="0" rtl="0" algn="l">
              <a:lnSpc>
                <a:spcPct val="100000"/>
              </a:lnSpc>
              <a:spcBef>
                <a:spcPts val="0"/>
              </a:spcBef>
              <a:spcAft>
                <a:spcPts val="0"/>
              </a:spcAft>
              <a:buClr>
                <a:schemeClr val="accent1"/>
              </a:buClr>
              <a:buSzPts val="400"/>
              <a:buFont typeface="Verdana"/>
              <a:buNone/>
            </a:pPr>
            <a:r>
              <a:rPr b="0" i="0" lang="en-CA" sz="1600" u="none" cap="none" strike="noStrike">
                <a:solidFill>
                  <a:schemeClr val="accent1"/>
                </a:solidFill>
                <a:latin typeface="Verdana"/>
                <a:ea typeface="Verdana"/>
                <a:cs typeface="Verdana"/>
                <a:sym typeface="Verdana"/>
              </a:rPr>
              <a:t>    occurs several times to form a sphere of 16 cells. This is the </a:t>
            </a:r>
            <a:r>
              <a:rPr b="1" i="1" lang="en-CA" sz="1600" u="none" cap="none" strike="noStrike">
                <a:solidFill>
                  <a:schemeClr val="accent1"/>
                </a:solidFill>
                <a:latin typeface="Verdana"/>
                <a:ea typeface="Verdana"/>
                <a:cs typeface="Verdana"/>
                <a:sym typeface="Verdana"/>
              </a:rPr>
              <a:t>morula</a:t>
            </a:r>
            <a:r>
              <a:rPr b="0" i="0" lang="en-CA" sz="1600" u="none" cap="none" strike="noStrike">
                <a:solidFill>
                  <a:schemeClr val="accent1"/>
                </a:solidFill>
                <a:latin typeface="Verdana"/>
                <a:ea typeface="Verdana"/>
                <a:cs typeface="Verdana"/>
                <a:sym typeface="Verdana"/>
              </a:rPr>
              <a:t>. </a:t>
            </a:r>
            <a:endParaRPr/>
          </a:p>
        </p:txBody>
      </p:sp>
      <p:pic>
        <p:nvPicPr>
          <p:cNvPr id="312" name="Google Shape;312;p20"/>
          <p:cNvPicPr preferRelativeResize="0"/>
          <p:nvPr/>
        </p:nvPicPr>
        <p:blipFill rotWithShape="1">
          <a:blip r:embed="rId3">
            <a:alphaModFix/>
          </a:blip>
          <a:srcRect b="0" l="0" r="0" t="0"/>
          <a:stretch/>
        </p:blipFill>
        <p:spPr>
          <a:xfrm>
            <a:off x="683568" y="2852935"/>
            <a:ext cx="7725979" cy="1872207"/>
          </a:xfrm>
          <a:prstGeom prst="rect">
            <a:avLst/>
          </a:prstGeom>
          <a:noFill/>
          <a:ln>
            <a:noFill/>
          </a:ln>
        </p:spPr>
      </p:pic>
      <p:sp>
        <p:nvSpPr>
          <p:cNvPr id="313" name="Google Shape;313;p20"/>
          <p:cNvSpPr txBox="1"/>
          <p:nvPr/>
        </p:nvSpPr>
        <p:spPr>
          <a:xfrm>
            <a:off x="801850" y="0"/>
            <a:ext cx="7442400" cy="692100"/>
          </a:xfrm>
          <a:prstGeom prst="rect">
            <a:avLst/>
          </a:prstGeom>
          <a:solidFill>
            <a:schemeClr val="accent5"/>
          </a:solidFill>
          <a:ln>
            <a:noFill/>
          </a:ln>
        </p:spPr>
        <p:txBody>
          <a:bodyPr anchorCtr="0" anchor="t" bIns="91425" lIns="91425" spcFirstLastPara="1" rIns="91425" wrap="square" tIns="91425">
            <a:noAutofit/>
          </a:bodyPr>
          <a:lstStyle/>
          <a:p>
            <a:pPr indent="0" lvl="0" marL="0" rtl="0" algn="ctr">
              <a:spcBef>
                <a:spcPts val="1000"/>
              </a:spcBef>
              <a:spcAft>
                <a:spcPts val="0"/>
              </a:spcAft>
              <a:buNone/>
            </a:pPr>
            <a:r>
              <a:t/>
            </a:r>
            <a:endParaRPr b="1" sz="100">
              <a:solidFill>
                <a:schemeClr val="dk2"/>
              </a:solidFill>
              <a:latin typeface="Verdana"/>
              <a:ea typeface="Verdana"/>
              <a:cs typeface="Verdana"/>
              <a:sym typeface="Verdana"/>
            </a:endParaRPr>
          </a:p>
          <a:p>
            <a:pPr indent="0" lvl="0" marL="0" rtl="0" algn="ctr">
              <a:spcBef>
                <a:spcPts val="0"/>
              </a:spcBef>
              <a:spcAft>
                <a:spcPts val="0"/>
              </a:spcAft>
              <a:buNone/>
            </a:pPr>
            <a:r>
              <a:t/>
            </a:r>
            <a:endParaRPr b="1" sz="600">
              <a:solidFill>
                <a:schemeClr val="dk2"/>
              </a:solidFill>
              <a:latin typeface="Verdana"/>
              <a:ea typeface="Verdana"/>
              <a:cs typeface="Verdana"/>
              <a:sym typeface="Verdana"/>
            </a:endParaRPr>
          </a:p>
          <a:p>
            <a:pPr indent="0" lvl="0" marL="0" rtl="0" algn="ctr">
              <a:spcBef>
                <a:spcPts val="0"/>
              </a:spcBef>
              <a:spcAft>
                <a:spcPts val="0"/>
              </a:spcAft>
              <a:buNone/>
            </a:pPr>
            <a:r>
              <a:rPr b="1" lang="en-CA" sz="2000">
                <a:solidFill>
                  <a:schemeClr val="dk2"/>
                </a:solidFill>
                <a:latin typeface="Verdana"/>
                <a:ea typeface="Verdana"/>
                <a:cs typeface="Verdana"/>
                <a:sym typeface="Verdana"/>
              </a:rPr>
              <a:t>Trimester 1/Embryonic Stage</a:t>
            </a:r>
            <a:endParaRPr b="1" sz="2000">
              <a:solidFill>
                <a:schemeClr val="dk2"/>
              </a:solidFill>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1"/>
          <p:cNvSpPr txBox="1"/>
          <p:nvPr>
            <p:ph type="title"/>
          </p:nvPr>
        </p:nvSpPr>
        <p:spPr>
          <a:xfrm>
            <a:off x="786475" y="1017175"/>
            <a:ext cx="7458000" cy="1782600"/>
          </a:xfrm>
          <a:prstGeom prst="rect">
            <a:avLst/>
          </a:prstGeom>
          <a:noFill/>
          <a:ln>
            <a:noFill/>
          </a:ln>
        </p:spPr>
        <p:txBody>
          <a:bodyPr anchorCtr="0" anchor="b" bIns="45700" lIns="91425" spcFirstLastPara="1" rIns="91425" wrap="square" tIns="45700">
            <a:noAutofit/>
          </a:bodyPr>
          <a:lstStyle/>
          <a:p>
            <a:pPr indent="-336550" lvl="0" marL="457200" marR="0" rtl="0" algn="l">
              <a:lnSpc>
                <a:spcPct val="100000"/>
              </a:lnSpc>
              <a:spcBef>
                <a:spcPts val="0"/>
              </a:spcBef>
              <a:spcAft>
                <a:spcPts val="0"/>
              </a:spcAft>
              <a:buClr>
                <a:schemeClr val="dk1"/>
              </a:buClr>
              <a:buSzPts val="1700"/>
              <a:buChar char="➢"/>
            </a:pPr>
            <a:r>
              <a:rPr b="0" i="0" lang="en-CA" sz="1700" u="none" cap="none" strike="noStrike">
                <a:solidFill>
                  <a:schemeClr val="dk1"/>
                </a:solidFill>
                <a:latin typeface="Verdana"/>
                <a:ea typeface="Verdana"/>
                <a:cs typeface="Verdana"/>
                <a:sym typeface="Verdana"/>
              </a:rPr>
              <a:t>Upon entering the uterus, the </a:t>
            </a:r>
            <a:r>
              <a:rPr b="0" i="1" lang="en-CA" sz="1700" u="none" cap="none" strike="noStrike">
                <a:solidFill>
                  <a:schemeClr val="dk1"/>
                </a:solidFill>
                <a:latin typeface="Verdana"/>
                <a:ea typeface="Verdana"/>
                <a:cs typeface="Verdana"/>
                <a:sym typeface="Verdana"/>
              </a:rPr>
              <a:t>morula</a:t>
            </a:r>
            <a:r>
              <a:rPr b="0" i="0" lang="en-CA" sz="1700" u="none" cap="none" strike="noStrike">
                <a:solidFill>
                  <a:schemeClr val="dk1"/>
                </a:solidFill>
                <a:latin typeface="Verdana"/>
                <a:ea typeface="Verdana"/>
                <a:cs typeface="Verdana"/>
                <a:sym typeface="Verdana"/>
              </a:rPr>
              <a:t> further develops into the </a:t>
            </a:r>
            <a:r>
              <a:rPr b="1" lang="en-CA" sz="1700" u="none" cap="none" strike="noStrike">
                <a:solidFill>
                  <a:schemeClr val="dk1"/>
                </a:solidFill>
              </a:rPr>
              <a:t>blastocyst</a:t>
            </a:r>
            <a:r>
              <a:rPr b="0" i="0" lang="en-CA" sz="1700" u="none" cap="none" strike="noStrike">
                <a:solidFill>
                  <a:schemeClr val="dk1"/>
                </a:solidFill>
                <a:latin typeface="Verdana"/>
                <a:ea typeface="Verdana"/>
                <a:cs typeface="Verdana"/>
                <a:sym typeface="Verdana"/>
              </a:rPr>
              <a:t>, a fluid-filled structure consisting of two layers:</a:t>
            </a:r>
            <a:endParaRPr sz="1700">
              <a:solidFill>
                <a:schemeClr val="dk1"/>
              </a:solidFill>
            </a:endParaRPr>
          </a:p>
          <a:p>
            <a:pPr indent="-336550" lvl="1" marL="914400" marR="0" rtl="0" algn="l">
              <a:lnSpc>
                <a:spcPct val="100000"/>
              </a:lnSpc>
              <a:spcBef>
                <a:spcPts val="1000"/>
              </a:spcBef>
              <a:spcAft>
                <a:spcPts val="0"/>
              </a:spcAft>
              <a:buClr>
                <a:schemeClr val="dk1"/>
              </a:buClr>
              <a:buSzPts val="1700"/>
              <a:buChar char="○"/>
            </a:pPr>
            <a:r>
              <a:rPr lang="en-CA" sz="1700">
                <a:solidFill>
                  <a:schemeClr val="dk1"/>
                </a:solidFill>
              </a:rPr>
              <a:t>the </a:t>
            </a:r>
            <a:r>
              <a:rPr b="1" lang="en-CA" sz="1700">
                <a:solidFill>
                  <a:schemeClr val="dk1"/>
                </a:solidFill>
              </a:rPr>
              <a:t>trophoblast</a:t>
            </a:r>
            <a:r>
              <a:rPr lang="en-CA" sz="1700">
                <a:solidFill>
                  <a:schemeClr val="dk1"/>
                </a:solidFill>
              </a:rPr>
              <a:t> which will </a:t>
            </a:r>
            <a:r>
              <a:rPr lang="en-CA" sz="1700" u="sng">
                <a:solidFill>
                  <a:schemeClr val="dk1"/>
                </a:solidFill>
              </a:rPr>
              <a:t>release hCG and later turn into the chorion and placenta</a:t>
            </a:r>
            <a:r>
              <a:rPr lang="en-CA" sz="1700">
                <a:solidFill>
                  <a:schemeClr val="dk1"/>
                </a:solidFill>
              </a:rPr>
              <a:t>, and </a:t>
            </a:r>
            <a:endParaRPr sz="1700">
              <a:solidFill>
                <a:schemeClr val="dk1"/>
              </a:solidFill>
            </a:endParaRPr>
          </a:p>
          <a:p>
            <a:pPr indent="-336550" lvl="1" marL="914400" marR="0" rtl="0" algn="l">
              <a:lnSpc>
                <a:spcPct val="100000"/>
              </a:lnSpc>
              <a:spcBef>
                <a:spcPts val="1000"/>
              </a:spcBef>
              <a:spcAft>
                <a:spcPts val="1000"/>
              </a:spcAft>
              <a:buClr>
                <a:schemeClr val="dk1"/>
              </a:buClr>
              <a:buSzPts val="1700"/>
              <a:buChar char="○"/>
            </a:pPr>
            <a:r>
              <a:rPr lang="en-CA" sz="1700">
                <a:solidFill>
                  <a:schemeClr val="dk1"/>
                </a:solidFill>
              </a:rPr>
              <a:t>and the </a:t>
            </a:r>
            <a:r>
              <a:rPr b="1" lang="en-CA" sz="1700">
                <a:solidFill>
                  <a:schemeClr val="dk1"/>
                </a:solidFill>
              </a:rPr>
              <a:t>inner cell mass</a:t>
            </a:r>
            <a:r>
              <a:rPr lang="en-CA" sz="1700">
                <a:solidFill>
                  <a:schemeClr val="dk1"/>
                </a:solidFill>
              </a:rPr>
              <a:t>, which will later </a:t>
            </a:r>
            <a:r>
              <a:rPr lang="en-CA" sz="1700" u="sng">
                <a:solidFill>
                  <a:schemeClr val="dk1"/>
                </a:solidFill>
              </a:rPr>
              <a:t>develop into the embryo</a:t>
            </a:r>
            <a:endParaRPr sz="1700" u="sng">
              <a:solidFill>
                <a:schemeClr val="dk1"/>
              </a:solidFill>
            </a:endParaRPr>
          </a:p>
        </p:txBody>
      </p:sp>
      <p:sp>
        <p:nvSpPr>
          <p:cNvPr id="319" name="Google Shape;319;p21"/>
          <p:cNvSpPr txBox="1"/>
          <p:nvPr/>
        </p:nvSpPr>
        <p:spPr>
          <a:xfrm>
            <a:off x="5396925" y="2954525"/>
            <a:ext cx="3296100" cy="29700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700"/>
              <a:buFont typeface="Courier New"/>
              <a:buChar char="o"/>
            </a:pPr>
            <a:r>
              <a:rPr b="0" i="0" lang="en-CA" sz="1700" u="none" cap="none" strike="noStrike">
                <a:solidFill>
                  <a:schemeClr val="accent1"/>
                </a:solidFill>
                <a:latin typeface="Verdana"/>
                <a:ea typeface="Verdana"/>
                <a:cs typeface="Verdana"/>
                <a:sym typeface="Verdana"/>
              </a:rPr>
              <a:t>Between days 5-7, the blastocyst will begin attaching itself to the endometrium of the uterus; a process known as </a:t>
            </a:r>
            <a:r>
              <a:rPr b="1" lang="en-CA" sz="1700" u="none" cap="none" strike="noStrike">
                <a:solidFill>
                  <a:schemeClr val="accent1"/>
                </a:solidFill>
                <a:latin typeface="Verdana"/>
                <a:ea typeface="Verdana"/>
                <a:cs typeface="Verdana"/>
                <a:sym typeface="Verdana"/>
              </a:rPr>
              <a:t>implantation</a:t>
            </a:r>
            <a:r>
              <a:rPr b="0" i="0" lang="en-CA" sz="1700" u="none" cap="none" strike="noStrike">
                <a:solidFill>
                  <a:schemeClr val="accent1"/>
                </a:solidFill>
                <a:latin typeface="Verdana"/>
                <a:ea typeface="Verdana"/>
                <a:cs typeface="Verdana"/>
                <a:sym typeface="Verdana"/>
              </a:rPr>
              <a:t>. </a:t>
            </a:r>
            <a:endParaRPr b="0" i="0" sz="1700" u="none" cap="none" strike="noStrike">
              <a:solidFill>
                <a:schemeClr val="accent1"/>
              </a:solidFill>
              <a:latin typeface="Verdana"/>
              <a:ea typeface="Verdana"/>
              <a:cs typeface="Verdana"/>
              <a:sym typeface="Verdana"/>
            </a:endParaRPr>
          </a:p>
          <a:p>
            <a:pPr indent="0" lvl="0" marL="285750" marR="0" rtl="0" algn="l">
              <a:lnSpc>
                <a:spcPct val="100000"/>
              </a:lnSpc>
              <a:spcBef>
                <a:spcPts val="0"/>
              </a:spcBef>
              <a:spcAft>
                <a:spcPts val="0"/>
              </a:spcAft>
              <a:buNone/>
            </a:pPr>
            <a:r>
              <a:t/>
            </a:r>
            <a:endParaRPr sz="1700">
              <a:solidFill>
                <a:schemeClr val="accent1"/>
              </a:solidFill>
              <a:latin typeface="Verdana"/>
              <a:ea typeface="Verdana"/>
              <a:cs typeface="Verdana"/>
              <a:sym typeface="Verdana"/>
            </a:endParaRPr>
          </a:p>
          <a:p>
            <a:pPr indent="-285750" lvl="0" marL="285750" marR="0" rtl="0" algn="l">
              <a:lnSpc>
                <a:spcPct val="100000"/>
              </a:lnSpc>
              <a:spcBef>
                <a:spcPts val="0"/>
              </a:spcBef>
              <a:spcAft>
                <a:spcPts val="0"/>
              </a:spcAft>
              <a:buClr>
                <a:schemeClr val="accent1"/>
              </a:buClr>
              <a:buSzPts val="1700"/>
              <a:buFont typeface="Courier New"/>
              <a:buChar char="o"/>
            </a:pPr>
            <a:r>
              <a:rPr b="0" i="0" lang="en-CA" sz="1700" u="none" cap="none" strike="noStrike">
                <a:solidFill>
                  <a:schemeClr val="accent1"/>
                </a:solidFill>
                <a:latin typeface="Verdana"/>
                <a:ea typeface="Verdana"/>
                <a:cs typeface="Verdana"/>
                <a:sym typeface="Verdana"/>
              </a:rPr>
              <a:t>Implantation is complete by days 10-14. If successful, the woman is now said to be pregnant</a:t>
            </a:r>
            <a:r>
              <a:rPr b="0" i="0" lang="en-CA" sz="1600" u="none" cap="none" strike="noStrike">
                <a:solidFill>
                  <a:schemeClr val="accent1"/>
                </a:solidFill>
                <a:latin typeface="Verdana"/>
                <a:ea typeface="Verdana"/>
                <a:cs typeface="Verdana"/>
                <a:sym typeface="Verdana"/>
              </a:rPr>
              <a:t>. </a:t>
            </a:r>
            <a:endParaRPr/>
          </a:p>
        </p:txBody>
      </p:sp>
      <p:grpSp>
        <p:nvGrpSpPr>
          <p:cNvPr id="320" name="Google Shape;320;p21"/>
          <p:cNvGrpSpPr/>
          <p:nvPr/>
        </p:nvGrpSpPr>
        <p:grpSpPr>
          <a:xfrm>
            <a:off x="641643" y="3035386"/>
            <a:ext cx="4536600" cy="2808300"/>
            <a:chOff x="683568" y="2636911"/>
            <a:chExt cx="4536600" cy="2808300"/>
          </a:xfrm>
        </p:grpSpPr>
        <p:pic>
          <p:nvPicPr>
            <p:cNvPr id="321" name="Google Shape;321;p21"/>
            <p:cNvPicPr preferRelativeResize="0"/>
            <p:nvPr/>
          </p:nvPicPr>
          <p:blipFill rotWithShape="1">
            <a:blip r:embed="rId3">
              <a:alphaModFix/>
            </a:blip>
            <a:srcRect b="0" l="0" r="0" t="0"/>
            <a:stretch/>
          </p:blipFill>
          <p:spPr>
            <a:xfrm>
              <a:off x="827583" y="2996951"/>
              <a:ext cx="4262609" cy="2105625"/>
            </a:xfrm>
            <a:prstGeom prst="rect">
              <a:avLst/>
            </a:prstGeom>
            <a:noFill/>
            <a:ln>
              <a:noFill/>
            </a:ln>
          </p:spPr>
        </p:pic>
        <p:sp>
          <p:nvSpPr>
            <p:cNvPr id="322" name="Google Shape;322;p21"/>
            <p:cNvSpPr/>
            <p:nvPr/>
          </p:nvSpPr>
          <p:spPr>
            <a:xfrm>
              <a:off x="683568" y="2636911"/>
              <a:ext cx="4536600" cy="2808300"/>
            </a:xfrm>
            <a:prstGeom prst="rect">
              <a:avLst/>
            </a:prstGeom>
            <a:noFill/>
            <a:ln cap="flat" cmpd="sng" w="5715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2"/>
          <p:cNvSpPr txBox="1"/>
          <p:nvPr>
            <p:ph type="title"/>
          </p:nvPr>
        </p:nvSpPr>
        <p:spPr>
          <a:xfrm>
            <a:off x="1043490" y="1027664"/>
            <a:ext cx="70248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pic>
        <p:nvPicPr>
          <p:cNvPr id="329" name="Google Shape;329;p22"/>
          <p:cNvPicPr preferRelativeResize="0"/>
          <p:nvPr/>
        </p:nvPicPr>
        <p:blipFill>
          <a:blip r:embed="rId3">
            <a:alphaModFix/>
          </a:blip>
          <a:stretch>
            <a:fillRect/>
          </a:stretch>
        </p:blipFill>
        <p:spPr>
          <a:xfrm>
            <a:off x="1269600" y="1091412"/>
            <a:ext cx="6431701" cy="48277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3"/>
          <p:cNvSpPr txBox="1"/>
          <p:nvPr>
            <p:ph type="title"/>
          </p:nvPr>
        </p:nvSpPr>
        <p:spPr>
          <a:xfrm>
            <a:off x="492850" y="1887500"/>
            <a:ext cx="5914200" cy="2191500"/>
          </a:xfrm>
          <a:prstGeom prst="rect">
            <a:avLst/>
          </a:prstGeom>
          <a:noFill/>
          <a:ln>
            <a:noFill/>
          </a:ln>
        </p:spPr>
        <p:txBody>
          <a:bodyPr anchorCtr="0" anchor="b" bIns="45700" lIns="91425" spcFirstLastPara="1" rIns="91425" wrap="square" tIns="45700">
            <a:noAutofit/>
          </a:bodyPr>
          <a:lstStyle/>
          <a:p>
            <a:pPr indent="-330200" lvl="0" marL="457200" marR="0" rtl="0" algn="l">
              <a:lnSpc>
                <a:spcPct val="100000"/>
              </a:lnSpc>
              <a:spcBef>
                <a:spcPts val="0"/>
              </a:spcBef>
              <a:spcAft>
                <a:spcPts val="0"/>
              </a:spcAft>
              <a:buSzPts val="1600"/>
              <a:buChar char="➢"/>
            </a:pPr>
            <a:r>
              <a:rPr lang="en-CA" sz="1600"/>
              <a:t>Remember… in the menstrual cycle, the role of the </a:t>
            </a:r>
            <a:r>
              <a:rPr lang="en-CA" sz="1600"/>
              <a:t>corpus</a:t>
            </a:r>
            <a:r>
              <a:rPr lang="en-CA" sz="1600"/>
              <a:t> luteum is to release progesterone (and some estrogen) to maintain the endometrial lining should implantation occur. If no fertilization and implantation occur, the corpus luteum degenerate after about 14 days. In turn, there is no progesterone and estrogen produced and thus the endometrium will shed → menstruation. </a:t>
            </a:r>
            <a:endParaRPr sz="1600"/>
          </a:p>
          <a:p>
            <a:pPr indent="0" lvl="0" marL="0" marR="0" rtl="0" algn="l">
              <a:lnSpc>
                <a:spcPct val="100000"/>
              </a:lnSpc>
              <a:spcBef>
                <a:spcPts val="0"/>
              </a:spcBef>
              <a:spcAft>
                <a:spcPts val="0"/>
              </a:spcAft>
              <a:buClr>
                <a:schemeClr val="accent1"/>
              </a:buClr>
              <a:buSzPts val="540"/>
              <a:buFont typeface="Verdana"/>
              <a:buNone/>
            </a:pPr>
            <a:r>
              <a:t/>
            </a:r>
            <a:endParaRPr sz="1600"/>
          </a:p>
        </p:txBody>
      </p:sp>
      <p:pic>
        <p:nvPicPr>
          <p:cNvPr descr="http://www.sciencepicturecompany.com/_img/search/Blastocyst-6-8-days_spc-id-1498.jpg" id="335" name="Google Shape;335;p23"/>
          <p:cNvPicPr preferRelativeResize="0"/>
          <p:nvPr/>
        </p:nvPicPr>
        <p:blipFill rotWithShape="1">
          <a:blip r:embed="rId3">
            <a:alphaModFix/>
          </a:blip>
          <a:srcRect b="0" l="0" r="0" t="0"/>
          <a:stretch/>
        </p:blipFill>
        <p:spPr>
          <a:xfrm>
            <a:off x="6496375" y="671123"/>
            <a:ext cx="2605175" cy="2605175"/>
          </a:xfrm>
          <a:prstGeom prst="rect">
            <a:avLst/>
          </a:prstGeom>
          <a:noFill/>
          <a:ln>
            <a:noFill/>
          </a:ln>
        </p:spPr>
      </p:pic>
      <p:sp>
        <p:nvSpPr>
          <p:cNvPr id="336" name="Google Shape;336;p23"/>
          <p:cNvSpPr txBox="1"/>
          <p:nvPr>
            <p:ph type="title"/>
          </p:nvPr>
        </p:nvSpPr>
        <p:spPr>
          <a:xfrm>
            <a:off x="697450" y="1048626"/>
            <a:ext cx="7024800" cy="7131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lang="en-CA" sz="3100"/>
              <a:t>Human Chorionic </a:t>
            </a:r>
            <a:r>
              <a:rPr b="1" lang="en-CA" sz="3100"/>
              <a:t>Gonadotropin</a:t>
            </a:r>
            <a:r>
              <a:rPr b="1" lang="en-CA" sz="3100"/>
              <a:t> (hCG)</a:t>
            </a:r>
            <a:endParaRPr sz="3900"/>
          </a:p>
        </p:txBody>
      </p:sp>
      <p:sp>
        <p:nvSpPr>
          <p:cNvPr id="337" name="Google Shape;337;p23"/>
          <p:cNvSpPr txBox="1"/>
          <p:nvPr/>
        </p:nvSpPr>
        <p:spPr>
          <a:xfrm>
            <a:off x="4204975" y="3995250"/>
            <a:ext cx="4739700" cy="206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200">
                <a:solidFill>
                  <a:schemeClr val="dk2"/>
                </a:solidFill>
                <a:latin typeface="Verdana"/>
                <a:ea typeface="Verdana"/>
                <a:cs typeface="Verdana"/>
                <a:sym typeface="Verdana"/>
              </a:rPr>
              <a:t>But what if fertilization and implantation do occur? </a:t>
            </a:r>
            <a:endParaRPr sz="2200">
              <a:solidFill>
                <a:schemeClr val="dk2"/>
              </a:solidFill>
              <a:latin typeface="Verdana"/>
              <a:ea typeface="Verdana"/>
              <a:cs typeface="Verdana"/>
              <a:sym typeface="Verdana"/>
            </a:endParaRPr>
          </a:p>
          <a:p>
            <a:pPr indent="0" lvl="0" marL="0" rtl="0" algn="l">
              <a:spcBef>
                <a:spcPts val="0"/>
              </a:spcBef>
              <a:spcAft>
                <a:spcPts val="0"/>
              </a:spcAft>
              <a:buNone/>
            </a:pPr>
            <a:r>
              <a:t/>
            </a:r>
            <a:endParaRPr b="1" sz="900">
              <a:solidFill>
                <a:schemeClr val="dk2"/>
              </a:solidFill>
              <a:latin typeface="Verdana"/>
              <a:ea typeface="Verdana"/>
              <a:cs typeface="Verdana"/>
              <a:sym typeface="Verdana"/>
            </a:endParaRPr>
          </a:p>
          <a:p>
            <a:pPr indent="0" lvl="0" marL="0" rtl="0" algn="l">
              <a:spcBef>
                <a:spcPts val="0"/>
              </a:spcBef>
              <a:spcAft>
                <a:spcPts val="0"/>
              </a:spcAft>
              <a:buNone/>
            </a:pPr>
            <a:r>
              <a:rPr b="1" lang="en-CA" sz="2200">
                <a:solidFill>
                  <a:srgbClr val="6AA84F"/>
                </a:solidFill>
                <a:latin typeface="Verdana"/>
                <a:ea typeface="Verdana"/>
                <a:cs typeface="Verdana"/>
                <a:sym typeface="Verdana"/>
              </a:rPr>
              <a:t>We do not want the endometrium lining to shed as that would lead to a miscarriage.</a:t>
            </a:r>
            <a:endParaRPr b="1" sz="2200">
              <a:solidFill>
                <a:srgbClr val="6AA84F"/>
              </a:solidFill>
              <a:latin typeface="Verdana"/>
              <a:ea typeface="Verdana"/>
              <a:cs typeface="Verdana"/>
              <a:sym typeface="Verdana"/>
            </a:endParaRPr>
          </a:p>
        </p:txBody>
      </p:sp>
      <p:pic>
        <p:nvPicPr>
          <p:cNvPr id="338" name="Google Shape;338;p23"/>
          <p:cNvPicPr preferRelativeResize="0"/>
          <p:nvPr/>
        </p:nvPicPr>
        <p:blipFill>
          <a:blip r:embed="rId4">
            <a:alphaModFix/>
          </a:blip>
          <a:stretch>
            <a:fillRect/>
          </a:stretch>
        </p:blipFill>
        <p:spPr>
          <a:xfrm>
            <a:off x="875950" y="3995250"/>
            <a:ext cx="2590785" cy="2474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4"/>
          <p:cNvSpPr txBox="1"/>
          <p:nvPr>
            <p:ph type="title"/>
          </p:nvPr>
        </p:nvSpPr>
        <p:spPr>
          <a:xfrm>
            <a:off x="954250" y="1593900"/>
            <a:ext cx="7602600" cy="859800"/>
          </a:xfrm>
          <a:prstGeom prst="rect">
            <a:avLst/>
          </a:prstGeom>
          <a:noFill/>
          <a:ln>
            <a:noFill/>
          </a:ln>
        </p:spPr>
        <p:txBody>
          <a:bodyPr anchorCtr="0" anchor="b" bIns="45700" lIns="91425" spcFirstLastPara="1" rIns="91425" wrap="square" tIns="45700">
            <a:noAutofit/>
          </a:bodyPr>
          <a:lstStyle/>
          <a:p>
            <a:pPr indent="-342900" lvl="0" marL="457200" marR="0" rtl="0" algn="l">
              <a:lnSpc>
                <a:spcPct val="100000"/>
              </a:lnSpc>
              <a:spcBef>
                <a:spcPts val="0"/>
              </a:spcBef>
              <a:spcAft>
                <a:spcPts val="0"/>
              </a:spcAft>
              <a:buClr>
                <a:schemeClr val="accent1"/>
              </a:buClr>
              <a:buSzPts val="1800"/>
              <a:buFont typeface="Verdana"/>
              <a:buChar char="➢"/>
            </a:pPr>
            <a:r>
              <a:rPr b="0" i="0" lang="en-CA" sz="1800" u="none" cap="none" strike="noStrike">
                <a:solidFill>
                  <a:schemeClr val="accent1"/>
                </a:solidFill>
                <a:latin typeface="Verdana"/>
                <a:ea typeface="Verdana"/>
                <a:cs typeface="Verdana"/>
                <a:sym typeface="Verdana"/>
              </a:rPr>
              <a:t>Once implantation occurs, the </a:t>
            </a:r>
            <a:r>
              <a:rPr b="0" i="0" lang="en-CA" sz="1800" u="sng" cap="none" strike="noStrike">
                <a:solidFill>
                  <a:schemeClr val="accent1"/>
                </a:solidFill>
                <a:latin typeface="Verdana"/>
                <a:ea typeface="Verdana"/>
                <a:cs typeface="Verdana"/>
                <a:sym typeface="Verdana"/>
              </a:rPr>
              <a:t>trophoblast</a:t>
            </a:r>
            <a:r>
              <a:rPr b="0" i="0" lang="en-CA" sz="1800" u="none" cap="none" strike="noStrike">
                <a:solidFill>
                  <a:schemeClr val="accent1"/>
                </a:solidFill>
                <a:latin typeface="Verdana"/>
                <a:ea typeface="Verdana"/>
                <a:cs typeface="Verdana"/>
                <a:sym typeface="Verdana"/>
              </a:rPr>
              <a:t> begins secreting the hormone human chorionic gonadotropin (hCG)…</a:t>
            </a:r>
            <a:endParaRPr sz="1800"/>
          </a:p>
        </p:txBody>
      </p:sp>
      <p:sp>
        <p:nvSpPr>
          <p:cNvPr id="344" name="Google Shape;344;p24"/>
          <p:cNvSpPr txBox="1"/>
          <p:nvPr/>
        </p:nvSpPr>
        <p:spPr>
          <a:xfrm>
            <a:off x="5008251" y="2573300"/>
            <a:ext cx="3358500" cy="3754800"/>
          </a:xfrm>
          <a:prstGeom prst="rect">
            <a:avLst/>
          </a:prstGeom>
          <a:noFill/>
          <a:ln>
            <a:noFill/>
          </a:ln>
        </p:spPr>
        <p:txBody>
          <a:bodyPr anchorCtr="0" anchor="t" bIns="45700" lIns="91425" spcFirstLastPara="1" rIns="91425" wrap="square" tIns="45700">
            <a:noAutofit/>
          </a:bodyPr>
          <a:lstStyle/>
          <a:p>
            <a:pPr indent="-279400" lvl="0" marL="285750" marR="0" rtl="0" algn="l">
              <a:lnSpc>
                <a:spcPct val="100000"/>
              </a:lnSpc>
              <a:spcBef>
                <a:spcPts val="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hCG maintains the corpus luteum so that it continues secreting estrogen and progesterone</a:t>
            </a:r>
            <a:endParaRPr sz="1600"/>
          </a:p>
          <a:p>
            <a:pPr indent="-279400" lvl="0" marL="285750" marR="0" rtl="0" algn="l">
              <a:lnSpc>
                <a:spcPct val="100000"/>
              </a:lnSpc>
              <a:spcBef>
                <a:spcPts val="100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This maintains the endometrium and prevents menstruation</a:t>
            </a:r>
            <a:endParaRPr sz="1600"/>
          </a:p>
          <a:p>
            <a:pPr indent="-279400" lvl="0" marL="285750" marR="0" rtl="0" algn="l">
              <a:lnSpc>
                <a:spcPct val="100000"/>
              </a:lnSpc>
              <a:spcBef>
                <a:spcPts val="1000"/>
              </a:spcBef>
              <a:spcAft>
                <a:spcPts val="100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hCG levels decline after the second month of pregnancy, when the placenta is able to secrete these hormones on its own</a:t>
            </a:r>
            <a:endParaRPr sz="1600"/>
          </a:p>
        </p:txBody>
      </p:sp>
      <p:sp>
        <p:nvSpPr>
          <p:cNvPr id="345" name="Google Shape;345;p24"/>
          <p:cNvSpPr txBox="1"/>
          <p:nvPr>
            <p:ph type="title"/>
          </p:nvPr>
        </p:nvSpPr>
        <p:spPr>
          <a:xfrm>
            <a:off x="1043490" y="1105945"/>
            <a:ext cx="7024800" cy="613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lang="en-CA" sz="3200"/>
              <a:t>Human Chorionic Gonadotropin (hCG)</a:t>
            </a:r>
            <a:endParaRPr/>
          </a:p>
        </p:txBody>
      </p:sp>
      <p:pic>
        <p:nvPicPr>
          <p:cNvPr id="346" name="Google Shape;346;p24"/>
          <p:cNvPicPr preferRelativeResize="0"/>
          <p:nvPr/>
        </p:nvPicPr>
        <p:blipFill>
          <a:blip r:embed="rId3">
            <a:alphaModFix/>
          </a:blip>
          <a:stretch>
            <a:fillRect/>
          </a:stretch>
        </p:blipFill>
        <p:spPr>
          <a:xfrm>
            <a:off x="834000" y="2873223"/>
            <a:ext cx="3969776" cy="29773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5"/>
          <p:cNvSpPr txBox="1"/>
          <p:nvPr>
            <p:ph type="title"/>
          </p:nvPr>
        </p:nvSpPr>
        <p:spPr>
          <a:xfrm>
            <a:off x="959600" y="1520350"/>
            <a:ext cx="7293000" cy="2286000"/>
          </a:xfrm>
          <a:prstGeom prst="rect">
            <a:avLst/>
          </a:prstGeom>
        </p:spPr>
        <p:txBody>
          <a:bodyPr anchorCtr="0" anchor="b" bIns="91425" lIns="91425" spcFirstLastPara="1" rIns="91425" wrap="square" tIns="91425">
            <a:noAutofit/>
          </a:bodyPr>
          <a:lstStyle/>
          <a:p>
            <a:pPr indent="-336550" lvl="0" marL="457200" rtl="0" algn="l">
              <a:spcBef>
                <a:spcPts val="0"/>
              </a:spcBef>
              <a:spcAft>
                <a:spcPts val="0"/>
              </a:spcAft>
              <a:buSzPts val="1700"/>
              <a:buChar char="➢"/>
            </a:pPr>
            <a:r>
              <a:rPr lang="en-CA" sz="1700"/>
              <a:t>Urine pregnancy tests look for the presence of hCG. Since the trophoblast is the only possible source of hCG in the body, if hCG is present then pregnancy is confirmed.</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CA" sz="1700"/>
              <a:t>Since the trophoblast begins to produce hCG within 1-2 weeks of fertilization, which occurs soon after ovulation, hCG can be often detected up to one week before an expected menstrual cycle. Most accurate results, however, would be expected after a missed cycle.</a:t>
            </a:r>
            <a:endParaRPr sz="1700"/>
          </a:p>
        </p:txBody>
      </p:sp>
      <p:pic>
        <p:nvPicPr>
          <p:cNvPr id="353" name="Google Shape;353;p25"/>
          <p:cNvPicPr preferRelativeResize="0"/>
          <p:nvPr/>
        </p:nvPicPr>
        <p:blipFill rotWithShape="1">
          <a:blip r:embed="rId3">
            <a:alphaModFix/>
          </a:blip>
          <a:srcRect b="19248" l="0" r="0" t="27640"/>
          <a:stretch/>
        </p:blipFill>
        <p:spPr>
          <a:xfrm>
            <a:off x="807400" y="3890400"/>
            <a:ext cx="4304274" cy="2286000"/>
          </a:xfrm>
          <a:prstGeom prst="rect">
            <a:avLst/>
          </a:prstGeom>
          <a:noFill/>
          <a:ln>
            <a:noFill/>
          </a:ln>
        </p:spPr>
      </p:pic>
      <p:pic>
        <p:nvPicPr>
          <p:cNvPr id="354" name="Google Shape;354;p25"/>
          <p:cNvPicPr preferRelativeResize="0"/>
          <p:nvPr/>
        </p:nvPicPr>
        <p:blipFill>
          <a:blip r:embed="rId4">
            <a:alphaModFix/>
          </a:blip>
          <a:stretch>
            <a:fillRect/>
          </a:stretch>
        </p:blipFill>
        <p:spPr>
          <a:xfrm>
            <a:off x="5803250" y="3680648"/>
            <a:ext cx="2495750" cy="2781900"/>
          </a:xfrm>
          <a:prstGeom prst="rect">
            <a:avLst/>
          </a:prstGeom>
          <a:noFill/>
          <a:ln>
            <a:noFill/>
          </a:ln>
        </p:spPr>
      </p:pic>
      <p:sp>
        <p:nvSpPr>
          <p:cNvPr id="355" name="Google Shape;355;p25"/>
          <p:cNvSpPr txBox="1"/>
          <p:nvPr/>
        </p:nvSpPr>
        <p:spPr>
          <a:xfrm>
            <a:off x="2170675" y="765500"/>
            <a:ext cx="56835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2400">
                <a:solidFill>
                  <a:schemeClr val="dk1"/>
                </a:solidFill>
                <a:latin typeface="Verdana"/>
                <a:ea typeface="Verdana"/>
                <a:cs typeface="Verdana"/>
                <a:sym typeface="Verdana"/>
              </a:rPr>
              <a:t>hCG Pregnancy Tests</a:t>
            </a:r>
            <a:endParaRPr b="1" sz="2400">
              <a:solidFill>
                <a:schemeClr val="dk1"/>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6"/>
          <p:cNvSpPr txBox="1"/>
          <p:nvPr>
            <p:ph type="title"/>
          </p:nvPr>
        </p:nvSpPr>
        <p:spPr>
          <a:xfrm>
            <a:off x="2957125" y="0"/>
            <a:ext cx="7137000" cy="5976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Gastrulation</a:t>
            </a:r>
            <a:endParaRPr/>
          </a:p>
        </p:txBody>
      </p:sp>
      <p:sp>
        <p:nvSpPr>
          <p:cNvPr id="361" name="Google Shape;361;p26"/>
          <p:cNvSpPr txBox="1"/>
          <p:nvPr/>
        </p:nvSpPr>
        <p:spPr>
          <a:xfrm>
            <a:off x="1151624" y="744459"/>
            <a:ext cx="68409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500"/>
              <a:buFont typeface="Verdana"/>
              <a:buNone/>
            </a:pPr>
            <a:r>
              <a:rPr b="0" i="0" lang="en-CA" sz="2000" u="none" cap="none" strike="noStrike">
                <a:solidFill>
                  <a:schemeClr val="accent1"/>
                </a:solidFill>
                <a:latin typeface="Verdana"/>
                <a:ea typeface="Verdana"/>
                <a:cs typeface="Verdana"/>
                <a:sym typeface="Verdana"/>
              </a:rPr>
              <a:t>During week 2, the blastocyst begins to change…</a:t>
            </a:r>
            <a:endParaRPr/>
          </a:p>
        </p:txBody>
      </p:sp>
      <p:sp>
        <p:nvSpPr>
          <p:cNvPr id="362" name="Google Shape;362;p26"/>
          <p:cNvSpPr txBox="1"/>
          <p:nvPr/>
        </p:nvSpPr>
        <p:spPr>
          <a:xfrm>
            <a:off x="566475" y="1375375"/>
            <a:ext cx="8011200" cy="20100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700"/>
              <a:buFont typeface="Courier New"/>
              <a:buChar char="o"/>
            </a:pPr>
            <a:r>
              <a:rPr b="0" i="0" lang="en-CA" sz="1700" u="none" cap="none" strike="noStrike">
                <a:solidFill>
                  <a:schemeClr val="accent1"/>
                </a:solidFill>
                <a:latin typeface="Verdana"/>
                <a:ea typeface="Verdana"/>
                <a:cs typeface="Verdana"/>
                <a:sym typeface="Verdana"/>
              </a:rPr>
              <a:t>A space known as the </a:t>
            </a:r>
            <a:r>
              <a:rPr b="1" i="1" lang="en-CA" sz="1700" u="none" cap="none" strike="noStrike">
                <a:solidFill>
                  <a:schemeClr val="accent1"/>
                </a:solidFill>
                <a:latin typeface="Verdana"/>
                <a:ea typeface="Verdana"/>
                <a:cs typeface="Verdana"/>
                <a:sym typeface="Verdana"/>
              </a:rPr>
              <a:t>amniotic cavity</a:t>
            </a:r>
            <a:r>
              <a:rPr b="0" i="1" lang="en-CA" sz="1700" u="none" cap="none" strike="noStrike">
                <a:solidFill>
                  <a:schemeClr val="accent1"/>
                </a:solidFill>
                <a:latin typeface="Verdana"/>
                <a:ea typeface="Verdana"/>
                <a:cs typeface="Verdana"/>
                <a:sym typeface="Verdana"/>
              </a:rPr>
              <a:t> </a:t>
            </a:r>
            <a:r>
              <a:rPr b="0" i="0" lang="en-CA" sz="1700" u="none" cap="none" strike="noStrike">
                <a:solidFill>
                  <a:schemeClr val="accent1"/>
                </a:solidFill>
                <a:latin typeface="Verdana"/>
                <a:ea typeface="Verdana"/>
                <a:cs typeface="Verdana"/>
                <a:sym typeface="Verdana"/>
              </a:rPr>
              <a:t>forms between the inner cell mass and the</a:t>
            </a:r>
            <a:r>
              <a:rPr lang="en-CA" sz="1700">
                <a:solidFill>
                  <a:schemeClr val="accent1"/>
                </a:solidFill>
                <a:latin typeface="Verdana"/>
                <a:ea typeface="Verdana"/>
                <a:cs typeface="Verdana"/>
                <a:sym typeface="Verdana"/>
              </a:rPr>
              <a:t> </a:t>
            </a:r>
            <a:r>
              <a:rPr b="0" i="0" lang="en-CA" sz="1700" u="none" cap="none" strike="noStrike">
                <a:solidFill>
                  <a:schemeClr val="accent1"/>
                </a:solidFill>
                <a:latin typeface="Verdana"/>
                <a:ea typeface="Verdana"/>
                <a:cs typeface="Verdana"/>
                <a:sym typeface="Verdana"/>
              </a:rPr>
              <a:t>trophoblast. </a:t>
            </a:r>
            <a:endParaRPr b="0" i="0" sz="1700" u="none" cap="none" strike="noStrike">
              <a:solidFill>
                <a:schemeClr val="accent1"/>
              </a:solidFill>
              <a:latin typeface="Verdana"/>
              <a:ea typeface="Verdana"/>
              <a:cs typeface="Verdana"/>
              <a:sym typeface="Verdana"/>
            </a:endParaRPr>
          </a:p>
          <a:p>
            <a:pPr indent="-336550" lvl="1" marL="914400" marR="0" rtl="0" algn="l">
              <a:lnSpc>
                <a:spcPct val="100000"/>
              </a:lnSpc>
              <a:spcBef>
                <a:spcPts val="0"/>
              </a:spcBef>
              <a:spcAft>
                <a:spcPts val="0"/>
              </a:spcAft>
              <a:buClr>
                <a:schemeClr val="accent1"/>
              </a:buClr>
              <a:buSzPts val="1700"/>
              <a:buFont typeface="Verdana"/>
              <a:buChar char="○"/>
            </a:pPr>
            <a:r>
              <a:rPr lang="en-CA" sz="1700">
                <a:solidFill>
                  <a:schemeClr val="accent1"/>
                </a:solidFill>
                <a:latin typeface="Verdana"/>
                <a:ea typeface="Verdana"/>
                <a:cs typeface="Verdana"/>
                <a:sym typeface="Verdana"/>
              </a:rPr>
              <a:t>This cavity will contain </a:t>
            </a:r>
            <a:r>
              <a:rPr b="1" lang="en-CA" sz="1700">
                <a:solidFill>
                  <a:schemeClr val="accent1"/>
                </a:solidFill>
                <a:latin typeface="Verdana"/>
                <a:ea typeface="Verdana"/>
                <a:cs typeface="Verdana"/>
                <a:sym typeface="Verdana"/>
              </a:rPr>
              <a:t>amniotic fluid</a:t>
            </a:r>
            <a:r>
              <a:rPr lang="en-CA" sz="1700">
                <a:solidFill>
                  <a:schemeClr val="accent1"/>
                </a:solidFill>
                <a:latin typeface="Verdana"/>
                <a:ea typeface="Verdana"/>
                <a:cs typeface="Verdana"/>
                <a:sym typeface="Verdana"/>
              </a:rPr>
              <a:t> that will serve to cushion and protect the developing baby from physical trauma</a:t>
            </a:r>
            <a:endParaRPr sz="1700">
              <a:solidFill>
                <a:schemeClr val="accent1"/>
              </a:solidFill>
              <a:latin typeface="Verdana"/>
              <a:ea typeface="Verdana"/>
              <a:cs typeface="Verdana"/>
              <a:sym typeface="Verdana"/>
            </a:endParaRPr>
          </a:p>
          <a:p>
            <a:pPr indent="-285750" lvl="0" marL="285750" marR="0" rtl="0" algn="l">
              <a:lnSpc>
                <a:spcPct val="100000"/>
              </a:lnSpc>
              <a:spcBef>
                <a:spcPts val="0"/>
              </a:spcBef>
              <a:spcAft>
                <a:spcPts val="0"/>
              </a:spcAft>
              <a:buClr>
                <a:schemeClr val="accent1"/>
              </a:buClr>
              <a:buSzPts val="1700"/>
              <a:buFont typeface="Courier New"/>
              <a:buChar char="o"/>
            </a:pPr>
            <a:r>
              <a:rPr b="0" i="0" lang="en-CA" sz="1700" u="none" cap="none" strike="noStrike">
                <a:solidFill>
                  <a:schemeClr val="accent1"/>
                </a:solidFill>
                <a:latin typeface="Verdana"/>
                <a:ea typeface="Verdana"/>
                <a:cs typeface="Verdana"/>
                <a:sym typeface="Verdana"/>
              </a:rPr>
              <a:t>The inner cell mass flattens and folds upon itself to create three distinct layers: the </a:t>
            </a:r>
            <a:r>
              <a:rPr b="1" i="0" lang="en-CA" sz="1700" u="none" cap="none" strike="noStrike">
                <a:solidFill>
                  <a:schemeClr val="accent1"/>
                </a:solidFill>
                <a:latin typeface="Verdana"/>
                <a:ea typeface="Verdana"/>
                <a:cs typeface="Verdana"/>
                <a:sym typeface="Verdana"/>
              </a:rPr>
              <a:t>outer </a:t>
            </a:r>
            <a:r>
              <a:rPr b="1" i="1" lang="en-CA" sz="1700" u="none" cap="none" strike="noStrike">
                <a:solidFill>
                  <a:schemeClr val="accent1"/>
                </a:solidFill>
                <a:latin typeface="Verdana"/>
                <a:ea typeface="Verdana"/>
                <a:cs typeface="Verdana"/>
                <a:sym typeface="Verdana"/>
              </a:rPr>
              <a:t>ectoderm</a:t>
            </a:r>
            <a:r>
              <a:rPr b="1" i="0" lang="en-CA" sz="1700" u="none" cap="none" strike="noStrike">
                <a:solidFill>
                  <a:schemeClr val="accent1"/>
                </a:solidFill>
                <a:latin typeface="Verdana"/>
                <a:ea typeface="Verdana"/>
                <a:cs typeface="Verdana"/>
                <a:sym typeface="Verdana"/>
              </a:rPr>
              <a:t>, the inner </a:t>
            </a:r>
            <a:r>
              <a:rPr b="1" i="1" lang="en-CA" sz="1700" u="none" cap="none" strike="noStrike">
                <a:solidFill>
                  <a:schemeClr val="accent1"/>
                </a:solidFill>
                <a:latin typeface="Verdana"/>
                <a:ea typeface="Verdana"/>
                <a:cs typeface="Verdana"/>
                <a:sym typeface="Verdana"/>
              </a:rPr>
              <a:t>endoderm</a:t>
            </a:r>
            <a:r>
              <a:rPr b="1" i="0" lang="en-CA" sz="1700" u="none" cap="none" strike="noStrike">
                <a:solidFill>
                  <a:schemeClr val="accent1"/>
                </a:solidFill>
                <a:latin typeface="Verdana"/>
                <a:ea typeface="Verdana"/>
                <a:cs typeface="Verdana"/>
                <a:sym typeface="Verdana"/>
              </a:rPr>
              <a:t>, and the middle </a:t>
            </a:r>
            <a:r>
              <a:rPr b="1" i="1" lang="en-CA" sz="1700" u="none" cap="none" strike="noStrike">
                <a:solidFill>
                  <a:schemeClr val="accent1"/>
                </a:solidFill>
                <a:latin typeface="Verdana"/>
                <a:ea typeface="Verdana"/>
                <a:cs typeface="Verdana"/>
                <a:sym typeface="Verdana"/>
              </a:rPr>
              <a:t>mesoderm</a:t>
            </a:r>
            <a:r>
              <a:rPr b="1" i="0" lang="en-CA" sz="1700" u="none" cap="none" strike="noStrike">
                <a:solidFill>
                  <a:schemeClr val="accent1"/>
                </a:solidFill>
                <a:latin typeface="Verdana"/>
                <a:ea typeface="Verdana"/>
                <a:cs typeface="Verdana"/>
                <a:sym typeface="Verdana"/>
              </a:rPr>
              <a:t>. </a:t>
            </a:r>
            <a:endParaRPr b="1"/>
          </a:p>
          <a:p>
            <a:pPr indent="-285750" lvl="0" marL="285750" marR="0" rtl="0" algn="l">
              <a:lnSpc>
                <a:spcPct val="100000"/>
              </a:lnSpc>
              <a:spcBef>
                <a:spcPts val="0"/>
              </a:spcBef>
              <a:spcAft>
                <a:spcPts val="0"/>
              </a:spcAft>
              <a:buClr>
                <a:schemeClr val="accent1"/>
              </a:buClr>
              <a:buSzPts val="1700"/>
              <a:buFont typeface="Courier New"/>
              <a:buChar char="o"/>
            </a:pPr>
            <a:r>
              <a:rPr b="0" i="0" lang="en-CA" sz="1700" u="none" cap="none" strike="noStrike">
                <a:solidFill>
                  <a:schemeClr val="accent1"/>
                </a:solidFill>
                <a:latin typeface="Verdana"/>
                <a:ea typeface="Verdana"/>
                <a:cs typeface="Verdana"/>
                <a:sym typeface="Verdana"/>
              </a:rPr>
              <a:t>This process is known as </a:t>
            </a:r>
            <a:r>
              <a:rPr b="1" i="1" lang="en-CA" sz="1700" u="none" cap="none" strike="noStrike">
                <a:solidFill>
                  <a:schemeClr val="accent1"/>
                </a:solidFill>
                <a:latin typeface="Verdana"/>
                <a:ea typeface="Verdana"/>
                <a:cs typeface="Verdana"/>
                <a:sym typeface="Verdana"/>
              </a:rPr>
              <a:t>gastrulation</a:t>
            </a:r>
            <a:r>
              <a:rPr b="0" i="0" lang="en-CA" sz="1700" u="none" cap="none" strike="noStrike">
                <a:solidFill>
                  <a:schemeClr val="accent1"/>
                </a:solidFill>
                <a:latin typeface="Verdana"/>
                <a:ea typeface="Verdana"/>
                <a:cs typeface="Verdana"/>
                <a:sym typeface="Verdana"/>
              </a:rPr>
              <a:t>, after which the blastocyst is referred to as the </a:t>
            </a:r>
            <a:r>
              <a:rPr b="1" i="1" lang="en-CA" sz="1700" u="none" cap="none" strike="noStrike">
                <a:solidFill>
                  <a:schemeClr val="accent1"/>
                </a:solidFill>
                <a:latin typeface="Verdana"/>
                <a:ea typeface="Verdana"/>
                <a:cs typeface="Verdana"/>
                <a:sym typeface="Verdana"/>
              </a:rPr>
              <a:t>gastrula</a:t>
            </a:r>
            <a:r>
              <a:rPr b="0" i="1" lang="en-CA" sz="1700" u="none" cap="none" strike="noStrike">
                <a:solidFill>
                  <a:schemeClr val="accent1"/>
                </a:solidFill>
                <a:latin typeface="Verdana"/>
                <a:ea typeface="Verdana"/>
                <a:cs typeface="Verdana"/>
                <a:sym typeface="Verdana"/>
              </a:rPr>
              <a:t>. </a:t>
            </a:r>
            <a:r>
              <a:rPr b="0" i="0" lang="en-CA" sz="1700" u="none" cap="none" strike="noStrike">
                <a:solidFill>
                  <a:schemeClr val="accent1"/>
                </a:solidFill>
                <a:latin typeface="Verdana"/>
                <a:ea typeface="Verdana"/>
                <a:cs typeface="Verdana"/>
                <a:sym typeface="Verdana"/>
              </a:rPr>
              <a:t> </a:t>
            </a:r>
            <a:endParaRPr/>
          </a:p>
        </p:txBody>
      </p:sp>
      <p:pic>
        <p:nvPicPr>
          <p:cNvPr id="363" name="Google Shape;363;p26"/>
          <p:cNvPicPr preferRelativeResize="0"/>
          <p:nvPr/>
        </p:nvPicPr>
        <p:blipFill>
          <a:blip r:embed="rId3">
            <a:alphaModFix/>
          </a:blip>
          <a:stretch>
            <a:fillRect/>
          </a:stretch>
        </p:blipFill>
        <p:spPr>
          <a:xfrm>
            <a:off x="1117425" y="3836050"/>
            <a:ext cx="6909299" cy="2009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7"/>
          <p:cNvSpPr txBox="1"/>
          <p:nvPr>
            <p:ph type="title"/>
          </p:nvPr>
        </p:nvSpPr>
        <p:spPr>
          <a:xfrm>
            <a:off x="971600" y="1446975"/>
            <a:ext cx="7024744" cy="469856"/>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500"/>
              <a:buFont typeface="Verdana"/>
              <a:buNone/>
            </a:pPr>
            <a:r>
              <a:rPr b="1" i="0" lang="en-CA" sz="2000" u="none" cap="none" strike="noStrike">
                <a:solidFill>
                  <a:schemeClr val="accent1"/>
                </a:solidFill>
                <a:latin typeface="Verdana"/>
                <a:ea typeface="Verdana"/>
                <a:cs typeface="Verdana"/>
                <a:sym typeface="Verdana"/>
              </a:rPr>
              <a:t>Each of the three layers (referred to as </a:t>
            </a:r>
            <a:r>
              <a:rPr b="1" i="1" lang="en-CA" sz="2000" u="sng" cap="none" strike="noStrike">
                <a:solidFill>
                  <a:schemeClr val="accent1"/>
                </a:solidFill>
                <a:latin typeface="Verdana"/>
                <a:ea typeface="Verdana"/>
                <a:cs typeface="Verdana"/>
                <a:sym typeface="Verdana"/>
              </a:rPr>
              <a:t>germ </a:t>
            </a:r>
            <a:r>
              <a:rPr b="1" i="0" lang="en-CA" sz="2000" u="sng" cap="none" strike="noStrike">
                <a:solidFill>
                  <a:schemeClr val="accent1"/>
                </a:solidFill>
                <a:latin typeface="Verdana"/>
                <a:ea typeface="Verdana"/>
                <a:cs typeface="Verdana"/>
                <a:sym typeface="Verdana"/>
              </a:rPr>
              <a:t>layers</a:t>
            </a:r>
            <a:r>
              <a:rPr b="1" i="0" lang="en-CA" sz="2000" u="none" cap="none" strike="noStrike">
                <a:solidFill>
                  <a:schemeClr val="accent1"/>
                </a:solidFill>
                <a:latin typeface="Verdana"/>
                <a:ea typeface="Verdana"/>
                <a:cs typeface="Verdana"/>
                <a:sym typeface="Verdana"/>
              </a:rPr>
              <a:t>) differentiates into a specific set of tissues and organs: </a:t>
            </a:r>
            <a:endParaRPr/>
          </a:p>
        </p:txBody>
      </p:sp>
      <p:pic>
        <p:nvPicPr>
          <p:cNvPr id="369" name="Google Shape;369;p27"/>
          <p:cNvPicPr preferRelativeResize="0"/>
          <p:nvPr/>
        </p:nvPicPr>
        <p:blipFill rotWithShape="1">
          <a:blip r:embed="rId3">
            <a:alphaModFix/>
          </a:blip>
          <a:srcRect b="0" l="0" r="0" t="0"/>
          <a:stretch/>
        </p:blipFill>
        <p:spPr>
          <a:xfrm>
            <a:off x="1266400" y="2013350"/>
            <a:ext cx="6870926" cy="45282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8"/>
          <p:cNvSpPr txBox="1"/>
          <p:nvPr>
            <p:ph type="title"/>
          </p:nvPr>
        </p:nvSpPr>
        <p:spPr>
          <a:xfrm>
            <a:off x="1043490" y="1027664"/>
            <a:ext cx="70248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pic>
        <p:nvPicPr>
          <p:cNvPr id="376" name="Google Shape;376;p28"/>
          <p:cNvPicPr preferRelativeResize="0"/>
          <p:nvPr/>
        </p:nvPicPr>
        <p:blipFill>
          <a:blip r:embed="rId3">
            <a:alphaModFix/>
          </a:blip>
          <a:stretch>
            <a:fillRect/>
          </a:stretch>
        </p:blipFill>
        <p:spPr>
          <a:xfrm>
            <a:off x="571850" y="1027664"/>
            <a:ext cx="7359837" cy="438253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9"/>
          <p:cNvSpPr txBox="1"/>
          <p:nvPr>
            <p:ph type="title"/>
          </p:nvPr>
        </p:nvSpPr>
        <p:spPr>
          <a:xfrm>
            <a:off x="781350" y="765450"/>
            <a:ext cx="7974600" cy="545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Structures that support the embryo</a:t>
            </a:r>
            <a:endParaRPr/>
          </a:p>
        </p:txBody>
      </p:sp>
      <p:grpSp>
        <p:nvGrpSpPr>
          <p:cNvPr id="382" name="Google Shape;382;p29"/>
          <p:cNvGrpSpPr/>
          <p:nvPr/>
        </p:nvGrpSpPr>
        <p:grpSpPr>
          <a:xfrm>
            <a:off x="452450" y="2348825"/>
            <a:ext cx="8188200" cy="3376650"/>
            <a:chOff x="685042" y="2564894"/>
            <a:chExt cx="7718164" cy="3143702"/>
          </a:xfrm>
        </p:grpSpPr>
        <p:pic>
          <p:nvPicPr>
            <p:cNvPr id="383" name="Google Shape;383;p29"/>
            <p:cNvPicPr preferRelativeResize="0"/>
            <p:nvPr/>
          </p:nvPicPr>
          <p:blipFill rotWithShape="1">
            <a:blip r:embed="rId3">
              <a:alphaModFix/>
            </a:blip>
            <a:srcRect b="2030" l="1026" r="1270" t="-2030"/>
            <a:stretch/>
          </p:blipFill>
          <p:spPr>
            <a:xfrm>
              <a:off x="685042" y="2564894"/>
              <a:ext cx="7718164" cy="3143702"/>
            </a:xfrm>
            <a:prstGeom prst="rect">
              <a:avLst/>
            </a:prstGeom>
            <a:noFill/>
            <a:ln>
              <a:noFill/>
            </a:ln>
          </p:spPr>
        </p:pic>
        <p:sp>
          <p:nvSpPr>
            <p:cNvPr id="384" name="Google Shape;384;p29"/>
            <p:cNvSpPr txBox="1"/>
            <p:nvPr/>
          </p:nvSpPr>
          <p:spPr>
            <a:xfrm>
              <a:off x="685045" y="3994557"/>
              <a:ext cx="2047200" cy="9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800">
                  <a:solidFill>
                    <a:schemeClr val="dk2"/>
                  </a:solidFill>
                  <a:latin typeface="Verdana"/>
                  <a:ea typeface="Verdana"/>
                  <a:cs typeface="Verdana"/>
                  <a:sym typeface="Verdana"/>
                </a:rPr>
                <a:t>Also produces the first red blood cells until the bone marrow is formed and takes over.</a:t>
              </a:r>
              <a:endParaRPr b="1" sz="800">
                <a:solidFill>
                  <a:schemeClr val="dk2"/>
                </a:solidFill>
                <a:latin typeface="Verdana"/>
                <a:ea typeface="Verdana"/>
                <a:cs typeface="Verdana"/>
                <a:sym typeface="Verdana"/>
              </a:endParaRPr>
            </a:p>
          </p:txBody>
        </p:sp>
      </p:grpSp>
      <p:sp>
        <p:nvSpPr>
          <p:cNvPr id="385" name="Google Shape;385;p29"/>
          <p:cNvSpPr txBox="1"/>
          <p:nvPr/>
        </p:nvSpPr>
        <p:spPr>
          <a:xfrm>
            <a:off x="985675" y="1363225"/>
            <a:ext cx="6732300" cy="7080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CA" sz="1700"/>
              <a:t>Starting in week 3 up to week 8, membranes external to embryo develop, called </a:t>
            </a:r>
            <a:r>
              <a:rPr b="1" lang="en-CA" sz="1700"/>
              <a:t>extraembryonic structures</a:t>
            </a:r>
            <a:endParaRPr b="1" sz="1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0"/>
          <p:cNvSpPr txBox="1"/>
          <p:nvPr>
            <p:ph type="title"/>
          </p:nvPr>
        </p:nvSpPr>
        <p:spPr>
          <a:xfrm>
            <a:off x="300643" y="1196751"/>
            <a:ext cx="8519828" cy="926975"/>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500"/>
              <a:buFont typeface="Verdana"/>
              <a:buNone/>
            </a:pPr>
            <a:r>
              <a:rPr b="0" i="0" lang="en-CA" sz="2000" u="none" cap="none" strike="noStrike">
                <a:solidFill>
                  <a:schemeClr val="accent1"/>
                </a:solidFill>
                <a:latin typeface="Verdana"/>
                <a:ea typeface="Verdana"/>
                <a:cs typeface="Verdana"/>
                <a:sym typeface="Verdana"/>
              </a:rPr>
              <a:t>Occurs between weeks 3 &amp; 8, when germ layers begin to fold and early organ systems take shape…</a:t>
            </a:r>
            <a:endParaRPr/>
          </a:p>
        </p:txBody>
      </p:sp>
      <p:sp>
        <p:nvSpPr>
          <p:cNvPr id="391" name="Google Shape;391;p30"/>
          <p:cNvSpPr txBox="1"/>
          <p:nvPr/>
        </p:nvSpPr>
        <p:spPr>
          <a:xfrm>
            <a:off x="899591" y="2492896"/>
            <a:ext cx="7632848" cy="38318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375"/>
              <a:buFont typeface="Verdana"/>
              <a:buNone/>
            </a:pPr>
            <a:r>
              <a:rPr b="1" i="0" lang="en-CA" sz="1500" u="none" cap="none" strike="noStrike">
                <a:solidFill>
                  <a:schemeClr val="accent1"/>
                </a:solidFill>
                <a:latin typeface="Verdana"/>
                <a:ea typeface="Verdana"/>
                <a:cs typeface="Verdana"/>
                <a:sym typeface="Verdana"/>
              </a:rPr>
              <a:t>Week 3 </a:t>
            </a:r>
            <a:r>
              <a:rPr b="0" i="0" lang="en-CA" sz="1500" u="none" cap="none" strike="noStrike">
                <a:solidFill>
                  <a:schemeClr val="accent1"/>
                </a:solidFill>
                <a:latin typeface="Verdana"/>
                <a:ea typeface="Verdana"/>
                <a:cs typeface="Verdana"/>
                <a:sym typeface="Verdana"/>
              </a:rPr>
              <a:t>= </a:t>
            </a:r>
            <a:r>
              <a:rPr b="1" lang="en-CA" sz="1500">
                <a:solidFill>
                  <a:schemeClr val="accent1"/>
                </a:solidFill>
                <a:latin typeface="Verdana"/>
                <a:ea typeface="Verdana"/>
                <a:cs typeface="Verdana"/>
                <a:sym typeface="Verdana"/>
              </a:rPr>
              <a:t>neurulation</a:t>
            </a:r>
            <a:r>
              <a:rPr lang="en-CA" sz="1500">
                <a:solidFill>
                  <a:schemeClr val="accent1"/>
                </a:solidFill>
                <a:latin typeface="Verdana"/>
                <a:ea typeface="Verdana"/>
                <a:cs typeface="Verdana"/>
                <a:sym typeface="Verdana"/>
              </a:rPr>
              <a:t> (formation of </a:t>
            </a:r>
            <a:r>
              <a:rPr b="1" lang="en-CA" sz="1500">
                <a:solidFill>
                  <a:schemeClr val="accent1"/>
                </a:solidFill>
                <a:latin typeface="Verdana"/>
                <a:ea typeface="Verdana"/>
                <a:cs typeface="Verdana"/>
                <a:sym typeface="Verdana"/>
              </a:rPr>
              <a:t>neural tube</a:t>
            </a:r>
            <a:r>
              <a:rPr lang="en-CA" sz="1500">
                <a:solidFill>
                  <a:schemeClr val="accent1"/>
                </a:solidFill>
                <a:latin typeface="Verdana"/>
                <a:ea typeface="Verdana"/>
                <a:cs typeface="Verdana"/>
                <a:sym typeface="Verdana"/>
              </a:rPr>
              <a:t> which will later develop into the brain and spinal </a:t>
            </a:r>
            <a:r>
              <a:rPr lang="en-CA" sz="1500">
                <a:solidFill>
                  <a:schemeClr val="accent1"/>
                </a:solidFill>
                <a:latin typeface="Verdana"/>
                <a:ea typeface="Verdana"/>
                <a:cs typeface="Verdana"/>
                <a:sym typeface="Verdana"/>
              </a:rPr>
              <a:t>cord</a:t>
            </a:r>
            <a:r>
              <a:rPr lang="en-CA" sz="1500">
                <a:solidFill>
                  <a:schemeClr val="accent1"/>
                </a:solidFill>
                <a:latin typeface="Verdana"/>
                <a:ea typeface="Verdana"/>
                <a:cs typeface="Verdana"/>
                <a:sym typeface="Verdana"/>
              </a:rPr>
              <a:t>)</a:t>
            </a:r>
            <a:r>
              <a:rPr b="0" i="0" lang="en-CA" sz="1500" u="none" cap="none" strike="noStrike">
                <a:solidFill>
                  <a:schemeClr val="accent1"/>
                </a:solidFill>
                <a:latin typeface="Verdana"/>
                <a:ea typeface="Verdana"/>
                <a:cs typeface="Verdana"/>
                <a:sym typeface="Verdana"/>
              </a:rPr>
              <a:t>, primitive heart starts beating</a:t>
            </a: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chemeClr val="accent1"/>
              </a:buClr>
              <a:buSzPts val="375"/>
              <a:buFont typeface="Verdana"/>
              <a:buNone/>
            </a:pPr>
            <a:r>
              <a:rPr b="1" i="0" lang="en-CA" sz="1500" u="none" cap="none" strike="noStrike">
                <a:solidFill>
                  <a:schemeClr val="accent1"/>
                </a:solidFill>
                <a:latin typeface="Verdana"/>
                <a:ea typeface="Verdana"/>
                <a:cs typeface="Verdana"/>
                <a:sym typeface="Verdana"/>
              </a:rPr>
              <a:t>Week 4 </a:t>
            </a:r>
            <a:r>
              <a:rPr b="0" i="0" lang="en-CA" sz="1500" u="none" cap="none" strike="noStrike">
                <a:solidFill>
                  <a:schemeClr val="accent1"/>
                </a:solidFill>
                <a:latin typeface="Verdana"/>
                <a:ea typeface="Verdana"/>
                <a:cs typeface="Verdana"/>
                <a:sym typeface="Verdana"/>
              </a:rPr>
              <a:t>= Formation of blood cells.  Lungs and kidneys take shape, and small buds (which will develop into arms and legs) appear. A distinct head is visible.</a:t>
            </a: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chemeClr val="accent1"/>
              </a:buClr>
              <a:buSzPts val="375"/>
              <a:buFont typeface="Verdana"/>
              <a:buNone/>
            </a:pPr>
            <a:r>
              <a:rPr b="1" i="0" lang="en-CA" sz="1500" u="none" cap="none" strike="noStrike">
                <a:solidFill>
                  <a:schemeClr val="accent1"/>
                </a:solidFill>
                <a:latin typeface="Verdana"/>
                <a:ea typeface="Verdana"/>
                <a:cs typeface="Verdana"/>
                <a:sym typeface="Verdana"/>
              </a:rPr>
              <a:t>Week 5 </a:t>
            </a:r>
            <a:r>
              <a:rPr b="0" i="0" lang="en-CA" sz="1500" u="none" cap="none" strike="noStrike">
                <a:solidFill>
                  <a:schemeClr val="accent1"/>
                </a:solidFill>
                <a:latin typeface="Verdana"/>
                <a:ea typeface="Verdana"/>
                <a:cs typeface="Verdana"/>
                <a:sym typeface="Verdana"/>
              </a:rPr>
              <a:t>= Eyes open, cells of the brain undergo rapid differentiation.</a:t>
            </a: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chemeClr val="accent1"/>
              </a:buClr>
              <a:buSzPts val="375"/>
              <a:buFont typeface="Verdana"/>
              <a:buNone/>
            </a:pPr>
            <a:r>
              <a:rPr b="1" i="0" lang="en-CA" sz="1500" u="none" cap="none" strike="noStrike">
                <a:solidFill>
                  <a:schemeClr val="accent1"/>
                </a:solidFill>
                <a:latin typeface="Verdana"/>
                <a:ea typeface="Verdana"/>
                <a:cs typeface="Verdana"/>
                <a:sym typeface="Verdana"/>
              </a:rPr>
              <a:t>Week 6 </a:t>
            </a:r>
            <a:r>
              <a:rPr b="0" i="0" lang="en-CA" sz="1500" u="none" cap="none" strike="noStrike">
                <a:solidFill>
                  <a:schemeClr val="accent1"/>
                </a:solidFill>
                <a:latin typeface="Verdana"/>
                <a:ea typeface="Verdana"/>
                <a:cs typeface="Verdana"/>
                <a:sym typeface="Verdana"/>
              </a:rPr>
              <a:t>= Continued development of the brain, lengthening of limbs. </a:t>
            </a: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chemeClr val="accent1"/>
              </a:buClr>
              <a:buSzPts val="375"/>
              <a:buFont typeface="Verdana"/>
              <a:buNone/>
            </a:pPr>
            <a:r>
              <a:rPr b="1" i="0" lang="en-CA" sz="1500" u="none" cap="none" strike="noStrike">
                <a:solidFill>
                  <a:schemeClr val="accent1"/>
                </a:solidFill>
                <a:latin typeface="Verdana"/>
                <a:ea typeface="Verdana"/>
                <a:cs typeface="Verdana"/>
                <a:sym typeface="Verdana"/>
              </a:rPr>
              <a:t>Week 7 </a:t>
            </a:r>
            <a:r>
              <a:rPr b="0" i="0" lang="en-CA" sz="1500" u="none" cap="none" strike="noStrike">
                <a:solidFill>
                  <a:schemeClr val="accent1"/>
                </a:solidFill>
                <a:latin typeface="Verdana"/>
                <a:ea typeface="Verdana"/>
                <a:cs typeface="Verdana"/>
                <a:sym typeface="Verdana"/>
              </a:rPr>
              <a:t>= Organs and skeleton almost completely formed, external genitalia begin to differentiate. Nervous system begins to coordinate body activity</a:t>
            </a: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chemeClr val="accent1"/>
              </a:buClr>
              <a:buSzPts val="375"/>
              <a:buFont typeface="Verdana"/>
              <a:buNone/>
            </a:pPr>
            <a:r>
              <a:rPr b="1" i="0" lang="en-CA" sz="1500" u="none" cap="none" strike="noStrike">
                <a:solidFill>
                  <a:schemeClr val="accent1"/>
                </a:solidFill>
                <a:latin typeface="Verdana"/>
                <a:ea typeface="Verdana"/>
                <a:cs typeface="Verdana"/>
                <a:sym typeface="Verdana"/>
              </a:rPr>
              <a:t>Week 8 </a:t>
            </a:r>
            <a:r>
              <a:rPr b="0" i="0" lang="en-CA" sz="1500" u="none" cap="none" strike="noStrike">
                <a:solidFill>
                  <a:schemeClr val="accent1"/>
                </a:solidFill>
                <a:latin typeface="Verdana"/>
                <a:ea typeface="Verdana"/>
                <a:cs typeface="Verdana"/>
                <a:sym typeface="Verdana"/>
              </a:rPr>
              <a:t>= Embryo is the size of a paperclip. 90% of organs are established. </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Verdana"/>
              <a:ea typeface="Verdana"/>
              <a:cs typeface="Verdana"/>
              <a:sym typeface="Verdana"/>
            </a:endParaRPr>
          </a:p>
        </p:txBody>
      </p:sp>
      <p:sp>
        <p:nvSpPr>
          <p:cNvPr id="392" name="Google Shape;392;p30"/>
          <p:cNvSpPr txBox="1"/>
          <p:nvPr/>
        </p:nvSpPr>
        <p:spPr>
          <a:xfrm>
            <a:off x="719550" y="836700"/>
            <a:ext cx="81009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Organ Formation (Organogenesis</a:t>
            </a:r>
            <a:r>
              <a:rPr b="1" lang="en-CA" sz="2800">
                <a:solidFill>
                  <a:schemeClr val="accent1"/>
                </a:solidFill>
                <a:latin typeface="Verdana"/>
                <a:ea typeface="Verdana"/>
                <a:cs typeface="Verdana"/>
                <a:sym typeface="Verdana"/>
              </a:rPr>
              <a:t>)</a:t>
            </a:r>
            <a:endParaRPr/>
          </a:p>
        </p:txBody>
      </p:sp>
      <p:sp>
        <p:nvSpPr>
          <p:cNvPr id="393" name="Google Shape;393;p30"/>
          <p:cNvSpPr/>
          <p:nvPr/>
        </p:nvSpPr>
        <p:spPr>
          <a:xfrm>
            <a:off x="719550" y="2357963"/>
            <a:ext cx="7704900" cy="3744300"/>
          </a:xfrm>
          <a:prstGeom prst="rect">
            <a:avLst/>
          </a:prstGeom>
          <a:noFill/>
          <a:ln cap="flat" cmpd="sng" w="158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3"/>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1"/>
          <p:cNvSpPr txBox="1"/>
          <p:nvPr>
            <p:ph type="title"/>
          </p:nvPr>
        </p:nvSpPr>
        <p:spPr>
          <a:xfrm>
            <a:off x="1043500" y="388000"/>
            <a:ext cx="7024800" cy="870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Neurulation</a:t>
            </a:r>
            <a:endParaRPr/>
          </a:p>
        </p:txBody>
      </p:sp>
      <p:pic>
        <p:nvPicPr>
          <p:cNvPr id="399" name="Google Shape;399;p31"/>
          <p:cNvPicPr preferRelativeResize="0"/>
          <p:nvPr/>
        </p:nvPicPr>
        <p:blipFill>
          <a:blip r:embed="rId3">
            <a:alphaModFix/>
          </a:blip>
          <a:stretch>
            <a:fillRect/>
          </a:stretch>
        </p:blipFill>
        <p:spPr>
          <a:xfrm>
            <a:off x="813050" y="1505048"/>
            <a:ext cx="7753350" cy="4791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2"/>
          <p:cNvSpPr txBox="1"/>
          <p:nvPr>
            <p:ph type="title"/>
          </p:nvPr>
        </p:nvSpPr>
        <p:spPr>
          <a:xfrm>
            <a:off x="1043490" y="908720"/>
            <a:ext cx="7024744" cy="68588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CA" sz="2400" u="none" cap="none" strike="noStrike">
                <a:solidFill>
                  <a:schemeClr val="accent1"/>
                </a:solidFill>
                <a:latin typeface="Verdana"/>
                <a:ea typeface="Verdana"/>
                <a:cs typeface="Verdana"/>
                <a:sym typeface="Verdana"/>
              </a:rPr>
              <a:t>FUNCTIONS OF THE PLACENTA:</a:t>
            </a:r>
            <a:endParaRPr/>
          </a:p>
        </p:txBody>
      </p:sp>
      <p:graphicFrame>
        <p:nvGraphicFramePr>
          <p:cNvPr id="405" name="Google Shape;405;p32"/>
          <p:cNvGraphicFramePr/>
          <p:nvPr/>
        </p:nvGraphicFramePr>
        <p:xfrm>
          <a:off x="1043608" y="1772816"/>
          <a:ext cx="3000000" cy="3000000"/>
        </p:xfrm>
        <a:graphic>
          <a:graphicData uri="http://schemas.openxmlformats.org/drawingml/2006/table">
            <a:tbl>
              <a:tblPr bandRow="1" firstRow="1">
                <a:noFill/>
                <a:tableStyleId>{347D1D32-54A4-4CD0-9579-C6DFF6211CF5}</a:tableStyleId>
              </a:tblPr>
              <a:tblGrid>
                <a:gridCol w="3048000"/>
                <a:gridCol w="4080800"/>
              </a:tblGrid>
              <a:tr h="370850">
                <a:tc>
                  <a:txBody>
                    <a:bodyPr/>
                    <a:lstStyle/>
                    <a:p>
                      <a:pPr indent="0" lvl="0" marL="0" marR="0" rtl="0" algn="l">
                        <a:lnSpc>
                          <a:spcPct val="100000"/>
                        </a:lnSpc>
                        <a:spcBef>
                          <a:spcPts val="0"/>
                        </a:spcBef>
                        <a:spcAft>
                          <a:spcPts val="0"/>
                        </a:spcAft>
                        <a:buClr>
                          <a:schemeClr val="accent1"/>
                        </a:buClr>
                        <a:buSzPts val="450"/>
                        <a:buFont typeface="Arial"/>
                        <a:buNone/>
                      </a:pPr>
                      <a:r>
                        <a:rPr b="1" lang="en-CA" sz="1800" u="none" cap="none" strike="noStrike">
                          <a:solidFill>
                            <a:schemeClr val="accent1"/>
                          </a:solidFill>
                        </a:rPr>
                        <a:t>Nutritional functions</a:t>
                      </a:r>
                      <a:endParaRPr/>
                    </a:p>
                  </a:txBody>
                  <a:tcPr marT="45725" marB="45725" marR="91450" marL="91450"/>
                </a:tc>
                <a:tc>
                  <a:txBody>
                    <a:bodyPr/>
                    <a:lstStyle/>
                    <a:p>
                      <a:pPr indent="-285750" lvl="0" marL="285750" marR="0" rtl="0" algn="l">
                        <a:lnSpc>
                          <a:spcPct val="100000"/>
                        </a:lnSpc>
                        <a:spcBef>
                          <a:spcPts val="0"/>
                        </a:spcBef>
                        <a:spcAft>
                          <a:spcPts val="0"/>
                        </a:spcAft>
                        <a:buClr>
                          <a:schemeClr val="accent1"/>
                        </a:buClr>
                        <a:buSzPts val="1800"/>
                        <a:buFont typeface="Arial"/>
                        <a:buChar char="•"/>
                      </a:pPr>
                      <a:r>
                        <a:rPr b="0" lang="en-CA" sz="1800" u="none" cap="none" strike="noStrike">
                          <a:solidFill>
                            <a:schemeClr val="accent1"/>
                          </a:solidFill>
                        </a:rPr>
                        <a:t>Transports nutrients from mother to fetus </a:t>
                      </a:r>
                      <a:endParaRPr/>
                    </a:p>
                    <a:p>
                      <a:pPr indent="-285750" lvl="0" marL="285750" marR="0" rtl="0" algn="l">
                        <a:lnSpc>
                          <a:spcPct val="100000"/>
                        </a:lnSpc>
                        <a:spcBef>
                          <a:spcPts val="0"/>
                        </a:spcBef>
                        <a:spcAft>
                          <a:spcPts val="0"/>
                        </a:spcAft>
                        <a:buClr>
                          <a:schemeClr val="accent1"/>
                        </a:buClr>
                        <a:buSzPts val="1800"/>
                        <a:buFont typeface="Arial"/>
                        <a:buChar char="•"/>
                      </a:pPr>
                      <a:r>
                        <a:rPr b="0" lang="en-CA" sz="1800" u="none" cap="none" strike="noStrike">
                          <a:solidFill>
                            <a:schemeClr val="accent1"/>
                          </a:solidFill>
                        </a:rPr>
                        <a:t>Stores nutrients</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accent1"/>
                        </a:buClr>
                        <a:buSzPts val="450"/>
                        <a:buFont typeface="Arial"/>
                        <a:buNone/>
                      </a:pPr>
                      <a:r>
                        <a:rPr b="1" lang="en-CA" sz="1800" u="none" cap="none" strike="noStrike">
                          <a:solidFill>
                            <a:schemeClr val="accent1"/>
                          </a:solidFill>
                        </a:rPr>
                        <a:t>Excretory functions</a:t>
                      </a:r>
                      <a:endParaRPr/>
                    </a:p>
                  </a:txBody>
                  <a:tcPr marT="45725" marB="45725" marR="91450" marL="91450"/>
                </a:tc>
                <a:tc>
                  <a:txBody>
                    <a:bodyPr/>
                    <a:lstStyle/>
                    <a:p>
                      <a:pPr indent="-285750" lvl="0" marL="285750" marR="0" rtl="0" algn="l">
                        <a:lnSpc>
                          <a:spcPct val="100000"/>
                        </a:lnSpc>
                        <a:spcBef>
                          <a:spcPts val="0"/>
                        </a:spcBef>
                        <a:spcAft>
                          <a:spcPts val="0"/>
                        </a:spcAft>
                        <a:buClr>
                          <a:schemeClr val="accent1"/>
                        </a:buClr>
                        <a:buSzPts val="1800"/>
                        <a:buFont typeface="Arial"/>
                        <a:buChar char="•"/>
                      </a:pPr>
                      <a:r>
                        <a:rPr lang="en-CA" sz="1800" u="none" cap="none" strike="noStrike">
                          <a:solidFill>
                            <a:schemeClr val="accent1"/>
                          </a:solidFill>
                        </a:rPr>
                        <a:t>Transports wastes from fetal blood to the mothers blood</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accent1"/>
                        </a:buClr>
                        <a:buSzPts val="450"/>
                        <a:buFont typeface="Arial"/>
                        <a:buNone/>
                      </a:pPr>
                      <a:r>
                        <a:rPr b="1" lang="en-CA" sz="1800" u="none" cap="none" strike="noStrike">
                          <a:solidFill>
                            <a:schemeClr val="accent1"/>
                          </a:solidFill>
                        </a:rPr>
                        <a:t>Respiratory functions</a:t>
                      </a:r>
                      <a:endParaRPr/>
                    </a:p>
                  </a:txBody>
                  <a:tcPr marT="45725" marB="45725" marR="91450" marL="91450"/>
                </a:tc>
                <a:tc>
                  <a:txBody>
                    <a:bodyPr/>
                    <a:lstStyle/>
                    <a:p>
                      <a:pPr indent="-285750" lvl="0" marL="285750" marR="0" rtl="0" algn="l">
                        <a:lnSpc>
                          <a:spcPct val="100000"/>
                        </a:lnSpc>
                        <a:spcBef>
                          <a:spcPts val="0"/>
                        </a:spcBef>
                        <a:spcAft>
                          <a:spcPts val="0"/>
                        </a:spcAft>
                        <a:buClr>
                          <a:schemeClr val="accent1"/>
                        </a:buClr>
                        <a:buSzPts val="1800"/>
                        <a:buFont typeface="Arial"/>
                        <a:buChar char="•"/>
                      </a:pPr>
                      <a:r>
                        <a:rPr lang="en-CA" sz="1800" u="none" cap="none" strike="noStrike">
                          <a:solidFill>
                            <a:schemeClr val="accent1"/>
                          </a:solidFill>
                        </a:rPr>
                        <a:t>Transports </a:t>
                      </a:r>
                      <a:r>
                        <a:rPr lang="en-CA" sz="1800">
                          <a:solidFill>
                            <a:schemeClr val="accent1"/>
                          </a:solidFill>
                        </a:rPr>
                        <a:t>oxygen</a:t>
                      </a:r>
                      <a:r>
                        <a:rPr lang="en-CA" sz="1800" u="none" cap="none" strike="noStrike">
                          <a:solidFill>
                            <a:schemeClr val="accent1"/>
                          </a:solidFill>
                        </a:rPr>
                        <a:t> from the mother to the fetus and CO2 from the fetus to the mother</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accent1"/>
                        </a:buClr>
                        <a:buSzPts val="450"/>
                        <a:buFont typeface="Arial"/>
                        <a:buNone/>
                      </a:pPr>
                      <a:r>
                        <a:rPr b="1" lang="en-CA" sz="1800" u="none" cap="none" strike="noStrike">
                          <a:solidFill>
                            <a:schemeClr val="accent1"/>
                          </a:solidFill>
                        </a:rPr>
                        <a:t>Endocrine functions</a:t>
                      </a:r>
                      <a:endParaRPr/>
                    </a:p>
                  </a:txBody>
                  <a:tcPr marT="45725" marB="45725" marR="91450" marL="91450"/>
                </a:tc>
                <a:tc>
                  <a:txBody>
                    <a:bodyPr/>
                    <a:lstStyle/>
                    <a:p>
                      <a:pPr indent="-285750" lvl="0" marL="285750" marR="0" rtl="0" algn="l">
                        <a:lnSpc>
                          <a:spcPct val="100000"/>
                        </a:lnSpc>
                        <a:spcBef>
                          <a:spcPts val="0"/>
                        </a:spcBef>
                        <a:spcAft>
                          <a:spcPts val="0"/>
                        </a:spcAft>
                        <a:buClr>
                          <a:schemeClr val="accent1"/>
                        </a:buClr>
                        <a:buSzPts val="1800"/>
                        <a:buFont typeface="Arial"/>
                        <a:buChar char="•"/>
                      </a:pPr>
                      <a:r>
                        <a:rPr lang="en-CA" sz="1800" u="none" cap="none" strike="noStrike">
                          <a:solidFill>
                            <a:schemeClr val="accent1"/>
                          </a:solidFill>
                        </a:rPr>
                        <a:t>Secretes hormones</a:t>
                      </a:r>
                      <a:endParaRPr/>
                    </a:p>
                    <a:p>
                      <a:pPr indent="-285750" lvl="0" marL="285750" marR="0" rtl="0" algn="l">
                        <a:lnSpc>
                          <a:spcPct val="100000"/>
                        </a:lnSpc>
                        <a:spcBef>
                          <a:spcPts val="0"/>
                        </a:spcBef>
                        <a:spcAft>
                          <a:spcPts val="0"/>
                        </a:spcAft>
                        <a:buClr>
                          <a:schemeClr val="accent1"/>
                        </a:buClr>
                        <a:buSzPts val="1800"/>
                        <a:buFont typeface="Arial"/>
                        <a:buChar char="•"/>
                      </a:pPr>
                      <a:r>
                        <a:rPr lang="en-CA" sz="1800" u="none" cap="none" strike="noStrike">
                          <a:solidFill>
                            <a:schemeClr val="accent1"/>
                          </a:solidFill>
                        </a:rPr>
                        <a:t>Allows hormones from the fetus to diffuse into the mothers blood (and vice versa)</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accent1"/>
                        </a:buClr>
                        <a:buSzPts val="450"/>
                        <a:buFont typeface="Arial"/>
                        <a:buNone/>
                      </a:pPr>
                      <a:r>
                        <a:rPr b="1" lang="en-CA" sz="1800" u="none" cap="none" strike="noStrike">
                          <a:solidFill>
                            <a:schemeClr val="accent1"/>
                          </a:solidFill>
                        </a:rPr>
                        <a:t>Immune functions</a:t>
                      </a:r>
                      <a:endParaRPr/>
                    </a:p>
                  </a:txBody>
                  <a:tcPr marT="45725" marB="45725" marR="91450" marL="91450"/>
                </a:tc>
                <a:tc>
                  <a:txBody>
                    <a:bodyPr/>
                    <a:lstStyle/>
                    <a:p>
                      <a:pPr indent="-285750" lvl="0" marL="285750" marR="0" rtl="0" algn="l">
                        <a:lnSpc>
                          <a:spcPct val="100000"/>
                        </a:lnSpc>
                        <a:spcBef>
                          <a:spcPts val="0"/>
                        </a:spcBef>
                        <a:spcAft>
                          <a:spcPts val="0"/>
                        </a:spcAft>
                        <a:buClr>
                          <a:schemeClr val="accent1"/>
                        </a:buClr>
                        <a:buSzPts val="1800"/>
                        <a:buFont typeface="Arial"/>
                        <a:buChar char="•"/>
                      </a:pPr>
                      <a:r>
                        <a:rPr lang="en-CA" sz="1800" u="none" cap="none" strike="noStrike">
                          <a:solidFill>
                            <a:schemeClr val="accent1"/>
                          </a:solidFill>
                        </a:rPr>
                        <a:t>Transports antibodies from the mother to the fetus</a:t>
                      </a:r>
                      <a:endParaRPr/>
                    </a:p>
                  </a:txBody>
                  <a:tcPr marT="45725" marB="45725" marR="91450" marL="9145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3"/>
          <p:cNvSpPr txBox="1"/>
          <p:nvPr>
            <p:ph type="title"/>
          </p:nvPr>
        </p:nvSpPr>
        <p:spPr>
          <a:xfrm>
            <a:off x="1043490" y="1027664"/>
            <a:ext cx="70248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33"/>
          <p:cNvPicPr preferRelativeResize="0"/>
          <p:nvPr/>
        </p:nvPicPr>
        <p:blipFill>
          <a:blip r:embed="rId3">
            <a:alphaModFix/>
          </a:blip>
          <a:stretch>
            <a:fillRect/>
          </a:stretch>
        </p:blipFill>
        <p:spPr>
          <a:xfrm>
            <a:off x="278250" y="482350"/>
            <a:ext cx="8728175" cy="6003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4"/>
          <p:cNvSpPr txBox="1"/>
          <p:nvPr>
            <p:ph type="title"/>
          </p:nvPr>
        </p:nvSpPr>
        <p:spPr>
          <a:xfrm>
            <a:off x="1043490" y="836712"/>
            <a:ext cx="7024800" cy="1080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Fetal Development</a:t>
            </a:r>
            <a:br>
              <a:rPr b="1" i="0" lang="en-CA" sz="2800" u="none" cap="none" strike="noStrike">
                <a:solidFill>
                  <a:schemeClr val="accent1"/>
                </a:solidFill>
                <a:latin typeface="Verdana"/>
                <a:ea typeface="Verdana"/>
                <a:cs typeface="Verdana"/>
                <a:sym typeface="Verdana"/>
              </a:rPr>
            </a:br>
            <a:endParaRPr/>
          </a:p>
        </p:txBody>
      </p:sp>
      <p:sp>
        <p:nvSpPr>
          <p:cNvPr id="418" name="Google Shape;418;p34"/>
          <p:cNvSpPr txBox="1"/>
          <p:nvPr/>
        </p:nvSpPr>
        <p:spPr>
          <a:xfrm>
            <a:off x="1043608" y="5120023"/>
            <a:ext cx="7128900" cy="11541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700"/>
              <a:buFont typeface="Courier New"/>
              <a:buChar char="➢"/>
            </a:pPr>
            <a:r>
              <a:rPr b="0" i="0" lang="en-CA" sz="1700" u="none" cap="none" strike="noStrike">
                <a:solidFill>
                  <a:schemeClr val="accent1"/>
                </a:solidFill>
                <a:latin typeface="Verdana"/>
                <a:ea typeface="Verdana"/>
                <a:cs typeface="Verdana"/>
                <a:sym typeface="Verdana"/>
              </a:rPr>
              <a:t>embryonic period = weeks 1-8 </a:t>
            </a:r>
            <a:endParaRPr sz="1700">
              <a:solidFill>
                <a:schemeClr val="accent1"/>
              </a:solidFill>
              <a:latin typeface="Verdana"/>
              <a:ea typeface="Verdana"/>
              <a:cs typeface="Verdana"/>
              <a:sym typeface="Verdana"/>
            </a:endParaRPr>
          </a:p>
          <a:p>
            <a:pPr indent="-336550" lvl="1" marL="914400" marR="0" rtl="0" algn="l">
              <a:lnSpc>
                <a:spcPct val="100000"/>
              </a:lnSpc>
              <a:spcBef>
                <a:spcPts val="0"/>
              </a:spcBef>
              <a:spcAft>
                <a:spcPts val="0"/>
              </a:spcAft>
              <a:buClr>
                <a:schemeClr val="accent1"/>
              </a:buClr>
              <a:buSzPts val="1700"/>
              <a:buFont typeface="Courier New"/>
              <a:buChar char="○"/>
            </a:pPr>
            <a:r>
              <a:rPr b="0" i="0" lang="en-CA" sz="1700" u="none" cap="none" strike="noStrike">
                <a:solidFill>
                  <a:schemeClr val="accent1"/>
                </a:solidFill>
                <a:latin typeface="Verdana"/>
                <a:ea typeface="Verdana"/>
                <a:cs typeface="Verdana"/>
                <a:sym typeface="Verdana"/>
              </a:rPr>
              <a:t>gastrulation</a:t>
            </a:r>
            <a:r>
              <a:rPr lang="en-CA" sz="1700">
                <a:solidFill>
                  <a:schemeClr val="accent1"/>
                </a:solidFill>
                <a:latin typeface="Verdana"/>
                <a:ea typeface="Verdana"/>
                <a:cs typeface="Verdana"/>
                <a:sym typeface="Verdana"/>
              </a:rPr>
              <a:t> and organ differentiation)</a:t>
            </a:r>
            <a:endParaRPr b="0" i="0" sz="1700" u="none" cap="none" strike="noStrike">
              <a:solidFill>
                <a:schemeClr val="accent1"/>
              </a:solidFill>
              <a:latin typeface="Verdana"/>
              <a:ea typeface="Verdana"/>
              <a:cs typeface="Verdana"/>
              <a:sym typeface="Verdana"/>
            </a:endParaRPr>
          </a:p>
          <a:p>
            <a:pPr indent="-285750" lvl="0" marL="285750" marR="0" rtl="0" algn="l">
              <a:lnSpc>
                <a:spcPct val="100000"/>
              </a:lnSpc>
              <a:spcBef>
                <a:spcPts val="0"/>
              </a:spcBef>
              <a:spcAft>
                <a:spcPts val="0"/>
              </a:spcAft>
              <a:buClr>
                <a:schemeClr val="accent1"/>
              </a:buClr>
              <a:buSzPts val="1700"/>
              <a:buFont typeface="Courier New"/>
              <a:buChar char="➢"/>
            </a:pPr>
            <a:r>
              <a:rPr b="0" i="0" lang="en-CA" sz="1700" u="none" cap="none" strike="noStrike">
                <a:solidFill>
                  <a:schemeClr val="accent1"/>
                </a:solidFill>
                <a:latin typeface="Verdana"/>
                <a:ea typeface="Verdana"/>
                <a:cs typeface="Verdana"/>
                <a:sym typeface="Verdana"/>
              </a:rPr>
              <a:t>fetal period = weeks 9-12</a:t>
            </a:r>
            <a:endParaRPr/>
          </a:p>
          <a:p>
            <a:pPr indent="-336550" lvl="1" marL="914400" marR="0" rtl="0" algn="l">
              <a:lnSpc>
                <a:spcPct val="100000"/>
              </a:lnSpc>
              <a:spcBef>
                <a:spcPts val="0"/>
              </a:spcBef>
              <a:spcAft>
                <a:spcPts val="0"/>
              </a:spcAft>
              <a:buClr>
                <a:schemeClr val="accent1"/>
              </a:buClr>
              <a:buSzPts val="1700"/>
              <a:buFont typeface="Courier New"/>
              <a:buChar char="○"/>
            </a:pPr>
            <a:r>
              <a:rPr b="0" i="0" lang="en-CA" sz="1700" u="none" cap="none" strike="noStrike">
                <a:solidFill>
                  <a:schemeClr val="accent1"/>
                </a:solidFill>
                <a:latin typeface="Verdana"/>
                <a:ea typeface="Verdana"/>
                <a:cs typeface="Verdana"/>
                <a:sym typeface="Verdana"/>
              </a:rPr>
              <a:t>Body continues to grow, skeleton begins to harden</a:t>
            </a:r>
            <a:endParaRPr/>
          </a:p>
          <a:p>
            <a:pPr indent="-336550" lvl="1" marL="914400" marR="0" rtl="0" algn="l">
              <a:lnSpc>
                <a:spcPct val="100000"/>
              </a:lnSpc>
              <a:spcBef>
                <a:spcPts val="0"/>
              </a:spcBef>
              <a:spcAft>
                <a:spcPts val="0"/>
              </a:spcAft>
              <a:buClr>
                <a:schemeClr val="accent1"/>
              </a:buClr>
              <a:buSzPts val="1700"/>
              <a:buFont typeface="Courier New"/>
              <a:buChar char="○"/>
            </a:pPr>
            <a:r>
              <a:rPr b="0" i="0" lang="en-CA" sz="1700" u="none" cap="none" strike="noStrike">
                <a:solidFill>
                  <a:schemeClr val="accent1"/>
                </a:solidFill>
                <a:latin typeface="Verdana"/>
                <a:ea typeface="Verdana"/>
                <a:cs typeface="Verdana"/>
                <a:sym typeface="Verdana"/>
              </a:rPr>
              <a:t>External reproductive organs become distinguishable</a:t>
            </a:r>
            <a:endParaRPr/>
          </a:p>
          <a:p>
            <a:pPr indent="-285750" lvl="0" marL="285750" marR="0" rtl="0" algn="l">
              <a:lnSpc>
                <a:spcPct val="100000"/>
              </a:lnSpc>
              <a:spcBef>
                <a:spcPts val="0"/>
              </a:spcBef>
              <a:spcAft>
                <a:spcPts val="0"/>
              </a:spcAft>
              <a:buClr>
                <a:schemeClr val="dk1"/>
              </a:buClr>
              <a:buSzPts val="1800"/>
              <a:buFont typeface="Courier New"/>
              <a:buNone/>
            </a:pPr>
            <a:r>
              <a:t/>
            </a:r>
            <a:endParaRPr b="0" i="0" sz="1800" u="none" cap="none" strike="noStrike">
              <a:solidFill>
                <a:schemeClr val="accent1"/>
              </a:solidFill>
              <a:latin typeface="Verdana"/>
              <a:ea typeface="Verdana"/>
              <a:cs typeface="Verdana"/>
              <a:sym typeface="Verdana"/>
            </a:endParaRPr>
          </a:p>
        </p:txBody>
      </p:sp>
      <p:sp>
        <p:nvSpPr>
          <p:cNvPr id="419" name="Google Shape;419;p34"/>
          <p:cNvSpPr txBox="1"/>
          <p:nvPr/>
        </p:nvSpPr>
        <p:spPr>
          <a:xfrm>
            <a:off x="1475655" y="1484783"/>
            <a:ext cx="6048600" cy="769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CA" sz="2400" u="none" cap="none" strike="noStrike">
                <a:solidFill>
                  <a:schemeClr val="accent1"/>
                </a:solidFill>
                <a:latin typeface="Verdana"/>
                <a:ea typeface="Verdana"/>
                <a:cs typeface="Verdana"/>
                <a:sym typeface="Verdana"/>
              </a:rPr>
              <a:t>FIRST TRIMESTER</a:t>
            </a:r>
            <a:endParaRPr/>
          </a:p>
          <a:p>
            <a:pPr indent="0" lvl="0" marL="0" marR="0" rtl="0" algn="ctr">
              <a:lnSpc>
                <a:spcPct val="100000"/>
              </a:lnSpc>
              <a:spcBef>
                <a:spcPts val="0"/>
              </a:spcBef>
              <a:spcAft>
                <a:spcPts val="0"/>
              </a:spcAft>
              <a:buClr>
                <a:schemeClr val="accent1"/>
              </a:buClr>
              <a:buSzPts val="500"/>
              <a:buFont typeface="Verdana"/>
              <a:buNone/>
            </a:pPr>
            <a:r>
              <a:rPr b="1" i="0" lang="en-CA" sz="2000" u="none" cap="none" strike="noStrike">
                <a:solidFill>
                  <a:schemeClr val="accent1"/>
                </a:solidFill>
                <a:latin typeface="Verdana"/>
                <a:ea typeface="Verdana"/>
                <a:cs typeface="Verdana"/>
                <a:sym typeface="Verdana"/>
              </a:rPr>
              <a:t>(weeks 1-12)</a:t>
            </a:r>
            <a:endParaRPr/>
          </a:p>
        </p:txBody>
      </p:sp>
      <p:pic>
        <p:nvPicPr>
          <p:cNvPr id="420" name="Google Shape;420;p34"/>
          <p:cNvPicPr preferRelativeResize="0"/>
          <p:nvPr/>
        </p:nvPicPr>
        <p:blipFill rotWithShape="1">
          <a:blip r:embed="rId3">
            <a:alphaModFix/>
          </a:blip>
          <a:srcRect b="0" l="0" r="0" t="0"/>
          <a:stretch/>
        </p:blipFill>
        <p:spPr>
          <a:xfrm>
            <a:off x="1761553" y="2610481"/>
            <a:ext cx="5476874" cy="2286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5"/>
          <p:cNvSpPr txBox="1"/>
          <p:nvPr>
            <p:ph type="title"/>
          </p:nvPr>
        </p:nvSpPr>
        <p:spPr>
          <a:xfrm>
            <a:off x="1043490" y="980728"/>
            <a:ext cx="7024744" cy="613871"/>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Fetal Development</a:t>
            </a:r>
            <a:endParaRPr/>
          </a:p>
        </p:txBody>
      </p:sp>
      <p:sp>
        <p:nvSpPr>
          <p:cNvPr id="426" name="Google Shape;426;p35"/>
          <p:cNvSpPr txBox="1"/>
          <p:nvPr/>
        </p:nvSpPr>
        <p:spPr>
          <a:xfrm>
            <a:off x="1547663" y="1628800"/>
            <a:ext cx="5904656" cy="76944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CA" sz="2400" u="none" cap="none" strike="noStrike">
                <a:solidFill>
                  <a:schemeClr val="accent1"/>
                </a:solidFill>
                <a:latin typeface="Verdana"/>
                <a:ea typeface="Verdana"/>
                <a:cs typeface="Verdana"/>
                <a:sym typeface="Verdana"/>
              </a:rPr>
              <a:t>SECOND TRIMESTER</a:t>
            </a:r>
            <a:endParaRPr/>
          </a:p>
          <a:p>
            <a:pPr indent="0" lvl="0" marL="0" marR="0" rtl="0" algn="ctr">
              <a:lnSpc>
                <a:spcPct val="100000"/>
              </a:lnSpc>
              <a:spcBef>
                <a:spcPts val="0"/>
              </a:spcBef>
              <a:spcAft>
                <a:spcPts val="0"/>
              </a:spcAft>
              <a:buClr>
                <a:schemeClr val="accent1"/>
              </a:buClr>
              <a:buSzPts val="500"/>
              <a:buFont typeface="Verdana"/>
              <a:buNone/>
            </a:pPr>
            <a:r>
              <a:rPr b="1" i="0" lang="en-CA" sz="2000" u="none" cap="none" strike="noStrike">
                <a:solidFill>
                  <a:schemeClr val="accent1"/>
                </a:solidFill>
                <a:latin typeface="Verdana"/>
                <a:ea typeface="Verdana"/>
                <a:cs typeface="Verdana"/>
                <a:sym typeface="Verdana"/>
              </a:rPr>
              <a:t>(Weeks 13-24)</a:t>
            </a:r>
            <a:endParaRPr/>
          </a:p>
        </p:txBody>
      </p:sp>
      <p:pic>
        <p:nvPicPr>
          <p:cNvPr id="427" name="Google Shape;427;p35"/>
          <p:cNvPicPr preferRelativeResize="0"/>
          <p:nvPr/>
        </p:nvPicPr>
        <p:blipFill rotWithShape="1">
          <a:blip r:embed="rId3">
            <a:alphaModFix/>
          </a:blip>
          <a:srcRect b="0" l="0" r="0" t="0"/>
          <a:stretch/>
        </p:blipFill>
        <p:spPr>
          <a:xfrm>
            <a:off x="1699283" y="2721475"/>
            <a:ext cx="5681028" cy="2147684"/>
          </a:xfrm>
          <a:prstGeom prst="rect">
            <a:avLst/>
          </a:prstGeom>
          <a:noFill/>
          <a:ln>
            <a:noFill/>
          </a:ln>
        </p:spPr>
      </p:pic>
      <p:sp>
        <p:nvSpPr>
          <p:cNvPr id="428" name="Google Shape;428;p35"/>
          <p:cNvSpPr txBox="1"/>
          <p:nvPr/>
        </p:nvSpPr>
        <p:spPr>
          <a:xfrm>
            <a:off x="1115616" y="5085183"/>
            <a:ext cx="6984776" cy="1200329"/>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Heartbeat is strong enough to hear with a stethoscope</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Rapid brain growth, nervous system begins to function</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Mother begins to feel movement</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Fetus would not likely survive if it was born at this stage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6"/>
          <p:cNvSpPr txBox="1"/>
          <p:nvPr>
            <p:ph type="title"/>
          </p:nvPr>
        </p:nvSpPr>
        <p:spPr>
          <a:xfrm>
            <a:off x="1043490" y="870912"/>
            <a:ext cx="7024744" cy="613871"/>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Fetal Development</a:t>
            </a:r>
            <a:endParaRPr/>
          </a:p>
        </p:txBody>
      </p:sp>
      <p:pic>
        <p:nvPicPr>
          <p:cNvPr id="434" name="Google Shape;434;p36"/>
          <p:cNvPicPr preferRelativeResize="0"/>
          <p:nvPr/>
        </p:nvPicPr>
        <p:blipFill rotWithShape="1">
          <a:blip r:embed="rId3">
            <a:alphaModFix/>
          </a:blip>
          <a:srcRect b="0" l="0" r="0" t="0"/>
          <a:stretch/>
        </p:blipFill>
        <p:spPr>
          <a:xfrm>
            <a:off x="1475655" y="2585156"/>
            <a:ext cx="6120680" cy="2428020"/>
          </a:xfrm>
          <a:prstGeom prst="rect">
            <a:avLst/>
          </a:prstGeom>
          <a:noFill/>
          <a:ln>
            <a:noFill/>
          </a:ln>
        </p:spPr>
      </p:pic>
      <p:sp>
        <p:nvSpPr>
          <p:cNvPr id="435" name="Google Shape;435;p36"/>
          <p:cNvSpPr txBox="1"/>
          <p:nvPr/>
        </p:nvSpPr>
        <p:spPr>
          <a:xfrm>
            <a:off x="1403648" y="1556791"/>
            <a:ext cx="6336703" cy="76944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CA" sz="2400" u="none" cap="none" strike="noStrike">
                <a:solidFill>
                  <a:schemeClr val="accent1"/>
                </a:solidFill>
                <a:latin typeface="Verdana"/>
                <a:ea typeface="Verdana"/>
                <a:cs typeface="Verdana"/>
                <a:sym typeface="Verdana"/>
              </a:rPr>
              <a:t>THIRD TRIMESTER</a:t>
            </a:r>
            <a:endParaRPr/>
          </a:p>
          <a:p>
            <a:pPr indent="0" lvl="0" marL="0" marR="0" rtl="0" algn="ctr">
              <a:lnSpc>
                <a:spcPct val="100000"/>
              </a:lnSpc>
              <a:spcBef>
                <a:spcPts val="0"/>
              </a:spcBef>
              <a:spcAft>
                <a:spcPts val="0"/>
              </a:spcAft>
              <a:buClr>
                <a:schemeClr val="accent1"/>
              </a:buClr>
              <a:buSzPts val="500"/>
              <a:buFont typeface="Verdana"/>
              <a:buNone/>
            </a:pPr>
            <a:r>
              <a:rPr b="1" i="0" lang="en-CA" sz="2000" u="none" cap="none" strike="noStrike">
                <a:solidFill>
                  <a:schemeClr val="accent1"/>
                </a:solidFill>
                <a:latin typeface="Verdana"/>
                <a:ea typeface="Verdana"/>
                <a:cs typeface="Verdana"/>
                <a:sym typeface="Verdana"/>
              </a:rPr>
              <a:t>(weeks 25-38)</a:t>
            </a:r>
            <a:endParaRPr/>
          </a:p>
        </p:txBody>
      </p:sp>
      <p:sp>
        <p:nvSpPr>
          <p:cNvPr id="436" name="Google Shape;436;p36"/>
          <p:cNvSpPr txBox="1"/>
          <p:nvPr/>
        </p:nvSpPr>
        <p:spPr>
          <a:xfrm>
            <a:off x="1531563" y="5272102"/>
            <a:ext cx="6048600" cy="11820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Rapid brain development and organ maturation</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Fetus nearly doubles in size</a:t>
            </a:r>
            <a:endParaRPr b="0" i="0" sz="1800" u="none" cap="none" strike="noStrike">
              <a:solidFill>
                <a:schemeClr val="accent1"/>
              </a:solidFill>
              <a:latin typeface="Verdana"/>
              <a:ea typeface="Verdana"/>
              <a:cs typeface="Verdana"/>
              <a:sym typeface="Verdana"/>
            </a:endParaRPr>
          </a:p>
          <a:p>
            <a:pPr indent="-285750" lvl="0" marL="285750" marR="0" rtl="0" algn="l">
              <a:lnSpc>
                <a:spcPct val="100000"/>
              </a:lnSpc>
              <a:spcBef>
                <a:spcPts val="0"/>
              </a:spcBef>
              <a:spcAft>
                <a:spcPts val="0"/>
              </a:spcAft>
              <a:buClr>
                <a:schemeClr val="accent1"/>
              </a:buClr>
              <a:buSzPts val="1800"/>
              <a:buFont typeface="Verdana"/>
              <a:buChar char="o"/>
            </a:pPr>
            <a:r>
              <a:rPr lang="en-CA" sz="1800">
                <a:solidFill>
                  <a:schemeClr val="accent1"/>
                </a:solidFill>
                <a:latin typeface="Verdana"/>
                <a:ea typeface="Verdana"/>
                <a:cs typeface="Verdana"/>
                <a:sym typeface="Verdana"/>
              </a:rPr>
              <a:t>Month 7: fetus turns upside down and usually survives if born at this stage</a:t>
            </a:r>
            <a:endParaRPr sz="1800">
              <a:solidFill>
                <a:schemeClr val="accent1"/>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7"/>
          <p:cNvSpPr txBox="1"/>
          <p:nvPr>
            <p:ph type="title"/>
          </p:nvPr>
        </p:nvSpPr>
        <p:spPr>
          <a:xfrm>
            <a:off x="1043500" y="1027673"/>
            <a:ext cx="7024800" cy="98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From Conception to Birth</a:t>
            </a:r>
            <a:endParaRPr/>
          </a:p>
        </p:txBody>
      </p:sp>
      <p:pic>
        <p:nvPicPr>
          <p:cNvPr descr="This animation shows how a small miracle is born. From fertilization over pregnancy to birth, the video shows what happens in mom's belly." id="443" name="Google Shape;443;p37" title="Pregnancy - How a Wonder is Born! (Animation)">
            <a:hlinkClick r:id="rId3"/>
          </p:cNvPr>
          <p:cNvPicPr preferRelativeResize="0"/>
          <p:nvPr/>
        </p:nvPicPr>
        <p:blipFill>
          <a:blip r:embed="rId4">
            <a:alphaModFix/>
          </a:blip>
          <a:stretch>
            <a:fillRect/>
          </a:stretch>
        </p:blipFill>
        <p:spPr>
          <a:xfrm>
            <a:off x="1494625" y="2302085"/>
            <a:ext cx="5919125" cy="3329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0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8"/>
          <p:cNvSpPr txBox="1"/>
          <p:nvPr>
            <p:ph type="title"/>
          </p:nvPr>
        </p:nvSpPr>
        <p:spPr>
          <a:xfrm>
            <a:off x="1059628" y="697578"/>
            <a:ext cx="7024800" cy="685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sng" cap="none" strike="noStrike">
                <a:solidFill>
                  <a:schemeClr val="accent1"/>
                </a:solidFill>
                <a:latin typeface="Verdana"/>
                <a:ea typeface="Verdana"/>
                <a:cs typeface="Verdana"/>
                <a:sym typeface="Verdana"/>
              </a:rPr>
              <a:t>Parturition</a:t>
            </a:r>
            <a:r>
              <a:rPr b="1" i="0" lang="en-CA" sz="2800" u="none" cap="none" strike="noStrike">
                <a:solidFill>
                  <a:schemeClr val="accent1"/>
                </a:solidFill>
                <a:latin typeface="Verdana"/>
                <a:ea typeface="Verdana"/>
                <a:cs typeface="Verdana"/>
                <a:sym typeface="Verdana"/>
              </a:rPr>
              <a:t>: Delivery of the Baby</a:t>
            </a:r>
            <a:endParaRPr/>
          </a:p>
        </p:txBody>
      </p:sp>
      <p:sp>
        <p:nvSpPr>
          <p:cNvPr id="449" name="Google Shape;449;p38"/>
          <p:cNvSpPr txBox="1"/>
          <p:nvPr/>
        </p:nvSpPr>
        <p:spPr>
          <a:xfrm>
            <a:off x="1007550" y="1454101"/>
            <a:ext cx="7128900" cy="820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550"/>
              <a:buFont typeface="Verdana"/>
              <a:buNone/>
            </a:pPr>
            <a:r>
              <a:rPr b="0" i="0" lang="en-CA" sz="2000" u="none" cap="none" strike="noStrike">
                <a:solidFill>
                  <a:schemeClr val="accent1"/>
                </a:solidFill>
                <a:latin typeface="Verdana"/>
                <a:ea typeface="Verdana"/>
                <a:cs typeface="Verdana"/>
                <a:sym typeface="Verdana"/>
              </a:rPr>
              <a:t>The onset of labour, or uterine contractions, is regulated by </a:t>
            </a:r>
            <a:r>
              <a:rPr b="1" i="0" lang="en-CA" sz="2000" u="none" cap="none" strike="noStrike">
                <a:solidFill>
                  <a:schemeClr val="accent1"/>
                </a:solidFill>
                <a:latin typeface="Verdana"/>
                <a:ea typeface="Verdana"/>
                <a:cs typeface="Verdana"/>
                <a:sym typeface="Verdana"/>
              </a:rPr>
              <a:t>positive feedback mechanisms</a:t>
            </a:r>
            <a:r>
              <a:rPr b="0" i="0" lang="en-CA" sz="2000" u="none" cap="none" strike="noStrike">
                <a:solidFill>
                  <a:schemeClr val="accent1"/>
                </a:solidFill>
                <a:latin typeface="Verdana"/>
                <a:ea typeface="Verdana"/>
                <a:cs typeface="Verdana"/>
                <a:sym typeface="Verdana"/>
              </a:rPr>
              <a:t>… </a:t>
            </a:r>
            <a:endParaRPr sz="1200"/>
          </a:p>
          <a:p>
            <a:pPr indent="0" lvl="0" marL="0" marR="0" rtl="0" algn="l">
              <a:lnSpc>
                <a:spcPct val="100000"/>
              </a:lnSpc>
              <a:spcBef>
                <a:spcPts val="0"/>
              </a:spcBef>
              <a:spcAft>
                <a:spcPts val="0"/>
              </a:spcAft>
              <a:buClr>
                <a:srgbClr val="000000"/>
              </a:buClr>
              <a:buSzPts val="1800"/>
              <a:buFont typeface="Arial"/>
              <a:buNone/>
            </a:pPr>
            <a:r>
              <a:t/>
            </a:r>
            <a:endParaRPr b="0" i="0" sz="1600" u="none" cap="none" strike="noStrike">
              <a:solidFill>
                <a:schemeClr val="accent1"/>
              </a:solidFill>
              <a:latin typeface="Verdana"/>
              <a:ea typeface="Verdana"/>
              <a:cs typeface="Verdana"/>
              <a:sym typeface="Verdana"/>
            </a:endParaRPr>
          </a:p>
          <a:p>
            <a:pPr indent="-285750" lvl="0" marL="285750" marR="0" rtl="0" algn="l">
              <a:lnSpc>
                <a:spcPct val="100000"/>
              </a:lnSpc>
              <a:spcBef>
                <a:spcPts val="0"/>
              </a:spcBef>
              <a:spcAft>
                <a:spcPts val="0"/>
              </a:spcAft>
              <a:buClr>
                <a:schemeClr val="dk1"/>
              </a:buClr>
              <a:buSzPts val="1800"/>
              <a:buFont typeface="Courier New"/>
              <a:buNone/>
            </a:pPr>
            <a:r>
              <a:t/>
            </a:r>
            <a:endParaRPr b="0" i="0" sz="1600" u="none" cap="none" strike="noStrike">
              <a:solidFill>
                <a:schemeClr val="accent1"/>
              </a:solidFill>
              <a:latin typeface="Verdana"/>
              <a:ea typeface="Verdana"/>
              <a:cs typeface="Verdana"/>
              <a:sym typeface="Verdana"/>
            </a:endParaRPr>
          </a:p>
        </p:txBody>
      </p:sp>
      <p:sp>
        <p:nvSpPr>
          <p:cNvPr id="450" name="Google Shape;450;p38"/>
          <p:cNvSpPr/>
          <p:nvPr/>
        </p:nvSpPr>
        <p:spPr>
          <a:xfrm>
            <a:off x="713075" y="4991450"/>
            <a:ext cx="7854000" cy="10488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The cycle continues until birth occurs</a:t>
            </a:r>
            <a:endParaRPr/>
          </a:p>
          <a:p>
            <a:pPr indent="-285750" lvl="0" marL="285750" marR="0" rtl="0" algn="l">
              <a:lnSpc>
                <a:spcPct val="100000"/>
              </a:lnSpc>
              <a:spcBef>
                <a:spcPts val="100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Contractions are also aided by the production of </a:t>
            </a:r>
            <a:r>
              <a:rPr b="1" i="0" lang="en-CA" sz="1800" u="none" cap="none" strike="noStrike">
                <a:solidFill>
                  <a:schemeClr val="accent1"/>
                </a:solidFill>
                <a:latin typeface="Verdana"/>
                <a:ea typeface="Verdana"/>
                <a:cs typeface="Verdana"/>
                <a:sym typeface="Verdana"/>
              </a:rPr>
              <a:t>prostaglandins</a:t>
            </a:r>
            <a:r>
              <a:rPr b="0" i="0" lang="en-CA" sz="1800" u="none" cap="none" strike="noStrike">
                <a:solidFill>
                  <a:schemeClr val="accent1"/>
                </a:solidFill>
                <a:latin typeface="Verdana"/>
                <a:ea typeface="Verdana"/>
                <a:cs typeface="Verdana"/>
                <a:sym typeface="Verdana"/>
              </a:rPr>
              <a:t>, </a:t>
            </a:r>
            <a:r>
              <a:rPr lang="en-CA" sz="1800">
                <a:solidFill>
                  <a:schemeClr val="accent1"/>
                </a:solidFill>
                <a:latin typeface="Verdana"/>
                <a:ea typeface="Verdana"/>
                <a:cs typeface="Verdana"/>
                <a:sym typeface="Verdana"/>
              </a:rPr>
              <a:t>a group of hormones which act on the same tissue they are produced by</a:t>
            </a:r>
            <a:endParaRPr/>
          </a:p>
        </p:txBody>
      </p:sp>
      <p:pic>
        <p:nvPicPr>
          <p:cNvPr id="451" name="Google Shape;451;p38"/>
          <p:cNvPicPr preferRelativeResize="0"/>
          <p:nvPr/>
        </p:nvPicPr>
        <p:blipFill>
          <a:blip r:embed="rId3">
            <a:alphaModFix/>
          </a:blip>
          <a:stretch>
            <a:fillRect/>
          </a:stretch>
        </p:blipFill>
        <p:spPr>
          <a:xfrm>
            <a:off x="2052076" y="2135199"/>
            <a:ext cx="5406939" cy="2657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39"/>
          <p:cNvPicPr preferRelativeResize="0"/>
          <p:nvPr/>
        </p:nvPicPr>
        <p:blipFill>
          <a:blip r:embed="rId3">
            <a:alphaModFix/>
          </a:blip>
          <a:stretch>
            <a:fillRect/>
          </a:stretch>
        </p:blipFill>
        <p:spPr>
          <a:xfrm>
            <a:off x="4084750" y="1698801"/>
            <a:ext cx="4545563" cy="4382536"/>
          </a:xfrm>
          <a:prstGeom prst="rect">
            <a:avLst/>
          </a:prstGeom>
          <a:noFill/>
          <a:ln>
            <a:noFill/>
          </a:ln>
        </p:spPr>
      </p:pic>
      <p:pic>
        <p:nvPicPr>
          <p:cNvPr descr="Homeostasis Positive Feedback Control of Labor Pregnancy&#10;Thanks for watching :)" id="458" name="Google Shape;458;p39" title="Homeostasis Positive Feedback Control of Labor Pregnancy">
            <a:hlinkClick r:id="rId4"/>
          </p:cNvPr>
          <p:cNvPicPr preferRelativeResize="0"/>
          <p:nvPr/>
        </p:nvPicPr>
        <p:blipFill>
          <a:blip r:embed="rId5">
            <a:alphaModFix/>
          </a:blip>
          <a:stretch>
            <a:fillRect/>
          </a:stretch>
        </p:blipFill>
        <p:spPr>
          <a:xfrm>
            <a:off x="350451" y="3054176"/>
            <a:ext cx="3243750" cy="1824625"/>
          </a:xfrm>
          <a:prstGeom prst="rect">
            <a:avLst/>
          </a:prstGeom>
          <a:noFill/>
          <a:ln>
            <a:noFill/>
          </a:ln>
        </p:spPr>
      </p:pic>
      <p:sp>
        <p:nvSpPr>
          <p:cNvPr id="459" name="Google Shape;459;p39"/>
          <p:cNvSpPr txBox="1"/>
          <p:nvPr>
            <p:ph type="title"/>
          </p:nvPr>
        </p:nvSpPr>
        <p:spPr>
          <a:xfrm>
            <a:off x="1043500" y="1027672"/>
            <a:ext cx="7024800" cy="78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CA"/>
              <a:t>Parturition</a:t>
            </a:r>
            <a:endParaRPr b="1" sz="4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10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0"/>
          <p:cNvSpPr txBox="1"/>
          <p:nvPr>
            <p:ph type="title"/>
          </p:nvPr>
        </p:nvSpPr>
        <p:spPr>
          <a:xfrm>
            <a:off x="1043490" y="692695"/>
            <a:ext cx="7024744" cy="901903"/>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Hormonal control of lactation:</a:t>
            </a:r>
            <a:endParaRPr/>
          </a:p>
        </p:txBody>
      </p:sp>
      <p:sp>
        <p:nvSpPr>
          <p:cNvPr id="465" name="Google Shape;465;p40"/>
          <p:cNvSpPr txBox="1"/>
          <p:nvPr/>
        </p:nvSpPr>
        <p:spPr>
          <a:xfrm>
            <a:off x="1331640" y="1796038"/>
            <a:ext cx="6768751" cy="4801313"/>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During pregnancy, high levels of estrogen and progesterone suppress the production of milk </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Verdana"/>
              <a:ea typeface="Verdana"/>
              <a:cs typeface="Verdana"/>
              <a:sym typeface="Verdana"/>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After birth, the pituitary begins to secrete </a:t>
            </a:r>
            <a:r>
              <a:rPr b="1" i="1" lang="en-CA" sz="1800" u="none" cap="none" strike="noStrike">
                <a:solidFill>
                  <a:schemeClr val="accent1"/>
                </a:solidFill>
                <a:latin typeface="Verdana"/>
                <a:ea typeface="Verdana"/>
                <a:cs typeface="Verdana"/>
                <a:sym typeface="Verdana"/>
              </a:rPr>
              <a:t>pro</a:t>
            </a:r>
            <a:r>
              <a:rPr b="0" i="1" lang="en-CA" sz="1800" u="none" cap="none" strike="noStrike">
                <a:solidFill>
                  <a:schemeClr val="accent1"/>
                </a:solidFill>
                <a:latin typeface="Verdana"/>
                <a:ea typeface="Verdana"/>
                <a:cs typeface="Verdana"/>
                <a:sym typeface="Verdana"/>
              </a:rPr>
              <a:t>lactin</a:t>
            </a:r>
            <a:r>
              <a:rPr b="0" i="0" lang="en-CA" sz="1800" u="none" cap="none" strike="noStrike">
                <a:solidFill>
                  <a:schemeClr val="accent1"/>
                </a:solidFill>
                <a:latin typeface="Verdana"/>
                <a:ea typeface="Verdana"/>
                <a:cs typeface="Verdana"/>
                <a:sym typeface="Verdana"/>
              </a:rPr>
              <a:t>, which then stimulates milk </a:t>
            </a:r>
            <a:r>
              <a:rPr b="1" i="1" lang="en-CA" sz="1800" u="none" cap="none" strike="noStrike">
                <a:solidFill>
                  <a:schemeClr val="accent1"/>
                </a:solidFill>
                <a:latin typeface="Verdana"/>
                <a:ea typeface="Verdana"/>
                <a:cs typeface="Verdana"/>
                <a:sym typeface="Verdana"/>
              </a:rPr>
              <a:t>pro</a:t>
            </a:r>
            <a:r>
              <a:rPr b="0" i="0" lang="en-CA" sz="1800" u="none" cap="none" strike="noStrike">
                <a:solidFill>
                  <a:schemeClr val="accent1"/>
                </a:solidFill>
                <a:latin typeface="Verdana"/>
                <a:ea typeface="Verdana"/>
                <a:cs typeface="Verdana"/>
                <a:sym typeface="Verdana"/>
              </a:rPr>
              <a:t>duction</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Verdana"/>
              <a:ea typeface="Verdana"/>
              <a:cs typeface="Verdana"/>
              <a:sym typeface="Verdana"/>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The actual </a:t>
            </a:r>
            <a:r>
              <a:rPr b="1" i="0" lang="en-CA" sz="1800" u="none" cap="none" strike="noStrike">
                <a:solidFill>
                  <a:schemeClr val="accent1"/>
                </a:solidFill>
                <a:latin typeface="Verdana"/>
                <a:ea typeface="Verdana"/>
                <a:cs typeface="Verdana"/>
                <a:sym typeface="Verdana"/>
              </a:rPr>
              <a:t>release of milk from the breasts (lactation)</a:t>
            </a:r>
            <a:r>
              <a:rPr b="0" i="0" lang="en-CA" sz="1800" u="none" cap="none" strike="noStrike">
                <a:solidFill>
                  <a:schemeClr val="accent1"/>
                </a:solidFill>
                <a:latin typeface="Verdana"/>
                <a:ea typeface="Verdana"/>
                <a:cs typeface="Verdana"/>
                <a:sym typeface="Verdana"/>
              </a:rPr>
              <a:t> is mediated by </a:t>
            </a:r>
            <a:r>
              <a:rPr b="1" i="0" lang="en-CA" sz="1800" u="none" cap="none" strike="noStrike">
                <a:solidFill>
                  <a:schemeClr val="accent1"/>
                </a:solidFill>
                <a:latin typeface="Verdana"/>
                <a:ea typeface="Verdana"/>
                <a:cs typeface="Verdana"/>
                <a:sym typeface="Verdana"/>
              </a:rPr>
              <a:t>oxytocin</a:t>
            </a:r>
            <a:r>
              <a:rPr b="0" i="0" lang="en-CA" sz="1800" u="none" cap="none" strike="noStrike">
                <a:solidFill>
                  <a:schemeClr val="accent1"/>
                </a:solidFill>
                <a:latin typeface="Verdana"/>
                <a:ea typeface="Verdana"/>
                <a:cs typeface="Verdana"/>
                <a:sym typeface="Verdana"/>
              </a:rPr>
              <a:t>, which causes contractions within the mammary lobules; suckling motions send signals through nerve endings to the hypothalamus, which then stimulates the pituitary to release oxytocin. </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Verdana"/>
              <a:ea typeface="Verdana"/>
              <a:cs typeface="Verdana"/>
              <a:sym typeface="Verdana"/>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For some women, the sound of an infant crying can also stimulate the production of oxytocin. </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Verdana"/>
              <a:ea typeface="Verdana"/>
              <a:cs typeface="Verdana"/>
              <a:sym typeface="Verdan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1"/>
          <p:cNvSpPr txBox="1"/>
          <p:nvPr>
            <p:ph type="title"/>
          </p:nvPr>
        </p:nvSpPr>
        <p:spPr>
          <a:xfrm>
            <a:off x="1043500" y="1027672"/>
            <a:ext cx="7024800" cy="78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CA"/>
              <a:t>Lactation</a:t>
            </a:r>
            <a:endParaRPr b="1" sz="4100"/>
          </a:p>
        </p:txBody>
      </p:sp>
      <p:pic>
        <p:nvPicPr>
          <p:cNvPr id="472" name="Google Shape;472;p41"/>
          <p:cNvPicPr preferRelativeResize="0"/>
          <p:nvPr/>
        </p:nvPicPr>
        <p:blipFill>
          <a:blip r:embed="rId3">
            <a:alphaModFix/>
          </a:blip>
          <a:stretch>
            <a:fillRect/>
          </a:stretch>
        </p:blipFill>
        <p:spPr>
          <a:xfrm>
            <a:off x="142824" y="2032525"/>
            <a:ext cx="8480899" cy="4345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descr="We've reached the grand finale of our four part series on human reproduction: BABIES! Today Hank walks you through the stages of pregnancy, beginning with how a zygote develops into blastomeres to a morula to a blastocyst and finally to an embryo and a fetus. He also explains some of the amazing anatomical changes that take place in the mother, and the hormonal sequence of events that lead to labor.&#10;&#10;A&amp;P poster: http://store.dftba.com/products/crashcourse-anatomy-and-physiology-poster&#10;&#10;Table of Contents&#10;Stages of Pregnancy 1:23&#10;Zygote -- Blastomere 1:34&#10;Morula -- Blastocyst 2:12&#10;Embryo -- Fetus 5:07&#10;Anatomical Changes 5:30&#10;Hormonal Sequences Leading to Labor 7:12&#10;&#10;***&#10;&#10;Crash Course is on Patreon! You can support us directly by signing up at http://www.patreon.com/crashcourse&#10;&#10;Thanks to the following Patrons for their generous monthly contributions that help keep Crash Course free for everyone forever:&#10;&#10;Mark, Eric Kitchen, Jessica Wode, Jeffrey Thompson, Steve Marshall, Moritz Schmidt, Robert Kunz, Tim Curwick, Jason A Saslow, SR Foxley, Elliot Beter, Jacob Ash, Christian, Jan Schmid, Jirat, Christy Huddleston, Daniel Baulig, Chris Peters, Anna-Ester Volozh, Ian Dundore, Caleb Weeks&#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478" name="Google Shape;478;p42" title="Reproductive System, part 4 - Pregnancy &amp; Development: Crash Course A&amp;P #43">
            <a:hlinkClick r:id="rId3"/>
          </p:cNvPr>
          <p:cNvPicPr preferRelativeResize="0"/>
          <p:nvPr/>
        </p:nvPicPr>
        <p:blipFill>
          <a:blip r:embed="rId4">
            <a:alphaModFix/>
          </a:blip>
          <a:stretch>
            <a:fillRect/>
          </a:stretch>
        </p:blipFill>
        <p:spPr>
          <a:xfrm>
            <a:off x="2286000" y="1980250"/>
            <a:ext cx="4572000" cy="3429000"/>
          </a:xfrm>
          <a:prstGeom prst="rect">
            <a:avLst/>
          </a:prstGeom>
          <a:noFill/>
          <a:ln>
            <a:noFill/>
          </a:ln>
        </p:spPr>
      </p:pic>
      <p:sp>
        <p:nvSpPr>
          <p:cNvPr id="479" name="Google Shape;479;p42"/>
          <p:cNvSpPr txBox="1"/>
          <p:nvPr>
            <p:ph type="title"/>
          </p:nvPr>
        </p:nvSpPr>
        <p:spPr>
          <a:xfrm>
            <a:off x="1043500" y="1827307"/>
            <a:ext cx="7024800" cy="479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CA" sz="2800" u="none" cap="none" strike="noStrike">
                <a:solidFill>
                  <a:schemeClr val="accent1"/>
                </a:solidFill>
                <a:latin typeface="Verdana"/>
                <a:ea typeface="Verdana"/>
                <a:cs typeface="Verdana"/>
                <a:sym typeface="Verdana"/>
              </a:rPr>
              <a:t>Fetal Development Review</a:t>
            </a:r>
            <a:br>
              <a:rPr b="1" i="0" lang="en-CA" sz="2800" u="none" cap="none" strike="noStrike">
                <a:solidFill>
                  <a:schemeClr val="accent1"/>
                </a:solidFill>
                <a:latin typeface="Verdana"/>
                <a:ea typeface="Verdana"/>
                <a:cs typeface="Verdana"/>
                <a:sym typeface="Verdana"/>
              </a:rPr>
            </a:b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3"/>
          <p:cNvSpPr txBox="1"/>
          <p:nvPr>
            <p:ph type="title"/>
          </p:nvPr>
        </p:nvSpPr>
        <p:spPr>
          <a:xfrm>
            <a:off x="1043500" y="908726"/>
            <a:ext cx="7024800" cy="1368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3200" u="none" cap="none" strike="noStrike">
                <a:solidFill>
                  <a:schemeClr val="accent1"/>
                </a:solidFill>
                <a:latin typeface="Verdana"/>
                <a:ea typeface="Verdana"/>
                <a:cs typeface="Verdana"/>
                <a:sym typeface="Verdana"/>
              </a:rPr>
              <a:t>Sexually Transmitted Infections</a:t>
            </a:r>
            <a:endParaRPr b="1" i="0" sz="3200" u="none" cap="none" strike="noStrike">
              <a:solidFill>
                <a:schemeClr val="accent1"/>
              </a:solidFill>
              <a:latin typeface="Verdana"/>
              <a:ea typeface="Verdana"/>
              <a:cs typeface="Verdana"/>
              <a:sym typeface="Verdana"/>
            </a:endParaRPr>
          </a:p>
          <a:p>
            <a:pPr indent="0" lvl="0" marL="0" marR="0" rtl="0" algn="ctr">
              <a:lnSpc>
                <a:spcPct val="100000"/>
              </a:lnSpc>
              <a:spcBef>
                <a:spcPts val="0"/>
              </a:spcBef>
              <a:spcAft>
                <a:spcPts val="0"/>
              </a:spcAft>
              <a:buClr>
                <a:schemeClr val="accent1"/>
              </a:buClr>
              <a:buSzPts val="800"/>
              <a:buFont typeface="Verdana"/>
              <a:buNone/>
            </a:pPr>
            <a:r>
              <a:rPr lang="en-CA" sz="1300"/>
              <a:t>*you do not need to memorize individual STIs and their effects. You should be able to list some examples, and understand their implications for fertility and general health of both parents and fetus/baby</a:t>
            </a:r>
            <a:endParaRPr sz="1300"/>
          </a:p>
        </p:txBody>
      </p:sp>
      <p:sp>
        <p:nvSpPr>
          <p:cNvPr id="485" name="Google Shape;485;p43"/>
          <p:cNvSpPr txBox="1"/>
          <p:nvPr/>
        </p:nvSpPr>
        <p:spPr>
          <a:xfrm>
            <a:off x="899600" y="2453775"/>
            <a:ext cx="7272900" cy="7464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Caused by viruses, bacteria, or parasites</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Transmitted through sexual contact</a:t>
            </a:r>
            <a:endParaRPr/>
          </a:p>
          <a:p>
            <a:pPr indent="-285750" lvl="0" marL="285750" marR="0" rtl="0" algn="l">
              <a:lnSpc>
                <a:spcPct val="100000"/>
              </a:lnSpc>
              <a:spcBef>
                <a:spcPts val="0"/>
              </a:spcBef>
              <a:spcAft>
                <a:spcPts val="0"/>
              </a:spcAft>
              <a:buClr>
                <a:schemeClr val="accent1"/>
              </a:buClr>
              <a:buSzPts val="1800"/>
              <a:buFont typeface="Courier New"/>
              <a:buChar char="o"/>
            </a:pPr>
            <a:r>
              <a:rPr b="0" i="0" lang="en-CA" sz="1800" u="none" cap="none" strike="noStrike">
                <a:solidFill>
                  <a:schemeClr val="accent1"/>
                </a:solidFill>
                <a:latin typeface="Verdana"/>
                <a:ea typeface="Verdana"/>
                <a:cs typeface="Verdana"/>
                <a:sym typeface="Verdana"/>
              </a:rPr>
              <a:t>Impact general health as well as the ability to reproduce</a:t>
            </a:r>
            <a:endParaRPr/>
          </a:p>
        </p:txBody>
      </p:sp>
      <p:sp>
        <p:nvSpPr>
          <p:cNvPr id="486" name="Google Shape;486;p43"/>
          <p:cNvSpPr txBox="1"/>
          <p:nvPr/>
        </p:nvSpPr>
        <p:spPr>
          <a:xfrm>
            <a:off x="835275" y="3458600"/>
            <a:ext cx="7582500" cy="132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400"/>
              <a:buFont typeface="Verdana"/>
              <a:buNone/>
            </a:pPr>
            <a:r>
              <a:rPr b="0" i="0" lang="en-CA" sz="1600" u="none" cap="none" strike="noStrike">
                <a:solidFill>
                  <a:schemeClr val="accent1"/>
                </a:solidFill>
                <a:latin typeface="Verdana"/>
                <a:ea typeface="Verdana"/>
                <a:cs typeface="Verdana"/>
                <a:sym typeface="Verdana"/>
              </a:rPr>
              <a:t>HIV/AIDS	</a:t>
            </a:r>
            <a:r>
              <a:rPr b="0" i="0" lang="en-CA" sz="1600" u="none" cap="none" strike="noStrike">
                <a:solidFill>
                  <a:schemeClr val="accent1"/>
                </a:solidFill>
                <a:latin typeface="Verdana"/>
                <a:ea typeface="Verdana"/>
                <a:cs typeface="Verdana"/>
                <a:sym typeface="Verdana"/>
              </a:rPr>
              <a:t>	           </a:t>
            </a:r>
            <a:r>
              <a:rPr b="0" i="0" lang="en-CA" sz="1600" u="none" cap="none" strike="noStrike">
                <a:solidFill>
                  <a:schemeClr val="accent1"/>
                </a:solidFill>
                <a:latin typeface="Verdana"/>
                <a:ea typeface="Verdana"/>
                <a:cs typeface="Verdana"/>
                <a:sym typeface="Verdana"/>
              </a:rPr>
              <a:t>Hepatitis B		     Genital Herpes</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chemeClr val="accent1"/>
              </a:buClr>
              <a:buSzPts val="400"/>
              <a:buFont typeface="Verdana"/>
              <a:buNone/>
            </a:pPr>
            <a:r>
              <a:rPr b="0" i="0" lang="en-CA" sz="1600" u="none" cap="none" strike="noStrike">
                <a:solidFill>
                  <a:schemeClr val="accent1"/>
                </a:solidFill>
                <a:latin typeface="Verdana"/>
                <a:ea typeface="Verdana"/>
                <a:cs typeface="Verdana"/>
                <a:sym typeface="Verdana"/>
              </a:rPr>
              <a:t>Syphilis			           Chlamydia		     Gonorrhea</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chemeClr val="accent1"/>
              </a:buClr>
              <a:buSzPts val="400"/>
              <a:buFont typeface="Verdana"/>
              <a:buNone/>
            </a:pPr>
            <a:r>
              <a:rPr lang="en-CA" sz="1600">
                <a:solidFill>
                  <a:schemeClr val="accent1"/>
                </a:solidFill>
                <a:latin typeface="Verdana"/>
                <a:ea typeface="Verdana"/>
                <a:cs typeface="Verdana"/>
                <a:sym typeface="Verdana"/>
              </a:rPr>
              <a:t>     </a:t>
            </a:r>
            <a:r>
              <a:rPr b="0" i="0" lang="en-CA" sz="1600" u="none" cap="none" strike="noStrike">
                <a:solidFill>
                  <a:schemeClr val="accent1"/>
                </a:solidFill>
                <a:latin typeface="Verdana"/>
                <a:ea typeface="Verdana"/>
                <a:cs typeface="Verdana"/>
                <a:sym typeface="Verdana"/>
              </a:rPr>
              <a:t>Human </a:t>
            </a:r>
            <a:r>
              <a:rPr lang="en-CA" sz="1600">
                <a:solidFill>
                  <a:schemeClr val="accent1"/>
                </a:solidFill>
                <a:latin typeface="Verdana"/>
                <a:ea typeface="Verdana"/>
                <a:cs typeface="Verdana"/>
                <a:sym typeface="Verdana"/>
              </a:rPr>
              <a:t>Papillomavirus*</a:t>
            </a:r>
            <a:r>
              <a:rPr b="0" i="0" lang="en-CA" sz="1600" u="none" cap="none" strike="noStrike">
                <a:solidFill>
                  <a:schemeClr val="accent1"/>
                </a:solidFill>
                <a:latin typeface="Verdana"/>
                <a:ea typeface="Verdana"/>
                <a:cs typeface="Verdana"/>
                <a:sym typeface="Verdana"/>
              </a:rPr>
              <a:t>		     Pelvic Inflammatory Disease</a:t>
            </a:r>
            <a:endParaRPr/>
          </a:p>
        </p:txBody>
      </p:sp>
      <p:sp>
        <p:nvSpPr>
          <p:cNvPr id="487" name="Google Shape;487;p43"/>
          <p:cNvSpPr/>
          <p:nvPr/>
        </p:nvSpPr>
        <p:spPr>
          <a:xfrm>
            <a:off x="835275" y="3327625"/>
            <a:ext cx="7157700" cy="1539000"/>
          </a:xfrm>
          <a:prstGeom prst="rect">
            <a:avLst/>
          </a:prstGeom>
          <a:noFill/>
          <a:ln cap="flat" cmpd="sng" w="762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descr=".&#10;Chapters &#10;&#10;0:00 Introduction &#10;2:15 Causes of Sexually transmitted infections&#10;3:07 Symptoms of Sexually transmitted infections&#10;3:48 Diagnosis of Sexually transmitted infections&#10;4:35 Treatment of Sexually transmitted infections&#10;&#10;&#10;&#10;Sexually transmitted infections (STIs), also referred to as sexually transmitted diseases (STDs) and the older term venereal disease, are infections that are spread by sexual activity, especially vaginal intercourse, anal sex and oral sex.[1][5] STIs often do not initially cause symptoms,[1] which results in a risk of passing the infection on to others.[6][7] Symptoms and signs of STIs may include vaginal discharge, penile discharge, ulcers on or around the genitals, and pelvic pain.[1] Some STIs can cause infertility.[1]&#10;&#10;Bacterial STIs include chlamydia, gonorrhea, and syphilis.[1] Viral STIs include genital herpes, HIV/AIDS, and genital warts.[1] Parasitic STIs include trichomoniasis.[1] STI diagnostic tests are usually easily available in the developed world, but they are often unavailable in the developing world.[1]&#10;&#10;Some vaccinations may also decrease the risk of certain infections including hepatitis B and some types of HPV.[2] Safe sex practices, such as use of condoms, having a smaller number of sexual partners, and being in a relationship in which each person only has sex with the other also decreases the risk of STIs.[1][2] Comprehensive sex education may also be useful.[8] Most STIs are treatable and curable; of the most common infections, syphilis, gonorrhea, chlamydia, and trichomoniasis are curable, while HIV/AIDS is not curable.[1]&#10;&#10;In 2015, about 1.1 billion people had STIs other than HIV/AIDS.[3] About 500 million were infected with either syphilis, gonorrhea, chlamydia or trichomoniasis.[1] At least an additional 530 million people have genital herpes, and 290 million women have human papillomavirus.[1] STIs other than HIV resulted in 108,000 deaths in 2015.[4] In the United States, there were 19 million new cases of STIs in 2010.[9] Historical documentation of STIs dates back to at least the Ebers papyrus around 1550 BC and the Old Testament.[10] There is often shame and stigma associated with STIs.[1] The term sexually transmitted infection is generally preferred over sexually transmitted disease or venereal disease, as it includes those who do not have symptomatic disease.[11]" id="488" name="Google Shape;488;p43" title="Sexually Transmitted Diseases (STDs), Causes, Signs and Symptoms, Diagnosis and Treatment.">
            <a:hlinkClick r:id="rId3"/>
          </p:cNvPr>
          <p:cNvPicPr preferRelativeResize="0"/>
          <p:nvPr/>
        </p:nvPicPr>
        <p:blipFill>
          <a:blip r:embed="rId4">
            <a:alphaModFix/>
          </a:blip>
          <a:stretch>
            <a:fillRect/>
          </a:stretch>
        </p:blipFill>
        <p:spPr>
          <a:xfrm>
            <a:off x="5626100" y="5113350"/>
            <a:ext cx="2623900" cy="1475950"/>
          </a:xfrm>
          <a:prstGeom prst="rect">
            <a:avLst/>
          </a:prstGeom>
          <a:noFill/>
          <a:ln>
            <a:noFill/>
          </a:ln>
        </p:spPr>
      </p:pic>
      <p:pic>
        <p:nvPicPr>
          <p:cNvPr descr="Get informed on the causes and risks of human papillomavirus, HPV, and how to protect yourself from the infection.&#10;&#10;--&#10;&#10;At some point, most sexually active people will be infected with human papillomavirus, or HPV. There are over 100 types of HPV, and most of the time the body eliminates infections without symptoms— but some strains can pose serious health risks down the line. How can you protect yourself from HPV? Emma Bryce explains how the virus causes harm, who’s at risk and how to minimize those risks. &#10;&#10;Lesson by Emma Bryce, directed by Sharon Colman.&#10;&#10;Sign up for our newsletter: http://bit.ly/TEDEdNewsletter&#10;Support us on Patreon: http://bit.ly/TEDEdPatreon&#10;Follow us on Facebook: http://bit.ly/TEDEdFacebook&#10;Find us on Twitter: http://bit.ly/TEDEdTwitter&#10;Peep us on Instagram: http://bit.ly/TEDEdInstagram&#10;View full lesson: https://ed.ted.com/lessons/what-is-hpv-and-how-can-you-protect-yourself-from-it-emma-bryce&#10;&#10;Thank you so much to our patrons for your support! Without you this video would not be possible! Kyanta Yap, Ricardo Rendon Cepeda, Ana Maria, Benjamin &amp; Shannon Pinder, Ernest Chow, Bela Namyslik, Alan Froese, Anika Westburg, Nick Cozby, Shawar Khan, Michael Braun-Boghos, Rohan Gupta, Elizabeth Cruz, Yujing Jiang, Sarah Lundegaard, Vladimir Ivanchenko, Georg Gusewski, Rohit Lodha, Erica Zhuang, Aaron Henson, Julio Sabatés Rodríguez, Vivian &amp; Gilbert Lee, Fahad Nasser Chowdhury, ரமணன், John simmons, June Reiling, Khalid AlAli, Mickey Mikeworth, Nathaniel Lupus, Yansong Li, Chung Wah Gnapp, Amber Alexander, Robert Patrick, Pi Guanghui, Barbara Younker, Ai Ejima, Soma Ali, Roman Pinchuk, Raheem , Hector Quintanilla, Leen Mshasha, Mariana Ortega, Danny Romard, James Bruening, Ricki Daniel Marbun, Malcolm Callis, Sabrina Gonzalez, Al the Scottish Wildcat, سلطان الخليفي and Alexander Walls." id="489" name="Google Shape;489;p43" title="The most common STI in the world - Emma Bryce">
            <a:hlinkClick r:id="rId5"/>
          </p:cNvPr>
          <p:cNvPicPr preferRelativeResize="0"/>
          <p:nvPr/>
        </p:nvPicPr>
        <p:blipFill>
          <a:blip r:embed="rId6">
            <a:alphaModFix/>
          </a:blip>
          <a:stretch>
            <a:fillRect/>
          </a:stretch>
        </p:blipFill>
        <p:spPr>
          <a:xfrm>
            <a:off x="899600" y="4994075"/>
            <a:ext cx="3048000" cy="1714500"/>
          </a:xfrm>
          <a:prstGeom prst="rect">
            <a:avLst/>
          </a:prstGeom>
          <a:noFill/>
          <a:ln>
            <a:noFill/>
          </a:ln>
        </p:spPr>
      </p:pic>
      <p:cxnSp>
        <p:nvCxnSpPr>
          <p:cNvPr id="490" name="Google Shape;490;p43"/>
          <p:cNvCxnSpPr/>
          <p:nvPr/>
        </p:nvCxnSpPr>
        <p:spPr>
          <a:xfrm>
            <a:off x="1363200" y="4771250"/>
            <a:ext cx="136200" cy="503400"/>
          </a:xfrm>
          <a:prstGeom prst="straightConnector1">
            <a:avLst/>
          </a:prstGeom>
          <a:noFill/>
          <a:ln cap="flat" cmpd="sng" w="9525">
            <a:solidFill>
              <a:schemeClr val="dk2"/>
            </a:solidFill>
            <a:prstDash val="solid"/>
            <a:round/>
            <a:headEnd len="med" w="med" type="none"/>
            <a:tailEnd len="med" w="med" type="triangle"/>
          </a:ln>
        </p:spPr>
      </p:cxnSp>
      <p:cxnSp>
        <p:nvCxnSpPr>
          <p:cNvPr id="491" name="Google Shape;491;p43"/>
          <p:cNvCxnSpPr/>
          <p:nvPr/>
        </p:nvCxnSpPr>
        <p:spPr>
          <a:xfrm flipH="1">
            <a:off x="3455525" y="4771250"/>
            <a:ext cx="109800" cy="503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000"/>
                                        <p:tgtEl>
                                          <p:spTgt spid="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4"/>
          <p:cNvSpPr txBox="1"/>
          <p:nvPr>
            <p:ph type="title"/>
          </p:nvPr>
        </p:nvSpPr>
        <p:spPr>
          <a:xfrm>
            <a:off x="-58125" y="1426888"/>
            <a:ext cx="8330400" cy="626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i="0" lang="en-CA" sz="1800" u="none" cap="none" strike="noStrike">
                <a:solidFill>
                  <a:schemeClr val="accent1"/>
                </a:solidFill>
              </a:rPr>
              <a:t>The placenta does NOT filter out harmful substances…</a:t>
            </a:r>
            <a:endParaRPr b="1" sz="2600"/>
          </a:p>
        </p:txBody>
      </p:sp>
      <p:sp>
        <p:nvSpPr>
          <p:cNvPr id="497" name="Google Shape;497;p44"/>
          <p:cNvSpPr txBox="1"/>
          <p:nvPr/>
        </p:nvSpPr>
        <p:spPr>
          <a:xfrm>
            <a:off x="786475" y="2191875"/>
            <a:ext cx="7413900" cy="31665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800"/>
              <a:buFont typeface="Courier New"/>
              <a:buChar char="➢"/>
            </a:pPr>
            <a:r>
              <a:rPr b="0" i="0" lang="en-CA" sz="1800" u="none" cap="none" strike="noStrike">
                <a:solidFill>
                  <a:schemeClr val="accent1"/>
                </a:solidFill>
                <a:latin typeface="Verdana"/>
                <a:ea typeface="Verdana"/>
                <a:cs typeface="Verdana"/>
                <a:sym typeface="Verdana"/>
              </a:rPr>
              <a:t>Drugs, alcohol, etc. circulating in the mothers blood will pass through the placenta to the fetus’s blood</a:t>
            </a:r>
            <a:endParaRPr/>
          </a:p>
          <a:p>
            <a:pPr indent="-285750" lvl="0" marL="285750" marR="0" rtl="0" algn="l">
              <a:lnSpc>
                <a:spcPct val="100000"/>
              </a:lnSpc>
              <a:spcBef>
                <a:spcPts val="1000"/>
              </a:spcBef>
              <a:spcAft>
                <a:spcPts val="0"/>
              </a:spcAft>
              <a:buClr>
                <a:schemeClr val="accent1"/>
              </a:buClr>
              <a:buSzPts val="1800"/>
              <a:buFont typeface="Courier New"/>
              <a:buChar char="➢"/>
            </a:pPr>
            <a:r>
              <a:rPr b="0" i="0" lang="en-CA" sz="1800" u="none" cap="none" strike="noStrike">
                <a:solidFill>
                  <a:schemeClr val="accent1"/>
                </a:solidFill>
                <a:latin typeface="Verdana"/>
                <a:ea typeface="Verdana"/>
                <a:cs typeface="Verdana"/>
                <a:sym typeface="Verdana"/>
              </a:rPr>
              <a:t>Can have severe consequences (such as FASD, or Fetal Alcohol Spectrum Disorder)</a:t>
            </a:r>
            <a:endParaRPr/>
          </a:p>
          <a:p>
            <a:pPr indent="-285750" lvl="0" marL="285750" marR="0" rtl="0" algn="l">
              <a:lnSpc>
                <a:spcPct val="100000"/>
              </a:lnSpc>
              <a:spcBef>
                <a:spcPts val="1000"/>
              </a:spcBef>
              <a:spcAft>
                <a:spcPts val="0"/>
              </a:spcAft>
              <a:buClr>
                <a:schemeClr val="accent1"/>
              </a:buClr>
              <a:buSzPts val="1800"/>
              <a:buFont typeface="Courier New"/>
              <a:buChar char="➢"/>
            </a:pPr>
            <a:r>
              <a:rPr b="0" i="0" lang="en-CA" sz="1800" u="none" cap="none" strike="noStrike">
                <a:solidFill>
                  <a:schemeClr val="accent1"/>
                </a:solidFill>
                <a:latin typeface="Verdana"/>
                <a:ea typeface="Verdana"/>
                <a:cs typeface="Verdana"/>
                <a:sym typeface="Verdana"/>
              </a:rPr>
              <a:t>Such substances are referred to as </a:t>
            </a:r>
            <a:r>
              <a:rPr b="1" i="1" lang="en-CA" sz="1800" u="none" cap="none" strike="noStrike">
                <a:solidFill>
                  <a:schemeClr val="accent1"/>
                </a:solidFill>
                <a:latin typeface="Verdana"/>
                <a:ea typeface="Verdana"/>
                <a:cs typeface="Verdana"/>
                <a:sym typeface="Verdana"/>
              </a:rPr>
              <a:t>teratogens</a:t>
            </a:r>
            <a:endParaRPr b="1" i="1" sz="1800" u="none" cap="none" strike="noStrike">
              <a:solidFill>
                <a:schemeClr val="accent1"/>
              </a:solidFill>
              <a:latin typeface="Verdana"/>
              <a:ea typeface="Verdana"/>
              <a:cs typeface="Verdana"/>
              <a:sym typeface="Verdana"/>
            </a:endParaRPr>
          </a:p>
          <a:p>
            <a:pPr indent="-285750" lvl="0" marL="285750" marR="0" rtl="0" algn="l">
              <a:lnSpc>
                <a:spcPct val="100000"/>
              </a:lnSpc>
              <a:spcBef>
                <a:spcPts val="1000"/>
              </a:spcBef>
              <a:spcAft>
                <a:spcPts val="0"/>
              </a:spcAft>
              <a:buClr>
                <a:schemeClr val="accent1"/>
              </a:buClr>
              <a:buSzPts val="1800"/>
              <a:buFont typeface="Verdana"/>
              <a:buChar char="➢"/>
            </a:pPr>
            <a:r>
              <a:rPr lang="en-CA" sz="1800">
                <a:solidFill>
                  <a:schemeClr val="accent1"/>
                </a:solidFill>
                <a:latin typeface="Verdana"/>
                <a:ea typeface="Verdana"/>
                <a:cs typeface="Verdana"/>
                <a:sym typeface="Verdana"/>
              </a:rPr>
              <a:t>Teratogens are most harmful during the first trimester during when the neural tube and most organs develop</a:t>
            </a:r>
            <a:endParaRPr sz="1800">
              <a:solidFill>
                <a:schemeClr val="accent1"/>
              </a:solidFill>
              <a:latin typeface="Verdana"/>
              <a:ea typeface="Verdana"/>
              <a:cs typeface="Verdana"/>
              <a:sym typeface="Verdana"/>
            </a:endParaRPr>
          </a:p>
          <a:p>
            <a:pPr indent="-285750" lvl="0" marL="285750" marR="0" rtl="0" algn="l">
              <a:lnSpc>
                <a:spcPct val="100000"/>
              </a:lnSpc>
              <a:spcBef>
                <a:spcPts val="1000"/>
              </a:spcBef>
              <a:spcAft>
                <a:spcPts val="0"/>
              </a:spcAft>
              <a:buClr>
                <a:schemeClr val="accent1"/>
              </a:buClr>
              <a:buSzPts val="1800"/>
              <a:buFont typeface="Verdana"/>
              <a:buChar char="➢"/>
            </a:pPr>
            <a:r>
              <a:rPr lang="en-CA" sz="1800">
                <a:solidFill>
                  <a:schemeClr val="accent1"/>
                </a:solidFill>
                <a:latin typeface="Verdana"/>
                <a:ea typeface="Verdana"/>
                <a:cs typeface="Verdana"/>
                <a:sym typeface="Verdana"/>
              </a:rPr>
              <a:t>Why would the developing blastocyst not be very </a:t>
            </a:r>
            <a:r>
              <a:rPr lang="en-CA" sz="1800">
                <a:solidFill>
                  <a:schemeClr val="accent1"/>
                </a:solidFill>
                <a:latin typeface="Verdana"/>
                <a:ea typeface="Verdana"/>
                <a:cs typeface="Verdana"/>
                <a:sym typeface="Verdana"/>
              </a:rPr>
              <a:t>sensitive</a:t>
            </a:r>
            <a:r>
              <a:rPr lang="en-CA" sz="1800">
                <a:solidFill>
                  <a:schemeClr val="accent1"/>
                </a:solidFill>
                <a:latin typeface="Verdana"/>
                <a:ea typeface="Verdana"/>
                <a:cs typeface="Verdana"/>
                <a:sym typeface="Verdana"/>
              </a:rPr>
              <a:t> to teratogens during the first 10-14 days after fertilization?</a:t>
            </a:r>
            <a:endParaRPr sz="1800">
              <a:solidFill>
                <a:schemeClr val="accent1"/>
              </a:solidFill>
              <a:latin typeface="Verdana"/>
              <a:ea typeface="Verdana"/>
              <a:cs typeface="Verdana"/>
              <a:sym typeface="Verdana"/>
            </a:endParaRPr>
          </a:p>
          <a:p>
            <a:pPr indent="-342900" lvl="1" marL="914400" rtl="0" algn="l">
              <a:spcBef>
                <a:spcPts val="1000"/>
              </a:spcBef>
              <a:spcAft>
                <a:spcPts val="0"/>
              </a:spcAft>
              <a:buClr>
                <a:schemeClr val="accent1"/>
              </a:buClr>
              <a:buSzPts val="1800"/>
              <a:buFont typeface="Verdana"/>
              <a:buChar char="○"/>
            </a:pPr>
            <a:r>
              <a:rPr lang="en-CA" sz="1600">
                <a:solidFill>
                  <a:schemeClr val="dk2"/>
                </a:solidFill>
                <a:latin typeface="Verdana"/>
                <a:ea typeface="Verdana"/>
                <a:cs typeface="Verdana"/>
                <a:sym typeface="Verdana"/>
              </a:rPr>
              <a:t>The cells in the blastocyst have not begun to differentiate yet so if one cell is damaged, a different one can easily take over</a:t>
            </a:r>
            <a:endParaRPr sz="1600">
              <a:solidFill>
                <a:schemeClr val="dk2"/>
              </a:solidFill>
              <a:latin typeface="Verdana"/>
              <a:ea typeface="Verdana"/>
              <a:cs typeface="Verdana"/>
              <a:sym typeface="Verdana"/>
            </a:endParaRPr>
          </a:p>
          <a:p>
            <a:pPr indent="0" lvl="0" marL="0" marR="0" rtl="0" algn="l">
              <a:lnSpc>
                <a:spcPct val="100000"/>
              </a:lnSpc>
              <a:spcBef>
                <a:spcPts val="0"/>
              </a:spcBef>
              <a:spcAft>
                <a:spcPts val="1000"/>
              </a:spcAft>
              <a:buNone/>
            </a:pPr>
            <a:r>
              <a:t/>
            </a:r>
            <a:endParaRPr sz="1800">
              <a:solidFill>
                <a:schemeClr val="accent1"/>
              </a:solidFill>
              <a:latin typeface="Verdana"/>
              <a:ea typeface="Verdana"/>
              <a:cs typeface="Verdana"/>
              <a:sym typeface="Verdana"/>
            </a:endParaRPr>
          </a:p>
        </p:txBody>
      </p:sp>
      <p:sp>
        <p:nvSpPr>
          <p:cNvPr id="498" name="Google Shape;498;p44"/>
          <p:cNvSpPr/>
          <p:nvPr/>
        </p:nvSpPr>
        <p:spPr>
          <a:xfrm>
            <a:off x="681750" y="2123725"/>
            <a:ext cx="7812000" cy="3906000"/>
          </a:xfrm>
          <a:prstGeom prst="rect">
            <a:avLst/>
          </a:prstGeom>
          <a:noFill/>
          <a:ln cap="flat" cmpd="sng" w="762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grpSp>
        <p:nvGrpSpPr>
          <p:cNvPr id="499" name="Google Shape;499;p44"/>
          <p:cNvGrpSpPr/>
          <p:nvPr/>
        </p:nvGrpSpPr>
        <p:grpSpPr>
          <a:xfrm>
            <a:off x="4718950" y="140100"/>
            <a:ext cx="4110600" cy="1280199"/>
            <a:chOff x="4718954" y="52447"/>
            <a:chExt cx="4110600" cy="1359600"/>
          </a:xfrm>
        </p:grpSpPr>
        <p:sp>
          <p:nvSpPr>
            <p:cNvPr id="500" name="Google Shape;500;p44"/>
            <p:cNvSpPr txBox="1"/>
            <p:nvPr/>
          </p:nvSpPr>
          <p:spPr>
            <a:xfrm>
              <a:off x="4718954" y="52447"/>
              <a:ext cx="4110600" cy="1359600"/>
            </a:xfrm>
            <a:prstGeom prst="rect">
              <a:avLst/>
            </a:prstGeom>
            <a:solidFill>
              <a:srgbClr val="CDCDC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800">
                  <a:solidFill>
                    <a:schemeClr val="dk1"/>
                  </a:solidFill>
                  <a:latin typeface="Verdana"/>
                  <a:ea typeface="Verdana"/>
                  <a:cs typeface="Verdana"/>
                  <a:sym typeface="Verdana"/>
                </a:rPr>
                <a:t>You should be able to describe some examples teratogens and their impact on embryonic or fetal development. </a:t>
              </a:r>
              <a:endParaRPr sz="1800">
                <a:solidFill>
                  <a:schemeClr val="dk1"/>
                </a:solidFill>
                <a:latin typeface="Verdana"/>
                <a:ea typeface="Verdana"/>
                <a:cs typeface="Verdana"/>
                <a:sym typeface="Verdana"/>
              </a:endParaRPr>
            </a:p>
          </p:txBody>
        </p:sp>
        <p:sp>
          <p:nvSpPr>
            <p:cNvPr id="501" name="Google Shape;501;p44"/>
            <p:cNvSpPr/>
            <p:nvPr/>
          </p:nvSpPr>
          <p:spPr>
            <a:xfrm>
              <a:off x="8558121" y="122497"/>
              <a:ext cx="185651" cy="1219506"/>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CC0000"/>
                  </a:solidFill>
                  <a:latin typeface="Arial"/>
                </a:rPr>
                <a:t>!</a:t>
              </a:r>
            </a:p>
          </p:txBody>
        </p:sp>
      </p:grpSp>
      <p:sp>
        <p:nvSpPr>
          <p:cNvPr id="502" name="Google Shape;502;p44"/>
          <p:cNvSpPr txBox="1"/>
          <p:nvPr>
            <p:ph type="title"/>
          </p:nvPr>
        </p:nvSpPr>
        <p:spPr>
          <a:xfrm>
            <a:off x="492850" y="212750"/>
            <a:ext cx="4110600" cy="10029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lang="en-CA" sz="3900"/>
              <a:t>Teratogens</a:t>
            </a:r>
            <a:endParaRPr b="1" sz="47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5"/>
          <p:cNvSpPr txBox="1"/>
          <p:nvPr>
            <p:ph type="title"/>
          </p:nvPr>
        </p:nvSpPr>
        <p:spPr>
          <a:xfrm>
            <a:off x="1043500" y="1126830"/>
            <a:ext cx="7024800" cy="624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800"/>
              <a:buFont typeface="Verdana"/>
              <a:buNone/>
            </a:pPr>
            <a:r>
              <a:rPr b="1" lang="en-CA" sz="3200"/>
              <a:t>Sex Determination in Humans</a:t>
            </a:r>
            <a:endParaRPr/>
          </a:p>
        </p:txBody>
      </p:sp>
      <p:sp>
        <p:nvSpPr>
          <p:cNvPr id="508" name="Google Shape;508;p45"/>
          <p:cNvSpPr txBox="1"/>
          <p:nvPr/>
        </p:nvSpPr>
        <p:spPr>
          <a:xfrm>
            <a:off x="545276" y="2132850"/>
            <a:ext cx="7987200" cy="3693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accent1"/>
              </a:buClr>
              <a:buSzPts val="1800"/>
              <a:buFont typeface="Verdana"/>
              <a:buChar char="➢"/>
            </a:pPr>
            <a:r>
              <a:rPr b="1" i="1" lang="en-CA" sz="1800" u="none" cap="none" strike="noStrike">
                <a:solidFill>
                  <a:schemeClr val="accent1"/>
                </a:solidFill>
                <a:latin typeface="Verdana"/>
                <a:ea typeface="Verdana"/>
                <a:cs typeface="Verdana"/>
                <a:sym typeface="Verdana"/>
              </a:rPr>
              <a:t>Chromosomal (or genetic) sex</a:t>
            </a:r>
            <a:r>
              <a:rPr b="0" i="0" lang="en-CA" sz="1800" u="none" cap="none" strike="noStrike">
                <a:solidFill>
                  <a:schemeClr val="accent1"/>
                </a:solidFill>
                <a:latin typeface="Verdana"/>
                <a:ea typeface="Verdana"/>
                <a:cs typeface="Verdana"/>
                <a:sym typeface="Verdana"/>
              </a:rPr>
              <a:t> is determined at fertilizatio</a:t>
            </a:r>
            <a:r>
              <a:rPr lang="en-CA" sz="1800">
                <a:solidFill>
                  <a:schemeClr val="accent1"/>
                </a:solidFill>
                <a:latin typeface="Verdana"/>
                <a:ea typeface="Verdana"/>
                <a:cs typeface="Verdana"/>
                <a:sym typeface="Verdana"/>
              </a:rPr>
              <a:t>n</a:t>
            </a:r>
            <a:endParaRPr sz="1800">
              <a:solidFill>
                <a:schemeClr val="accent1"/>
              </a:solidFill>
              <a:latin typeface="Verdana"/>
              <a:ea typeface="Verdana"/>
              <a:cs typeface="Verdana"/>
              <a:sym typeface="Verdana"/>
            </a:endParaRPr>
          </a:p>
          <a:p>
            <a:pPr indent="-342900" lvl="1" marL="914400" marR="0" rtl="0" algn="l">
              <a:lnSpc>
                <a:spcPct val="100000"/>
              </a:lnSpc>
              <a:spcBef>
                <a:spcPts val="0"/>
              </a:spcBef>
              <a:spcAft>
                <a:spcPts val="0"/>
              </a:spcAft>
              <a:buClr>
                <a:schemeClr val="accent1"/>
              </a:buClr>
              <a:buSzPts val="1800"/>
              <a:buFont typeface="Verdana"/>
              <a:buChar char="○"/>
            </a:pPr>
            <a:r>
              <a:rPr lang="en-CA" sz="1800">
                <a:solidFill>
                  <a:schemeClr val="accent1"/>
                </a:solidFill>
                <a:latin typeface="Verdana"/>
                <a:ea typeface="Verdana"/>
                <a:cs typeface="Verdana"/>
                <a:sym typeface="Verdana"/>
              </a:rPr>
              <a:t>XX → Female</a:t>
            </a:r>
            <a:endParaRPr sz="1800">
              <a:solidFill>
                <a:schemeClr val="accent1"/>
              </a:solidFill>
              <a:latin typeface="Verdana"/>
              <a:ea typeface="Verdana"/>
              <a:cs typeface="Verdana"/>
              <a:sym typeface="Verdana"/>
            </a:endParaRPr>
          </a:p>
          <a:p>
            <a:pPr indent="-342900" lvl="1" marL="914400" marR="0" rtl="0" algn="l">
              <a:lnSpc>
                <a:spcPct val="100000"/>
              </a:lnSpc>
              <a:spcBef>
                <a:spcPts val="0"/>
              </a:spcBef>
              <a:spcAft>
                <a:spcPts val="0"/>
              </a:spcAft>
              <a:buClr>
                <a:schemeClr val="accent1"/>
              </a:buClr>
              <a:buSzPts val="1800"/>
              <a:buFont typeface="Verdana"/>
              <a:buChar char="○"/>
            </a:pPr>
            <a:r>
              <a:rPr lang="en-CA" sz="1800">
                <a:solidFill>
                  <a:schemeClr val="accent1"/>
                </a:solidFill>
                <a:latin typeface="Verdana"/>
                <a:ea typeface="Verdana"/>
                <a:cs typeface="Verdana"/>
                <a:sym typeface="Verdana"/>
              </a:rPr>
              <a:t>XY → Male</a:t>
            </a:r>
            <a:endParaRPr sz="1800">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chemeClr val="accent1"/>
              </a:buClr>
              <a:buSzPts val="450"/>
              <a:buFont typeface="Verdana"/>
              <a:buNone/>
            </a:pPr>
            <a:r>
              <a:t/>
            </a:r>
            <a:endParaRPr sz="1800">
              <a:solidFill>
                <a:schemeClr val="accent1"/>
              </a:solidFill>
              <a:latin typeface="Verdana"/>
              <a:ea typeface="Verdana"/>
              <a:cs typeface="Verdana"/>
              <a:sym typeface="Verdana"/>
            </a:endParaRPr>
          </a:p>
        </p:txBody>
      </p:sp>
      <p:pic>
        <p:nvPicPr>
          <p:cNvPr id="509" name="Google Shape;509;p45"/>
          <p:cNvPicPr preferRelativeResize="0"/>
          <p:nvPr/>
        </p:nvPicPr>
        <p:blipFill rotWithShape="1">
          <a:blip r:embed="rId3">
            <a:alphaModFix/>
          </a:blip>
          <a:srcRect b="0" l="0" r="0" t="0"/>
          <a:stretch/>
        </p:blipFill>
        <p:spPr>
          <a:xfrm>
            <a:off x="2147675" y="3114625"/>
            <a:ext cx="5136703" cy="3326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46"/>
          <p:cNvSpPr txBox="1"/>
          <p:nvPr>
            <p:ph type="title"/>
          </p:nvPr>
        </p:nvSpPr>
        <p:spPr>
          <a:xfrm>
            <a:off x="351272" y="675925"/>
            <a:ext cx="5154000"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500"/>
              <a:buFont typeface="Verdana"/>
              <a:buNone/>
            </a:pPr>
            <a:r>
              <a:rPr b="0" i="0" lang="en-CA" sz="2000" u="none" cap="none" strike="noStrike">
                <a:solidFill>
                  <a:schemeClr val="accent1"/>
                </a:solidFill>
                <a:latin typeface="Verdana"/>
                <a:ea typeface="Verdana"/>
                <a:cs typeface="Verdana"/>
                <a:sym typeface="Verdana"/>
              </a:rPr>
              <a:t>However, </a:t>
            </a:r>
            <a:r>
              <a:rPr b="1" i="1" lang="en-CA" sz="2000" u="none" cap="none" strike="noStrike">
                <a:solidFill>
                  <a:schemeClr val="accent1"/>
                </a:solidFill>
              </a:rPr>
              <a:t>anatomic sex</a:t>
            </a:r>
            <a:r>
              <a:rPr b="0" i="0" lang="en-CA" sz="2000" u="none" cap="none" strike="noStrike">
                <a:solidFill>
                  <a:schemeClr val="accent1"/>
                </a:solidFill>
                <a:latin typeface="Verdana"/>
                <a:ea typeface="Verdana"/>
                <a:cs typeface="Verdana"/>
                <a:sym typeface="Verdana"/>
              </a:rPr>
              <a:t> is not determined until about the seventh week of development:</a:t>
            </a:r>
            <a:endParaRPr/>
          </a:p>
        </p:txBody>
      </p:sp>
      <p:pic>
        <p:nvPicPr>
          <p:cNvPr id="515" name="Google Shape;515;p46"/>
          <p:cNvPicPr preferRelativeResize="0"/>
          <p:nvPr/>
        </p:nvPicPr>
        <p:blipFill rotWithShape="1">
          <a:blip r:embed="rId3">
            <a:alphaModFix/>
          </a:blip>
          <a:srcRect b="0" l="0" r="0" t="0"/>
          <a:stretch/>
        </p:blipFill>
        <p:spPr>
          <a:xfrm>
            <a:off x="1166305" y="2060848"/>
            <a:ext cx="3744415" cy="3975913"/>
          </a:xfrm>
          <a:prstGeom prst="rect">
            <a:avLst/>
          </a:prstGeom>
          <a:noFill/>
          <a:ln>
            <a:noFill/>
          </a:ln>
        </p:spPr>
      </p:pic>
      <p:sp>
        <p:nvSpPr>
          <p:cNvPr id="516" name="Google Shape;516;p46"/>
          <p:cNvSpPr/>
          <p:nvPr/>
        </p:nvSpPr>
        <p:spPr>
          <a:xfrm>
            <a:off x="1022290" y="1984969"/>
            <a:ext cx="3981757" cy="4108325"/>
          </a:xfrm>
          <a:prstGeom prst="rect">
            <a:avLst/>
          </a:prstGeom>
          <a:noFill/>
          <a:ln cap="flat" cmpd="sng" w="381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517" name="Google Shape;517;p46"/>
          <p:cNvSpPr txBox="1"/>
          <p:nvPr/>
        </p:nvSpPr>
        <p:spPr>
          <a:xfrm>
            <a:off x="5004050" y="2023200"/>
            <a:ext cx="3405900" cy="40320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At week seven, genes contained within the short arm of the </a:t>
            </a:r>
            <a:r>
              <a:rPr b="1" i="0" lang="en-CA" sz="1600" u="none" cap="none" strike="noStrike">
                <a:solidFill>
                  <a:schemeClr val="dk1"/>
                </a:solidFill>
                <a:latin typeface="Verdana"/>
                <a:ea typeface="Verdana"/>
                <a:cs typeface="Verdana"/>
                <a:sym typeface="Verdana"/>
              </a:rPr>
              <a:t>Y chromosome encode the secretion of testosterone</a:t>
            </a:r>
            <a:r>
              <a:rPr b="0" i="0" lang="en-CA" sz="1600" u="none" cap="none" strike="noStrike">
                <a:solidFill>
                  <a:schemeClr val="accent1"/>
                </a:solidFill>
                <a:latin typeface="Verdana"/>
                <a:ea typeface="Verdana"/>
                <a:cs typeface="Verdana"/>
                <a:sym typeface="Verdana"/>
              </a:rPr>
              <a:t>, which then causes the embryo to begin differentiating.</a:t>
            </a:r>
            <a:endParaRPr/>
          </a:p>
          <a:p>
            <a:pPr indent="-285750" lvl="0" marL="285750" marR="0" rtl="0" algn="l">
              <a:lnSpc>
                <a:spcPct val="100000"/>
              </a:lnSpc>
              <a:spcBef>
                <a:spcPts val="1000"/>
              </a:spcBef>
              <a:spcAft>
                <a:spcPts val="1000"/>
              </a:spcAft>
              <a:buClr>
                <a:schemeClr val="accent1"/>
              </a:buClr>
              <a:buSzPts val="1600"/>
              <a:buFont typeface="Courier New"/>
              <a:buChar char="o"/>
            </a:pPr>
            <a:r>
              <a:rPr b="0" i="0" lang="en-CA" sz="1600" u="none" cap="none" strike="noStrike">
                <a:solidFill>
                  <a:schemeClr val="accent1"/>
                </a:solidFill>
                <a:latin typeface="Verdana"/>
                <a:ea typeface="Verdana"/>
                <a:cs typeface="Verdana"/>
                <a:sym typeface="Verdana"/>
              </a:rPr>
              <a:t>The absence of this gene means that no testosterone is produced. As a result, the embryo will continue developing as a female. </a:t>
            </a:r>
            <a:endParaRPr/>
          </a:p>
        </p:txBody>
      </p:sp>
      <p:pic>
        <p:nvPicPr>
          <p:cNvPr descr="“Human Physiology” is a free online course on Janux that is open to anyone. Learn more at http://janux.ou.edu.&#10;&#10;Created by the University of Oklahoma, Janux is an interactive learning community that gives learners direct connections to courses, education resources, faculty, and each other. Janux courses are freely available or may be taken for college credit by enrolled OU students.&#10;&#10;Dr. Heather R. Ketchum is an Associate Professor of Biology.&#10;&#10;Video produced by NextThought (http://nextthought.com).&#10;&#10;Copyright © 2000-2014 The Board of Regents of the University of Oklahoma, All Rights Reserved." id="518" name="Google Shape;518;p46" title="Human Physiology - Reproduction: Sex Determination and Differentiation">
            <a:hlinkClick r:id="rId4"/>
          </p:cNvPr>
          <p:cNvPicPr preferRelativeResize="0"/>
          <p:nvPr/>
        </p:nvPicPr>
        <p:blipFill>
          <a:blip r:embed="rId5">
            <a:alphaModFix/>
          </a:blip>
          <a:stretch>
            <a:fillRect/>
          </a:stretch>
        </p:blipFill>
        <p:spPr>
          <a:xfrm>
            <a:off x="5952675" y="436700"/>
            <a:ext cx="2457275" cy="1382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pic>
        <p:nvPicPr>
          <p:cNvPr descr="http://www.wallsave.com/wallpapers/1280x1024/sign/133939/sign-male-and-female-relationship-133939.jpg" id="523" name="Google Shape;523;p47"/>
          <p:cNvPicPr preferRelativeResize="0"/>
          <p:nvPr/>
        </p:nvPicPr>
        <p:blipFill rotWithShape="1">
          <a:blip r:embed="rId3">
            <a:alphaModFix/>
          </a:blip>
          <a:srcRect b="7243" l="0" r="0" t="5193"/>
          <a:stretch/>
        </p:blipFill>
        <p:spPr>
          <a:xfrm>
            <a:off x="1474221" y="302801"/>
            <a:ext cx="6195562" cy="4339986"/>
          </a:xfrm>
          <a:prstGeom prst="rect">
            <a:avLst/>
          </a:prstGeom>
          <a:noFill/>
          <a:ln>
            <a:noFill/>
          </a:ln>
        </p:spPr>
      </p:pic>
      <p:sp>
        <p:nvSpPr>
          <p:cNvPr id="524" name="Google Shape;524;p47"/>
          <p:cNvSpPr txBox="1"/>
          <p:nvPr>
            <p:ph type="title"/>
          </p:nvPr>
        </p:nvSpPr>
        <p:spPr>
          <a:xfrm>
            <a:off x="1059633" y="1951156"/>
            <a:ext cx="7024800"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50"/>
              <a:buFont typeface="Verdana"/>
              <a:buNone/>
            </a:pPr>
            <a:r>
              <a:rPr b="1" i="1" lang="en-CA" sz="2600" u="none" cap="none" strike="noStrike">
                <a:solidFill>
                  <a:srgbClr val="000000"/>
                </a:solidFill>
                <a:latin typeface="Verdana"/>
                <a:ea typeface="Verdana"/>
                <a:cs typeface="Verdana"/>
                <a:sym typeface="Verdana"/>
              </a:rPr>
              <a:t>Is it possible for a person to be genetically male but anatomically female? Vice versa?  </a:t>
            </a:r>
            <a:endParaRPr>
              <a:solidFill>
                <a:srgbClr val="000000"/>
              </a:solidFill>
            </a:endParaRPr>
          </a:p>
        </p:txBody>
      </p:sp>
      <p:pic>
        <p:nvPicPr>
          <p:cNvPr descr="From something as small and complex as a chromosome to something as seemingly simple as the weather, sex determination systems vary significantly across the animal kingdom. Biologist and teacher Aaron Reedy shows us the amazing differences between species when it comes to determination of gender.&#10;&#10;Lesson by Aaron Reedy, animation by BuzzCo (http://buzzzco.com)." id="525" name="Google Shape;525;p47" title="Sex Determination: More Complicated Than You Thought">
            <a:hlinkClick r:id="rId4"/>
          </p:cNvPr>
          <p:cNvPicPr preferRelativeResize="0"/>
          <p:nvPr/>
        </p:nvPicPr>
        <p:blipFill>
          <a:blip r:embed="rId5">
            <a:alphaModFix/>
          </a:blip>
          <a:stretch>
            <a:fillRect/>
          </a:stretch>
        </p:blipFill>
        <p:spPr>
          <a:xfrm>
            <a:off x="5303475" y="4527450"/>
            <a:ext cx="3048000" cy="1714500"/>
          </a:xfrm>
          <a:prstGeom prst="rect">
            <a:avLst/>
          </a:prstGeom>
          <a:noFill/>
          <a:ln>
            <a:noFill/>
          </a:ln>
        </p:spPr>
      </p:pic>
      <p:pic>
        <p:nvPicPr>
          <p:cNvPr descr="We're taught that chromosomes define biological sex: XX = female, and XY = male.  However it's not quite that straightforward.  Hank Green hosts as we explain how science proves that biological sex is a spectrum. &#10;&#10;SciShow has a spinoff podcast! It's called SciShow Tangents. Check it out at http://www.scishowtangents.org&#10;----------&#10;Support SciShow by becoming a patron on Patreon: https://www.patreon.com/scishow&#10;----------&#10;Huge thanks go to the following Patreon supporters for helping us keep SciShow free for everyone forever:&#10;&#10;Eric Jensen, Matt Curls, Sam Buck, Christopher R Boucher, Avi Yashchin, Adam Brainard, Greg, Alex Hackman, Sam Lutfi, D.A. Noe, Piya Shedden, Scott Satovsky Jr, Charles Southerland, Patrick D. Ashmore, charles george, Kevin Bealer, Chris Peters&#10;----------&#10;Looking for SciShow elsewhere on the internet?&#10;Facebook: http://www.facebook.com/scishow&#10;Twitter: http://www.twitter.com/scishow&#10;Tumblr: http://scishow.tumblr.com&#10;Instagram: http://instagram.com/thescishow&#10;----------&#10;Sources:&#10;https://www.ncbi.nlm.nih.gov/pmc/articles/PMC5479330/&#10;http://www.isna.org/faq/what_is_intersex&#10;https://www.hrw.org/report/2017/07/25/i-want-be-nature-made-me/medically-unnecessary-surgeries-intersex-children-us&#10;https://www.scientificamerican.com/article/the-spectrum-of-sex-development-eric-vilain-and-the-intersex-controversy/&#10;https://ghr.nlm.nih.gov/gene/SRY#conditions&#10;https://www.who.int/genomics/gender/en/index1.html&#10;https://www.wired.com/story/trumps-plan-to-redefine-gender-makes-no-scientific-sense/&#10;https://www.nature.com/news/sex-redefined-1.16943&#10;https://www.intersexequality.com/how-common-is-intersex-in-humans/&#10;http://www.isna.org/faq/ten_myths/rare&#10;https://onlinelibrary.wiley.com/doi/pdf/10.1111/j.1365-2265.2008.03392.x&#10;https://my.clevelandclinic.org/health/diseases/16324-disorders-of-sex-differentiation&#10;https://www.sciencedirect.com/science/article/abs/pii/S1521690X07001054&#10;https://www.med.umich.edu/yourchild/topics/dsd.htm&#10;https://blogs.scientificamerican.com/sa-visual/visualizing-sex-as-a-spectrum/&#10;http://blogs.discovermagazine.com/crux/2018/11/16/evolution-human-body-skeleton-sex-gender/#.XVYRf5NKjBI&#10;https://massivesci.com/articles/sex-gender-intersex-transgender-identity-discrimination-title-ix/&#10;https://childrensnational.org/visit/conditions-and-treatments/diabetes-hormonal-disorders/differences-in-sex-development&#10;https://www.nationwidechildrens.org/specialties/thrive-program/differences-of-sex-development&#10;http://www.bloodjournal.org/content/102/10/3465?sso-checked=true&#10;https://www.nytimes.com/2015/09/15/science/a-pregnancy-souvenir-cells-that-are-not-your-own.html&#10;https://www.nadf.us/adrenal-diseases/congenital-adrenal-hyperplasia-cah/&#10;https://www.nhs.uk/conditions/disorders-sex-development/&#10;http://aisdsd.org/resources/youth/youth-faqs/&#10;https://www.rchsd.org/programs-services/endocrinology-diabetes/services/differences-of-sexual-development-clinic/&#10;https://www.ncbi.nlm.nih.gov/pmc/articles/PMC5682373/&#10;https://www.seattlechildrens.org/clinics/differences-sex-development/&#10;https://www.fairview.org/patient-education/40119&#10;https://www.mayoclinic.org/diseases-conditions/congenital-adrenal-hyperplasia/symptoms-causes/syc-20355205&#10;https://www.ncbi.nlm.nih.gov/pubmed/29606626&#10;https://www.ncbi.nlm.nih.gov/pubmed/23045263&#10;&#10;Image Sources:&#10;https://commons.wikimedia.org/wiki/File:45,X.jpg&#10;https://commons.wikimedia.org/wiki/File:PBB_Protein_SRY_image.jpg&#10;https://commons.wikimedia.org/wiki/File:Pseudoautosomal_region.png&#10;https://commons.wikimedia.org/wiki/File:Androgen_receptor_3-d_model.jpg&#10;https://commons.wikimedia.org/wiki/File:NHGRI_human_male_karyotype.png" id="526" name="Google Shape;526;p47" title="Science Proves There are More than Two Human Sexes">
            <a:hlinkClick r:id="rId6"/>
          </p:cNvPr>
          <p:cNvPicPr preferRelativeResize="0"/>
          <p:nvPr/>
        </p:nvPicPr>
        <p:blipFill>
          <a:blip r:embed="rId7">
            <a:alphaModFix/>
          </a:blip>
          <a:stretch>
            <a:fillRect/>
          </a:stretch>
        </p:blipFill>
        <p:spPr>
          <a:xfrm>
            <a:off x="1059625" y="452745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1000"/>
                                        <p:tgtEl>
                                          <p:spTgt spid="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100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8"/>
          <p:cNvSpPr txBox="1"/>
          <p:nvPr>
            <p:ph type="title"/>
          </p:nvPr>
        </p:nvSpPr>
        <p:spPr>
          <a:xfrm>
            <a:off x="1083200" y="494800"/>
            <a:ext cx="7296000" cy="84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CA" sz="3500"/>
              <a:t>Reproductive Technologies</a:t>
            </a:r>
            <a:endParaRPr b="1" sz="3500"/>
          </a:p>
        </p:txBody>
      </p:sp>
      <p:sp>
        <p:nvSpPr>
          <p:cNvPr id="533" name="Google Shape;533;p48"/>
          <p:cNvSpPr txBox="1"/>
          <p:nvPr/>
        </p:nvSpPr>
        <p:spPr>
          <a:xfrm>
            <a:off x="684300" y="1339900"/>
            <a:ext cx="8459700" cy="310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2400" u="sng">
                <a:solidFill>
                  <a:schemeClr val="dk2"/>
                </a:solidFill>
                <a:latin typeface="Verdana"/>
                <a:ea typeface="Verdana"/>
                <a:cs typeface="Verdana"/>
                <a:sym typeface="Verdana"/>
              </a:rPr>
              <a:t>Technologies to support conception</a:t>
            </a:r>
            <a:endParaRPr b="1" sz="2400" u="sng">
              <a:solidFill>
                <a:schemeClr val="dk2"/>
              </a:solidFill>
              <a:latin typeface="Verdana"/>
              <a:ea typeface="Verdana"/>
              <a:cs typeface="Verdana"/>
              <a:sym typeface="Verdana"/>
            </a:endParaRPr>
          </a:p>
          <a:p>
            <a:pPr indent="0" lvl="0" marL="0" rtl="0" algn="l">
              <a:spcBef>
                <a:spcPts val="0"/>
              </a:spcBef>
              <a:spcAft>
                <a:spcPts val="0"/>
              </a:spcAft>
              <a:buNone/>
            </a:pPr>
            <a:r>
              <a:t/>
            </a:r>
            <a:endParaRPr b="1" sz="2200">
              <a:solidFill>
                <a:schemeClr val="dk2"/>
              </a:solidFill>
              <a:latin typeface="Verdana"/>
              <a:ea typeface="Verdana"/>
              <a:cs typeface="Verdana"/>
              <a:sym typeface="Verdana"/>
            </a:endParaRPr>
          </a:p>
          <a:p>
            <a:pPr indent="0" lvl="0" marL="0" rtl="0" algn="l">
              <a:spcBef>
                <a:spcPts val="0"/>
              </a:spcBef>
              <a:spcAft>
                <a:spcPts val="0"/>
              </a:spcAft>
              <a:buNone/>
            </a:pPr>
            <a:r>
              <a:rPr b="1" lang="en-CA" sz="2200">
                <a:solidFill>
                  <a:schemeClr val="dk2"/>
                </a:solidFill>
                <a:latin typeface="Verdana"/>
                <a:ea typeface="Verdana"/>
                <a:cs typeface="Verdana"/>
                <a:sym typeface="Verdana"/>
              </a:rPr>
              <a:t>In-vitro fertilization (IVF)</a:t>
            </a:r>
            <a:endParaRPr b="1" sz="2200">
              <a:solidFill>
                <a:schemeClr val="dk2"/>
              </a:solidFill>
              <a:latin typeface="Verdana"/>
              <a:ea typeface="Verdana"/>
              <a:cs typeface="Verdana"/>
              <a:sym typeface="Verdana"/>
            </a:endParaRPr>
          </a:p>
          <a:p>
            <a:pPr indent="-355600" lvl="0" marL="457200" rtl="0" algn="l">
              <a:spcBef>
                <a:spcPts val="0"/>
              </a:spcBef>
              <a:spcAft>
                <a:spcPts val="0"/>
              </a:spcAft>
              <a:buClr>
                <a:schemeClr val="dk2"/>
              </a:buClr>
              <a:buSzPts val="2000"/>
              <a:buFont typeface="Verdana"/>
              <a:buChar char="➢"/>
            </a:pPr>
            <a:r>
              <a:rPr lang="en-CA" sz="2000">
                <a:solidFill>
                  <a:schemeClr val="dk2"/>
                </a:solidFill>
                <a:latin typeface="Verdana"/>
                <a:ea typeface="Verdana"/>
                <a:cs typeface="Verdana"/>
                <a:sym typeface="Verdana"/>
              </a:rPr>
              <a:t>involves retrieving eggs from a woman's ovaries and fertilizing them with sperm in a laboratory setting. The resulting embryos are then transferred directly into the woman's uterus, aiming to achieve pregnancy.</a:t>
            </a:r>
            <a:endParaRPr sz="2000">
              <a:solidFill>
                <a:schemeClr val="dk2"/>
              </a:solidFill>
              <a:latin typeface="Verdana"/>
              <a:ea typeface="Verdana"/>
              <a:cs typeface="Verdana"/>
              <a:sym typeface="Verdana"/>
            </a:endParaRPr>
          </a:p>
        </p:txBody>
      </p:sp>
      <p:pic>
        <p:nvPicPr>
          <p:cNvPr id="534" name="Google Shape;534;p48"/>
          <p:cNvPicPr preferRelativeResize="0"/>
          <p:nvPr/>
        </p:nvPicPr>
        <p:blipFill>
          <a:blip r:embed="rId3">
            <a:alphaModFix/>
          </a:blip>
          <a:stretch>
            <a:fillRect/>
          </a:stretch>
        </p:blipFill>
        <p:spPr>
          <a:xfrm>
            <a:off x="1083200" y="3766625"/>
            <a:ext cx="3546650" cy="2659975"/>
          </a:xfrm>
          <a:prstGeom prst="rect">
            <a:avLst/>
          </a:prstGeom>
          <a:noFill/>
          <a:ln>
            <a:noFill/>
          </a:ln>
        </p:spPr>
      </p:pic>
      <p:pic>
        <p:nvPicPr>
          <p:cNvPr id="535" name="Google Shape;535;p48"/>
          <p:cNvPicPr preferRelativeResize="0"/>
          <p:nvPr/>
        </p:nvPicPr>
        <p:blipFill>
          <a:blip r:embed="rId4">
            <a:alphaModFix/>
          </a:blip>
          <a:stretch>
            <a:fillRect/>
          </a:stretch>
        </p:blipFill>
        <p:spPr>
          <a:xfrm>
            <a:off x="4802250" y="4013050"/>
            <a:ext cx="3736349" cy="24135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pic>
        <p:nvPicPr>
          <p:cNvPr id="541" name="Google Shape;541;p49"/>
          <p:cNvPicPr preferRelativeResize="0"/>
          <p:nvPr/>
        </p:nvPicPr>
        <p:blipFill>
          <a:blip r:embed="rId3">
            <a:alphaModFix/>
          </a:blip>
          <a:stretch>
            <a:fillRect/>
          </a:stretch>
        </p:blipFill>
        <p:spPr>
          <a:xfrm>
            <a:off x="1288075" y="665013"/>
            <a:ext cx="6909975" cy="55279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50"/>
          <p:cNvSpPr txBox="1"/>
          <p:nvPr>
            <p:ph type="title"/>
          </p:nvPr>
        </p:nvSpPr>
        <p:spPr>
          <a:xfrm>
            <a:off x="1059600" y="814472"/>
            <a:ext cx="7024800" cy="84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Reproductive Technologies</a:t>
            </a:r>
            <a:endParaRPr/>
          </a:p>
        </p:txBody>
      </p:sp>
      <p:sp>
        <p:nvSpPr>
          <p:cNvPr id="548" name="Google Shape;548;p50"/>
          <p:cNvSpPr txBox="1"/>
          <p:nvPr/>
        </p:nvSpPr>
        <p:spPr>
          <a:xfrm>
            <a:off x="598625" y="1586925"/>
            <a:ext cx="8049300" cy="310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2400" u="sng">
                <a:solidFill>
                  <a:schemeClr val="dk1"/>
                </a:solidFill>
                <a:latin typeface="Verdana"/>
                <a:ea typeface="Verdana"/>
                <a:cs typeface="Verdana"/>
                <a:sym typeface="Verdana"/>
              </a:rPr>
              <a:t>Technologies to support conception</a:t>
            </a:r>
            <a:endParaRPr sz="2000">
              <a:solidFill>
                <a:schemeClr val="dk1"/>
              </a:solidFill>
              <a:latin typeface="Verdana"/>
              <a:ea typeface="Verdana"/>
              <a:cs typeface="Verdana"/>
              <a:sym typeface="Verdana"/>
            </a:endParaRPr>
          </a:p>
          <a:p>
            <a:pPr indent="0" lvl="0" marL="0" rtl="0" algn="l">
              <a:spcBef>
                <a:spcPts val="0"/>
              </a:spcBef>
              <a:spcAft>
                <a:spcPts val="0"/>
              </a:spcAft>
              <a:buNone/>
            </a:pPr>
            <a:r>
              <a:t/>
            </a:r>
            <a:endParaRPr sz="2400">
              <a:solidFill>
                <a:schemeClr val="dk1"/>
              </a:solidFill>
              <a:latin typeface="Verdana"/>
              <a:ea typeface="Verdana"/>
              <a:cs typeface="Verdana"/>
              <a:sym typeface="Verdana"/>
            </a:endParaRPr>
          </a:p>
          <a:p>
            <a:pPr indent="0" lvl="0" marL="0" rtl="0" algn="l">
              <a:spcBef>
                <a:spcPts val="0"/>
              </a:spcBef>
              <a:spcAft>
                <a:spcPts val="0"/>
              </a:spcAft>
              <a:buNone/>
            </a:pPr>
            <a:r>
              <a:rPr b="1" lang="en-CA" sz="2200">
                <a:solidFill>
                  <a:schemeClr val="dk1"/>
                </a:solidFill>
                <a:latin typeface="Verdana"/>
                <a:ea typeface="Verdana"/>
                <a:cs typeface="Verdana"/>
                <a:sym typeface="Verdana"/>
              </a:rPr>
              <a:t>Fertility Drugs</a:t>
            </a:r>
            <a:endParaRPr b="1" sz="2200">
              <a:solidFill>
                <a:schemeClr val="dk1"/>
              </a:solidFill>
              <a:latin typeface="Verdana"/>
              <a:ea typeface="Verdana"/>
              <a:cs typeface="Verdana"/>
              <a:sym typeface="Verdana"/>
            </a:endParaRPr>
          </a:p>
          <a:p>
            <a:pPr indent="0" lvl="0" marL="0" rtl="0" algn="l">
              <a:spcBef>
                <a:spcPts val="0"/>
              </a:spcBef>
              <a:spcAft>
                <a:spcPts val="0"/>
              </a:spcAft>
              <a:buNone/>
            </a:pPr>
            <a:r>
              <a:t/>
            </a:r>
            <a:endParaRPr b="1" sz="1900">
              <a:solidFill>
                <a:schemeClr val="dk1"/>
              </a:solidFill>
              <a:latin typeface="Verdana"/>
              <a:ea typeface="Verdana"/>
              <a:cs typeface="Verdana"/>
              <a:sym typeface="Verdana"/>
            </a:endParaRPr>
          </a:p>
          <a:p>
            <a:pPr indent="-349250" lvl="0" marL="457200" rtl="0" algn="l">
              <a:spcBef>
                <a:spcPts val="0"/>
              </a:spcBef>
              <a:spcAft>
                <a:spcPts val="0"/>
              </a:spcAft>
              <a:buClr>
                <a:schemeClr val="dk1"/>
              </a:buClr>
              <a:buSzPts val="1900"/>
              <a:buFont typeface="Verdana"/>
              <a:buChar char="➢"/>
            </a:pPr>
            <a:r>
              <a:rPr lang="en-CA" sz="1900">
                <a:solidFill>
                  <a:schemeClr val="dk1"/>
                </a:solidFill>
                <a:latin typeface="Verdana"/>
                <a:ea typeface="Verdana"/>
                <a:cs typeface="Verdana"/>
                <a:sym typeface="Verdana"/>
              </a:rPr>
              <a:t>medications used to stimulate ovulation and enhance the chances of conception in individuals facing fertility issues. They work by regulating hormones to promote the development of multiple eggs, increasing the likelihood of successful fertilization and pregnancy</a:t>
            </a:r>
            <a:endParaRPr sz="1900">
              <a:solidFill>
                <a:schemeClr val="dk1"/>
              </a:solidFill>
              <a:latin typeface="Verdana"/>
              <a:ea typeface="Verdana"/>
              <a:cs typeface="Verdana"/>
              <a:sym typeface="Verdana"/>
            </a:endParaRPr>
          </a:p>
          <a:p>
            <a:pPr indent="-349250" lvl="0" marL="457200" rtl="0" algn="l">
              <a:spcBef>
                <a:spcPts val="1000"/>
              </a:spcBef>
              <a:spcAft>
                <a:spcPts val="0"/>
              </a:spcAft>
              <a:buClr>
                <a:schemeClr val="dk1"/>
              </a:buClr>
              <a:buSzPts val="1900"/>
              <a:buFont typeface="Verdana"/>
              <a:buChar char="➢"/>
            </a:pPr>
            <a:r>
              <a:rPr lang="en-CA" sz="1900">
                <a:solidFill>
                  <a:schemeClr val="dk1"/>
                </a:solidFill>
                <a:latin typeface="Verdana"/>
                <a:ea typeface="Verdana"/>
                <a:cs typeface="Verdana"/>
                <a:sym typeface="Verdana"/>
              </a:rPr>
              <a:t>Typically a prerequisite step for successful IVF</a:t>
            </a:r>
            <a:endParaRPr sz="1900">
              <a:solidFill>
                <a:schemeClr val="dk1"/>
              </a:solidFill>
              <a:latin typeface="Verdana"/>
              <a:ea typeface="Verdana"/>
              <a:cs typeface="Verdana"/>
              <a:sym typeface="Verdana"/>
            </a:endParaRPr>
          </a:p>
          <a:p>
            <a:pPr indent="-349250" lvl="0" marL="457200" rtl="0" algn="l">
              <a:spcBef>
                <a:spcPts val="1000"/>
              </a:spcBef>
              <a:spcAft>
                <a:spcPts val="1000"/>
              </a:spcAft>
              <a:buClr>
                <a:schemeClr val="dk1"/>
              </a:buClr>
              <a:buSzPts val="1900"/>
              <a:buFont typeface="Verdana"/>
              <a:buChar char="➢"/>
            </a:pPr>
            <a:r>
              <a:rPr lang="en-CA" sz="1900">
                <a:solidFill>
                  <a:schemeClr val="dk1"/>
                </a:solidFill>
                <a:latin typeface="Verdana"/>
                <a:ea typeface="Verdana"/>
                <a:cs typeface="Verdana"/>
                <a:sym typeface="Verdana"/>
              </a:rPr>
              <a:t>E.g. </a:t>
            </a:r>
            <a:r>
              <a:rPr lang="en-CA" sz="1900">
                <a:solidFill>
                  <a:schemeClr val="dk1"/>
                </a:solidFill>
                <a:highlight>
                  <a:srgbClr val="FFFFFF"/>
                </a:highlight>
                <a:latin typeface="Verdana"/>
                <a:ea typeface="Verdana"/>
                <a:cs typeface="Verdana"/>
                <a:sym typeface="Verdana"/>
              </a:rPr>
              <a:t>Clomiphene citrate. Taken by mouth, this drug stimulates ovulation by causing the pituitary gland to release more follicle-stimulating hormone (FSH) and luteinizing hormone (LH), which stimulate the growth of an ovarian follicle containing an egg. </a:t>
            </a:r>
            <a:endParaRPr sz="1900">
              <a:solidFill>
                <a:schemeClr val="dk1"/>
              </a:solidFill>
              <a:latin typeface="Verdana"/>
              <a:ea typeface="Verdana"/>
              <a:cs typeface="Verdana"/>
              <a:sym typeface="Verdan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1"/>
          <p:cNvSpPr txBox="1"/>
          <p:nvPr>
            <p:ph type="title"/>
          </p:nvPr>
        </p:nvSpPr>
        <p:spPr>
          <a:xfrm>
            <a:off x="1059600" y="814472"/>
            <a:ext cx="7024800" cy="84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Reproductive Technologies</a:t>
            </a:r>
            <a:endParaRPr/>
          </a:p>
        </p:txBody>
      </p:sp>
      <p:sp>
        <p:nvSpPr>
          <p:cNvPr id="555" name="Google Shape;555;p51"/>
          <p:cNvSpPr txBox="1"/>
          <p:nvPr/>
        </p:nvSpPr>
        <p:spPr>
          <a:xfrm>
            <a:off x="843500" y="1659575"/>
            <a:ext cx="7657500" cy="310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2400" u="sng">
                <a:solidFill>
                  <a:schemeClr val="dk2"/>
                </a:solidFill>
                <a:latin typeface="Verdana"/>
                <a:ea typeface="Verdana"/>
                <a:cs typeface="Verdana"/>
                <a:sym typeface="Verdana"/>
              </a:rPr>
              <a:t>Technologies to support conception</a:t>
            </a:r>
            <a:endParaRPr sz="2400">
              <a:solidFill>
                <a:schemeClr val="dk2"/>
              </a:solidFill>
              <a:latin typeface="Verdana"/>
              <a:ea typeface="Verdana"/>
              <a:cs typeface="Verdana"/>
              <a:sym typeface="Verdana"/>
            </a:endParaRPr>
          </a:p>
          <a:p>
            <a:pPr indent="0" lvl="0" marL="457200" rtl="0" algn="l">
              <a:spcBef>
                <a:spcPts val="0"/>
              </a:spcBef>
              <a:spcAft>
                <a:spcPts val="0"/>
              </a:spcAft>
              <a:buNone/>
            </a:pPr>
            <a:r>
              <a:t/>
            </a:r>
            <a:endParaRPr sz="2000">
              <a:solidFill>
                <a:schemeClr val="dk2"/>
              </a:solidFill>
              <a:latin typeface="Verdana"/>
              <a:ea typeface="Verdana"/>
              <a:cs typeface="Verdana"/>
              <a:sym typeface="Verdana"/>
            </a:endParaRPr>
          </a:p>
          <a:p>
            <a:pPr indent="0" lvl="0" marL="457200" rtl="0" algn="l">
              <a:spcBef>
                <a:spcPts val="0"/>
              </a:spcBef>
              <a:spcAft>
                <a:spcPts val="0"/>
              </a:spcAft>
              <a:buNone/>
            </a:pPr>
            <a:r>
              <a:t/>
            </a:r>
            <a:endParaRPr sz="2000">
              <a:solidFill>
                <a:schemeClr val="dk2"/>
              </a:solidFill>
              <a:latin typeface="Verdana"/>
              <a:ea typeface="Verdana"/>
              <a:cs typeface="Verdana"/>
              <a:sym typeface="Verdana"/>
            </a:endParaRPr>
          </a:p>
          <a:p>
            <a:pPr indent="0" lvl="0" marL="0" rtl="0" algn="l">
              <a:spcBef>
                <a:spcPts val="0"/>
              </a:spcBef>
              <a:spcAft>
                <a:spcPts val="0"/>
              </a:spcAft>
              <a:buNone/>
            </a:pPr>
            <a:r>
              <a:rPr b="1" lang="en-CA" sz="2100">
                <a:solidFill>
                  <a:schemeClr val="dk2"/>
                </a:solidFill>
                <a:latin typeface="Verdana"/>
                <a:ea typeface="Verdana"/>
                <a:cs typeface="Verdana"/>
                <a:sym typeface="Verdana"/>
              </a:rPr>
              <a:t>Artificial Insemination</a:t>
            </a:r>
            <a:endParaRPr b="1" sz="2100">
              <a:solidFill>
                <a:schemeClr val="dk2"/>
              </a:solidFill>
              <a:latin typeface="Verdana"/>
              <a:ea typeface="Verdana"/>
              <a:cs typeface="Verdana"/>
              <a:sym typeface="Verdana"/>
            </a:endParaRPr>
          </a:p>
          <a:p>
            <a:pPr indent="-349250" lvl="0" marL="457200" rtl="0" algn="l">
              <a:spcBef>
                <a:spcPts val="0"/>
              </a:spcBef>
              <a:spcAft>
                <a:spcPts val="0"/>
              </a:spcAft>
              <a:buClr>
                <a:schemeClr val="dk2"/>
              </a:buClr>
              <a:buSzPts val="1900"/>
              <a:buFont typeface="Verdana"/>
              <a:buChar char="➢"/>
            </a:pPr>
            <a:r>
              <a:rPr lang="en-CA" sz="1900">
                <a:solidFill>
                  <a:schemeClr val="dk2"/>
                </a:solidFill>
                <a:latin typeface="Verdana"/>
                <a:ea typeface="Verdana"/>
                <a:cs typeface="Verdana"/>
                <a:sym typeface="Verdana"/>
              </a:rPr>
              <a:t>fertility treatment that involves directly inserting sperm into a woman's reproductive tract to facilitate conception without sexual intercourse. </a:t>
            </a:r>
            <a:endParaRPr sz="1900">
              <a:solidFill>
                <a:schemeClr val="dk2"/>
              </a:solidFill>
              <a:latin typeface="Verdana"/>
              <a:ea typeface="Verdana"/>
              <a:cs typeface="Verdana"/>
              <a:sym typeface="Verdana"/>
            </a:endParaRPr>
          </a:p>
          <a:p>
            <a:pPr indent="0" lvl="0" marL="0" rtl="0" algn="l">
              <a:spcBef>
                <a:spcPts val="0"/>
              </a:spcBef>
              <a:spcAft>
                <a:spcPts val="0"/>
              </a:spcAft>
              <a:buNone/>
            </a:pPr>
            <a:r>
              <a:t/>
            </a:r>
            <a:endParaRPr sz="2000">
              <a:solidFill>
                <a:schemeClr val="dk2"/>
              </a:solidFill>
              <a:latin typeface="Verdana"/>
              <a:ea typeface="Verdana"/>
              <a:cs typeface="Verdana"/>
              <a:sym typeface="Verdana"/>
            </a:endParaRPr>
          </a:p>
          <a:p>
            <a:pPr indent="0" lvl="0" marL="0" rtl="0" algn="l">
              <a:spcBef>
                <a:spcPts val="0"/>
              </a:spcBef>
              <a:spcAft>
                <a:spcPts val="0"/>
              </a:spcAft>
              <a:buNone/>
            </a:pPr>
            <a:r>
              <a:t/>
            </a:r>
            <a:endParaRPr b="1" sz="2200">
              <a:solidFill>
                <a:schemeClr val="dk2"/>
              </a:solidFill>
              <a:latin typeface="Verdana"/>
              <a:ea typeface="Verdana"/>
              <a:cs typeface="Verdana"/>
              <a:sym typeface="Verdana"/>
            </a:endParaRPr>
          </a:p>
        </p:txBody>
      </p:sp>
      <p:pic>
        <p:nvPicPr>
          <p:cNvPr id="556" name="Google Shape;556;p51"/>
          <p:cNvPicPr preferRelativeResize="0"/>
          <p:nvPr/>
        </p:nvPicPr>
        <p:blipFill>
          <a:blip r:embed="rId3">
            <a:alphaModFix/>
          </a:blip>
          <a:stretch>
            <a:fillRect/>
          </a:stretch>
        </p:blipFill>
        <p:spPr>
          <a:xfrm>
            <a:off x="2787725" y="4074425"/>
            <a:ext cx="3163275" cy="21050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2"/>
          <p:cNvSpPr txBox="1"/>
          <p:nvPr>
            <p:ph type="title"/>
          </p:nvPr>
        </p:nvSpPr>
        <p:spPr>
          <a:xfrm>
            <a:off x="1059600" y="814472"/>
            <a:ext cx="7024800" cy="84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Reproductive Technologies</a:t>
            </a:r>
            <a:endParaRPr/>
          </a:p>
        </p:txBody>
      </p:sp>
      <p:sp>
        <p:nvSpPr>
          <p:cNvPr id="563" name="Google Shape;563;p52"/>
          <p:cNvSpPr txBox="1"/>
          <p:nvPr/>
        </p:nvSpPr>
        <p:spPr>
          <a:xfrm>
            <a:off x="520650" y="1873900"/>
            <a:ext cx="8102700" cy="341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2400" u="sng">
                <a:solidFill>
                  <a:schemeClr val="dk2"/>
                </a:solidFill>
                <a:latin typeface="Verdana"/>
                <a:ea typeface="Verdana"/>
                <a:cs typeface="Verdana"/>
                <a:sym typeface="Verdana"/>
              </a:rPr>
              <a:t>Technologies to prevent conception</a:t>
            </a:r>
            <a:endParaRPr b="1" sz="2400" u="sng">
              <a:solidFill>
                <a:schemeClr val="dk2"/>
              </a:solidFill>
              <a:latin typeface="Verdana"/>
              <a:ea typeface="Verdana"/>
              <a:cs typeface="Verdana"/>
              <a:sym typeface="Verdana"/>
            </a:endParaRPr>
          </a:p>
          <a:p>
            <a:pPr indent="0" lvl="0" marL="0" rtl="0" algn="ctr">
              <a:spcBef>
                <a:spcPts val="0"/>
              </a:spcBef>
              <a:spcAft>
                <a:spcPts val="0"/>
              </a:spcAft>
              <a:buNone/>
            </a:pPr>
            <a:r>
              <a:t/>
            </a:r>
            <a:endParaRPr b="1" sz="2400" u="sng">
              <a:solidFill>
                <a:schemeClr val="dk2"/>
              </a:solidFill>
              <a:latin typeface="Verdana"/>
              <a:ea typeface="Verdana"/>
              <a:cs typeface="Verdana"/>
              <a:sym typeface="Verdana"/>
            </a:endParaRPr>
          </a:p>
          <a:p>
            <a:pPr indent="0" lvl="0" marL="0" rtl="0" algn="l">
              <a:spcBef>
                <a:spcPts val="0"/>
              </a:spcBef>
              <a:spcAft>
                <a:spcPts val="0"/>
              </a:spcAft>
              <a:buNone/>
            </a:pPr>
            <a:r>
              <a:rPr b="1" lang="en-CA" sz="1800">
                <a:solidFill>
                  <a:schemeClr val="dk2"/>
                </a:solidFill>
                <a:latin typeface="Verdana"/>
                <a:ea typeface="Verdana"/>
                <a:cs typeface="Verdana"/>
                <a:sym typeface="Verdana"/>
              </a:rPr>
              <a:t>Physical barriers (i.e. male condoms and female diaphragms)</a:t>
            </a:r>
            <a:endParaRPr b="1" sz="1800">
              <a:solidFill>
                <a:schemeClr val="dk2"/>
              </a:solidFill>
              <a:latin typeface="Verdana"/>
              <a:ea typeface="Verdana"/>
              <a:cs typeface="Verdana"/>
              <a:sym typeface="Verdana"/>
            </a:endParaRPr>
          </a:p>
          <a:p>
            <a:pPr indent="-342900" lvl="0" marL="457200" rtl="0" algn="l">
              <a:spcBef>
                <a:spcPts val="0"/>
              </a:spcBef>
              <a:spcAft>
                <a:spcPts val="0"/>
              </a:spcAft>
              <a:buClr>
                <a:schemeClr val="dk2"/>
              </a:buClr>
              <a:buSzPts val="1800"/>
              <a:buFont typeface="Verdana"/>
              <a:buChar char="➢"/>
            </a:pPr>
            <a:r>
              <a:rPr lang="en-CA" sz="1800">
                <a:solidFill>
                  <a:schemeClr val="dk2"/>
                </a:solidFill>
                <a:latin typeface="Verdana"/>
                <a:ea typeface="Verdana"/>
                <a:cs typeface="Verdana"/>
                <a:sym typeface="Verdana"/>
              </a:rPr>
              <a:t>Prevent sperm from reaching eggs</a:t>
            </a:r>
            <a:endParaRPr sz="1800">
              <a:solidFill>
                <a:schemeClr val="dk2"/>
              </a:solidFill>
              <a:latin typeface="Verdana"/>
              <a:ea typeface="Verdana"/>
              <a:cs typeface="Verdana"/>
              <a:sym typeface="Verdana"/>
            </a:endParaRPr>
          </a:p>
          <a:p>
            <a:pPr indent="-342900" lvl="0" marL="457200" rtl="0" algn="l">
              <a:spcBef>
                <a:spcPts val="0"/>
              </a:spcBef>
              <a:spcAft>
                <a:spcPts val="0"/>
              </a:spcAft>
              <a:buClr>
                <a:schemeClr val="dk2"/>
              </a:buClr>
              <a:buSzPts val="1800"/>
              <a:buFont typeface="Verdana"/>
              <a:buChar char="➢"/>
            </a:pPr>
            <a:r>
              <a:rPr lang="en-CA" sz="1800">
                <a:solidFill>
                  <a:schemeClr val="dk2"/>
                </a:solidFill>
                <a:latin typeface="Verdana"/>
                <a:ea typeface="Verdana"/>
                <a:cs typeface="Verdana"/>
                <a:sym typeface="Verdana"/>
              </a:rPr>
              <a:t>Male condoms offer additional protection against Sexually Transmitted Infections (STIs)</a:t>
            </a:r>
            <a:endParaRPr sz="1800">
              <a:solidFill>
                <a:schemeClr val="dk2"/>
              </a:solidFill>
              <a:latin typeface="Verdana"/>
              <a:ea typeface="Verdana"/>
              <a:cs typeface="Verdana"/>
              <a:sym typeface="Verdana"/>
            </a:endParaRPr>
          </a:p>
          <a:p>
            <a:pPr indent="0" lvl="0" marL="0" rtl="0" algn="l">
              <a:spcBef>
                <a:spcPts val="0"/>
              </a:spcBef>
              <a:spcAft>
                <a:spcPts val="0"/>
              </a:spcAft>
              <a:buNone/>
            </a:pPr>
            <a:r>
              <a:t/>
            </a:r>
            <a:endParaRPr sz="1800">
              <a:solidFill>
                <a:schemeClr val="dk2"/>
              </a:solidFill>
              <a:latin typeface="Verdana"/>
              <a:ea typeface="Verdana"/>
              <a:cs typeface="Verdana"/>
              <a:sym typeface="Verdana"/>
            </a:endParaRPr>
          </a:p>
          <a:p>
            <a:pPr indent="0" lvl="0" marL="0" rtl="0" algn="l">
              <a:spcBef>
                <a:spcPts val="0"/>
              </a:spcBef>
              <a:spcAft>
                <a:spcPts val="0"/>
              </a:spcAft>
              <a:buNone/>
            </a:pPr>
            <a:r>
              <a:rPr b="1" lang="en-CA" sz="1800">
                <a:solidFill>
                  <a:schemeClr val="dk2"/>
                </a:solidFill>
                <a:latin typeface="Verdana"/>
                <a:ea typeface="Verdana"/>
                <a:cs typeface="Verdana"/>
                <a:sym typeface="Verdana"/>
              </a:rPr>
              <a:t>Chemical barriers (e.g. spermicide)</a:t>
            </a:r>
            <a:endParaRPr b="1" sz="1800">
              <a:solidFill>
                <a:schemeClr val="dk2"/>
              </a:solidFill>
              <a:latin typeface="Verdana"/>
              <a:ea typeface="Verdana"/>
              <a:cs typeface="Verdana"/>
              <a:sym typeface="Verdana"/>
            </a:endParaRPr>
          </a:p>
          <a:p>
            <a:pPr indent="-342900" lvl="0" marL="457200" rtl="0" algn="l">
              <a:spcBef>
                <a:spcPts val="0"/>
              </a:spcBef>
              <a:spcAft>
                <a:spcPts val="0"/>
              </a:spcAft>
              <a:buClr>
                <a:schemeClr val="dk2"/>
              </a:buClr>
              <a:buSzPts val="1800"/>
              <a:buFont typeface="Verdana"/>
              <a:buChar char="➢"/>
            </a:pPr>
            <a:r>
              <a:rPr lang="en-CA" sz="1800">
                <a:solidFill>
                  <a:schemeClr val="dk2"/>
                </a:solidFill>
                <a:latin typeface="Verdana"/>
                <a:ea typeface="Verdana"/>
                <a:cs typeface="Verdana"/>
                <a:sym typeface="Verdana"/>
              </a:rPr>
              <a:t>Kill sperm and therefore prevent them from reaching and fertilizing an egg</a:t>
            </a:r>
            <a:endParaRPr sz="1800">
              <a:solidFill>
                <a:schemeClr val="dk2"/>
              </a:solidFill>
              <a:latin typeface="Verdana"/>
              <a:ea typeface="Verdana"/>
              <a:cs typeface="Verdana"/>
              <a:sym typeface="Verdana"/>
            </a:endParaRPr>
          </a:p>
          <a:p>
            <a:pPr indent="-342900" lvl="0" marL="457200" rtl="0" algn="l">
              <a:spcBef>
                <a:spcPts val="0"/>
              </a:spcBef>
              <a:spcAft>
                <a:spcPts val="0"/>
              </a:spcAft>
              <a:buClr>
                <a:schemeClr val="dk2"/>
              </a:buClr>
              <a:buSzPts val="1800"/>
              <a:buFont typeface="Verdana"/>
              <a:buChar char="➢"/>
            </a:pPr>
            <a:r>
              <a:rPr lang="en-CA" sz="1800">
                <a:solidFill>
                  <a:schemeClr val="dk2"/>
                </a:solidFill>
                <a:latin typeface="Verdana"/>
                <a:ea typeface="Verdana"/>
                <a:cs typeface="Verdana"/>
                <a:sym typeface="Verdana"/>
              </a:rPr>
              <a:t>Lower effectiveness, typically used in </a:t>
            </a:r>
            <a:r>
              <a:rPr lang="en-CA" sz="1800">
                <a:solidFill>
                  <a:schemeClr val="dk2"/>
                </a:solidFill>
                <a:latin typeface="Verdana"/>
                <a:ea typeface="Verdana"/>
                <a:cs typeface="Verdana"/>
                <a:sym typeface="Verdana"/>
              </a:rPr>
              <a:t>combination</a:t>
            </a:r>
            <a:r>
              <a:rPr lang="en-CA" sz="1800">
                <a:solidFill>
                  <a:schemeClr val="dk2"/>
                </a:solidFill>
                <a:latin typeface="Verdana"/>
                <a:ea typeface="Verdana"/>
                <a:cs typeface="Verdana"/>
                <a:sym typeface="Verdana"/>
              </a:rPr>
              <a:t> with other methods</a:t>
            </a:r>
            <a:endParaRPr sz="1800">
              <a:solidFill>
                <a:schemeClr val="dk2"/>
              </a:solidFill>
              <a:latin typeface="Verdana"/>
              <a:ea typeface="Verdana"/>
              <a:cs typeface="Verdana"/>
              <a:sym typeface="Verdana"/>
            </a:endParaRPr>
          </a:p>
          <a:p>
            <a:pPr indent="0" lvl="0" marL="457200" rtl="0" algn="l">
              <a:spcBef>
                <a:spcPts val="0"/>
              </a:spcBef>
              <a:spcAft>
                <a:spcPts val="0"/>
              </a:spcAft>
              <a:buNone/>
            </a:pPr>
            <a:r>
              <a:t/>
            </a:r>
            <a:endParaRPr i="1" sz="1800">
              <a:solidFill>
                <a:schemeClr val="dk2"/>
              </a:solidFill>
              <a:latin typeface="Verdana"/>
              <a:ea typeface="Verdana"/>
              <a:cs typeface="Verdana"/>
              <a:sym typeface="Verdana"/>
            </a:endParaRPr>
          </a:p>
          <a:p>
            <a:pPr indent="0" lvl="0" marL="457200" rtl="0" algn="l">
              <a:spcBef>
                <a:spcPts val="0"/>
              </a:spcBef>
              <a:spcAft>
                <a:spcPts val="0"/>
              </a:spcAft>
              <a:buNone/>
            </a:pPr>
            <a:r>
              <a:t/>
            </a:r>
            <a:endParaRPr i="1" sz="1800">
              <a:solidFill>
                <a:schemeClr val="dk2"/>
              </a:solidFill>
              <a:latin typeface="Verdana"/>
              <a:ea typeface="Verdana"/>
              <a:cs typeface="Verdana"/>
              <a:sym typeface="Verdana"/>
            </a:endParaRPr>
          </a:p>
          <a:p>
            <a:pPr indent="0" lvl="0" marL="457200" rtl="0" algn="l">
              <a:spcBef>
                <a:spcPts val="0"/>
              </a:spcBef>
              <a:spcAft>
                <a:spcPts val="0"/>
              </a:spcAft>
              <a:buNone/>
            </a:pPr>
            <a:r>
              <a:t/>
            </a:r>
            <a:endParaRPr sz="2000">
              <a:solidFill>
                <a:schemeClr val="dk2"/>
              </a:solidFill>
              <a:latin typeface="Verdana"/>
              <a:ea typeface="Verdana"/>
              <a:cs typeface="Verdana"/>
              <a:sym typeface="Verdana"/>
            </a:endParaRPr>
          </a:p>
          <a:p>
            <a:pPr indent="0" lvl="0" marL="0" rtl="0" algn="l">
              <a:spcBef>
                <a:spcPts val="0"/>
              </a:spcBef>
              <a:spcAft>
                <a:spcPts val="0"/>
              </a:spcAft>
              <a:buNone/>
            </a:pPr>
            <a:r>
              <a:t/>
            </a:r>
            <a:endParaRPr b="1" sz="2200">
              <a:solidFill>
                <a:schemeClr val="dk2"/>
              </a:solidFill>
              <a:latin typeface="Verdana"/>
              <a:ea typeface="Verdana"/>
              <a:cs typeface="Verdana"/>
              <a:sym typeface="Verdan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3"/>
          <p:cNvSpPr txBox="1"/>
          <p:nvPr>
            <p:ph type="title"/>
          </p:nvPr>
        </p:nvSpPr>
        <p:spPr>
          <a:xfrm>
            <a:off x="570475" y="1060025"/>
            <a:ext cx="6556200" cy="976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CA" sz="3100"/>
              <a:t>Negative Feedback and Hormonal contraceptives</a:t>
            </a:r>
            <a:endParaRPr b="1" sz="3100"/>
          </a:p>
        </p:txBody>
      </p:sp>
      <p:pic>
        <p:nvPicPr>
          <p:cNvPr id="570" name="Google Shape;570;p53"/>
          <p:cNvPicPr preferRelativeResize="0"/>
          <p:nvPr/>
        </p:nvPicPr>
        <p:blipFill>
          <a:blip r:embed="rId3">
            <a:alphaModFix/>
          </a:blip>
          <a:stretch>
            <a:fillRect/>
          </a:stretch>
        </p:blipFill>
        <p:spPr>
          <a:xfrm>
            <a:off x="5714073" y="2360423"/>
            <a:ext cx="3429925" cy="2471550"/>
          </a:xfrm>
          <a:prstGeom prst="rect">
            <a:avLst/>
          </a:prstGeom>
          <a:noFill/>
          <a:ln>
            <a:noFill/>
          </a:ln>
        </p:spPr>
      </p:pic>
      <p:sp>
        <p:nvSpPr>
          <p:cNvPr id="571" name="Google Shape;571;p53"/>
          <p:cNvSpPr txBox="1"/>
          <p:nvPr/>
        </p:nvSpPr>
        <p:spPr>
          <a:xfrm>
            <a:off x="479850" y="2257200"/>
            <a:ext cx="5478000" cy="23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CA" sz="1800">
                <a:solidFill>
                  <a:schemeClr val="dk2"/>
                </a:solidFill>
                <a:latin typeface="Verdana"/>
                <a:ea typeface="Verdana"/>
                <a:cs typeface="Verdana"/>
                <a:sym typeface="Verdana"/>
              </a:rPr>
              <a:t>Hormonal Contraceptives (e.g. Birth control pill, injections, Intrauterine Devices (IUDs), etc.)</a:t>
            </a:r>
            <a:endParaRPr b="1" sz="1800">
              <a:solidFill>
                <a:schemeClr val="dk2"/>
              </a:solidFill>
              <a:latin typeface="Verdana"/>
              <a:ea typeface="Verdana"/>
              <a:cs typeface="Verdana"/>
              <a:sym typeface="Verdana"/>
            </a:endParaRPr>
          </a:p>
          <a:p>
            <a:pPr indent="-342900" lvl="0" marL="457200" rtl="0" algn="l">
              <a:spcBef>
                <a:spcPts val="0"/>
              </a:spcBef>
              <a:spcAft>
                <a:spcPts val="0"/>
              </a:spcAft>
              <a:buClr>
                <a:schemeClr val="dk2"/>
              </a:buClr>
              <a:buSzPts val="1800"/>
              <a:buFont typeface="Verdana"/>
              <a:buChar char="➢"/>
            </a:pPr>
            <a:r>
              <a:rPr lang="en-CA" sz="1800">
                <a:solidFill>
                  <a:schemeClr val="dk2"/>
                </a:solidFill>
                <a:latin typeface="Verdana"/>
                <a:ea typeface="Verdana"/>
                <a:cs typeface="Verdana"/>
                <a:sym typeface="Verdana"/>
              </a:rPr>
              <a:t>Contraceptive technologies whereby artificial hormones mimic the effect of progesterone and therefore through </a:t>
            </a:r>
            <a:r>
              <a:rPr b="1" lang="en-CA" sz="1800">
                <a:solidFill>
                  <a:schemeClr val="dk2"/>
                </a:solidFill>
                <a:latin typeface="Verdana"/>
                <a:ea typeface="Verdana"/>
                <a:cs typeface="Verdana"/>
                <a:sym typeface="Verdana"/>
              </a:rPr>
              <a:t>negative feedback</a:t>
            </a:r>
            <a:r>
              <a:rPr lang="en-CA" sz="1800">
                <a:solidFill>
                  <a:schemeClr val="dk2"/>
                </a:solidFill>
                <a:latin typeface="Verdana"/>
                <a:ea typeface="Verdana"/>
                <a:cs typeface="Verdana"/>
                <a:sym typeface="Verdana"/>
              </a:rPr>
              <a:t> inhibit the release of FSH and LH from the anterior pituitary. This ultimately prevents ovulation. </a:t>
            </a:r>
            <a:endParaRPr sz="1800">
              <a:solidFill>
                <a:schemeClr val="dk2"/>
              </a:solidFill>
              <a:latin typeface="Verdana"/>
              <a:ea typeface="Verdana"/>
              <a:cs typeface="Verdana"/>
              <a:sym typeface="Verdana"/>
            </a:endParaRPr>
          </a:p>
        </p:txBody>
      </p:sp>
      <p:sp>
        <p:nvSpPr>
          <p:cNvPr id="572" name="Google Shape;572;p53"/>
          <p:cNvSpPr txBox="1"/>
          <p:nvPr/>
        </p:nvSpPr>
        <p:spPr>
          <a:xfrm>
            <a:off x="479850" y="4896675"/>
            <a:ext cx="8184300" cy="22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800" u="sng">
                <a:solidFill>
                  <a:schemeClr val="dk2"/>
                </a:solidFill>
                <a:latin typeface="Verdana"/>
                <a:ea typeface="Verdana"/>
                <a:cs typeface="Verdana"/>
                <a:sym typeface="Verdana"/>
              </a:rPr>
              <a:t>Morning After Pill (i.e. Plan B)</a:t>
            </a:r>
            <a:endParaRPr sz="1800" u="sng">
              <a:solidFill>
                <a:schemeClr val="dk2"/>
              </a:solidFill>
              <a:latin typeface="Verdana"/>
              <a:ea typeface="Verdana"/>
              <a:cs typeface="Verdana"/>
              <a:sym typeface="Verdana"/>
            </a:endParaRPr>
          </a:p>
          <a:p>
            <a:pPr indent="-342900" lvl="0" marL="457200" rtl="0" algn="l">
              <a:spcBef>
                <a:spcPts val="0"/>
              </a:spcBef>
              <a:spcAft>
                <a:spcPts val="0"/>
              </a:spcAft>
              <a:buClr>
                <a:schemeClr val="dk2"/>
              </a:buClr>
              <a:buSzPts val="1800"/>
              <a:buFont typeface="Verdana"/>
              <a:buChar char="➢"/>
            </a:pPr>
            <a:r>
              <a:rPr lang="en-CA" sz="1800">
                <a:solidFill>
                  <a:schemeClr val="dk2"/>
                </a:solidFill>
                <a:latin typeface="Verdana"/>
                <a:ea typeface="Verdana"/>
                <a:cs typeface="Verdana"/>
                <a:sym typeface="Verdana"/>
              </a:rPr>
              <a:t>More intensive hormone treatment taken for emergency use</a:t>
            </a:r>
            <a:endParaRPr sz="1800">
              <a:solidFill>
                <a:schemeClr val="dk2"/>
              </a:solidFill>
              <a:latin typeface="Verdana"/>
              <a:ea typeface="Verdana"/>
              <a:cs typeface="Verdana"/>
              <a:sym typeface="Verdana"/>
            </a:endParaRPr>
          </a:p>
          <a:p>
            <a:pPr indent="-342900" lvl="0" marL="457200" rtl="0" algn="l">
              <a:spcBef>
                <a:spcPts val="0"/>
              </a:spcBef>
              <a:spcAft>
                <a:spcPts val="0"/>
              </a:spcAft>
              <a:buClr>
                <a:schemeClr val="dk2"/>
              </a:buClr>
              <a:buSzPts val="1800"/>
              <a:buFont typeface="Verdana"/>
              <a:buChar char="➢"/>
            </a:pPr>
            <a:r>
              <a:rPr lang="en-CA" sz="1800">
                <a:solidFill>
                  <a:schemeClr val="dk2"/>
                </a:solidFill>
                <a:latin typeface="Verdana"/>
                <a:ea typeface="Verdana"/>
                <a:cs typeface="Verdana"/>
                <a:sym typeface="Verdana"/>
              </a:rPr>
              <a:t>Very high dose of synthetic hormones that can prevent or delay ovulation if taken within 48 hours of intercourse</a:t>
            </a:r>
            <a:endParaRPr sz="1800">
              <a:solidFill>
                <a:schemeClr val="dk2"/>
              </a:solidFill>
              <a:latin typeface="Verdana"/>
              <a:ea typeface="Verdana"/>
              <a:cs typeface="Verdana"/>
              <a:sym typeface="Verdana"/>
            </a:endParaRPr>
          </a:p>
        </p:txBody>
      </p:sp>
      <p:pic>
        <p:nvPicPr>
          <p:cNvPr id="573" name="Google Shape;573;p53"/>
          <p:cNvPicPr preferRelativeResize="0"/>
          <p:nvPr/>
        </p:nvPicPr>
        <p:blipFill>
          <a:blip r:embed="rId4">
            <a:alphaModFix/>
          </a:blip>
          <a:stretch>
            <a:fillRect/>
          </a:stretch>
        </p:blipFill>
        <p:spPr>
          <a:xfrm>
            <a:off x="6395213" y="452088"/>
            <a:ext cx="2619375" cy="17430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4"/>
          <p:cNvSpPr txBox="1"/>
          <p:nvPr>
            <p:ph type="title"/>
          </p:nvPr>
        </p:nvSpPr>
        <p:spPr>
          <a:xfrm>
            <a:off x="1059600" y="814472"/>
            <a:ext cx="7024800" cy="84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Reproductive Technologies</a:t>
            </a:r>
            <a:endParaRPr/>
          </a:p>
        </p:txBody>
      </p:sp>
      <p:sp>
        <p:nvSpPr>
          <p:cNvPr id="580" name="Google Shape;580;p54"/>
          <p:cNvSpPr txBox="1"/>
          <p:nvPr/>
        </p:nvSpPr>
        <p:spPr>
          <a:xfrm>
            <a:off x="516750" y="1659575"/>
            <a:ext cx="8130300" cy="310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2400" u="sng">
                <a:solidFill>
                  <a:schemeClr val="dk2"/>
                </a:solidFill>
                <a:latin typeface="Verdana"/>
                <a:ea typeface="Verdana"/>
                <a:cs typeface="Verdana"/>
                <a:sym typeface="Verdana"/>
              </a:rPr>
              <a:t>Technologies to prevent conception</a:t>
            </a:r>
            <a:endParaRPr b="1" sz="2400" u="sng">
              <a:solidFill>
                <a:schemeClr val="dk2"/>
              </a:solidFill>
              <a:latin typeface="Verdana"/>
              <a:ea typeface="Verdana"/>
              <a:cs typeface="Verdana"/>
              <a:sym typeface="Verdana"/>
            </a:endParaRPr>
          </a:p>
          <a:p>
            <a:pPr indent="0" lvl="0" marL="0" rtl="0" algn="l">
              <a:spcBef>
                <a:spcPts val="0"/>
              </a:spcBef>
              <a:spcAft>
                <a:spcPts val="0"/>
              </a:spcAft>
              <a:buNone/>
            </a:pPr>
            <a:r>
              <a:t/>
            </a:r>
            <a:endParaRPr sz="1800">
              <a:solidFill>
                <a:schemeClr val="dk2"/>
              </a:solidFill>
              <a:latin typeface="Verdana"/>
              <a:ea typeface="Verdana"/>
              <a:cs typeface="Verdana"/>
              <a:sym typeface="Verdana"/>
            </a:endParaRPr>
          </a:p>
          <a:p>
            <a:pPr indent="0" lvl="0" marL="0" rtl="0" algn="l">
              <a:spcBef>
                <a:spcPts val="0"/>
              </a:spcBef>
              <a:spcAft>
                <a:spcPts val="0"/>
              </a:spcAft>
              <a:buNone/>
            </a:pPr>
            <a:r>
              <a:rPr b="1" lang="en-CA" sz="1800">
                <a:solidFill>
                  <a:schemeClr val="dk2"/>
                </a:solidFill>
                <a:latin typeface="Verdana"/>
                <a:ea typeface="Verdana"/>
                <a:cs typeface="Verdana"/>
                <a:sym typeface="Verdana"/>
              </a:rPr>
              <a:t>Tubal Ligation </a:t>
            </a:r>
            <a:endParaRPr b="1" sz="1800">
              <a:solidFill>
                <a:schemeClr val="dk2"/>
              </a:solidFill>
              <a:latin typeface="Verdana"/>
              <a:ea typeface="Verdana"/>
              <a:cs typeface="Verdana"/>
              <a:sym typeface="Verdana"/>
            </a:endParaRPr>
          </a:p>
          <a:p>
            <a:pPr indent="-342900" lvl="0" marL="457200" rtl="0" algn="l">
              <a:spcBef>
                <a:spcPts val="0"/>
              </a:spcBef>
              <a:spcAft>
                <a:spcPts val="0"/>
              </a:spcAft>
              <a:buClr>
                <a:schemeClr val="dk2"/>
              </a:buClr>
              <a:buSzPts val="1800"/>
              <a:buFont typeface="Verdana"/>
              <a:buChar char="➢"/>
            </a:pPr>
            <a:r>
              <a:rPr lang="en-CA" sz="1800">
                <a:solidFill>
                  <a:schemeClr val="dk2"/>
                </a:solidFill>
                <a:latin typeface="Verdana"/>
                <a:ea typeface="Verdana"/>
                <a:cs typeface="Verdana"/>
                <a:sym typeface="Verdana"/>
              </a:rPr>
              <a:t>Surgery that involves cutting the oviducts and tying off the cut ends. Prevents ovum from reaching sperm and the uterus.</a:t>
            </a:r>
            <a:endParaRPr sz="1800">
              <a:solidFill>
                <a:schemeClr val="dk2"/>
              </a:solidFill>
              <a:latin typeface="Verdana"/>
              <a:ea typeface="Verdana"/>
              <a:cs typeface="Verdana"/>
              <a:sym typeface="Verdana"/>
            </a:endParaRPr>
          </a:p>
          <a:p>
            <a:pPr indent="0" lvl="0" marL="457200" rtl="0" algn="l">
              <a:spcBef>
                <a:spcPts val="0"/>
              </a:spcBef>
              <a:spcAft>
                <a:spcPts val="0"/>
              </a:spcAft>
              <a:buNone/>
            </a:pPr>
            <a:r>
              <a:t/>
            </a:r>
            <a:endParaRPr sz="1800">
              <a:solidFill>
                <a:schemeClr val="dk2"/>
              </a:solidFill>
              <a:latin typeface="Verdana"/>
              <a:ea typeface="Verdana"/>
              <a:cs typeface="Verdana"/>
              <a:sym typeface="Verdana"/>
            </a:endParaRPr>
          </a:p>
          <a:p>
            <a:pPr indent="0" lvl="0" marL="0" rtl="0" algn="l">
              <a:spcBef>
                <a:spcPts val="0"/>
              </a:spcBef>
              <a:spcAft>
                <a:spcPts val="0"/>
              </a:spcAft>
              <a:buNone/>
            </a:pPr>
            <a:r>
              <a:rPr b="1" lang="en-CA" sz="1800">
                <a:solidFill>
                  <a:schemeClr val="dk2"/>
                </a:solidFill>
                <a:latin typeface="Verdana"/>
                <a:ea typeface="Verdana"/>
                <a:cs typeface="Verdana"/>
                <a:sym typeface="Verdana"/>
              </a:rPr>
              <a:t>Vasectomy </a:t>
            </a:r>
            <a:endParaRPr b="1" sz="1800">
              <a:solidFill>
                <a:schemeClr val="dk2"/>
              </a:solidFill>
              <a:latin typeface="Verdana"/>
              <a:ea typeface="Verdana"/>
              <a:cs typeface="Verdana"/>
              <a:sym typeface="Verdana"/>
            </a:endParaRPr>
          </a:p>
          <a:p>
            <a:pPr indent="-342900" lvl="0" marL="457200" rtl="0" algn="l">
              <a:spcBef>
                <a:spcPts val="0"/>
              </a:spcBef>
              <a:spcAft>
                <a:spcPts val="0"/>
              </a:spcAft>
              <a:buClr>
                <a:schemeClr val="dk2"/>
              </a:buClr>
              <a:buSzPts val="1800"/>
              <a:buFont typeface="Verdana"/>
              <a:buChar char="➢"/>
            </a:pPr>
            <a:r>
              <a:rPr lang="en-CA" sz="1800">
                <a:solidFill>
                  <a:schemeClr val="dk2"/>
                </a:solidFill>
                <a:latin typeface="Verdana"/>
                <a:ea typeface="Verdana"/>
                <a:cs typeface="Verdana"/>
                <a:sym typeface="Verdana"/>
              </a:rPr>
              <a:t>Male equivalent to tubal ligation, whereby the vas deferens is cut and tied off. Sperm do not enter semen and leave the male body. </a:t>
            </a:r>
            <a:endParaRPr sz="1800">
              <a:solidFill>
                <a:schemeClr val="dk2"/>
              </a:solidFill>
              <a:latin typeface="Verdana"/>
              <a:ea typeface="Verdana"/>
              <a:cs typeface="Verdana"/>
              <a:sym typeface="Verdana"/>
            </a:endParaRPr>
          </a:p>
          <a:p>
            <a:pPr indent="0" lvl="0" marL="457200" rtl="0" algn="l">
              <a:spcBef>
                <a:spcPts val="0"/>
              </a:spcBef>
              <a:spcAft>
                <a:spcPts val="0"/>
              </a:spcAft>
              <a:buNone/>
            </a:pPr>
            <a:r>
              <a:t/>
            </a:r>
            <a:endParaRPr sz="2000">
              <a:solidFill>
                <a:schemeClr val="dk2"/>
              </a:solidFill>
              <a:latin typeface="Verdana"/>
              <a:ea typeface="Verdana"/>
              <a:cs typeface="Verdana"/>
              <a:sym typeface="Verdana"/>
            </a:endParaRPr>
          </a:p>
          <a:p>
            <a:pPr indent="0" lvl="0" marL="457200" rtl="0" algn="l">
              <a:spcBef>
                <a:spcPts val="0"/>
              </a:spcBef>
              <a:spcAft>
                <a:spcPts val="0"/>
              </a:spcAft>
              <a:buNone/>
            </a:pPr>
            <a:r>
              <a:t/>
            </a:r>
            <a:endParaRPr sz="2000">
              <a:solidFill>
                <a:schemeClr val="dk2"/>
              </a:solidFill>
              <a:latin typeface="Verdana"/>
              <a:ea typeface="Verdana"/>
              <a:cs typeface="Verdana"/>
              <a:sym typeface="Verdana"/>
            </a:endParaRPr>
          </a:p>
          <a:p>
            <a:pPr indent="0" lvl="0" marL="0" rtl="0" algn="l">
              <a:spcBef>
                <a:spcPts val="0"/>
              </a:spcBef>
              <a:spcAft>
                <a:spcPts val="0"/>
              </a:spcAft>
              <a:buNone/>
            </a:pPr>
            <a:r>
              <a:t/>
            </a:r>
            <a:endParaRPr b="1" sz="2200">
              <a:solidFill>
                <a:schemeClr val="dk2"/>
              </a:solidFill>
              <a:latin typeface="Verdana"/>
              <a:ea typeface="Verdana"/>
              <a:cs typeface="Verdana"/>
              <a:sym typeface="Verdana"/>
            </a:endParaRPr>
          </a:p>
        </p:txBody>
      </p:sp>
      <p:pic>
        <p:nvPicPr>
          <p:cNvPr id="581" name="Google Shape;581;p54"/>
          <p:cNvPicPr preferRelativeResize="0"/>
          <p:nvPr/>
        </p:nvPicPr>
        <p:blipFill>
          <a:blip r:embed="rId3">
            <a:alphaModFix/>
          </a:blip>
          <a:stretch>
            <a:fillRect/>
          </a:stretch>
        </p:blipFill>
        <p:spPr>
          <a:xfrm>
            <a:off x="2066350" y="4382400"/>
            <a:ext cx="5011325" cy="24755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ustin">
  <a:themeElements>
    <a:clrScheme name="Custom 16">
      <a:dk1>
        <a:srgbClr val="000000"/>
      </a:dk1>
      <a:lt1>
        <a:srgbClr val="FFFFFF"/>
      </a:lt1>
      <a:dk2>
        <a:srgbClr val="676A73"/>
      </a:dk2>
      <a:lt2>
        <a:srgbClr val="676A73"/>
      </a:lt2>
      <a:accent1>
        <a:srgbClr val="4D4F55"/>
      </a:accent1>
      <a:accent2>
        <a:srgbClr val="87FFB8"/>
      </a:accent2>
      <a:accent3>
        <a:srgbClr val="87FFB8"/>
      </a:accent3>
      <a:accent4>
        <a:srgbClr val="87FFB8"/>
      </a:accent4>
      <a:accent5>
        <a:srgbClr val="87FFB8"/>
      </a:accent5>
      <a:accent6>
        <a:srgbClr val="87FFB8"/>
      </a:accent6>
      <a:hlink>
        <a:srgbClr val="26272A"/>
      </a:hlink>
      <a:folHlink>
        <a:srgbClr val="2627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