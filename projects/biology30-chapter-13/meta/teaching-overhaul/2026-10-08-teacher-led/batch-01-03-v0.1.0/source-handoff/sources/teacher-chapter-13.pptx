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Average"/>
      <p:regular r:id="rId49"/>
    </p:embeddedFont>
    <p:embeddedFont>
      <p:font typeface="Josefi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59B137-44B6-4C91-A9F5-D46CE4A25346}">
  <a:tblStyle styleId="{A559B137-44B6-4C91-A9F5-D46CE4A25346}" styleName="Table_0">
    <a:wholeTbl>
      <a:tcTxStyle b="off" i="off">
        <a:font>
          <a:latin typeface="Verdana"/>
          <a:ea typeface="Verdana"/>
          <a:cs typeface="Verdan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8E8"/>
          </a:solidFill>
        </a:fill>
      </a:tcStyle>
    </a:wholeTbl>
    <a:band1H>
      <a:tcTxStyle/>
      <a:tcStyle>
        <a:fill>
          <a:solidFill>
            <a:srgbClr val="CDCDCE"/>
          </a:solidFill>
        </a:fill>
      </a:tcStyle>
    </a:band1H>
    <a:band2H>
      <a:tcTxStyle/>
    </a:band2H>
    <a:band1V>
      <a:tcTxStyle/>
      <a:tcStyle>
        <a:fill>
          <a:solidFill>
            <a:srgbClr val="CDCDCE"/>
          </a:solidFill>
        </a:fill>
      </a:tcStyle>
    </a:band1V>
    <a:band2V>
      <a:tcTxStyle/>
    </a:band2V>
    <a:lastCol>
      <a:tcTxStyle b="on" i="off">
        <a:font>
          <a:latin typeface="Verdana"/>
          <a:ea typeface="Verdana"/>
          <a:cs typeface="Verdana"/>
        </a:font>
        <a:schemeClr val="lt1"/>
      </a:tcTxStyle>
      <a:tcStyle>
        <a:fill>
          <a:solidFill>
            <a:schemeClr val="accent1"/>
          </a:solidFill>
        </a:fill>
      </a:tcStyle>
    </a:lastCol>
    <a:firstCol>
      <a:tcTxStyle b="on" i="off">
        <a:font>
          <a:latin typeface="Verdana"/>
          <a:ea typeface="Verdana"/>
          <a:cs typeface="Verdana"/>
        </a:font>
        <a:schemeClr val="lt1"/>
      </a:tcTxStyle>
      <a:tcStyle>
        <a:fill>
          <a:solidFill>
            <a:schemeClr val="accent1"/>
          </a:solidFill>
        </a:fill>
      </a:tcStyle>
    </a:firstCol>
    <a:lastRow>
      <a:tcTxStyle b="on" i="off">
        <a:font>
          <a:latin typeface="Verdana"/>
          <a:ea typeface="Verdana"/>
          <a:cs typeface="Verdan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Verdana"/>
          <a:ea typeface="Verdana"/>
          <a:cs typeface="Verdan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C86E6783-9FE0-4002-A629-18E572C2F4C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Averag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osefinSans-bold.fntdata"/><Relationship Id="rId50" Type="http://schemas.openxmlformats.org/officeDocument/2006/relationships/font" Target="fonts/JosefinSans-regular.fntdata"/><Relationship Id="rId53" Type="http://schemas.openxmlformats.org/officeDocument/2006/relationships/font" Target="fonts/JosefinSans-boldItalic.fntdata"/><Relationship Id="rId52" Type="http://schemas.openxmlformats.org/officeDocument/2006/relationships/font" Target="fonts/Josefi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6ba350af3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6ba350af3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6a8e3d43eb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6a8e3d43e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26a8e3d43eb_0_61: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6a8e3d43eb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6a8e3d43e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26a8e3d43eb_0_67: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a8e3d43eb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5" name="Google Shape;275;g26a8e3d43eb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6a8e3d43eb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82" name="Google Shape;282;g26a8e3d43eb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6a8e3d43eb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89" name="Google Shape;289;g26a8e3d43eb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6a8e3d43eb_0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6a8e3d43e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26a8e3d43eb_0_86: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6a8e3d43eb_0_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6a8e3d43e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26a8e3d43eb_0_95: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6a8e3d43eb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6a8e3d43eb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6a8e3d43eb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20" name="Google Shape;320;g26a8e3d43eb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6a8e3d43eb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27" name="Google Shape;327;g26a8e3d43eb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6a8e3d43eb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6a8e3d43eb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6a8e3d43eb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42" name="Google Shape;342;g26a8e3d43eb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6a8e3d43eb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51" name="Google Shape;351;g26a8e3d43eb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6a8e3d43eb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58" name="Google Shape;358;g26a8e3d43eb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6a8e3d43eb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6a8e3d43eb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6a8e3d43eb_0_6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7" name="Google Shape;377;g26a8e3d43eb_0_6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6a8e3d43eb_0_6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87" name="Google Shape;387;g26a8e3d43eb_0_6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6a8e3d43eb_0_6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96" name="Google Shape;396;g26a8e3d43eb_0_6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a8e3d43eb_0_2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26a8e3d43eb_0_2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404" name="Google Shape;404;g26a8e3d43eb_0_276: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 sz="1200" u="none" cap="none" strike="noStrike">
                <a:solidFill>
                  <a:schemeClr val="dk1"/>
                </a:solidFill>
                <a:latin typeface="Calibri"/>
                <a:ea typeface="Calibri"/>
                <a:cs typeface="Calibri"/>
                <a:sym typeface="Calibri"/>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6a8e3d43eb_0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11" name="Google Shape;411;g26a8e3d43eb_0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6a8e3d43eb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17" name="Google Shape;417;g26a8e3d43eb_0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6a8e3d43eb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25" name="Google Shape;425;g26a8e3d43eb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6a8e3d43eb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6a8e3d43eb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6a8e3d43eb_0_6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42" name="Google Shape;442;g26a8e3d43eb_0_6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6a8e3d43eb_0_6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49" name="Google Shape;449;g26a8e3d43eb_0_6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6a8e3d43eb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57" name="Google Shape;457;g26a8e3d43eb_0_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6a8e3d43eb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6a8e3d43eb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6a8e3d43eb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6a8e3d43eb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6a8e3d43eb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6a8e3d43eb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6a8e3d43eb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6a8e3d43eb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6a8e3d43eb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6a8e3d43eb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6a8e3d43eb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99" name="Google Shape;499;g26a8e3d43eb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6a8e3d43eb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06" name="Google Shape;506;g26a8e3d43eb_0_7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6a8e3d43eb_0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15" name="Google Shape;515;g26a8e3d43eb_0_2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6a8e3d43eb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20" name="Google Shape;520;g26a8e3d43eb_0_2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6a8e3d43eb_0_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28" name="Google Shape;528;g26a8e3d43eb_0_2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6a8e3d43eb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36" name="Google Shape;536;g26a8e3d43eb_0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6b8db7022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44" name="Google Shape;544;g26b8db7022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6b8db7022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6b8db7022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6a8e3d43eb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6a8e3d43eb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26a8e3d43eb_0_211: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26b8db7022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26b8db7022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6a8e3d43eb_0_2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6a8e3d43eb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g26a8e3d43eb_0_294: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grpSp>
        <p:nvGrpSpPr>
          <p:cNvPr id="54" name="Google Shape;54;p2"/>
          <p:cNvGrpSpPr/>
          <p:nvPr/>
        </p:nvGrpSpPr>
        <p:grpSpPr>
          <a:xfrm>
            <a:off x="-645041" y="0"/>
            <a:ext cx="10458613" cy="5337692"/>
            <a:chOff x="-645041" y="0"/>
            <a:chExt cx="10458613" cy="7116923"/>
          </a:xfrm>
        </p:grpSpPr>
        <p:grpSp>
          <p:nvGrpSpPr>
            <p:cNvPr id="55" name="Google Shape;55;p2"/>
            <p:cNvGrpSpPr/>
            <p:nvPr/>
          </p:nvGrpSpPr>
          <p:grpSpPr>
            <a:xfrm>
              <a:off x="0" y="0"/>
              <a:ext cx="9144000" cy="6858000"/>
              <a:chOff x="0" y="0"/>
              <a:chExt cx="9144000" cy="6858000"/>
            </a:xfrm>
          </p:grpSpPr>
          <p:grpSp>
            <p:nvGrpSpPr>
              <p:cNvPr id="56" name="Google Shape;56;p2"/>
              <p:cNvGrpSpPr/>
              <p:nvPr/>
            </p:nvGrpSpPr>
            <p:grpSpPr>
              <a:xfrm>
                <a:off x="0" y="0"/>
                <a:ext cx="2514600" cy="6858000"/>
                <a:chOff x="0" y="0"/>
                <a:chExt cx="2514600" cy="6858000"/>
              </a:xfrm>
            </p:grpSpPr>
            <p:sp>
              <p:nvSpPr>
                <p:cNvPr id="57" name="Google Shape;57;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8" name="Google Shape;58;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9" name="Google Shape;59;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0" name="Google Shape;60;p2"/>
              <p:cNvGrpSpPr/>
              <p:nvPr/>
            </p:nvGrpSpPr>
            <p:grpSpPr>
              <a:xfrm>
                <a:off x="42291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rot="10800000">
                <a:off x="662940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68" name="Google Shape;68;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9" name="Google Shape;69;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1" name="Google Shape;71;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2" name="Google Shape;72;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3" name="Google Shape;73;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4" name="Google Shape;74;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5" name="Google Shape;75;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7" name="Google Shape;77;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8" name="Google Shape;78;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9" name="Google Shape;79;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0" name="Google Shape;80;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3" name="Google Shape;93;p2"/>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a:off x="4649096" y="-16133"/>
            <a:ext cx="3505200" cy="173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txBox="1"/>
          <p:nvPr>
            <p:ph type="ctrTitle"/>
          </p:nvPr>
        </p:nvSpPr>
        <p:spPr>
          <a:xfrm>
            <a:off x="4733365" y="2031357"/>
            <a:ext cx="3313500" cy="1276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96" name="Google Shape;96;p2"/>
          <p:cNvSpPr txBox="1"/>
          <p:nvPr>
            <p:ph idx="1" type="subTitle"/>
          </p:nvPr>
        </p:nvSpPr>
        <p:spPr>
          <a:xfrm>
            <a:off x="4733365" y="3315810"/>
            <a:ext cx="3309900" cy="945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97" name="Google Shape;97;p2"/>
          <p:cNvSpPr txBox="1"/>
          <p:nvPr>
            <p:ph idx="10" type="dt"/>
          </p:nvPr>
        </p:nvSpPr>
        <p:spPr>
          <a:xfrm>
            <a:off x="4738744" y="1137621"/>
            <a:ext cx="2133600" cy="5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98" name="Google Shape;98;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idx="11" type="ftr"/>
          </p:nvPr>
        </p:nvSpPr>
        <p:spPr>
          <a:xfrm>
            <a:off x="5303520" y="4289975"/>
            <a:ext cx="28317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0" name="Google Shape;100;p2"/>
          <p:cNvSpPr txBox="1"/>
          <p:nvPr>
            <p:ph idx="12" type="sldNum"/>
          </p:nvPr>
        </p:nvSpPr>
        <p:spPr>
          <a:xfrm>
            <a:off x="4649096" y="4289975"/>
            <a:ext cx="6438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3"/>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4" name="Google Shape;104;p3"/>
          <p:cNvSpPr txBox="1"/>
          <p:nvPr>
            <p:ph idx="1" type="body"/>
          </p:nvPr>
        </p:nvSpPr>
        <p:spPr>
          <a:xfrm>
            <a:off x="1043492" y="1742739"/>
            <a:ext cx="6777300" cy="2631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5" name="Google Shape;105;p3"/>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6" name="Google Shape;106;p3"/>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7" name="Google Shape;107;p3"/>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4"/>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4"/>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4"/>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5"/>
          <p:cNvSpPr txBox="1"/>
          <p:nvPr>
            <p:ph type="title"/>
          </p:nvPr>
        </p:nvSpPr>
        <p:spPr>
          <a:xfrm>
            <a:off x="1258645" y="2175622"/>
            <a:ext cx="6637500" cy="1021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4" name="Google Shape;114;p5"/>
          <p:cNvSpPr txBox="1"/>
          <p:nvPr>
            <p:ph idx="1" type="body"/>
          </p:nvPr>
        </p:nvSpPr>
        <p:spPr>
          <a:xfrm>
            <a:off x="1258645" y="3200400"/>
            <a:ext cx="6637500" cy="11403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5" name="Google Shape;115;p5"/>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6" name="Google Shape;116;p5"/>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7" name="Google Shape;117;p5"/>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p6"/>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0" name="Google Shape;120;p6"/>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6"/>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2" name="Google Shape;122;p6"/>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23" name="Google Shape;123;p6"/>
          <p:cNvSpPr txBox="1"/>
          <p:nvPr>
            <p:ph idx="1" type="body"/>
          </p:nvPr>
        </p:nvSpPr>
        <p:spPr>
          <a:xfrm>
            <a:off x="1042416" y="1735074"/>
            <a:ext cx="3420000" cy="2619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4" name="Google Shape;124;p6"/>
          <p:cNvSpPr txBox="1"/>
          <p:nvPr>
            <p:ph idx="2" type="body"/>
          </p:nvPr>
        </p:nvSpPr>
        <p:spPr>
          <a:xfrm>
            <a:off x="4645152" y="1735073"/>
            <a:ext cx="3420000" cy="2619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7"/>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7" name="Google Shape;127;p7"/>
          <p:cNvSpPr txBox="1"/>
          <p:nvPr>
            <p:ph idx="1" type="body"/>
          </p:nvPr>
        </p:nvSpPr>
        <p:spPr>
          <a:xfrm>
            <a:off x="1412111" y="1737007"/>
            <a:ext cx="3057000" cy="4797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28" name="Google Shape;128;p7"/>
          <p:cNvSpPr txBox="1"/>
          <p:nvPr>
            <p:ph idx="2" type="body"/>
          </p:nvPr>
        </p:nvSpPr>
        <p:spPr>
          <a:xfrm>
            <a:off x="1041721" y="2231020"/>
            <a:ext cx="3420000" cy="2126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29" name="Google Shape;129;p7"/>
          <p:cNvSpPr txBox="1"/>
          <p:nvPr>
            <p:ph idx="3" type="body"/>
          </p:nvPr>
        </p:nvSpPr>
        <p:spPr>
          <a:xfrm>
            <a:off x="5011837" y="1737007"/>
            <a:ext cx="3055800" cy="4797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0" name="Google Shape;130;p7"/>
          <p:cNvSpPr txBox="1"/>
          <p:nvPr>
            <p:ph idx="4" type="body"/>
          </p:nvPr>
        </p:nvSpPr>
        <p:spPr>
          <a:xfrm>
            <a:off x="4645152" y="2231020"/>
            <a:ext cx="3420000" cy="2126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1" name="Google Shape;131;p7"/>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2" name="Google Shape;132;p7"/>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3" name="Google Shape;133;p7"/>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8"/>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6" name="Google Shape;136;p8"/>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8"/>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8" name="Google Shape;138;p8"/>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grpSp>
        <p:nvGrpSpPr>
          <p:cNvPr id="140" name="Google Shape;140;p9"/>
          <p:cNvGrpSpPr/>
          <p:nvPr/>
        </p:nvGrpSpPr>
        <p:grpSpPr>
          <a:xfrm>
            <a:off x="-645041" y="0"/>
            <a:ext cx="10458613" cy="5337692"/>
            <a:chOff x="-645041" y="0"/>
            <a:chExt cx="10458613" cy="7116923"/>
          </a:xfrm>
        </p:grpSpPr>
        <p:grpSp>
          <p:nvGrpSpPr>
            <p:cNvPr id="141" name="Google Shape;141;p9"/>
            <p:cNvGrpSpPr/>
            <p:nvPr/>
          </p:nvGrpSpPr>
          <p:grpSpPr>
            <a:xfrm>
              <a:off x="0" y="0"/>
              <a:ext cx="9144000" cy="6858000"/>
              <a:chOff x="0" y="0"/>
              <a:chExt cx="9144000" cy="6858000"/>
            </a:xfrm>
          </p:grpSpPr>
          <p:grpSp>
            <p:nvGrpSpPr>
              <p:cNvPr id="142" name="Google Shape;142;p9"/>
              <p:cNvGrpSpPr/>
              <p:nvPr/>
            </p:nvGrpSpPr>
            <p:grpSpPr>
              <a:xfrm>
                <a:off x="0" y="0"/>
                <a:ext cx="2514600" cy="6858000"/>
                <a:chOff x="0" y="0"/>
                <a:chExt cx="2514600" cy="6858000"/>
              </a:xfrm>
            </p:grpSpPr>
            <p:sp>
              <p:nvSpPr>
                <p:cNvPr id="143" name="Google Shape;143;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4" name="Google Shape;144;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5" name="Google Shape;145;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46" name="Google Shape;146;p9"/>
              <p:cNvGrpSpPr/>
              <p:nvPr/>
            </p:nvGrpSpPr>
            <p:grpSpPr>
              <a:xfrm>
                <a:off x="42291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rot="10800000">
                <a:off x="662940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4" name="Google Shape;154;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5" name="Google Shape;155;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7" name="Google Shape;157;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8" name="Google Shape;158;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9" name="Google Shape;159;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0" name="Google Shape;160;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1" name="Google Shape;161;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3" name="Google Shape;163;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4" name="Google Shape;164;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5" name="Google Shape;165;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6" name="Google Shape;166;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79" name="Google Shape;179;p9"/>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2" name="Google Shape;182;p9"/>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83" name="Google Shape;183;p9"/>
          <p:cNvSpPr/>
          <p:nvPr/>
        </p:nvSpPr>
        <p:spPr>
          <a:xfrm>
            <a:off x="905571" y="451412"/>
            <a:ext cx="3562200" cy="4236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txBox="1"/>
          <p:nvPr>
            <p:ph idx="1" type="body"/>
          </p:nvPr>
        </p:nvSpPr>
        <p:spPr>
          <a:xfrm>
            <a:off x="1145894" y="642395"/>
            <a:ext cx="3090300" cy="3863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5" name="Google Shape;185;p9"/>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6" name="Google Shape;186;p9"/>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7" name="Google Shape;187;p9"/>
          <p:cNvSpPr txBox="1"/>
          <p:nvPr>
            <p:ph type="title"/>
          </p:nvPr>
        </p:nvSpPr>
        <p:spPr>
          <a:xfrm>
            <a:off x="4739833" y="1993075"/>
            <a:ext cx="33045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8" name="Google Shape;188;p9"/>
          <p:cNvSpPr txBox="1"/>
          <p:nvPr>
            <p:ph idx="2" type="body"/>
          </p:nvPr>
        </p:nvSpPr>
        <p:spPr>
          <a:xfrm>
            <a:off x="4736592" y="3102746"/>
            <a:ext cx="3298800" cy="1138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9" name="Shape 189"/>
        <p:cNvGrpSpPr/>
        <p:nvPr/>
      </p:nvGrpSpPr>
      <p:grpSpPr>
        <a:xfrm>
          <a:off x="0" y="0"/>
          <a:ext cx="0" cy="0"/>
          <a:chOff x="0" y="0"/>
          <a:chExt cx="0" cy="0"/>
        </a:xfrm>
      </p:grpSpPr>
      <p:grpSp>
        <p:nvGrpSpPr>
          <p:cNvPr id="190" name="Google Shape;190;p10"/>
          <p:cNvGrpSpPr/>
          <p:nvPr/>
        </p:nvGrpSpPr>
        <p:grpSpPr>
          <a:xfrm>
            <a:off x="-645041" y="0"/>
            <a:ext cx="10458613" cy="5337692"/>
            <a:chOff x="-645041" y="0"/>
            <a:chExt cx="10458613" cy="7116923"/>
          </a:xfrm>
        </p:grpSpPr>
        <p:grpSp>
          <p:nvGrpSpPr>
            <p:cNvPr id="191" name="Google Shape;191;p10"/>
            <p:cNvGrpSpPr/>
            <p:nvPr/>
          </p:nvGrpSpPr>
          <p:grpSpPr>
            <a:xfrm>
              <a:off x="0" y="0"/>
              <a:ext cx="9144000" cy="6858000"/>
              <a:chOff x="0" y="0"/>
              <a:chExt cx="9144000" cy="6858000"/>
            </a:xfrm>
          </p:grpSpPr>
          <p:grpSp>
            <p:nvGrpSpPr>
              <p:cNvPr id="192" name="Google Shape;192;p10"/>
              <p:cNvGrpSpPr/>
              <p:nvPr/>
            </p:nvGrpSpPr>
            <p:grpSpPr>
              <a:xfrm>
                <a:off x="0" y="0"/>
                <a:ext cx="2514600" cy="6858000"/>
                <a:chOff x="0" y="0"/>
                <a:chExt cx="2514600" cy="6858000"/>
              </a:xfrm>
            </p:grpSpPr>
            <p:sp>
              <p:nvSpPr>
                <p:cNvPr id="193" name="Google Shape;193;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4" name="Google Shape;194;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5" name="Google Shape;195;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96" name="Google Shape;196;p10"/>
              <p:cNvGrpSpPr/>
              <p:nvPr/>
            </p:nvGrpSpPr>
            <p:grpSpPr>
              <a:xfrm>
                <a:off x="42291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rot="10800000">
                <a:off x="662940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4" name="Google Shape;204;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5" name="Google Shape;205;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7" name="Google Shape;207;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8" name="Google Shape;208;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9" name="Google Shape;209;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0" name="Google Shape;210;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1" name="Google Shape;211;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3" name="Google Shape;213;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4" name="Google Shape;214;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5" name="Google Shape;215;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6" name="Google Shape;216;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29" name="Google Shape;229;p10"/>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a:off x="905571" y="451412"/>
            <a:ext cx="3562200" cy="42363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3" name="Google Shape;233;p10"/>
          <p:cNvSpPr txBox="1"/>
          <p:nvPr>
            <p:ph type="title"/>
          </p:nvPr>
        </p:nvSpPr>
        <p:spPr>
          <a:xfrm>
            <a:off x="4734424" y="1995678"/>
            <a:ext cx="33009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4" name="Google Shape;234;p10"/>
          <p:cNvSpPr/>
          <p:nvPr>
            <p:ph idx="2" type="pic"/>
          </p:nvPr>
        </p:nvSpPr>
        <p:spPr>
          <a:xfrm>
            <a:off x="1005208" y="520346"/>
            <a:ext cx="3359700" cy="41010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5" name="Google Shape;235;p10"/>
          <p:cNvSpPr txBox="1"/>
          <p:nvPr>
            <p:ph idx="1" type="body"/>
          </p:nvPr>
        </p:nvSpPr>
        <p:spPr>
          <a:xfrm>
            <a:off x="4734630" y="3099816"/>
            <a:ext cx="3300600" cy="11397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36" name="Google Shape;236;p10"/>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7" name="Google Shape;237;p10"/>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8" name="Google Shape;238;p10"/>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9" name="Shape 239"/>
        <p:cNvGrpSpPr/>
        <p:nvPr/>
      </p:nvGrpSpPr>
      <p:grpSpPr>
        <a:xfrm>
          <a:off x="0" y="0"/>
          <a:ext cx="0" cy="0"/>
          <a:chOff x="0" y="0"/>
          <a:chExt cx="0" cy="0"/>
        </a:xfrm>
      </p:grpSpPr>
      <p:sp>
        <p:nvSpPr>
          <p:cNvPr id="240" name="Google Shape;240;p1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1" name="Google Shape;241;p11"/>
          <p:cNvSpPr txBox="1"/>
          <p:nvPr>
            <p:ph idx="1" type="body"/>
          </p:nvPr>
        </p:nvSpPr>
        <p:spPr>
          <a:xfrm rot="5400000">
            <a:off x="3116359" y="-330111"/>
            <a:ext cx="26316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2" name="Google Shape;242;p1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3" name="Google Shape;243;p1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4" name="Google Shape;244;p1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5" name="Shape 245"/>
        <p:cNvGrpSpPr/>
        <p:nvPr/>
      </p:nvGrpSpPr>
      <p:grpSpPr>
        <a:xfrm>
          <a:off x="0" y="0"/>
          <a:ext cx="0" cy="0"/>
          <a:chOff x="0" y="0"/>
          <a:chExt cx="0" cy="0"/>
        </a:xfrm>
      </p:grpSpPr>
      <p:sp>
        <p:nvSpPr>
          <p:cNvPr id="246" name="Google Shape;246;p12"/>
          <p:cNvSpPr txBox="1"/>
          <p:nvPr>
            <p:ph type="title"/>
          </p:nvPr>
        </p:nvSpPr>
        <p:spPr>
          <a:xfrm rot="5400000">
            <a:off x="5579003" y="1823060"/>
            <a:ext cx="35853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7" name="Google Shape;247;p12"/>
          <p:cNvSpPr txBox="1"/>
          <p:nvPr>
            <p:ph idx="1" type="body"/>
          </p:nvPr>
        </p:nvSpPr>
        <p:spPr>
          <a:xfrm rot="5400000">
            <a:off x="1972500" y="-146590"/>
            <a:ext cx="35853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8" name="Google Shape;248;p12"/>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9" name="Google Shape;249;p12"/>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0" name="Google Shape;250;p12"/>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567437" y="0"/>
            <a:ext cx="10458613" cy="5337692"/>
            <a:chOff x="-645041" y="0"/>
            <a:chExt cx="10458613" cy="7116923"/>
          </a:xfrm>
        </p:grpSpPr>
        <p:grpSp>
          <p:nvGrpSpPr>
            <p:cNvPr id="7" name="Google Shape;7;p1"/>
            <p:cNvGrpSpPr/>
            <p:nvPr/>
          </p:nvGrpSpPr>
          <p:grpSpPr>
            <a:xfrm>
              <a:off x="0" y="0"/>
              <a:ext cx="9144000" cy="6858000"/>
              <a:chOff x="0" y="0"/>
              <a:chExt cx="9144000" cy="6858000"/>
            </a:xfrm>
          </p:grpSpPr>
          <p:grpSp>
            <p:nvGrpSpPr>
              <p:cNvPr id="8" name="Google Shape;8;p1"/>
              <p:cNvGrpSpPr/>
              <p:nvPr/>
            </p:nvGrpSpPr>
            <p:grpSpPr>
              <a:xfrm>
                <a:off x="0" y="0"/>
                <a:ext cx="2514600" cy="6858000"/>
                <a:chOff x="0" y="0"/>
                <a:chExt cx="2514600" cy="6858000"/>
              </a:xfrm>
            </p:grpSpPr>
            <p:sp>
              <p:nvSpPr>
                <p:cNvPr id="9" name="Google Shape;9;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 name="Google Shape;10;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1" name="Google Shape;11;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2" name="Google Shape;12;p1"/>
              <p:cNvGrpSpPr/>
              <p:nvPr/>
            </p:nvGrpSpPr>
            <p:grpSpPr>
              <a:xfrm>
                <a:off x="42291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rot="10800000">
                <a:off x="662940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0" name="Google Shape;20;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1" name="Google Shape;21;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3" name="Google Shape;23;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6" name="Google Shape;26;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 name="Google Shape;27;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9" name="Google Shape;29;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0" name="Google Shape;30;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1" name="Google Shape;31;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2" name="Google Shape;32;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5" name="Google Shape;45;p1"/>
          <p:cNvSpPr/>
          <p:nvPr/>
        </p:nvSpPr>
        <p:spPr>
          <a:xfrm>
            <a:off x="457200" y="250115"/>
            <a:ext cx="8229600" cy="4639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a:off x="4561242" y="-16133"/>
            <a:ext cx="3679200" cy="5244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49" name="Google Shape;49;p1"/>
          <p:cNvSpPr txBox="1"/>
          <p:nvPr>
            <p:ph idx="1" type="body"/>
          </p:nvPr>
        </p:nvSpPr>
        <p:spPr>
          <a:xfrm>
            <a:off x="1043492" y="1742739"/>
            <a:ext cx="6777300" cy="2631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0" name="Google Shape;50;p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1" name="Google Shape;51;p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2" name="Google Shape;52;p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eWHH9je2zG4" TargetMode="Externa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youtube.com/watch?v=cVf38y07cfk" TargetMode="External"/><Relationship Id="rId4" Type="http://schemas.openxmlformats.org/officeDocument/2006/relationships/image" Target="../media/image21.jpg"/><Relationship Id="rId5" Type="http://schemas.openxmlformats.org/officeDocument/2006/relationships/hyperlink" Target="http://www.youtube.com/watch?v=I9XG8EBwdSU" TargetMode="External"/><Relationship Id="rId6" Type="http://schemas.openxmlformats.org/officeDocument/2006/relationships/image" Target="../media/image4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hyperlink" Target="http://www.youtube.com/watch?v=cDGmsR2ZILE" TargetMode="External"/><Relationship Id="rId5" Type="http://schemas.openxmlformats.org/officeDocument/2006/relationships/image" Target="../media/image2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www.youtube.com/watch?v=y9Bdi4dnSlg" TargetMode="External"/><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0.jpg"/><Relationship Id="rId4" Type="http://schemas.openxmlformats.org/officeDocument/2006/relationships/image" Target="../media/image3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hyperlink" Target="http://www.youtube.com/watch?v=XfyGv-xwjlI" TargetMode="External"/><Relationship Id="rId5" Type="http://schemas.openxmlformats.org/officeDocument/2006/relationships/image" Target="../media/image3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9.png"/><Relationship Id="rId4" Type="http://schemas.openxmlformats.org/officeDocument/2006/relationships/hyperlink" Target="http://www.youtube.com/watch?v=HKHuQYVcxG4" TargetMode="External"/><Relationship Id="rId5" Type="http://schemas.openxmlformats.org/officeDocument/2006/relationships/image" Target="../media/image3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www.youtube.com/watch?v=8IUZjCSkbrc" TargetMode="External"/><Relationship Id="rId4" Type="http://schemas.openxmlformats.org/officeDocument/2006/relationships/image" Target="../media/image41.jpg"/><Relationship Id="rId5" Type="http://schemas.openxmlformats.org/officeDocument/2006/relationships/hyperlink" Target="http://www.youtube.com/watch?v=v-t1Z5-oPtU" TargetMode="External"/><Relationship Id="rId6" Type="http://schemas.openxmlformats.org/officeDocument/2006/relationships/image" Target="../media/image4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www.youtube.com/watch?v=BYaR-JgbjCs" TargetMode="External"/><Relationship Id="rId4" Type="http://schemas.openxmlformats.org/officeDocument/2006/relationships/image" Target="../media/image49.jpg"/><Relationship Id="rId5" Type="http://schemas.openxmlformats.org/officeDocument/2006/relationships/hyperlink" Target="http://www.youtube.com/watch?v=QHkGG4TimvQ" TargetMode="External"/><Relationship Id="rId6" Type="http://schemas.openxmlformats.org/officeDocument/2006/relationships/image" Target="../media/image5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www.youtube.com/watch?v=SCV_m91mN-Q" TargetMode="External"/><Relationship Id="rId4" Type="http://schemas.openxmlformats.org/officeDocument/2006/relationships/image" Target="../media/image42.jpg"/><Relationship Id="rId10" Type="http://schemas.openxmlformats.org/officeDocument/2006/relationships/image" Target="../media/image44.jpg"/><Relationship Id="rId9" Type="http://schemas.openxmlformats.org/officeDocument/2006/relationships/hyperlink" Target="http://www.youtube.com/watch?v=lgqbs5a6Guw" TargetMode="External"/><Relationship Id="rId5" Type="http://schemas.openxmlformats.org/officeDocument/2006/relationships/hyperlink" Target="http://www.youtube.com/watch?v=k_QhDbUd654" TargetMode="External"/><Relationship Id="rId6" Type="http://schemas.openxmlformats.org/officeDocument/2006/relationships/image" Target="../media/image35.jpg"/><Relationship Id="rId7" Type="http://schemas.openxmlformats.org/officeDocument/2006/relationships/hyperlink" Target="http://www.youtube.com/watch?v=GYQyWYHt_vk" TargetMode="External"/><Relationship Id="rId8" Type="http://schemas.openxmlformats.org/officeDocument/2006/relationships/image" Target="../media/image4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ph type="ctrTitle"/>
          </p:nvPr>
        </p:nvSpPr>
        <p:spPr>
          <a:xfrm>
            <a:off x="4733365" y="2031357"/>
            <a:ext cx="3313500" cy="127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Chapter 13</a:t>
            </a:r>
            <a:endParaRPr/>
          </a:p>
        </p:txBody>
      </p:sp>
      <p:sp>
        <p:nvSpPr>
          <p:cNvPr id="256" name="Google Shape;256;p13"/>
          <p:cNvSpPr txBox="1"/>
          <p:nvPr>
            <p:ph idx="1" type="subTitle"/>
          </p:nvPr>
        </p:nvSpPr>
        <p:spPr>
          <a:xfrm>
            <a:off x="4735165" y="3307860"/>
            <a:ext cx="3309900" cy="9456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a:t>The Endocrine System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4"/>
          <p:cNvSpPr txBox="1"/>
          <p:nvPr/>
        </p:nvSpPr>
        <p:spPr>
          <a:xfrm>
            <a:off x="720200" y="1807551"/>
            <a:ext cx="7413600" cy="2210400"/>
          </a:xfrm>
          <a:prstGeom prst="rect">
            <a:avLst/>
          </a:prstGeom>
          <a:noFill/>
          <a:ln>
            <a:noFill/>
          </a:ln>
        </p:spPr>
        <p:txBody>
          <a:bodyPr anchorCtr="0" anchor="t" bIns="45700" lIns="91425" spcFirstLastPara="1" rIns="91425" wrap="square" tIns="45700">
            <a:noAutofit/>
          </a:bodyPr>
          <a:lstStyle/>
          <a:p>
            <a:pPr indent="-281073" lvl="0" marL="342900" rtl="0" algn="l">
              <a:lnSpc>
                <a:spcPct val="115000"/>
              </a:lnSpc>
              <a:spcBef>
                <a:spcPts val="40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Roles of the endocrine vs. nervous system</a:t>
            </a:r>
            <a:endParaRPr sz="1600">
              <a:solidFill>
                <a:srgbClr val="38393E"/>
              </a:solidFill>
              <a:latin typeface="Verdana"/>
              <a:ea typeface="Verdana"/>
              <a:cs typeface="Verdana"/>
              <a:sym typeface="Verdana"/>
            </a:endParaRPr>
          </a:p>
          <a:p>
            <a:pPr indent="-281073" lvl="0" marL="342900" rtl="0" algn="l">
              <a:lnSpc>
                <a:spcPct val="115000"/>
              </a:lnSpc>
              <a:spcBef>
                <a:spcPts val="100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Positive vs. negative feedback</a:t>
            </a:r>
            <a:endParaRPr sz="1600">
              <a:solidFill>
                <a:srgbClr val="38393E"/>
              </a:solidFill>
              <a:latin typeface="Verdana"/>
              <a:ea typeface="Verdana"/>
              <a:cs typeface="Verdana"/>
              <a:sym typeface="Verdana"/>
            </a:endParaRPr>
          </a:p>
          <a:p>
            <a:pPr indent="-281073" lvl="0" marL="342900" rtl="0" algn="l">
              <a:lnSpc>
                <a:spcPct val="115000"/>
              </a:lnSpc>
              <a:spcBef>
                <a:spcPts val="1000"/>
              </a:spcBef>
              <a:spcAft>
                <a:spcPts val="0"/>
              </a:spcAft>
              <a:buClr>
                <a:srgbClr val="38393E"/>
              </a:buClr>
              <a:buSzPts val="1600"/>
              <a:buFont typeface="Verdana"/>
              <a:buChar char="○"/>
            </a:pPr>
            <a:r>
              <a:rPr lang="en" sz="1600">
                <a:solidFill>
                  <a:srgbClr val="38393E"/>
                </a:solidFill>
                <a:latin typeface="Verdana"/>
                <a:ea typeface="Verdana"/>
                <a:cs typeface="Verdana"/>
                <a:sym typeface="Verdana"/>
              </a:rPr>
              <a:t>Principal endocrine glands: hypothalamus/pituitary complex, thyroid, parathyroid, adrenal glands, &amp; islet cells of the pancreas</a:t>
            </a:r>
            <a:endParaRPr sz="2000">
              <a:solidFill>
                <a:srgbClr val="676A73"/>
              </a:solidFill>
              <a:latin typeface="Verdana"/>
              <a:ea typeface="Verdana"/>
              <a:cs typeface="Verdana"/>
              <a:sym typeface="Verdana"/>
            </a:endParaRPr>
          </a:p>
        </p:txBody>
      </p:sp>
      <p:sp>
        <p:nvSpPr>
          <p:cNvPr id="263" name="Google Shape;263;p14"/>
          <p:cNvSpPr txBox="1"/>
          <p:nvPr>
            <p:ph idx="4294967295" type="title"/>
          </p:nvPr>
        </p:nvSpPr>
        <p:spPr>
          <a:xfrm>
            <a:off x="669700" y="760700"/>
            <a:ext cx="76374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lang="en" sz="3600" u="sng">
                <a:latin typeface="Average"/>
                <a:ea typeface="Average"/>
                <a:cs typeface="Average"/>
                <a:sym typeface="Average"/>
              </a:rPr>
              <a:t>Chapter 13:</a:t>
            </a:r>
            <a:r>
              <a:rPr b="1" i="0" lang="en" sz="3600" u="sng" cap="none" strike="noStrike">
                <a:solidFill>
                  <a:schemeClr val="accent1"/>
                </a:solidFill>
                <a:latin typeface="Average"/>
                <a:ea typeface="Average"/>
                <a:cs typeface="Average"/>
                <a:sym typeface="Average"/>
              </a:rPr>
              <a:t> </a:t>
            </a:r>
            <a:r>
              <a:rPr b="1" lang="en" sz="3600" u="sng">
                <a:latin typeface="Average"/>
                <a:ea typeface="Average"/>
                <a:cs typeface="Average"/>
                <a:sym typeface="Average"/>
              </a:rPr>
              <a:t>Endocrine System</a:t>
            </a:r>
            <a:endParaRPr u="sng"/>
          </a:p>
        </p:txBody>
      </p:sp>
      <p:sp>
        <p:nvSpPr>
          <p:cNvPr id="264" name="Google Shape;264;p14"/>
          <p:cNvSpPr txBox="1"/>
          <p:nvPr/>
        </p:nvSpPr>
        <p:spPr>
          <a:xfrm>
            <a:off x="849700" y="4017950"/>
            <a:ext cx="7277400" cy="400200"/>
          </a:xfrm>
          <a:prstGeom prst="rect">
            <a:avLst/>
          </a:prstGeom>
          <a:solidFill>
            <a:srgbClr val="F5F5F5"/>
          </a:solidFill>
          <a:ln cap="flat" cmpd="sng" w="9525">
            <a:solidFill>
              <a:srgbClr val="9E9E9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Verdana"/>
                <a:ea typeface="Verdana"/>
                <a:cs typeface="Verdana"/>
                <a:sym typeface="Verdana"/>
              </a:rPr>
              <a:t>* Textbook pages 434-465</a:t>
            </a:r>
            <a:endParaRPr b="1" i="1">
              <a:latin typeface="Verdana"/>
              <a:ea typeface="Verdana"/>
              <a:cs typeface="Verdana"/>
              <a:sym typeface="Verdana"/>
            </a:endParaRPr>
          </a:p>
        </p:txBody>
      </p:sp>
      <p:sp>
        <p:nvSpPr>
          <p:cNvPr id="265" name="Google Shape;265;p14"/>
          <p:cNvSpPr txBox="1"/>
          <p:nvPr/>
        </p:nvSpPr>
        <p:spPr>
          <a:xfrm>
            <a:off x="4851925" y="1189650"/>
            <a:ext cx="431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Hank begins teaching you about your endocrine system by explaining how it uses glands to produce hormones. These hormones are either amino-acid based and water soluble, or steroidal and lipid-soluble, and may target many types of cells or just turn on specific ones. He will also touch on hormone cascades, and how the HPA axis effects your stress response. &#10;&#10;Table of Contents&#10;Endocrine System 2:32&#10;Glands Produce Hormones 2:58&#10;Amino Acid Based and Water Soluble 4:18&#10;Steroidal and Lipid Soluble 4:44&#10;Hormone Cascades 6:15&#10;HPA Axis Effects Your Stress Response 6:30&#10;&#10;***&#10;&#10;Crash Course Psychology Poster: http://www.dftba.com/crashcourse&#10;&#10;***&#10;&#10;Crash Course is now on Patreon! You can support us directly by signing up at http://www.patreon.com/crashcourse&#10;&#10;Thanks to the following Patrons for their generous monthly contributions that help keep Crash Course free for everyone forever:&#10;&#10;Mark Brouwer, Jan Schmid, Steve Marshall, Anna-Ester Volozh, Sandra Aft, Brad Wardell, Christian Ludvigsen, Robert Kunz, Jason, A Saslow, Jacob Ash, Jeffrey Thompson, Jessica Simmons, James Craver, Simun Niclasen, SR Foxley, Roger C. Rocha, Nevin, Spoljaric, Eric Knight, Elliot Beter, Jessica Wode&#10;&#10;***SUBBABLE MESSAGES***&#10;&#10;TO: Laura Hewett&#10;FROM: Amy Paez&#10;&#10;Greetings from the other side of the world! DFTBA&#10;&#10;--&#10;&#10;TO: Wesley&#10;FROM: G&#10;&#10;Distance is created by the Desert Otherworld, therefore we shall not be destroyed.&#10;&#10;***SUPPORTER THANK YOU!***&#10;&#10;Thank you so much to all of our awesome supporters for their contributions to help make Crash Course possible and freely available for everyone forever:&#10;&#10;Mickey Maloney, Dan  Smalley, Stephen DeCubellis, Vanessa Benavent, Andrew Galante, LankySam!, David Costello, Vanessa Benavent, Kenzo Yasuda, Tessa White&#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271" name="Google Shape;271;p15" title="Endocrine System, part 1 - Glands &amp; Hormones: Crash Course A&amp;P #23">
            <a:hlinkClick r:id="rId3"/>
          </p:cNvPr>
          <p:cNvPicPr preferRelativeResize="0"/>
          <p:nvPr/>
        </p:nvPicPr>
        <p:blipFill>
          <a:blip r:embed="rId4">
            <a:alphaModFix/>
          </a:blip>
          <a:stretch>
            <a:fillRect/>
          </a:stretch>
        </p:blipFill>
        <p:spPr>
          <a:xfrm>
            <a:off x="2541363" y="1332972"/>
            <a:ext cx="4029076" cy="3021807"/>
          </a:xfrm>
          <a:prstGeom prst="rect">
            <a:avLst/>
          </a:prstGeom>
          <a:noFill/>
          <a:ln>
            <a:noFill/>
          </a:ln>
        </p:spPr>
      </p:pic>
      <p:sp>
        <p:nvSpPr>
          <p:cNvPr id="272" name="Google Shape;272;p15"/>
          <p:cNvSpPr txBox="1"/>
          <p:nvPr>
            <p:ph idx="4294967295" type="title"/>
          </p:nvPr>
        </p:nvSpPr>
        <p:spPr>
          <a:xfrm>
            <a:off x="1043490" y="735546"/>
            <a:ext cx="7024800" cy="406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Intro/Overview</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6"/>
          <p:cNvSpPr txBox="1"/>
          <p:nvPr>
            <p:ph type="title"/>
          </p:nvPr>
        </p:nvSpPr>
        <p:spPr>
          <a:xfrm>
            <a:off x="827579" y="951575"/>
            <a:ext cx="4050600" cy="371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i="0" lang="en" sz="2800" u="none" cap="none" strike="noStrike">
                <a:solidFill>
                  <a:schemeClr val="accent1"/>
                </a:solidFill>
                <a:latin typeface="Verdana"/>
                <a:ea typeface="Verdana"/>
                <a:cs typeface="Verdana"/>
                <a:sym typeface="Verdana"/>
              </a:rPr>
              <a:t>Homeostasis is</a:t>
            </a:r>
            <a:r>
              <a:rPr b="1" lang="en" sz="2800"/>
              <a:t>…</a:t>
            </a:r>
            <a:endParaRPr/>
          </a:p>
        </p:txBody>
      </p:sp>
      <p:pic>
        <p:nvPicPr>
          <p:cNvPr descr="http://originalstrength.net/wp-content/uploads/2013/10/balance.jpg" id="278" name="Google Shape;278;p16"/>
          <p:cNvPicPr preferRelativeResize="0"/>
          <p:nvPr/>
        </p:nvPicPr>
        <p:blipFill rotWithShape="1">
          <a:blip r:embed="rId3">
            <a:alphaModFix/>
          </a:blip>
          <a:srcRect b="0" l="0" r="0" t="0"/>
          <a:stretch/>
        </p:blipFill>
        <p:spPr>
          <a:xfrm>
            <a:off x="4522203" y="1607143"/>
            <a:ext cx="4050450" cy="2990582"/>
          </a:xfrm>
          <a:prstGeom prst="rect">
            <a:avLst/>
          </a:prstGeom>
          <a:noFill/>
          <a:ln>
            <a:noFill/>
          </a:ln>
        </p:spPr>
      </p:pic>
      <p:sp>
        <p:nvSpPr>
          <p:cNvPr id="279" name="Google Shape;279;p16"/>
          <p:cNvSpPr txBox="1"/>
          <p:nvPr/>
        </p:nvSpPr>
        <p:spPr>
          <a:xfrm>
            <a:off x="857250" y="1714500"/>
            <a:ext cx="3625200" cy="2883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Font typeface="Average"/>
              <a:buChar char="➢"/>
            </a:pPr>
            <a:r>
              <a:rPr lang="en" sz="2000">
                <a:solidFill>
                  <a:schemeClr val="dk2"/>
                </a:solidFill>
                <a:latin typeface="Average"/>
                <a:ea typeface="Average"/>
                <a:cs typeface="Average"/>
                <a:sym typeface="Average"/>
              </a:rPr>
              <a:t>A stable internal environment that the body aims to maintain for optimal functioning</a:t>
            </a:r>
            <a:endParaRPr sz="2000">
              <a:solidFill>
                <a:schemeClr val="dk2"/>
              </a:solidFill>
              <a:latin typeface="Average"/>
              <a:ea typeface="Average"/>
              <a:cs typeface="Average"/>
              <a:sym typeface="Average"/>
            </a:endParaRPr>
          </a:p>
          <a:p>
            <a:pPr indent="0" lvl="0" marL="457200" rtl="0" algn="l">
              <a:spcBef>
                <a:spcPts val="0"/>
              </a:spcBef>
              <a:spcAft>
                <a:spcPts val="0"/>
              </a:spcAft>
              <a:buNone/>
            </a:pPr>
            <a:r>
              <a:t/>
            </a:r>
            <a:endParaRPr sz="2000">
              <a:solidFill>
                <a:schemeClr val="dk2"/>
              </a:solidFill>
              <a:latin typeface="Average"/>
              <a:ea typeface="Average"/>
              <a:cs typeface="Average"/>
              <a:sym typeface="Average"/>
            </a:endParaRPr>
          </a:p>
          <a:p>
            <a:pPr indent="-355600" lvl="0" marL="457200" rtl="0" algn="l">
              <a:spcBef>
                <a:spcPts val="0"/>
              </a:spcBef>
              <a:spcAft>
                <a:spcPts val="0"/>
              </a:spcAft>
              <a:buClr>
                <a:schemeClr val="dk2"/>
              </a:buClr>
              <a:buSzPts val="2000"/>
              <a:buFont typeface="Average"/>
              <a:buChar char="➢"/>
            </a:pPr>
            <a:r>
              <a:rPr lang="en" sz="2000">
                <a:solidFill>
                  <a:schemeClr val="dk2"/>
                </a:solidFill>
                <a:latin typeface="Average"/>
                <a:ea typeface="Average"/>
                <a:cs typeface="Average"/>
                <a:sym typeface="Average"/>
              </a:rPr>
              <a:t>A ‘state of internal equilibrium’</a:t>
            </a:r>
            <a:endParaRPr sz="2000">
              <a:solidFill>
                <a:schemeClr val="dk2"/>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7"/>
          <p:cNvSpPr txBox="1"/>
          <p:nvPr>
            <p:ph idx="1" type="body"/>
          </p:nvPr>
        </p:nvSpPr>
        <p:spPr>
          <a:xfrm>
            <a:off x="769258" y="653477"/>
            <a:ext cx="7344900" cy="1080300"/>
          </a:xfrm>
          <a:prstGeom prst="rect">
            <a:avLst/>
          </a:prstGeom>
          <a:noFill/>
          <a:ln>
            <a:noFill/>
          </a:ln>
        </p:spPr>
        <p:txBody>
          <a:bodyPr anchorCtr="0" anchor="t" bIns="45700" lIns="91425" spcFirstLastPara="1" rIns="91425" wrap="square" tIns="45700">
            <a:noAutofit/>
          </a:bodyPr>
          <a:lstStyle/>
          <a:p>
            <a:pPr indent="-5080" lvl="0" marL="68580" marR="0" rtl="0" algn="ctr">
              <a:lnSpc>
                <a:spcPct val="100000"/>
              </a:lnSpc>
              <a:spcBef>
                <a:spcPts val="0"/>
              </a:spcBef>
              <a:spcAft>
                <a:spcPts val="0"/>
              </a:spcAft>
              <a:buClr>
                <a:schemeClr val="accent1"/>
              </a:buClr>
              <a:buSzPts val="600"/>
              <a:buFont typeface="Noto Sans Symbols"/>
              <a:buNone/>
            </a:pPr>
            <a:r>
              <a:rPr b="1" i="0" lang="en" sz="2400" u="none" cap="none" strike="noStrike">
                <a:solidFill>
                  <a:srgbClr val="4B4D53"/>
                </a:solidFill>
                <a:latin typeface="Verdana"/>
                <a:ea typeface="Verdana"/>
                <a:cs typeface="Verdana"/>
                <a:sym typeface="Verdana"/>
              </a:rPr>
              <a:t>The endocrine system works in conjunction with the nervous system to maintain homeostasis within the body:</a:t>
            </a:r>
            <a:endParaRPr/>
          </a:p>
        </p:txBody>
      </p:sp>
      <p:pic>
        <p:nvPicPr>
          <p:cNvPr id="285" name="Google Shape;285;p17"/>
          <p:cNvPicPr preferRelativeResize="0"/>
          <p:nvPr/>
        </p:nvPicPr>
        <p:blipFill rotWithShape="1">
          <a:blip r:embed="rId3">
            <a:alphaModFix/>
          </a:blip>
          <a:srcRect b="0" l="0" r="0" t="0"/>
          <a:stretch/>
        </p:blipFill>
        <p:spPr>
          <a:xfrm>
            <a:off x="511714" y="1869860"/>
            <a:ext cx="4321045" cy="2916324"/>
          </a:xfrm>
          <a:prstGeom prst="rect">
            <a:avLst/>
          </a:prstGeom>
          <a:noFill/>
          <a:ln>
            <a:noFill/>
          </a:ln>
        </p:spPr>
      </p:pic>
      <p:pic>
        <p:nvPicPr>
          <p:cNvPr id="286" name="Google Shape;286;p17"/>
          <p:cNvPicPr preferRelativeResize="0"/>
          <p:nvPr/>
        </p:nvPicPr>
        <p:blipFill rotWithShape="1">
          <a:blip r:embed="rId4">
            <a:alphaModFix/>
          </a:blip>
          <a:srcRect b="0" l="0" r="0" t="14566"/>
          <a:stretch/>
        </p:blipFill>
        <p:spPr>
          <a:xfrm>
            <a:off x="4832750" y="2385148"/>
            <a:ext cx="3847825" cy="212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aphicFrame>
        <p:nvGraphicFramePr>
          <p:cNvPr id="291" name="Google Shape;291;p18"/>
          <p:cNvGraphicFramePr/>
          <p:nvPr/>
        </p:nvGraphicFramePr>
        <p:xfrm>
          <a:off x="1307965" y="2056442"/>
          <a:ext cx="3000000" cy="3000000"/>
        </p:xfrm>
        <a:graphic>
          <a:graphicData uri="http://schemas.openxmlformats.org/drawingml/2006/table">
            <a:tbl>
              <a:tblPr bandRow="1" firstRow="1">
                <a:noFill/>
                <a:tableStyleId>{A559B137-44B6-4C91-A9F5-D46CE4A25346}</a:tableStyleId>
              </a:tblPr>
              <a:tblGrid>
                <a:gridCol w="3264025"/>
                <a:gridCol w="3264025"/>
              </a:tblGrid>
              <a:tr h="249775">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NERVOUS SYSTEM</a:t>
                      </a:r>
                      <a:endParaRPr sz="1100"/>
                    </a:p>
                  </a:txBody>
                  <a:tcPr marT="34300" marB="34300" marR="91450" marL="91450"/>
                </a:tc>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ENDOCRINE SYSTEM</a:t>
                      </a:r>
                      <a:endParaRPr sz="1100"/>
                    </a:p>
                  </a:txBody>
                  <a:tcPr marT="34300" marB="34300" marR="91450" marL="91450"/>
                </a:tc>
              </a:tr>
              <a:tr h="437125">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Rapid response to change</a:t>
                      </a:r>
                      <a:endParaRPr sz="1100"/>
                    </a:p>
                  </a:txBody>
                  <a:tcPr marT="34300" marB="34300" marR="91450" marL="91450"/>
                </a:tc>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Sustained response to change</a:t>
                      </a:r>
                      <a:endParaRPr sz="1100"/>
                    </a:p>
                  </a:txBody>
                  <a:tcPr marT="34300" marB="34300" marR="91450" marL="91450"/>
                </a:tc>
              </a:tr>
              <a:tr h="437125">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Electrical/chemical signals</a:t>
                      </a:r>
                      <a:endParaRPr sz="1100"/>
                    </a:p>
                  </a:txBody>
                  <a:tcPr marT="34300" marB="34300" marR="91450" marL="91450"/>
                </a:tc>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Hormonal signals</a:t>
                      </a:r>
                      <a:endParaRPr sz="1100"/>
                    </a:p>
                  </a:txBody>
                  <a:tcPr marT="34300" marB="34300" marR="91450" marL="91450"/>
                </a:tc>
              </a:tr>
              <a:tr h="437125">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Signals relayed through neurons (hence rapid </a:t>
                      </a:r>
                      <a:r>
                        <a:rPr lang="en"/>
                        <a:t>response)</a:t>
                      </a:r>
                      <a:endParaRPr sz="1100"/>
                    </a:p>
                  </a:txBody>
                  <a:tcPr marT="34300" marB="34300" marR="91450" marL="91450"/>
                </a:tc>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Signals relayed through the bloodstream (hence slower response)</a:t>
                      </a:r>
                      <a:endParaRPr sz="1100"/>
                    </a:p>
                  </a:txBody>
                  <a:tcPr marT="34300" marB="34300" marR="91450" marL="91450"/>
                </a:tc>
              </a:tr>
              <a:tr h="437125">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Affects specific locations</a:t>
                      </a:r>
                      <a:endParaRPr sz="1100"/>
                    </a:p>
                  </a:txBody>
                  <a:tcPr marT="34300" marB="34300" marR="91450" marL="91450"/>
                </a:tc>
                <a:tc>
                  <a:txBody>
                    <a:bodyPr/>
                    <a:lstStyle/>
                    <a:p>
                      <a:pPr indent="0" lvl="0" marL="0" marR="0" rtl="0" algn="l">
                        <a:lnSpc>
                          <a:spcPct val="100000"/>
                        </a:lnSpc>
                        <a:spcBef>
                          <a:spcPts val="0"/>
                        </a:spcBef>
                        <a:spcAft>
                          <a:spcPts val="0"/>
                        </a:spcAft>
                        <a:buClr>
                          <a:srgbClr val="000000"/>
                        </a:buClr>
                        <a:buSzPts val="300"/>
                        <a:buFont typeface="Arial"/>
                        <a:buNone/>
                      </a:pPr>
                      <a:r>
                        <a:rPr lang="en" sz="1400" u="none" cap="none" strike="noStrike"/>
                        <a:t>Affects whole-body functioning</a:t>
                      </a:r>
                      <a:endParaRPr sz="1100"/>
                    </a:p>
                  </a:txBody>
                  <a:tcPr marT="34300" marB="34300" marR="91450" marL="91450"/>
                </a:tc>
              </a:tr>
            </a:tbl>
          </a:graphicData>
        </a:graphic>
      </p:graphicFrame>
      <p:sp>
        <p:nvSpPr>
          <p:cNvPr id="292" name="Google Shape;292;p18"/>
          <p:cNvSpPr txBox="1"/>
          <p:nvPr/>
        </p:nvSpPr>
        <p:spPr>
          <a:xfrm>
            <a:off x="946800" y="936950"/>
            <a:ext cx="6889200" cy="28833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Average"/>
              <a:buChar char="➢"/>
            </a:pPr>
            <a:r>
              <a:rPr lang="en" sz="1900">
                <a:solidFill>
                  <a:schemeClr val="dk1"/>
                </a:solidFill>
                <a:latin typeface="Average"/>
                <a:ea typeface="Average"/>
                <a:cs typeface="Average"/>
                <a:sym typeface="Average"/>
              </a:rPr>
              <a:t>Although the two systems work together, there are some key differences between them and the way in which they act</a:t>
            </a:r>
            <a:endParaRPr sz="1900">
              <a:solidFill>
                <a:schemeClr val="dk1"/>
              </a:solidFill>
              <a:latin typeface="Average"/>
              <a:ea typeface="Average"/>
              <a:cs typeface="Average"/>
              <a:sym typeface="Average"/>
            </a:endParaRPr>
          </a:p>
          <a:p>
            <a:pPr indent="0" lvl="0" marL="457200" rtl="0" algn="l">
              <a:spcBef>
                <a:spcPts val="0"/>
              </a:spcBef>
              <a:spcAft>
                <a:spcPts val="0"/>
              </a:spcAft>
              <a:buNone/>
            </a:pPr>
            <a:r>
              <a:t/>
            </a:r>
            <a:endParaRPr sz="1900">
              <a:solidFill>
                <a:schemeClr val="dk1"/>
              </a:solidFill>
              <a:latin typeface="Average"/>
              <a:ea typeface="Average"/>
              <a:cs typeface="Average"/>
              <a:sym typeface="Average"/>
            </a:endParaRPr>
          </a:p>
          <a:p>
            <a:pPr indent="0" lvl="0" marL="457200" rtl="0" algn="l">
              <a:spcBef>
                <a:spcPts val="0"/>
              </a:spcBef>
              <a:spcAft>
                <a:spcPts val="0"/>
              </a:spcAft>
              <a:buNone/>
            </a:pPr>
            <a:r>
              <a:t/>
            </a:r>
            <a:endParaRPr sz="1900">
              <a:solidFill>
                <a:schemeClr val="dk1"/>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9"/>
          <p:cNvSpPr txBox="1"/>
          <p:nvPr>
            <p:ph idx="4294967295" type="title"/>
          </p:nvPr>
        </p:nvSpPr>
        <p:spPr>
          <a:xfrm>
            <a:off x="1043490" y="735546"/>
            <a:ext cx="7024800" cy="406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Feedback Loops</a:t>
            </a:r>
            <a:endParaRPr sz="3000"/>
          </a:p>
        </p:txBody>
      </p:sp>
      <p:sp>
        <p:nvSpPr>
          <p:cNvPr id="299" name="Google Shape;299;p19"/>
          <p:cNvSpPr/>
          <p:nvPr/>
        </p:nvSpPr>
        <p:spPr>
          <a:xfrm>
            <a:off x="757650" y="2072450"/>
            <a:ext cx="4308000" cy="221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000" u="sng">
                <a:solidFill>
                  <a:srgbClr val="434343"/>
                </a:solidFill>
                <a:latin typeface="Verdana"/>
                <a:ea typeface="Verdana"/>
                <a:cs typeface="Verdana"/>
                <a:sym typeface="Verdana"/>
              </a:rPr>
              <a:t>Negative Feedback:</a:t>
            </a:r>
            <a:endParaRPr b="1" sz="2000" u="sng">
              <a:solidFill>
                <a:srgbClr val="434343"/>
              </a:solidFill>
              <a:latin typeface="Verdana"/>
              <a:ea typeface="Verdana"/>
              <a:cs typeface="Verdana"/>
              <a:sym typeface="Verdana"/>
            </a:endParaRPr>
          </a:p>
          <a:p>
            <a:pPr indent="-330200" lvl="0" marL="457200" marR="0" rtl="0" algn="l">
              <a:lnSpc>
                <a:spcPct val="100000"/>
              </a:lnSpc>
              <a:spcBef>
                <a:spcPts val="0"/>
              </a:spcBef>
              <a:spcAft>
                <a:spcPts val="0"/>
              </a:spcAft>
              <a:buClr>
                <a:srgbClr val="434343"/>
              </a:buClr>
              <a:buSzPts val="1600"/>
              <a:buFont typeface="Verdana"/>
              <a:buChar char="●"/>
            </a:pPr>
            <a:r>
              <a:rPr lang="en" sz="1600">
                <a:solidFill>
                  <a:srgbClr val="434343"/>
                </a:solidFill>
                <a:latin typeface="Verdana"/>
                <a:ea typeface="Verdana"/>
                <a:cs typeface="Verdana"/>
                <a:sym typeface="Verdana"/>
              </a:rPr>
              <a:t>returns a system to homeostasis</a:t>
            </a:r>
            <a:endParaRPr sz="1600">
              <a:solidFill>
                <a:srgbClr val="434343"/>
              </a:solidFill>
              <a:latin typeface="Verdana"/>
              <a:ea typeface="Verdana"/>
              <a:cs typeface="Verdana"/>
              <a:sym typeface="Verdana"/>
            </a:endParaRPr>
          </a:p>
          <a:p>
            <a:pPr indent="-330200" lvl="0" marL="457200" marR="0" rtl="0" algn="l">
              <a:lnSpc>
                <a:spcPct val="100000"/>
              </a:lnSpc>
              <a:spcBef>
                <a:spcPts val="0"/>
              </a:spcBef>
              <a:spcAft>
                <a:spcPts val="0"/>
              </a:spcAft>
              <a:buClr>
                <a:srgbClr val="434343"/>
              </a:buClr>
              <a:buSzPts val="1600"/>
              <a:buFont typeface="Verdana"/>
              <a:buChar char="●"/>
            </a:pPr>
            <a:r>
              <a:rPr lang="en" sz="1600">
                <a:solidFill>
                  <a:srgbClr val="434343"/>
                </a:solidFill>
                <a:latin typeface="Verdana"/>
                <a:ea typeface="Verdana"/>
                <a:cs typeface="Verdana"/>
                <a:sym typeface="Verdana"/>
              </a:rPr>
              <a:t>inhibits or counteracts the stimulus that sets off the response</a:t>
            </a:r>
            <a:endParaRPr sz="1600">
              <a:solidFill>
                <a:srgbClr val="434343"/>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600">
              <a:solidFill>
                <a:srgbClr val="434343"/>
              </a:solidFill>
              <a:latin typeface="Verdana"/>
              <a:ea typeface="Verdana"/>
              <a:cs typeface="Verdana"/>
              <a:sym typeface="Verdana"/>
            </a:endParaRPr>
          </a:p>
          <a:p>
            <a:pPr indent="0" lvl="0" marL="0" marR="0" rtl="0" algn="l">
              <a:lnSpc>
                <a:spcPct val="100000"/>
              </a:lnSpc>
              <a:spcBef>
                <a:spcPts val="0"/>
              </a:spcBef>
              <a:spcAft>
                <a:spcPts val="0"/>
              </a:spcAft>
              <a:buNone/>
            </a:pPr>
            <a:r>
              <a:rPr b="1" lang="en" sz="2000" u="sng">
                <a:solidFill>
                  <a:srgbClr val="434343"/>
                </a:solidFill>
                <a:latin typeface="Verdana"/>
                <a:ea typeface="Verdana"/>
                <a:cs typeface="Verdana"/>
                <a:sym typeface="Verdana"/>
              </a:rPr>
              <a:t>Positive Feedback:</a:t>
            </a:r>
            <a:endParaRPr b="1" sz="2000" u="sng">
              <a:solidFill>
                <a:srgbClr val="434343"/>
              </a:solidFill>
              <a:latin typeface="Verdana"/>
              <a:ea typeface="Verdana"/>
              <a:cs typeface="Verdana"/>
              <a:sym typeface="Verdana"/>
            </a:endParaRPr>
          </a:p>
          <a:p>
            <a:pPr indent="-330200" lvl="0" marL="457200" marR="0" rtl="0" algn="l">
              <a:lnSpc>
                <a:spcPct val="100000"/>
              </a:lnSpc>
              <a:spcBef>
                <a:spcPts val="0"/>
              </a:spcBef>
              <a:spcAft>
                <a:spcPts val="0"/>
              </a:spcAft>
              <a:buClr>
                <a:srgbClr val="434343"/>
              </a:buClr>
              <a:buSzPts val="1600"/>
              <a:buFont typeface="Verdana"/>
              <a:buChar char="●"/>
            </a:pPr>
            <a:r>
              <a:rPr lang="en" sz="1600">
                <a:solidFill>
                  <a:srgbClr val="434343"/>
                </a:solidFill>
                <a:latin typeface="Verdana"/>
                <a:ea typeface="Verdana"/>
                <a:cs typeface="Verdana"/>
                <a:sym typeface="Verdana"/>
              </a:rPr>
              <a:t>takes the body further from homeostasis</a:t>
            </a:r>
            <a:endParaRPr sz="1600">
              <a:solidFill>
                <a:srgbClr val="434343"/>
              </a:solidFill>
              <a:latin typeface="Verdana"/>
              <a:ea typeface="Verdana"/>
              <a:cs typeface="Verdana"/>
              <a:sym typeface="Verdana"/>
            </a:endParaRPr>
          </a:p>
          <a:p>
            <a:pPr indent="-330200" lvl="0" marL="457200" marR="0" rtl="0" algn="l">
              <a:lnSpc>
                <a:spcPct val="100000"/>
              </a:lnSpc>
              <a:spcBef>
                <a:spcPts val="0"/>
              </a:spcBef>
              <a:spcAft>
                <a:spcPts val="0"/>
              </a:spcAft>
              <a:buClr>
                <a:srgbClr val="434343"/>
              </a:buClr>
              <a:buSzPts val="1600"/>
              <a:buFont typeface="Verdana"/>
              <a:buChar char="●"/>
            </a:pPr>
            <a:r>
              <a:rPr lang="en" sz="1600">
                <a:solidFill>
                  <a:srgbClr val="434343"/>
                </a:solidFill>
                <a:latin typeface="Verdana"/>
                <a:ea typeface="Verdana"/>
                <a:cs typeface="Verdana"/>
                <a:sym typeface="Verdana"/>
              </a:rPr>
              <a:t>exaggerates or increases the stimulus that sets off the response</a:t>
            </a:r>
            <a:endParaRPr sz="1600">
              <a:solidFill>
                <a:srgbClr val="434343"/>
              </a:solidFill>
              <a:latin typeface="Verdana"/>
              <a:ea typeface="Verdana"/>
              <a:cs typeface="Verdana"/>
              <a:sym typeface="Verdana"/>
            </a:endParaRPr>
          </a:p>
        </p:txBody>
      </p:sp>
      <p:sp>
        <p:nvSpPr>
          <p:cNvPr id="300" name="Google Shape;300;p19"/>
          <p:cNvSpPr txBox="1"/>
          <p:nvPr/>
        </p:nvSpPr>
        <p:spPr>
          <a:xfrm>
            <a:off x="623975" y="1021300"/>
            <a:ext cx="8226600" cy="96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434343"/>
                </a:solidFill>
                <a:latin typeface="Verdana"/>
                <a:ea typeface="Verdana"/>
                <a:cs typeface="Verdana"/>
                <a:sym typeface="Verdana"/>
              </a:rPr>
              <a:t>The endocrine system responds to changes in the internal environment through the use of positive or negative feedback. </a:t>
            </a:r>
            <a:endParaRPr sz="2000"/>
          </a:p>
        </p:txBody>
      </p:sp>
      <p:grpSp>
        <p:nvGrpSpPr>
          <p:cNvPr id="301" name="Google Shape;301;p19"/>
          <p:cNvGrpSpPr/>
          <p:nvPr/>
        </p:nvGrpSpPr>
        <p:grpSpPr>
          <a:xfrm>
            <a:off x="5151275" y="2290700"/>
            <a:ext cx="3552651" cy="1881582"/>
            <a:chOff x="4684750" y="2280975"/>
            <a:chExt cx="3552651" cy="1881582"/>
          </a:xfrm>
        </p:grpSpPr>
        <p:pic>
          <p:nvPicPr>
            <p:cNvPr id="302" name="Google Shape;302;p19"/>
            <p:cNvPicPr preferRelativeResize="0"/>
            <p:nvPr/>
          </p:nvPicPr>
          <p:blipFill rotWithShape="1">
            <a:blip r:embed="rId3">
              <a:alphaModFix/>
            </a:blip>
            <a:srcRect b="0" l="0" r="38718" t="0"/>
            <a:stretch/>
          </p:blipFill>
          <p:spPr>
            <a:xfrm>
              <a:off x="4793625" y="2361469"/>
              <a:ext cx="3443776" cy="1801088"/>
            </a:xfrm>
            <a:prstGeom prst="rect">
              <a:avLst/>
            </a:prstGeom>
            <a:noFill/>
            <a:ln>
              <a:noFill/>
            </a:ln>
          </p:spPr>
        </p:pic>
        <p:sp>
          <p:nvSpPr>
            <p:cNvPr id="303" name="Google Shape;303;p19"/>
            <p:cNvSpPr txBox="1"/>
            <p:nvPr/>
          </p:nvSpPr>
          <p:spPr>
            <a:xfrm>
              <a:off x="4684750" y="2280975"/>
              <a:ext cx="3443700" cy="2892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Verdana"/>
                  <a:ea typeface="Verdana"/>
                  <a:cs typeface="Verdana"/>
                  <a:sym typeface="Verdana"/>
                </a:rPr>
                <a:t>Positive		            Negative</a:t>
              </a:r>
              <a:endParaRPr b="1">
                <a:latin typeface="Verdana"/>
                <a:ea typeface="Verdana"/>
                <a:cs typeface="Verdana"/>
                <a:sym typeface="Verdan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0"/>
          <p:cNvSpPr txBox="1"/>
          <p:nvPr>
            <p:ph idx="4294967295" type="title"/>
          </p:nvPr>
        </p:nvSpPr>
        <p:spPr>
          <a:xfrm>
            <a:off x="827240" y="990396"/>
            <a:ext cx="7024800" cy="406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Feedback Loop Examples</a:t>
            </a:r>
            <a:endParaRPr sz="3000"/>
          </a:p>
        </p:txBody>
      </p:sp>
      <p:sp>
        <p:nvSpPr>
          <p:cNvPr id="310" name="Google Shape;310;p20"/>
          <p:cNvSpPr/>
          <p:nvPr/>
        </p:nvSpPr>
        <p:spPr>
          <a:xfrm>
            <a:off x="701750" y="1481225"/>
            <a:ext cx="7804500" cy="3036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 sz="1900" u="sng">
                <a:solidFill>
                  <a:srgbClr val="434343"/>
                </a:solidFill>
                <a:latin typeface="Verdana"/>
                <a:ea typeface="Verdana"/>
                <a:cs typeface="Verdana"/>
                <a:sym typeface="Verdana"/>
              </a:rPr>
              <a:t>Negative Feedback:</a:t>
            </a:r>
            <a:endParaRPr b="1" sz="1900" u="sng">
              <a:solidFill>
                <a:srgbClr val="434343"/>
              </a:solidFill>
              <a:latin typeface="Verdana"/>
              <a:ea typeface="Verdana"/>
              <a:cs typeface="Verdana"/>
              <a:sym typeface="Verdana"/>
            </a:endParaRPr>
          </a:p>
          <a:p>
            <a:pPr indent="-323850" lvl="0" marL="457200" marR="0" rtl="0" algn="l">
              <a:lnSpc>
                <a:spcPct val="100000"/>
              </a:lnSpc>
              <a:spcBef>
                <a:spcPts val="0"/>
              </a:spcBef>
              <a:spcAft>
                <a:spcPts val="0"/>
              </a:spcAft>
              <a:buClr>
                <a:srgbClr val="434343"/>
              </a:buClr>
              <a:buSzPts val="1500"/>
              <a:buFont typeface="Verdana"/>
              <a:buChar char="●"/>
            </a:pPr>
            <a:r>
              <a:rPr lang="en" sz="1500">
                <a:solidFill>
                  <a:srgbClr val="434343"/>
                </a:solidFill>
                <a:latin typeface="Verdana"/>
                <a:ea typeface="Verdana"/>
                <a:cs typeface="Verdana"/>
                <a:sym typeface="Verdana"/>
              </a:rPr>
              <a:t>Blood sugar: After eating, blood sugar levels rise, triggering the release of insulin from the pancreas. Insulin stimulates cells to become permeable to sugar, causing blood sugar levels to fall, and insulin production to cease.) </a:t>
            </a:r>
            <a:endParaRPr sz="1500">
              <a:solidFill>
                <a:srgbClr val="434343"/>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500">
              <a:solidFill>
                <a:srgbClr val="434343"/>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500">
              <a:solidFill>
                <a:srgbClr val="434343"/>
              </a:solidFill>
              <a:latin typeface="Verdana"/>
              <a:ea typeface="Verdana"/>
              <a:cs typeface="Verdana"/>
              <a:sym typeface="Verdana"/>
            </a:endParaRPr>
          </a:p>
          <a:p>
            <a:pPr indent="0" lvl="0" marL="0" marR="0" rtl="0" algn="l">
              <a:lnSpc>
                <a:spcPct val="150000"/>
              </a:lnSpc>
              <a:spcBef>
                <a:spcPts val="0"/>
              </a:spcBef>
              <a:spcAft>
                <a:spcPts val="0"/>
              </a:spcAft>
              <a:buNone/>
            </a:pPr>
            <a:r>
              <a:rPr b="1" lang="en" sz="1900" u="sng">
                <a:solidFill>
                  <a:srgbClr val="434343"/>
                </a:solidFill>
                <a:latin typeface="Verdana"/>
                <a:ea typeface="Verdana"/>
                <a:cs typeface="Verdana"/>
                <a:sym typeface="Verdana"/>
              </a:rPr>
              <a:t>Positive Feedback:</a:t>
            </a:r>
            <a:endParaRPr b="1" sz="1900" u="sng">
              <a:solidFill>
                <a:srgbClr val="434343"/>
              </a:solidFill>
              <a:latin typeface="Verdana"/>
              <a:ea typeface="Verdana"/>
              <a:cs typeface="Verdana"/>
              <a:sym typeface="Verdana"/>
            </a:endParaRPr>
          </a:p>
          <a:p>
            <a:pPr indent="-323850" lvl="0" marL="457200" rtl="0" algn="l">
              <a:spcBef>
                <a:spcPts val="0"/>
              </a:spcBef>
              <a:spcAft>
                <a:spcPts val="0"/>
              </a:spcAft>
              <a:buClr>
                <a:srgbClr val="434343"/>
              </a:buClr>
              <a:buSzPts val="1500"/>
              <a:buFont typeface="Verdana"/>
              <a:buChar char="●"/>
            </a:pPr>
            <a:r>
              <a:rPr lang="en" sz="1500">
                <a:solidFill>
                  <a:srgbClr val="434343"/>
                </a:solidFill>
                <a:latin typeface="Verdana"/>
                <a:ea typeface="Verdana"/>
                <a:cs typeface="Verdana"/>
                <a:sym typeface="Verdana"/>
              </a:rPr>
              <a:t>Childbirth: As the baby moves into position and presses on the cervix, it sends a signal to increase the rate of contractions, which further pushes the baby against the cervix which in turn increases contractions even further. </a:t>
            </a:r>
            <a:endParaRPr sz="1500">
              <a:solidFill>
                <a:srgbClr val="434343"/>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1"/>
          <p:cNvSpPr txBox="1"/>
          <p:nvPr/>
        </p:nvSpPr>
        <p:spPr>
          <a:xfrm>
            <a:off x="888500" y="703700"/>
            <a:ext cx="6889200" cy="2883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Average"/>
              <a:buChar char="➢"/>
            </a:pPr>
            <a:r>
              <a:rPr lang="en" sz="1600">
                <a:solidFill>
                  <a:schemeClr val="dk1"/>
                </a:solidFill>
                <a:latin typeface="Average"/>
                <a:ea typeface="Average"/>
                <a:cs typeface="Average"/>
                <a:sym typeface="Average"/>
              </a:rPr>
              <a:t>Most feedback loops in the human body are negative, and aim to reestablish homeostasis when a particular value is out of normal range.</a:t>
            </a:r>
            <a:endParaRPr sz="1600">
              <a:solidFill>
                <a:schemeClr val="dk1"/>
              </a:solidFill>
              <a:latin typeface="Average"/>
              <a:ea typeface="Average"/>
              <a:cs typeface="Average"/>
              <a:sym typeface="Average"/>
            </a:endParaRPr>
          </a:p>
          <a:p>
            <a:pPr indent="-330200" lvl="0" marL="457200" rtl="0" algn="l">
              <a:spcBef>
                <a:spcPts val="0"/>
              </a:spcBef>
              <a:spcAft>
                <a:spcPts val="0"/>
              </a:spcAft>
              <a:buClr>
                <a:schemeClr val="dk1"/>
              </a:buClr>
              <a:buSzPts val="1600"/>
              <a:buFont typeface="Average"/>
              <a:buChar char="➢"/>
            </a:pPr>
            <a:r>
              <a:rPr lang="en" sz="1600">
                <a:solidFill>
                  <a:schemeClr val="dk1"/>
                </a:solidFill>
                <a:latin typeface="Average"/>
                <a:ea typeface="Average"/>
                <a:cs typeface="Average"/>
                <a:sym typeface="Average"/>
              </a:rPr>
              <a:t>An example is body temperature, that can be compared to how the thermostat works in your home:</a:t>
            </a:r>
            <a:endParaRPr sz="1600">
              <a:solidFill>
                <a:schemeClr val="dk1"/>
              </a:solidFill>
              <a:latin typeface="Average"/>
              <a:ea typeface="Average"/>
              <a:cs typeface="Average"/>
              <a:sym typeface="Average"/>
            </a:endParaRPr>
          </a:p>
          <a:p>
            <a:pPr indent="0" lvl="0" marL="457200" rtl="0" algn="l">
              <a:spcBef>
                <a:spcPts val="0"/>
              </a:spcBef>
              <a:spcAft>
                <a:spcPts val="0"/>
              </a:spcAft>
              <a:buNone/>
            </a:pPr>
            <a:r>
              <a:t/>
            </a:r>
            <a:endParaRPr sz="1900">
              <a:solidFill>
                <a:schemeClr val="dk1"/>
              </a:solidFill>
              <a:latin typeface="Average"/>
              <a:ea typeface="Average"/>
              <a:cs typeface="Average"/>
              <a:sym typeface="Average"/>
            </a:endParaRPr>
          </a:p>
          <a:p>
            <a:pPr indent="0" lvl="0" marL="457200" rtl="0" algn="l">
              <a:spcBef>
                <a:spcPts val="0"/>
              </a:spcBef>
              <a:spcAft>
                <a:spcPts val="0"/>
              </a:spcAft>
              <a:buNone/>
            </a:pPr>
            <a:r>
              <a:t/>
            </a:r>
            <a:endParaRPr sz="1900">
              <a:solidFill>
                <a:schemeClr val="dk1"/>
              </a:solidFill>
              <a:latin typeface="Average"/>
              <a:ea typeface="Average"/>
              <a:cs typeface="Average"/>
              <a:sym typeface="Average"/>
            </a:endParaRPr>
          </a:p>
        </p:txBody>
      </p:sp>
      <p:pic>
        <p:nvPicPr>
          <p:cNvPr id="316" name="Google Shape;316;p21"/>
          <p:cNvPicPr preferRelativeResize="0"/>
          <p:nvPr/>
        </p:nvPicPr>
        <p:blipFill rotWithShape="1">
          <a:blip r:embed="rId3">
            <a:alphaModFix/>
          </a:blip>
          <a:srcRect b="0" l="33972" r="0" t="0"/>
          <a:stretch/>
        </p:blipFill>
        <p:spPr>
          <a:xfrm>
            <a:off x="565650" y="1738675"/>
            <a:ext cx="2755550" cy="3129899"/>
          </a:xfrm>
          <a:prstGeom prst="rect">
            <a:avLst/>
          </a:prstGeom>
          <a:noFill/>
          <a:ln>
            <a:noFill/>
          </a:ln>
        </p:spPr>
      </p:pic>
      <p:pic>
        <p:nvPicPr>
          <p:cNvPr id="317" name="Google Shape;317;p21"/>
          <p:cNvPicPr preferRelativeResize="0"/>
          <p:nvPr/>
        </p:nvPicPr>
        <p:blipFill>
          <a:blip r:embed="rId4">
            <a:alphaModFix/>
          </a:blip>
          <a:stretch>
            <a:fillRect/>
          </a:stretch>
        </p:blipFill>
        <p:spPr>
          <a:xfrm>
            <a:off x="4028749" y="1799500"/>
            <a:ext cx="4815700" cy="30082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2"/>
          <p:cNvSpPr txBox="1"/>
          <p:nvPr>
            <p:ph type="title"/>
          </p:nvPr>
        </p:nvSpPr>
        <p:spPr>
          <a:xfrm>
            <a:off x="632700" y="1669375"/>
            <a:ext cx="3333600" cy="1909500"/>
          </a:xfrm>
          <a:prstGeom prst="rect">
            <a:avLst/>
          </a:prstGeom>
          <a:noFill/>
          <a:ln>
            <a:noFill/>
          </a:ln>
        </p:spPr>
        <p:txBody>
          <a:bodyPr anchorCtr="0" anchor="b" bIns="45700" lIns="91425" spcFirstLastPara="1" rIns="91425" wrap="square" tIns="45700">
            <a:noAutofit/>
          </a:bodyPr>
          <a:lstStyle/>
          <a:p>
            <a:pPr indent="-330200" lvl="0" marL="457200" marR="0" rtl="0" algn="l">
              <a:lnSpc>
                <a:spcPct val="100000"/>
              </a:lnSpc>
              <a:spcBef>
                <a:spcPts val="0"/>
              </a:spcBef>
              <a:spcAft>
                <a:spcPts val="0"/>
              </a:spcAft>
              <a:buClr>
                <a:schemeClr val="dk1"/>
              </a:buClr>
              <a:buSzPts val="1600"/>
              <a:buFont typeface="Average"/>
              <a:buChar char="➢"/>
            </a:pPr>
            <a:r>
              <a:rPr i="0" lang="en" sz="1600" u="none" cap="none" strike="noStrike">
                <a:solidFill>
                  <a:schemeClr val="dk1"/>
                </a:solidFill>
                <a:latin typeface="Average"/>
                <a:ea typeface="Average"/>
                <a:cs typeface="Average"/>
                <a:sym typeface="Average"/>
              </a:rPr>
              <a:t>Hormones interact with receptor proteins specific to their target tissue, inducing a conformational shape change which leads to a cascade of events within each cel</a:t>
            </a:r>
            <a:r>
              <a:rPr lang="en" sz="1600">
                <a:solidFill>
                  <a:schemeClr val="dk1"/>
                </a:solidFill>
                <a:latin typeface="Average"/>
                <a:ea typeface="Average"/>
                <a:cs typeface="Average"/>
                <a:sym typeface="Average"/>
              </a:rPr>
              <a:t>l</a:t>
            </a:r>
            <a:endParaRPr sz="1600">
              <a:solidFill>
                <a:schemeClr val="dk1"/>
              </a:solidFill>
              <a:latin typeface="Average"/>
              <a:ea typeface="Average"/>
              <a:cs typeface="Average"/>
              <a:sym typeface="Average"/>
            </a:endParaRPr>
          </a:p>
        </p:txBody>
      </p:sp>
      <p:pic>
        <p:nvPicPr>
          <p:cNvPr id="323" name="Google Shape;323;p22"/>
          <p:cNvPicPr preferRelativeResize="0"/>
          <p:nvPr/>
        </p:nvPicPr>
        <p:blipFill rotWithShape="1">
          <a:blip r:embed="rId3">
            <a:alphaModFix/>
          </a:blip>
          <a:srcRect b="0" l="0" r="0" t="0"/>
          <a:stretch/>
        </p:blipFill>
        <p:spPr>
          <a:xfrm>
            <a:off x="3882851" y="1477350"/>
            <a:ext cx="4272650" cy="3343450"/>
          </a:xfrm>
          <a:prstGeom prst="rect">
            <a:avLst/>
          </a:prstGeom>
          <a:noFill/>
          <a:ln>
            <a:noFill/>
          </a:ln>
        </p:spPr>
      </p:pic>
      <p:sp>
        <p:nvSpPr>
          <p:cNvPr id="324" name="Google Shape;324;p22"/>
          <p:cNvSpPr txBox="1"/>
          <p:nvPr/>
        </p:nvSpPr>
        <p:spPr>
          <a:xfrm>
            <a:off x="3059632" y="749100"/>
            <a:ext cx="3160800" cy="3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500"/>
              <a:buFont typeface="Verdana"/>
              <a:buNone/>
            </a:pPr>
            <a:r>
              <a:rPr b="1" lang="en" sz="3000">
                <a:solidFill>
                  <a:schemeClr val="accent1"/>
                </a:solidFill>
                <a:latin typeface="Average"/>
                <a:ea typeface="Average"/>
                <a:cs typeface="Average"/>
                <a:sym typeface="Average"/>
              </a:rPr>
              <a:t>Hormones</a:t>
            </a:r>
            <a:endParaRPr sz="3000">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3"/>
          <p:cNvSpPr txBox="1"/>
          <p:nvPr>
            <p:ph type="title"/>
          </p:nvPr>
        </p:nvSpPr>
        <p:spPr>
          <a:xfrm>
            <a:off x="399050" y="704400"/>
            <a:ext cx="8193300" cy="643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 sz="2400" u="none" cap="none" strike="noStrike">
                <a:solidFill>
                  <a:schemeClr val="accent1"/>
                </a:solidFill>
                <a:latin typeface="Verdana"/>
                <a:ea typeface="Verdana"/>
                <a:cs typeface="Verdana"/>
                <a:sym typeface="Verdana"/>
              </a:rPr>
              <a:t>Two types of hormones, classified by the way they interact with target cells:</a:t>
            </a:r>
            <a:endParaRPr/>
          </a:p>
        </p:txBody>
      </p:sp>
      <p:sp>
        <p:nvSpPr>
          <p:cNvPr id="330" name="Google Shape;330;p23"/>
          <p:cNvSpPr txBox="1"/>
          <p:nvPr>
            <p:ph idx="1" type="body"/>
          </p:nvPr>
        </p:nvSpPr>
        <p:spPr>
          <a:xfrm>
            <a:off x="535450" y="1469700"/>
            <a:ext cx="4470900" cy="2992500"/>
          </a:xfrm>
          <a:prstGeom prst="rect">
            <a:avLst/>
          </a:prstGeom>
          <a:noFill/>
          <a:ln>
            <a:noFill/>
          </a:ln>
        </p:spPr>
        <p:txBody>
          <a:bodyPr anchorCtr="0" anchor="t" bIns="45700" lIns="91425" spcFirstLastPara="1" rIns="91425" wrap="square" tIns="45700">
            <a:noAutofit/>
          </a:bodyPr>
          <a:lstStyle/>
          <a:p>
            <a:pPr indent="-284480" lvl="0" marL="342900" marR="0" rtl="0" algn="l">
              <a:lnSpc>
                <a:spcPct val="100000"/>
              </a:lnSpc>
              <a:spcBef>
                <a:spcPts val="0"/>
              </a:spcBef>
              <a:spcAft>
                <a:spcPts val="0"/>
              </a:spcAft>
              <a:buClr>
                <a:schemeClr val="accent1"/>
              </a:buClr>
              <a:buSzPts val="1600"/>
              <a:buFont typeface="Average"/>
              <a:buChar char="○"/>
            </a:pPr>
            <a:r>
              <a:rPr i="0" lang="en" sz="1600" u="none" cap="none" strike="noStrike">
                <a:solidFill>
                  <a:srgbClr val="4B4D53"/>
                </a:solidFill>
                <a:latin typeface="Average"/>
                <a:ea typeface="Average"/>
                <a:cs typeface="Average"/>
                <a:sym typeface="Average"/>
              </a:rPr>
              <a:t>Water soluble hormones cannot cross the lipid membrane, and thus interact with cells by binding to external receptor </a:t>
            </a:r>
            <a:r>
              <a:rPr lang="en" sz="1600">
                <a:solidFill>
                  <a:srgbClr val="4B4D53"/>
                </a:solidFill>
                <a:latin typeface="Average"/>
                <a:ea typeface="Average"/>
                <a:cs typeface="Average"/>
                <a:sym typeface="Average"/>
              </a:rPr>
              <a:t>sites (e.g. hGH, epinephrine)</a:t>
            </a:r>
            <a:endParaRPr sz="1600">
              <a:solidFill>
                <a:srgbClr val="4B4D53"/>
              </a:solidFill>
              <a:latin typeface="Average"/>
              <a:ea typeface="Average"/>
              <a:cs typeface="Average"/>
              <a:sym typeface="Average"/>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i="0" sz="1600" u="none" cap="none" strike="noStrike">
              <a:solidFill>
                <a:srgbClr val="4B4D53"/>
              </a:solidFill>
              <a:latin typeface="Average"/>
              <a:ea typeface="Average"/>
              <a:cs typeface="Average"/>
              <a:sym typeface="Average"/>
            </a:endParaRPr>
          </a:p>
          <a:p>
            <a:pPr indent="-284480" lvl="0" marL="342900" marR="0" rtl="0" algn="l">
              <a:lnSpc>
                <a:spcPct val="100000"/>
              </a:lnSpc>
              <a:spcBef>
                <a:spcPts val="400"/>
              </a:spcBef>
              <a:spcAft>
                <a:spcPts val="0"/>
              </a:spcAft>
              <a:buClr>
                <a:schemeClr val="accent1"/>
              </a:buClr>
              <a:buSzPts val="1600"/>
              <a:buFont typeface="Average"/>
              <a:buChar char="○"/>
            </a:pPr>
            <a:r>
              <a:rPr i="0" lang="en" sz="1600" u="none" cap="none" strike="noStrike">
                <a:solidFill>
                  <a:srgbClr val="4B4D53"/>
                </a:solidFill>
                <a:latin typeface="Average"/>
                <a:ea typeface="Average"/>
                <a:cs typeface="Average"/>
                <a:sym typeface="Average"/>
              </a:rPr>
              <a:t>Fat soluble hormones are able to diffuse across the lipid membrane, and thus interact with cells by binding to receptor sites within the cytoplasm (e.g. sex hormones) </a:t>
            </a:r>
            <a:endParaRPr sz="1600">
              <a:latin typeface="Average"/>
              <a:ea typeface="Average"/>
              <a:cs typeface="Average"/>
              <a:sym typeface="Average"/>
            </a:endParaRPr>
          </a:p>
        </p:txBody>
      </p:sp>
      <p:pic>
        <p:nvPicPr>
          <p:cNvPr id="331" name="Google Shape;331;p23"/>
          <p:cNvPicPr preferRelativeResize="0"/>
          <p:nvPr/>
        </p:nvPicPr>
        <p:blipFill>
          <a:blip r:embed="rId3">
            <a:alphaModFix/>
          </a:blip>
          <a:stretch>
            <a:fillRect/>
          </a:stretch>
        </p:blipFill>
        <p:spPr>
          <a:xfrm>
            <a:off x="5229925" y="1347600"/>
            <a:ext cx="3416074" cy="352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4"/>
          <p:cNvSpPr txBox="1"/>
          <p:nvPr>
            <p:ph idx="1" type="body"/>
          </p:nvPr>
        </p:nvSpPr>
        <p:spPr>
          <a:xfrm>
            <a:off x="528375" y="473900"/>
            <a:ext cx="4439100" cy="28119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1600">
                <a:solidFill>
                  <a:schemeClr val="dk1"/>
                </a:solidFill>
              </a:rPr>
              <a:t>Over the next several slides, you will learn about each endocrine gland and its hormones. There is a LOT to remember for this chapter, which can include some memorization. </a:t>
            </a:r>
            <a:r>
              <a:rPr b="1" lang="en" sz="1600">
                <a:solidFill>
                  <a:schemeClr val="dk1"/>
                </a:solidFill>
              </a:rPr>
              <a:t>BUT</a:t>
            </a:r>
            <a:r>
              <a:rPr lang="en" sz="1600">
                <a:solidFill>
                  <a:schemeClr val="dk1"/>
                </a:solidFill>
              </a:rPr>
              <a:t>..memorization should not occur without meaning. I strongly encourage you to watch these two short videos that will help you use some strategies to better retain and recall information, not only in Bio but in your other courses as well. </a:t>
            </a:r>
            <a:endParaRPr sz="1600">
              <a:solidFill>
                <a:schemeClr val="dk1"/>
              </a:solidFill>
            </a:endParaRPr>
          </a:p>
        </p:txBody>
      </p:sp>
      <p:sp>
        <p:nvSpPr>
          <p:cNvPr id="337" name="Google Shape;337;p24"/>
          <p:cNvSpPr txBox="1"/>
          <p:nvPr/>
        </p:nvSpPr>
        <p:spPr>
          <a:xfrm>
            <a:off x="5123025" y="1035975"/>
            <a:ext cx="3965700" cy="1537200"/>
          </a:xfrm>
          <a:prstGeom prst="rect">
            <a:avLst/>
          </a:prstGeom>
          <a:solidFill>
            <a:srgbClr val="EA999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Verdana"/>
                <a:ea typeface="Verdana"/>
                <a:cs typeface="Verdana"/>
                <a:sym typeface="Verdana"/>
              </a:rPr>
              <a:t>You are responsible for knowing:</a:t>
            </a:r>
            <a:endParaRPr b="1" sz="1600">
              <a:solidFill>
                <a:schemeClr val="dk1"/>
              </a:solidFill>
              <a:latin typeface="Verdana"/>
              <a:ea typeface="Verdana"/>
              <a:cs typeface="Verdana"/>
              <a:sym typeface="Verdana"/>
            </a:endParaRPr>
          </a:p>
          <a:p>
            <a:pPr indent="-330200" lvl="0" marL="457200" rtl="0" algn="l">
              <a:spcBef>
                <a:spcPts val="0"/>
              </a:spcBef>
              <a:spcAft>
                <a:spcPts val="0"/>
              </a:spcAft>
              <a:buClr>
                <a:schemeClr val="dk1"/>
              </a:buClr>
              <a:buSzPts val="1600"/>
              <a:buFont typeface="Verdana"/>
              <a:buAutoNum type="arabicPeriod"/>
            </a:pPr>
            <a:r>
              <a:rPr lang="en" sz="1600">
                <a:solidFill>
                  <a:schemeClr val="dk1"/>
                </a:solidFill>
                <a:latin typeface="Verdana"/>
                <a:ea typeface="Verdana"/>
                <a:cs typeface="Verdana"/>
                <a:sym typeface="Verdana"/>
              </a:rPr>
              <a:t>ALL of these hormones</a:t>
            </a:r>
            <a:endParaRPr sz="1600">
              <a:solidFill>
                <a:schemeClr val="dk1"/>
              </a:solidFill>
              <a:latin typeface="Verdana"/>
              <a:ea typeface="Verdana"/>
              <a:cs typeface="Verdana"/>
              <a:sym typeface="Verdana"/>
            </a:endParaRPr>
          </a:p>
          <a:p>
            <a:pPr indent="-330200" lvl="0" marL="457200" rtl="0" algn="l">
              <a:spcBef>
                <a:spcPts val="0"/>
              </a:spcBef>
              <a:spcAft>
                <a:spcPts val="0"/>
              </a:spcAft>
              <a:buClr>
                <a:schemeClr val="dk1"/>
              </a:buClr>
              <a:buSzPts val="1600"/>
              <a:buFont typeface="Verdana"/>
              <a:buAutoNum type="arabicPeriod"/>
            </a:pPr>
            <a:r>
              <a:rPr lang="en" sz="1600">
                <a:solidFill>
                  <a:schemeClr val="dk1"/>
                </a:solidFill>
                <a:latin typeface="Verdana"/>
                <a:ea typeface="Verdana"/>
                <a:cs typeface="Verdana"/>
                <a:sym typeface="Verdana"/>
              </a:rPr>
              <a:t>The gland that releases them</a:t>
            </a:r>
            <a:endParaRPr sz="1600">
              <a:solidFill>
                <a:schemeClr val="dk1"/>
              </a:solidFill>
              <a:latin typeface="Verdana"/>
              <a:ea typeface="Verdana"/>
              <a:cs typeface="Verdana"/>
              <a:sym typeface="Verdana"/>
            </a:endParaRPr>
          </a:p>
          <a:p>
            <a:pPr indent="-330200" lvl="0" marL="457200" rtl="0" algn="l">
              <a:spcBef>
                <a:spcPts val="0"/>
              </a:spcBef>
              <a:spcAft>
                <a:spcPts val="0"/>
              </a:spcAft>
              <a:buClr>
                <a:schemeClr val="dk1"/>
              </a:buClr>
              <a:buSzPts val="1600"/>
              <a:buFont typeface="Verdana"/>
              <a:buAutoNum type="arabicPeriod"/>
            </a:pPr>
            <a:r>
              <a:rPr lang="en" sz="1600">
                <a:solidFill>
                  <a:schemeClr val="dk1"/>
                </a:solidFill>
                <a:latin typeface="Verdana"/>
                <a:ea typeface="Verdana"/>
                <a:cs typeface="Verdana"/>
                <a:sym typeface="Verdana"/>
              </a:rPr>
              <a:t>Their target</a:t>
            </a:r>
            <a:endParaRPr sz="1600">
              <a:solidFill>
                <a:schemeClr val="dk1"/>
              </a:solidFill>
              <a:latin typeface="Verdana"/>
              <a:ea typeface="Verdana"/>
              <a:cs typeface="Verdana"/>
              <a:sym typeface="Verdana"/>
            </a:endParaRPr>
          </a:p>
          <a:p>
            <a:pPr indent="-330200" lvl="0" marL="457200" rtl="0" algn="l">
              <a:spcBef>
                <a:spcPts val="0"/>
              </a:spcBef>
              <a:spcAft>
                <a:spcPts val="0"/>
              </a:spcAft>
              <a:buClr>
                <a:schemeClr val="dk1"/>
              </a:buClr>
              <a:buSzPts val="1600"/>
              <a:buFont typeface="Verdana"/>
              <a:buAutoNum type="arabicPeriod"/>
            </a:pPr>
            <a:r>
              <a:rPr lang="en" sz="1600">
                <a:solidFill>
                  <a:schemeClr val="dk1"/>
                </a:solidFill>
                <a:latin typeface="Verdana"/>
                <a:ea typeface="Verdana"/>
                <a:cs typeface="Verdana"/>
                <a:sym typeface="Verdana"/>
              </a:rPr>
              <a:t>Their effect</a:t>
            </a:r>
            <a:endParaRPr sz="1600">
              <a:solidFill>
                <a:schemeClr val="dk1"/>
              </a:solidFill>
              <a:latin typeface="Verdana"/>
              <a:ea typeface="Verdana"/>
              <a:cs typeface="Verdana"/>
              <a:sym typeface="Verdana"/>
            </a:endParaRPr>
          </a:p>
        </p:txBody>
      </p:sp>
      <p:pic>
        <p:nvPicPr>
          <p:cNvPr descr="What is spaced repetition? Spaced repetition is a learning technique where you review material and increasingly spaced intervals to improve long-term retention. This video covers the definition of spaced repetition and how to implement it. Find our full video library only on Osmosis: http://osms.it/more. &#10;&#10;Join millions of current and future clinicians who learn by Osmosis, along with hundreds of universities around the world who partner with Osmosis from Elseiver to make medical and health education more engaging and efficient. We have unparalleled tools and materials to prepare you for success in school, on your board exams, and as a future clinician. Sign up for a free trial at http://osms.it/more. If you're interested in exploring an institutional partnership, visit osmosis.org/educators to request a personalized demo.&#10;&#10;Follow us on social:&#10;Facebook: http://osms.it/facebook&#10;Twitter: http://osms.it/twitter&#10;Instagram for med: http://osms.it/instagram&#10;Instagram for nursing: https://osms.it/ignursing&#10;TikTok: https://osms.it/tiktok&#10;Linkedin: https://osms.it/linkedin&#10;&#10;Our Vision: Everyone who cares for someone will learn by Osmosis.&#10;Our Mission: To empower the world’s clinicians and caregivers with the best learning experience possible. Learn more here: http://osms.it/mission&#10;&#10;Medical disclaimer: Osmosis from Elsevier does not provide medical advice. Osmosis from Elsevier and the content available on the Osmosis from Elsevier properties (Osmosis.org, YouTube, and other channels) do not provide a diagnosis or other recommendation for treatment and are not a substitute for the professional judgment of a healthcare professional in diagnosis and treatment of any person or animal. The determination of the need for medical services and the types of healthcare to be provided to a patient are decisions that should be made only by a physician or other licensed healthcare provider. Always seek the advice of a physician or other qualified healthcare professional with any questions you have regarding a medical condition.&#10;&#10;© 2024 Elsevier. All rights reserved." id="338" name="Google Shape;338;p24" title="Spaced repetition in learning theory">
            <a:hlinkClick r:id="rId3"/>
          </p:cNvPr>
          <p:cNvPicPr preferRelativeResize="0"/>
          <p:nvPr/>
        </p:nvPicPr>
        <p:blipFill>
          <a:blip r:embed="rId4">
            <a:alphaModFix/>
          </a:blip>
          <a:stretch>
            <a:fillRect/>
          </a:stretch>
        </p:blipFill>
        <p:spPr>
          <a:xfrm>
            <a:off x="5268800" y="3285800"/>
            <a:ext cx="2629100" cy="1478875"/>
          </a:xfrm>
          <a:prstGeom prst="rect">
            <a:avLst/>
          </a:prstGeom>
          <a:noFill/>
          <a:ln>
            <a:noFill/>
          </a:ln>
        </p:spPr>
      </p:pic>
      <p:pic>
        <p:nvPicPr>
          <p:cNvPr descr="In this video, you’ll learn more about the different kinds of memorization methods and the reasons behind why they work. &#10;&#10;Visit https://www.gcflearnfree.org/ to learn even more.&#10;&#10;We hope you enjoy!" id="339" name="Google Shape;339;p24" title="Memorization Methods and Why They Work">
            <a:hlinkClick r:id="rId5"/>
          </p:cNvPr>
          <p:cNvPicPr preferRelativeResize="0"/>
          <p:nvPr/>
        </p:nvPicPr>
        <p:blipFill>
          <a:blip r:embed="rId6">
            <a:alphaModFix/>
          </a:blip>
          <a:stretch>
            <a:fillRect/>
          </a:stretch>
        </p:blipFill>
        <p:spPr>
          <a:xfrm>
            <a:off x="2153800" y="3439350"/>
            <a:ext cx="2356125" cy="1325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5"/>
          <p:cNvSpPr txBox="1"/>
          <p:nvPr/>
        </p:nvSpPr>
        <p:spPr>
          <a:xfrm>
            <a:off x="1475655" y="681540"/>
            <a:ext cx="6336600" cy="55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B4D53"/>
              </a:buClr>
              <a:buSzPts val="600"/>
              <a:buFont typeface="Verdana"/>
              <a:buNone/>
            </a:pPr>
            <a:r>
              <a:rPr b="1" i="0" lang="en" sz="2400" u="none" cap="none" strike="noStrike">
                <a:solidFill>
                  <a:srgbClr val="4B4D53"/>
                </a:solidFill>
                <a:latin typeface="Verdana"/>
                <a:ea typeface="Verdana"/>
                <a:cs typeface="Verdana"/>
                <a:sym typeface="Verdana"/>
              </a:rPr>
              <a:t>Key glands of the endocrine system</a:t>
            </a:r>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4B4D53"/>
              </a:solidFill>
              <a:latin typeface="Verdana"/>
              <a:ea typeface="Verdana"/>
              <a:cs typeface="Verdana"/>
              <a:sym typeface="Verdana"/>
            </a:endParaRPr>
          </a:p>
        </p:txBody>
      </p:sp>
      <p:pic>
        <p:nvPicPr>
          <p:cNvPr id="345" name="Google Shape;345;p25"/>
          <p:cNvPicPr preferRelativeResize="0"/>
          <p:nvPr/>
        </p:nvPicPr>
        <p:blipFill rotWithShape="1">
          <a:blip r:embed="rId3">
            <a:alphaModFix/>
          </a:blip>
          <a:srcRect b="0" l="0" r="0" t="0"/>
          <a:stretch/>
        </p:blipFill>
        <p:spPr>
          <a:xfrm>
            <a:off x="777640" y="1167593"/>
            <a:ext cx="3600399" cy="3640574"/>
          </a:xfrm>
          <a:prstGeom prst="rect">
            <a:avLst/>
          </a:prstGeom>
          <a:noFill/>
          <a:ln>
            <a:noFill/>
          </a:ln>
        </p:spPr>
      </p:pic>
      <p:sp>
        <p:nvSpPr>
          <p:cNvPr id="346" name="Google Shape;346;p25"/>
          <p:cNvSpPr txBox="1"/>
          <p:nvPr/>
        </p:nvSpPr>
        <p:spPr>
          <a:xfrm>
            <a:off x="5125175" y="1167600"/>
            <a:ext cx="3401700" cy="20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B4D53"/>
              </a:buClr>
              <a:buSzPts val="450"/>
              <a:buFont typeface="Verdana"/>
              <a:buNone/>
            </a:pPr>
            <a:r>
              <a:rPr b="0" i="0" lang="en" sz="1800" u="none" cap="none" strike="noStrike">
                <a:solidFill>
                  <a:srgbClr val="4B4D53"/>
                </a:solidFill>
                <a:latin typeface="Verdana"/>
                <a:ea typeface="Verdana"/>
                <a:cs typeface="Verdana"/>
                <a:sym typeface="Verdana"/>
              </a:rPr>
              <a:t>Each is responsible for secreting specific hormones which, in turn, target and affect the function of specific tissues/organs.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B4D53"/>
              </a:solidFill>
              <a:latin typeface="Verdana"/>
              <a:ea typeface="Verdana"/>
              <a:cs typeface="Verdana"/>
              <a:sym typeface="Verdana"/>
            </a:endParaRPr>
          </a:p>
          <a:p>
            <a:pPr indent="0" lvl="0" marL="0" marR="0" rtl="0" algn="l">
              <a:lnSpc>
                <a:spcPct val="100000"/>
              </a:lnSpc>
              <a:spcBef>
                <a:spcPts val="0"/>
              </a:spcBef>
              <a:spcAft>
                <a:spcPts val="0"/>
              </a:spcAft>
              <a:buClr>
                <a:srgbClr val="4B4D53"/>
              </a:buClr>
              <a:buSzPts val="275"/>
              <a:buFont typeface="Verdana"/>
              <a:buNone/>
            </a:pPr>
            <a:r>
              <a:rPr b="0" i="0" lang="en" sz="1100" u="none" cap="none" strike="noStrike">
                <a:solidFill>
                  <a:srgbClr val="4B4D53"/>
                </a:solidFill>
                <a:latin typeface="Verdana"/>
                <a:ea typeface="Verdana"/>
                <a:cs typeface="Verdana"/>
                <a:sym typeface="Verdana"/>
              </a:rPr>
              <a:t>(see table 13.1 in your text) </a:t>
            </a:r>
            <a:endParaRPr b="0" i="0" sz="1100" u="none" cap="none" strike="noStrike">
              <a:solidFill>
                <a:srgbClr val="4B4D53"/>
              </a:solidFill>
              <a:latin typeface="Verdana"/>
              <a:ea typeface="Verdana"/>
              <a:cs typeface="Verdana"/>
              <a:sym typeface="Verdana"/>
            </a:endParaRPr>
          </a:p>
          <a:p>
            <a:pPr indent="0" lvl="0" marL="0" marR="0" rtl="0" algn="l">
              <a:lnSpc>
                <a:spcPct val="100000"/>
              </a:lnSpc>
              <a:spcBef>
                <a:spcPts val="0"/>
              </a:spcBef>
              <a:spcAft>
                <a:spcPts val="0"/>
              </a:spcAft>
              <a:buClr>
                <a:srgbClr val="4B4D53"/>
              </a:buClr>
              <a:buSzPts val="275"/>
              <a:buFont typeface="Verdana"/>
              <a:buNone/>
            </a:pPr>
            <a:r>
              <a:t/>
            </a:r>
            <a:endParaRPr sz="1100">
              <a:solidFill>
                <a:srgbClr val="4B4D53"/>
              </a:solidFill>
              <a:latin typeface="Verdana"/>
              <a:ea typeface="Verdana"/>
              <a:cs typeface="Verdana"/>
              <a:sym typeface="Verdana"/>
            </a:endParaRPr>
          </a:p>
        </p:txBody>
      </p:sp>
      <p:sp>
        <p:nvSpPr>
          <p:cNvPr id="347" name="Google Shape;347;p25"/>
          <p:cNvSpPr txBox="1"/>
          <p:nvPr/>
        </p:nvSpPr>
        <p:spPr>
          <a:xfrm>
            <a:off x="3247225" y="1321250"/>
            <a:ext cx="758100" cy="3498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48" name="Google Shape;348;p25"/>
          <p:cNvSpPr txBox="1"/>
          <p:nvPr/>
        </p:nvSpPr>
        <p:spPr>
          <a:xfrm>
            <a:off x="717550" y="2396850"/>
            <a:ext cx="758100" cy="207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6"/>
          <p:cNvSpPr txBox="1"/>
          <p:nvPr>
            <p:ph type="title"/>
          </p:nvPr>
        </p:nvSpPr>
        <p:spPr>
          <a:xfrm>
            <a:off x="985225" y="726684"/>
            <a:ext cx="7024800" cy="460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 sz="3000" u="none" cap="none" strike="noStrike">
                <a:solidFill>
                  <a:schemeClr val="accent1"/>
                </a:solidFill>
                <a:latin typeface="Verdana"/>
                <a:ea typeface="Verdana"/>
                <a:cs typeface="Verdana"/>
                <a:sym typeface="Verdana"/>
              </a:rPr>
              <a:t>Hypothalamus &amp; Pituitary</a:t>
            </a:r>
            <a:endParaRPr sz="3000"/>
          </a:p>
        </p:txBody>
      </p:sp>
      <p:sp>
        <p:nvSpPr>
          <p:cNvPr id="354" name="Google Shape;354;p26"/>
          <p:cNvSpPr txBox="1"/>
          <p:nvPr>
            <p:ph idx="1" type="body"/>
          </p:nvPr>
        </p:nvSpPr>
        <p:spPr>
          <a:xfrm>
            <a:off x="539550" y="1248500"/>
            <a:ext cx="5244300" cy="3379800"/>
          </a:xfrm>
          <a:prstGeom prst="rect">
            <a:avLst/>
          </a:prstGeom>
          <a:noFill/>
          <a:ln>
            <a:noFill/>
          </a:ln>
        </p:spPr>
        <p:txBody>
          <a:bodyPr anchorCtr="0" anchor="t" bIns="45700" lIns="91425" spcFirstLastPara="1" rIns="91425" wrap="square" tIns="45700">
            <a:noAutofit/>
          </a:bodyPr>
          <a:lstStyle/>
          <a:p>
            <a:pPr indent="-298958" lvl="0" marL="342900" marR="0" rtl="0" algn="l">
              <a:lnSpc>
                <a:spcPct val="100000"/>
              </a:lnSpc>
              <a:spcBef>
                <a:spcPts val="0"/>
              </a:spcBef>
              <a:spcAft>
                <a:spcPts val="0"/>
              </a:spcAft>
              <a:buClr>
                <a:schemeClr val="accent1"/>
              </a:buClr>
              <a:buSzPts val="1600"/>
              <a:buFont typeface="Noto Sans Symbols"/>
              <a:buChar char="○"/>
            </a:pPr>
            <a:r>
              <a:rPr lang="en" sz="1600">
                <a:solidFill>
                  <a:srgbClr val="4B4D53"/>
                </a:solidFill>
              </a:rPr>
              <a:t>The </a:t>
            </a:r>
            <a:r>
              <a:rPr b="1" lang="en" sz="1600">
                <a:solidFill>
                  <a:srgbClr val="4B4D53"/>
                </a:solidFill>
              </a:rPr>
              <a:t>h</a:t>
            </a:r>
            <a:r>
              <a:rPr b="1" i="0" lang="en" sz="1600" u="none" cap="none" strike="noStrike">
                <a:solidFill>
                  <a:srgbClr val="4B4D53"/>
                </a:solidFill>
              </a:rPr>
              <a:t>ypothalamus</a:t>
            </a:r>
            <a:r>
              <a:rPr b="0" i="0" lang="en" sz="1600" u="none" cap="none" strike="noStrike">
                <a:solidFill>
                  <a:srgbClr val="4B4D53"/>
                </a:solidFill>
                <a:latin typeface="Verdana"/>
                <a:ea typeface="Verdana"/>
                <a:cs typeface="Verdana"/>
                <a:sym typeface="Verdana"/>
              </a:rPr>
              <a:t> uses its </a:t>
            </a:r>
            <a:r>
              <a:rPr b="1" lang="en" sz="1600">
                <a:solidFill>
                  <a:srgbClr val="4B4D53"/>
                </a:solidFill>
              </a:rPr>
              <a:t>releasing hormones (RHs)</a:t>
            </a:r>
            <a:r>
              <a:rPr lang="en" sz="1600">
                <a:solidFill>
                  <a:srgbClr val="4B4D53"/>
                </a:solidFill>
              </a:rPr>
              <a:t> to stimulate</a:t>
            </a:r>
            <a:r>
              <a:rPr b="0" i="0" lang="en" sz="1600" u="none" cap="none" strike="noStrike">
                <a:solidFill>
                  <a:srgbClr val="4B4D53"/>
                </a:solidFill>
                <a:latin typeface="Verdana"/>
                <a:ea typeface="Verdana"/>
                <a:cs typeface="Verdana"/>
                <a:sym typeface="Verdana"/>
              </a:rPr>
              <a:t> the </a:t>
            </a:r>
            <a:r>
              <a:rPr b="1" i="0" lang="en" sz="1600" u="none" cap="none" strike="noStrike">
                <a:solidFill>
                  <a:srgbClr val="4B4D53"/>
                </a:solidFill>
              </a:rPr>
              <a:t>pituitary gland</a:t>
            </a:r>
            <a:r>
              <a:rPr b="0" i="0" lang="en" sz="1600" u="none" cap="none" strike="noStrike">
                <a:solidFill>
                  <a:srgbClr val="4B4D53"/>
                </a:solidFill>
                <a:latin typeface="Verdana"/>
                <a:ea typeface="Verdana"/>
                <a:cs typeface="Verdana"/>
                <a:sym typeface="Verdana"/>
              </a:rPr>
              <a:t>, which in turn is responsible for releasing a number of different hormones involved in growth &amp; metabolism, development, reproduction, and other critical functions. </a:t>
            </a:r>
            <a:endParaRPr sz="1600"/>
          </a:p>
          <a:p>
            <a:pPr indent="-298958" lvl="0" marL="342900" marR="0" rtl="0" algn="l">
              <a:lnSpc>
                <a:spcPct val="100000"/>
              </a:lnSpc>
              <a:spcBef>
                <a:spcPts val="1000"/>
              </a:spcBef>
              <a:spcAft>
                <a:spcPts val="0"/>
              </a:spcAft>
              <a:buClr>
                <a:schemeClr val="accent1"/>
              </a:buClr>
              <a:buSzPts val="1600"/>
              <a:buFont typeface="Noto Sans Symbols"/>
              <a:buChar char="○"/>
            </a:pPr>
            <a:r>
              <a:rPr b="0" i="0" lang="en" sz="1600" u="none" cap="none" strike="noStrike">
                <a:solidFill>
                  <a:srgbClr val="4B4D53"/>
                </a:solidFill>
                <a:latin typeface="Verdana"/>
                <a:ea typeface="Verdana"/>
                <a:cs typeface="Verdana"/>
                <a:sym typeface="Verdana"/>
              </a:rPr>
              <a:t>For this reason, the pituitary is often called the “</a:t>
            </a:r>
            <a:r>
              <a:rPr b="0" i="1" lang="en" sz="1600" u="none" cap="none" strike="noStrike">
                <a:solidFill>
                  <a:srgbClr val="4B4D53"/>
                </a:solidFill>
                <a:latin typeface="Verdana"/>
                <a:ea typeface="Verdana"/>
                <a:cs typeface="Verdana"/>
                <a:sym typeface="Verdana"/>
              </a:rPr>
              <a:t>master gland</a:t>
            </a:r>
            <a:r>
              <a:rPr b="0" i="0" lang="en" sz="1600" u="none" cap="none" strike="noStrike">
                <a:solidFill>
                  <a:srgbClr val="4B4D53"/>
                </a:solidFill>
                <a:latin typeface="Verdana"/>
                <a:ea typeface="Verdana"/>
                <a:cs typeface="Verdana"/>
                <a:sym typeface="Verdana"/>
              </a:rPr>
              <a:t>” </a:t>
            </a:r>
            <a:endParaRPr sz="1600"/>
          </a:p>
          <a:p>
            <a:pPr indent="-298958" lvl="0" marL="342900" marR="0" rtl="0" algn="l">
              <a:lnSpc>
                <a:spcPct val="100000"/>
              </a:lnSpc>
              <a:spcBef>
                <a:spcPts val="1000"/>
              </a:spcBef>
              <a:spcAft>
                <a:spcPts val="1000"/>
              </a:spcAft>
              <a:buClr>
                <a:schemeClr val="accent1"/>
              </a:buClr>
              <a:buSzPts val="1600"/>
              <a:buFont typeface="Noto Sans Symbols"/>
              <a:buChar char="○"/>
            </a:pPr>
            <a:r>
              <a:rPr b="0" i="0" lang="en" sz="1600" u="none" cap="none" strike="noStrike">
                <a:solidFill>
                  <a:srgbClr val="4B4D53"/>
                </a:solidFill>
                <a:latin typeface="Verdana"/>
                <a:ea typeface="Verdana"/>
                <a:cs typeface="Verdana"/>
                <a:sym typeface="Verdana"/>
              </a:rPr>
              <a:t>Many hormones released from hypothalamus &amp; pituitary are </a:t>
            </a:r>
            <a:r>
              <a:rPr b="1" i="1" lang="en" sz="1600" u="none" cap="none" strike="noStrike">
                <a:solidFill>
                  <a:srgbClr val="4B4D53"/>
                </a:solidFill>
              </a:rPr>
              <a:t>tropic hormones</a:t>
            </a:r>
            <a:r>
              <a:rPr b="0" i="0" lang="en" sz="1600" u="none" cap="none" strike="noStrike">
                <a:solidFill>
                  <a:srgbClr val="4B4D53"/>
                </a:solidFill>
                <a:latin typeface="Verdana"/>
                <a:ea typeface="Verdana"/>
                <a:cs typeface="Verdana"/>
                <a:sym typeface="Verdana"/>
              </a:rPr>
              <a:t>, meaning they stimulate other endocrine glands to release other hormones.</a:t>
            </a:r>
            <a:endParaRPr sz="1600"/>
          </a:p>
        </p:txBody>
      </p:sp>
      <p:pic>
        <p:nvPicPr>
          <p:cNvPr id="355" name="Google Shape;355;p26"/>
          <p:cNvPicPr preferRelativeResize="0"/>
          <p:nvPr/>
        </p:nvPicPr>
        <p:blipFill>
          <a:blip r:embed="rId3">
            <a:alphaModFix/>
          </a:blip>
          <a:stretch>
            <a:fillRect/>
          </a:stretch>
        </p:blipFill>
        <p:spPr>
          <a:xfrm>
            <a:off x="5732150" y="1666025"/>
            <a:ext cx="3259223" cy="2444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7"/>
          <p:cNvSpPr txBox="1"/>
          <p:nvPr>
            <p:ph type="title"/>
          </p:nvPr>
        </p:nvSpPr>
        <p:spPr>
          <a:xfrm>
            <a:off x="4578775" y="849850"/>
            <a:ext cx="3489600" cy="791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 sz="3000" u="none" cap="none" strike="noStrike">
                <a:solidFill>
                  <a:schemeClr val="accent1"/>
                </a:solidFill>
                <a:latin typeface="Verdana"/>
                <a:ea typeface="Verdana"/>
                <a:cs typeface="Verdana"/>
                <a:sym typeface="Verdana"/>
              </a:rPr>
              <a:t>Hypothalamus &amp; Pituitary</a:t>
            </a:r>
            <a:endParaRPr sz="3000"/>
          </a:p>
        </p:txBody>
      </p:sp>
      <p:pic>
        <p:nvPicPr>
          <p:cNvPr id="361" name="Google Shape;361;p27"/>
          <p:cNvPicPr preferRelativeResize="0"/>
          <p:nvPr/>
        </p:nvPicPr>
        <p:blipFill rotWithShape="1">
          <a:blip r:embed="rId3">
            <a:alphaModFix/>
          </a:blip>
          <a:srcRect b="0" l="0" r="0" t="0"/>
          <a:stretch/>
        </p:blipFill>
        <p:spPr>
          <a:xfrm>
            <a:off x="385225" y="277625"/>
            <a:ext cx="4193551" cy="4170074"/>
          </a:xfrm>
          <a:prstGeom prst="rect">
            <a:avLst/>
          </a:prstGeom>
          <a:noFill/>
          <a:ln cap="flat" cmpd="sng" w="9525">
            <a:solidFill>
              <a:srgbClr val="434343"/>
            </a:solidFill>
            <a:prstDash val="solid"/>
            <a:round/>
            <a:headEnd len="sm" w="sm" type="none"/>
            <a:tailEnd len="sm" w="sm" type="none"/>
          </a:ln>
        </p:spPr>
      </p:pic>
      <p:sp>
        <p:nvSpPr>
          <p:cNvPr id="362" name="Google Shape;362;p27"/>
          <p:cNvSpPr/>
          <p:nvPr/>
        </p:nvSpPr>
        <p:spPr>
          <a:xfrm>
            <a:off x="4578775" y="1780525"/>
            <a:ext cx="4043400" cy="2217000"/>
          </a:xfrm>
          <a:prstGeom prst="rect">
            <a:avLst/>
          </a:prstGeom>
          <a:noFill/>
          <a:ln>
            <a:noFill/>
          </a:ln>
        </p:spPr>
        <p:txBody>
          <a:bodyPr anchorCtr="0" anchor="t" bIns="45700" lIns="91425" spcFirstLastPara="1" rIns="91425" wrap="square" tIns="45700">
            <a:noAutofit/>
          </a:bodyPr>
          <a:lstStyle/>
          <a:p>
            <a:pPr indent="-260350" lvl="0" marL="285750" marR="0" rtl="0" algn="l">
              <a:lnSpc>
                <a:spcPct val="100000"/>
              </a:lnSpc>
              <a:spcBef>
                <a:spcPts val="0"/>
              </a:spcBef>
              <a:spcAft>
                <a:spcPts val="0"/>
              </a:spcAft>
              <a:buClr>
                <a:srgbClr val="434343"/>
              </a:buClr>
              <a:buSzPts val="1400"/>
              <a:buFont typeface="Courier New"/>
              <a:buChar char="o"/>
            </a:pPr>
            <a:r>
              <a:rPr lang="en">
                <a:solidFill>
                  <a:srgbClr val="434343"/>
                </a:solidFill>
                <a:latin typeface="Verdana"/>
                <a:ea typeface="Verdana"/>
                <a:cs typeface="Verdana"/>
                <a:sym typeface="Verdana"/>
              </a:rPr>
              <a:t>The</a:t>
            </a:r>
            <a:r>
              <a:rPr b="1" lang="en">
                <a:solidFill>
                  <a:srgbClr val="434343"/>
                </a:solidFill>
                <a:latin typeface="Verdana"/>
                <a:ea typeface="Verdana"/>
                <a:cs typeface="Verdana"/>
                <a:sym typeface="Verdana"/>
              </a:rPr>
              <a:t> a</a:t>
            </a:r>
            <a:r>
              <a:rPr b="1" i="0" lang="en" u="none" cap="none" strike="noStrike">
                <a:solidFill>
                  <a:srgbClr val="434343"/>
                </a:solidFill>
                <a:latin typeface="Verdana"/>
                <a:ea typeface="Verdana"/>
                <a:cs typeface="Verdana"/>
                <a:sym typeface="Verdana"/>
              </a:rPr>
              <a:t>nterior pituitary</a:t>
            </a:r>
            <a:r>
              <a:rPr b="0" i="0" lang="en" u="none" cap="none" strike="noStrike">
                <a:solidFill>
                  <a:srgbClr val="434343"/>
                </a:solidFill>
                <a:latin typeface="Verdana"/>
                <a:ea typeface="Verdana"/>
                <a:cs typeface="Verdana"/>
                <a:sym typeface="Verdana"/>
              </a:rPr>
              <a:t> (</a:t>
            </a:r>
            <a:r>
              <a:rPr lang="en">
                <a:solidFill>
                  <a:srgbClr val="434343"/>
                </a:solidFill>
                <a:latin typeface="Verdana"/>
                <a:ea typeface="Verdana"/>
                <a:cs typeface="Verdana"/>
                <a:sym typeface="Verdana"/>
              </a:rPr>
              <a:t>front portion</a:t>
            </a:r>
            <a:r>
              <a:rPr b="0" i="0" lang="en" u="none" cap="none" strike="noStrike">
                <a:solidFill>
                  <a:srgbClr val="434343"/>
                </a:solidFill>
                <a:latin typeface="Verdana"/>
                <a:ea typeface="Verdana"/>
                <a:cs typeface="Verdana"/>
                <a:sym typeface="Verdana"/>
              </a:rPr>
              <a:t>) </a:t>
            </a:r>
            <a:r>
              <a:rPr b="0" i="0" lang="en" u="sng" cap="none" strike="noStrike">
                <a:solidFill>
                  <a:srgbClr val="434343"/>
                </a:solidFill>
                <a:latin typeface="Verdana"/>
                <a:ea typeface="Verdana"/>
                <a:cs typeface="Verdana"/>
                <a:sym typeface="Verdana"/>
              </a:rPr>
              <a:t>synthesizes</a:t>
            </a:r>
            <a:r>
              <a:rPr b="0" i="0" lang="en" u="none" cap="none" strike="noStrike">
                <a:solidFill>
                  <a:srgbClr val="434343"/>
                </a:solidFill>
                <a:latin typeface="Verdana"/>
                <a:ea typeface="Verdana"/>
                <a:cs typeface="Verdana"/>
                <a:sym typeface="Verdana"/>
              </a:rPr>
              <a:t> </a:t>
            </a:r>
            <a:r>
              <a:rPr lang="en">
                <a:solidFill>
                  <a:srgbClr val="434343"/>
                </a:solidFill>
                <a:latin typeface="Verdana"/>
                <a:ea typeface="Verdana"/>
                <a:cs typeface="Verdana"/>
                <a:sym typeface="Verdana"/>
              </a:rPr>
              <a:t>its own hormones to be released upon stimulation by hypothalamic releasing hormones</a:t>
            </a:r>
            <a:endParaRPr>
              <a:solidFill>
                <a:srgbClr val="434343"/>
              </a:solidFill>
              <a:latin typeface="Verdana"/>
              <a:ea typeface="Verdana"/>
              <a:cs typeface="Verdana"/>
              <a:sym typeface="Verdana"/>
            </a:endParaRPr>
          </a:p>
          <a:p>
            <a:pPr indent="0" lvl="0" marL="285750" marR="0" rtl="0" algn="l">
              <a:lnSpc>
                <a:spcPct val="100000"/>
              </a:lnSpc>
              <a:spcBef>
                <a:spcPts val="0"/>
              </a:spcBef>
              <a:spcAft>
                <a:spcPts val="0"/>
              </a:spcAft>
              <a:buNone/>
            </a:pPr>
            <a:r>
              <a:t/>
            </a:r>
            <a:endParaRPr>
              <a:solidFill>
                <a:srgbClr val="434343"/>
              </a:solidFill>
              <a:latin typeface="Verdana"/>
              <a:ea typeface="Verdana"/>
              <a:cs typeface="Verdana"/>
              <a:sym typeface="Verdana"/>
            </a:endParaRPr>
          </a:p>
          <a:p>
            <a:pPr indent="-260350" lvl="0" marL="285750" marR="0" rtl="0" algn="l">
              <a:lnSpc>
                <a:spcPct val="100000"/>
              </a:lnSpc>
              <a:spcBef>
                <a:spcPts val="0"/>
              </a:spcBef>
              <a:spcAft>
                <a:spcPts val="0"/>
              </a:spcAft>
              <a:buClr>
                <a:srgbClr val="434343"/>
              </a:buClr>
              <a:buSzPts val="1400"/>
              <a:buFont typeface="Courier New"/>
              <a:buChar char="o"/>
            </a:pPr>
            <a:r>
              <a:rPr lang="en">
                <a:solidFill>
                  <a:srgbClr val="434343"/>
                </a:solidFill>
                <a:latin typeface="Verdana"/>
                <a:ea typeface="Verdana"/>
                <a:cs typeface="Verdana"/>
                <a:sym typeface="Verdana"/>
              </a:rPr>
              <a:t>The </a:t>
            </a:r>
            <a:r>
              <a:rPr b="1" lang="en">
                <a:solidFill>
                  <a:srgbClr val="434343"/>
                </a:solidFill>
                <a:latin typeface="Verdana"/>
                <a:ea typeface="Verdana"/>
                <a:cs typeface="Verdana"/>
                <a:sym typeface="Verdana"/>
              </a:rPr>
              <a:t>posterior pituitary</a:t>
            </a:r>
            <a:r>
              <a:rPr lang="en">
                <a:solidFill>
                  <a:srgbClr val="434343"/>
                </a:solidFill>
                <a:latin typeface="Verdana"/>
                <a:ea typeface="Verdana"/>
                <a:cs typeface="Verdana"/>
                <a:sym typeface="Verdana"/>
              </a:rPr>
              <a:t> (back portion) </a:t>
            </a:r>
            <a:r>
              <a:rPr lang="en" u="sng">
                <a:solidFill>
                  <a:srgbClr val="434343"/>
                </a:solidFill>
                <a:latin typeface="Verdana"/>
                <a:ea typeface="Verdana"/>
                <a:cs typeface="Verdana"/>
                <a:sym typeface="Verdana"/>
              </a:rPr>
              <a:t>stores </a:t>
            </a:r>
            <a:r>
              <a:rPr lang="en">
                <a:solidFill>
                  <a:srgbClr val="434343"/>
                </a:solidFill>
                <a:latin typeface="Verdana"/>
                <a:ea typeface="Verdana"/>
                <a:cs typeface="Verdana"/>
                <a:sym typeface="Verdana"/>
              </a:rPr>
              <a:t>hormones that were produced by the hypothalamus until </a:t>
            </a:r>
            <a:r>
              <a:rPr lang="en">
                <a:solidFill>
                  <a:srgbClr val="434343"/>
                </a:solidFill>
              </a:rPr>
              <a:t>release</a:t>
            </a:r>
            <a:endParaRPr>
              <a:solidFill>
                <a:srgbClr val="434343"/>
              </a:solidFill>
              <a:latin typeface="Verdana"/>
              <a:ea typeface="Verdana"/>
              <a:cs typeface="Verdana"/>
              <a:sym typeface="Verdana"/>
            </a:endParaRPr>
          </a:p>
        </p:txBody>
      </p:sp>
      <p:cxnSp>
        <p:nvCxnSpPr>
          <p:cNvPr id="363" name="Google Shape;363;p27"/>
          <p:cNvCxnSpPr/>
          <p:nvPr/>
        </p:nvCxnSpPr>
        <p:spPr>
          <a:xfrm flipH="1">
            <a:off x="1769950" y="1641125"/>
            <a:ext cx="738600" cy="3304500"/>
          </a:xfrm>
          <a:prstGeom prst="straightConnector1">
            <a:avLst/>
          </a:prstGeom>
          <a:noFill/>
          <a:ln cap="flat" cmpd="sng" w="38100">
            <a:solidFill>
              <a:schemeClr val="accent4"/>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8"/>
          <p:cNvSpPr txBox="1"/>
          <p:nvPr>
            <p:ph idx="1" type="body"/>
          </p:nvPr>
        </p:nvSpPr>
        <p:spPr>
          <a:xfrm>
            <a:off x="457750" y="653275"/>
            <a:ext cx="8932200" cy="10767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rPr lang="en" sz="1800">
                <a:solidFill>
                  <a:schemeClr val="dk1"/>
                </a:solidFill>
              </a:rPr>
              <a:t>Each anterior pituitary hormone is released upon stimulation by a ‘releasing hormone’ from the hypothalamus. (You only need to remember/recognize the starred ones)</a:t>
            </a:r>
            <a:endParaRPr sz="1800">
              <a:solidFill>
                <a:schemeClr val="dk1"/>
              </a:solidFill>
            </a:endParaRPr>
          </a:p>
          <a:p>
            <a:pPr indent="0" lvl="0" marL="0" rtl="0" algn="l">
              <a:spcBef>
                <a:spcPts val="480"/>
              </a:spcBef>
              <a:spcAft>
                <a:spcPts val="0"/>
              </a:spcAft>
              <a:buNone/>
            </a:pPr>
            <a:r>
              <a:t/>
            </a:r>
            <a:endParaRPr sz="1800">
              <a:solidFill>
                <a:schemeClr val="dk1"/>
              </a:solidFill>
            </a:endParaRPr>
          </a:p>
        </p:txBody>
      </p:sp>
      <p:grpSp>
        <p:nvGrpSpPr>
          <p:cNvPr id="369" name="Google Shape;369;p28"/>
          <p:cNvGrpSpPr/>
          <p:nvPr/>
        </p:nvGrpSpPr>
        <p:grpSpPr>
          <a:xfrm>
            <a:off x="1206150" y="1729875"/>
            <a:ext cx="6638575" cy="3005500"/>
            <a:chOff x="1206150" y="1729875"/>
            <a:chExt cx="6638575" cy="3005500"/>
          </a:xfrm>
        </p:grpSpPr>
        <p:pic>
          <p:nvPicPr>
            <p:cNvPr id="370" name="Google Shape;370;p28"/>
            <p:cNvPicPr preferRelativeResize="0"/>
            <p:nvPr/>
          </p:nvPicPr>
          <p:blipFill rotWithShape="1">
            <a:blip r:embed="rId3">
              <a:alphaModFix/>
            </a:blip>
            <a:srcRect b="35971" l="0" r="0" t="3766"/>
            <a:stretch/>
          </p:blipFill>
          <p:spPr>
            <a:xfrm>
              <a:off x="1206150" y="1729875"/>
              <a:ext cx="6638575" cy="3000600"/>
            </a:xfrm>
            <a:prstGeom prst="rect">
              <a:avLst/>
            </a:prstGeom>
            <a:noFill/>
            <a:ln>
              <a:noFill/>
            </a:ln>
          </p:spPr>
        </p:pic>
        <p:sp>
          <p:nvSpPr>
            <p:cNvPr id="371" name="Google Shape;371;p28"/>
            <p:cNvSpPr txBox="1"/>
            <p:nvPr/>
          </p:nvSpPr>
          <p:spPr>
            <a:xfrm>
              <a:off x="1973975" y="4317475"/>
              <a:ext cx="427800" cy="417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72" name="Google Shape;372;p28"/>
            <p:cNvSpPr txBox="1"/>
            <p:nvPr/>
          </p:nvSpPr>
          <p:spPr>
            <a:xfrm>
              <a:off x="5333775" y="2788425"/>
              <a:ext cx="1188900" cy="343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73" name="Google Shape;373;p28"/>
            <p:cNvSpPr txBox="1"/>
            <p:nvPr/>
          </p:nvSpPr>
          <p:spPr>
            <a:xfrm>
              <a:off x="5223750" y="3376400"/>
              <a:ext cx="427800" cy="16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74" name="Google Shape;374;p28"/>
            <p:cNvSpPr txBox="1"/>
            <p:nvPr/>
          </p:nvSpPr>
          <p:spPr>
            <a:xfrm>
              <a:off x="6321200" y="3376400"/>
              <a:ext cx="427800" cy="16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9"/>
          <p:cNvSpPr txBox="1"/>
          <p:nvPr>
            <p:ph type="title"/>
          </p:nvPr>
        </p:nvSpPr>
        <p:spPr>
          <a:xfrm>
            <a:off x="520700" y="745331"/>
            <a:ext cx="8223300" cy="412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 sz="2500"/>
              <a:t>Anterior </a:t>
            </a:r>
            <a:r>
              <a:rPr b="1" lang="en" sz="2500"/>
              <a:t>Pituitary Hormones</a:t>
            </a:r>
            <a:endParaRPr sz="2500"/>
          </a:p>
        </p:txBody>
      </p:sp>
      <p:sp>
        <p:nvSpPr>
          <p:cNvPr id="380" name="Google Shape;380;p29"/>
          <p:cNvSpPr txBox="1"/>
          <p:nvPr>
            <p:ph idx="1" type="body"/>
          </p:nvPr>
        </p:nvSpPr>
        <p:spPr>
          <a:xfrm>
            <a:off x="467475" y="1323325"/>
            <a:ext cx="4636200" cy="3348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i="0" lang="en" sz="2035" u="sng" cap="none" strike="noStrike">
                <a:solidFill>
                  <a:srgbClr val="4B4D53"/>
                </a:solidFill>
                <a:latin typeface="Average"/>
                <a:ea typeface="Average"/>
                <a:cs typeface="Average"/>
                <a:sym typeface="Average"/>
              </a:rPr>
              <a:t>Human growth hormone (hGH)</a:t>
            </a:r>
            <a:endParaRPr b="1" i="0" sz="2035" u="sng" cap="none" strike="noStrike">
              <a:solidFill>
                <a:srgbClr val="4B4D53"/>
              </a:solidFill>
              <a:latin typeface="Average"/>
              <a:ea typeface="Average"/>
              <a:cs typeface="Average"/>
              <a:sym typeface="Average"/>
            </a:endParaRPr>
          </a:p>
          <a:p>
            <a:pPr indent="0" lvl="0" marL="457200" marR="0" rtl="0" algn="l">
              <a:lnSpc>
                <a:spcPct val="80000"/>
              </a:lnSpc>
              <a:spcBef>
                <a:spcPts val="1000"/>
              </a:spcBef>
              <a:spcAft>
                <a:spcPts val="0"/>
              </a:spcAft>
              <a:buNone/>
            </a:pPr>
            <a:r>
              <a:t/>
            </a:r>
            <a:endParaRPr b="1" sz="1035" u="sng">
              <a:solidFill>
                <a:srgbClr val="4B4D53"/>
              </a:solidFill>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i="0" lang="en" sz="1500" u="none" cap="none" strike="noStrike">
                <a:solidFill>
                  <a:srgbClr val="4B4D53"/>
                </a:solidFill>
                <a:latin typeface="Average"/>
                <a:ea typeface="Average"/>
                <a:cs typeface="Average"/>
                <a:sym typeface="Average"/>
              </a:rPr>
              <a:t>affects nearly all body tissues  in some way by stimulating the production of growth factors from the liver</a:t>
            </a:r>
            <a:endParaRPr>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i="0" lang="en" sz="1500" u="none" cap="none" strike="noStrike">
                <a:solidFill>
                  <a:srgbClr val="4B4D53"/>
                </a:solidFill>
                <a:latin typeface="Average"/>
                <a:ea typeface="Average"/>
                <a:cs typeface="Average"/>
                <a:sym typeface="Average"/>
              </a:rPr>
              <a:t>increases protein synthesis,  cell division and growth (of cartilage, bone, and muscle tissue in particular), and metabolic release of stored fats</a:t>
            </a:r>
            <a:endParaRPr>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i="0" lang="en" sz="1500" u="none" cap="none" strike="noStrike">
                <a:solidFill>
                  <a:srgbClr val="4B4D53"/>
                </a:solidFill>
                <a:latin typeface="Average"/>
                <a:ea typeface="Average"/>
                <a:cs typeface="Average"/>
                <a:sym typeface="Average"/>
              </a:rPr>
              <a:t>Especially important during childhood, leading to the elongation of bones</a:t>
            </a:r>
            <a:endParaRPr>
              <a:latin typeface="Average"/>
              <a:ea typeface="Average"/>
              <a:cs typeface="Average"/>
              <a:sym typeface="Average"/>
            </a:endParaRPr>
          </a:p>
          <a:p>
            <a:pPr indent="-10159" lvl="1" marL="365760" marR="0" rtl="0" algn="l">
              <a:lnSpc>
                <a:spcPct val="80000"/>
              </a:lnSpc>
              <a:spcBef>
                <a:spcPts val="1000"/>
              </a:spcBef>
              <a:spcAft>
                <a:spcPts val="0"/>
              </a:spcAft>
              <a:buClr>
                <a:schemeClr val="accent1"/>
              </a:buClr>
              <a:buSzPts val="375"/>
              <a:buFont typeface="Noto Sans Symbols"/>
              <a:buNone/>
            </a:pPr>
            <a:r>
              <a:t/>
            </a:r>
            <a:endParaRPr i="0" sz="1500" u="none" cap="none" strike="noStrike">
              <a:solidFill>
                <a:srgbClr val="4B4D53"/>
              </a:solidFill>
              <a:latin typeface="Average"/>
              <a:ea typeface="Average"/>
              <a:cs typeface="Average"/>
              <a:sym typeface="Average"/>
            </a:endParaRPr>
          </a:p>
        </p:txBody>
      </p:sp>
      <p:pic>
        <p:nvPicPr>
          <p:cNvPr descr="d13.jpg" id="381" name="Google Shape;381;p29"/>
          <p:cNvPicPr preferRelativeResize="0"/>
          <p:nvPr/>
        </p:nvPicPr>
        <p:blipFill rotWithShape="1">
          <a:blip r:embed="rId3">
            <a:alphaModFix/>
          </a:blip>
          <a:srcRect b="4562" l="0" r="25777" t="0"/>
          <a:stretch/>
        </p:blipFill>
        <p:spPr>
          <a:xfrm>
            <a:off x="5914021" y="1521870"/>
            <a:ext cx="2203015" cy="1515929"/>
          </a:xfrm>
          <a:prstGeom prst="rect">
            <a:avLst/>
          </a:prstGeom>
          <a:noFill/>
          <a:ln>
            <a:noFill/>
          </a:ln>
        </p:spPr>
      </p:pic>
      <p:pic>
        <p:nvPicPr>
          <p:cNvPr descr="http://i.dailymail.co.uk/i/pix/2012/11/16/article-2233897-0C015F0600000578-126_634x564.jpg" id="382" name="Google Shape;382;p29"/>
          <p:cNvPicPr preferRelativeResize="0"/>
          <p:nvPr/>
        </p:nvPicPr>
        <p:blipFill rotWithShape="1">
          <a:blip r:embed="rId4">
            <a:alphaModFix/>
          </a:blip>
          <a:srcRect b="4068" l="1629" r="9356" t="0"/>
          <a:stretch/>
        </p:blipFill>
        <p:spPr>
          <a:xfrm>
            <a:off x="5435324" y="3140228"/>
            <a:ext cx="2095730" cy="1531697"/>
          </a:xfrm>
          <a:prstGeom prst="rect">
            <a:avLst/>
          </a:prstGeom>
          <a:noFill/>
          <a:ln>
            <a:noFill/>
          </a:ln>
        </p:spPr>
      </p:pic>
      <p:sp>
        <p:nvSpPr>
          <p:cNvPr id="383" name="Google Shape;383;p29"/>
          <p:cNvSpPr txBox="1"/>
          <p:nvPr/>
        </p:nvSpPr>
        <p:spPr>
          <a:xfrm>
            <a:off x="5435332" y="4671918"/>
            <a:ext cx="1046100" cy="18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B4D53"/>
              </a:buClr>
              <a:buSzPts val="275"/>
              <a:buFont typeface="Verdana"/>
              <a:buNone/>
            </a:pPr>
            <a:r>
              <a:rPr b="1" i="0" lang="en" sz="1100" u="none" cap="none" strike="noStrike">
                <a:solidFill>
                  <a:srgbClr val="4B4D53"/>
                </a:solidFill>
                <a:latin typeface="Verdana"/>
                <a:ea typeface="Verdana"/>
                <a:cs typeface="Verdana"/>
                <a:sym typeface="Verdana"/>
              </a:rPr>
              <a:t>Gigantism</a:t>
            </a:r>
            <a:endParaRPr/>
          </a:p>
        </p:txBody>
      </p:sp>
      <p:sp>
        <p:nvSpPr>
          <p:cNvPr id="384" name="Google Shape;384;p29"/>
          <p:cNvSpPr txBox="1"/>
          <p:nvPr/>
        </p:nvSpPr>
        <p:spPr>
          <a:xfrm>
            <a:off x="6431859" y="1235862"/>
            <a:ext cx="1955700" cy="18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B4D53"/>
              </a:buClr>
              <a:buSzPts val="275"/>
              <a:buFont typeface="Verdana"/>
              <a:buNone/>
            </a:pPr>
            <a:r>
              <a:rPr b="1" i="0" lang="en" sz="1100" u="none" cap="none" strike="noStrike">
                <a:solidFill>
                  <a:srgbClr val="4B4D53"/>
                </a:solidFill>
                <a:latin typeface="Verdana"/>
                <a:ea typeface="Verdana"/>
                <a:cs typeface="Verdana"/>
                <a:sym typeface="Verdana"/>
              </a:rPr>
              <a:t>Pituitary Dwarfism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0"/>
          <p:cNvSpPr txBox="1"/>
          <p:nvPr>
            <p:ph type="title"/>
          </p:nvPr>
        </p:nvSpPr>
        <p:spPr>
          <a:xfrm>
            <a:off x="520700" y="745331"/>
            <a:ext cx="8223300" cy="412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 sz="2500"/>
              <a:t>Anterior Pituitary Hormones</a:t>
            </a:r>
            <a:endParaRPr sz="2500"/>
          </a:p>
        </p:txBody>
      </p:sp>
      <p:sp>
        <p:nvSpPr>
          <p:cNvPr id="390" name="Google Shape;390;p30"/>
          <p:cNvSpPr txBox="1"/>
          <p:nvPr>
            <p:ph idx="1" type="body"/>
          </p:nvPr>
        </p:nvSpPr>
        <p:spPr>
          <a:xfrm>
            <a:off x="467475" y="1323325"/>
            <a:ext cx="4636200" cy="3348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 sz="2035" u="sng">
                <a:solidFill>
                  <a:srgbClr val="4B4D53"/>
                </a:solidFill>
                <a:latin typeface="Average"/>
                <a:ea typeface="Average"/>
                <a:cs typeface="Average"/>
                <a:sym typeface="Average"/>
              </a:rPr>
              <a:t>Prolactin (PRO)</a:t>
            </a:r>
            <a:endParaRPr b="1" sz="1035" u="sng">
              <a:solidFill>
                <a:srgbClr val="4B4D53"/>
              </a:solidFill>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b="1" lang="en" sz="1500" u="sng">
                <a:solidFill>
                  <a:srgbClr val="4B4D53"/>
                </a:solidFill>
                <a:latin typeface="Average"/>
                <a:ea typeface="Average"/>
                <a:cs typeface="Average"/>
                <a:sym typeface="Average"/>
              </a:rPr>
              <a:t>Pro</a:t>
            </a:r>
            <a:r>
              <a:rPr lang="en" sz="1500">
                <a:solidFill>
                  <a:srgbClr val="4B4D53"/>
                </a:solidFill>
                <a:latin typeface="Average"/>
                <a:ea typeface="Average"/>
                <a:cs typeface="Average"/>
                <a:sym typeface="Average"/>
              </a:rPr>
              <a:t>lactin stimulates the </a:t>
            </a:r>
            <a:r>
              <a:rPr b="1" lang="en" sz="1500" u="sng">
                <a:solidFill>
                  <a:srgbClr val="4B4D53"/>
                </a:solidFill>
                <a:latin typeface="Average"/>
                <a:ea typeface="Average"/>
                <a:cs typeface="Average"/>
                <a:sym typeface="Average"/>
              </a:rPr>
              <a:t>pro</a:t>
            </a:r>
            <a:r>
              <a:rPr lang="en" sz="1500">
                <a:solidFill>
                  <a:srgbClr val="4B4D53"/>
                </a:solidFill>
                <a:latin typeface="Average"/>
                <a:ea typeface="Average"/>
                <a:cs typeface="Average"/>
                <a:sym typeface="Average"/>
              </a:rPr>
              <a:t>duction of milk (</a:t>
            </a:r>
            <a:r>
              <a:rPr b="1" lang="en" sz="1500">
                <a:solidFill>
                  <a:srgbClr val="4B4D53"/>
                </a:solidFill>
                <a:latin typeface="Average"/>
                <a:ea typeface="Average"/>
                <a:cs typeface="Average"/>
                <a:sym typeface="Average"/>
              </a:rPr>
              <a:t>lactation</a:t>
            </a:r>
            <a:r>
              <a:rPr lang="en" sz="1500">
                <a:solidFill>
                  <a:srgbClr val="4B4D53"/>
                </a:solidFill>
                <a:latin typeface="Average"/>
                <a:ea typeface="Average"/>
                <a:cs typeface="Average"/>
                <a:sym typeface="Average"/>
              </a:rPr>
              <a:t>) in the mammary glands</a:t>
            </a:r>
            <a:endParaRPr sz="1500">
              <a:solidFill>
                <a:srgbClr val="4B4D53"/>
              </a:solidFill>
              <a:latin typeface="Average"/>
              <a:ea typeface="Average"/>
              <a:cs typeface="Average"/>
              <a:sym typeface="Average"/>
            </a:endParaRPr>
          </a:p>
          <a:p>
            <a:pPr indent="0" lvl="0" marL="640080" marR="0" rtl="0" algn="l">
              <a:lnSpc>
                <a:spcPct val="80000"/>
              </a:lnSpc>
              <a:spcBef>
                <a:spcPts val="1000"/>
              </a:spcBef>
              <a:spcAft>
                <a:spcPts val="0"/>
              </a:spcAft>
              <a:buNone/>
            </a:pPr>
            <a:r>
              <a:t/>
            </a:r>
            <a:endParaRPr sz="300">
              <a:solidFill>
                <a:srgbClr val="4B4D53"/>
              </a:solidFill>
              <a:latin typeface="Average"/>
              <a:ea typeface="Average"/>
              <a:cs typeface="Average"/>
              <a:sym typeface="Average"/>
            </a:endParaRPr>
          </a:p>
          <a:p>
            <a:pPr indent="0" lvl="0" marL="0" rtl="0" algn="l">
              <a:lnSpc>
                <a:spcPct val="80000"/>
              </a:lnSpc>
              <a:spcBef>
                <a:spcPts val="1000"/>
              </a:spcBef>
              <a:spcAft>
                <a:spcPts val="0"/>
              </a:spcAft>
              <a:buNone/>
            </a:pPr>
            <a:r>
              <a:rPr b="1" lang="en" sz="2035" u="sng">
                <a:solidFill>
                  <a:srgbClr val="4B4D53"/>
                </a:solidFill>
                <a:latin typeface="Average"/>
                <a:ea typeface="Average"/>
                <a:cs typeface="Average"/>
                <a:sym typeface="Average"/>
              </a:rPr>
              <a:t>Follicle Stimulating Hormone (FSH)</a:t>
            </a:r>
            <a:endParaRPr b="1" sz="1035" u="sng">
              <a:solidFill>
                <a:srgbClr val="4B4D53"/>
              </a:solidFill>
              <a:latin typeface="Average"/>
              <a:ea typeface="Average"/>
              <a:cs typeface="Average"/>
              <a:sym typeface="Average"/>
            </a:endParaRPr>
          </a:p>
          <a:p>
            <a:pPr indent="-299377" lvl="1" marL="640080" rtl="0" algn="l">
              <a:lnSpc>
                <a:spcPct val="80000"/>
              </a:lnSpc>
              <a:spcBef>
                <a:spcPts val="1000"/>
              </a:spcBef>
              <a:spcAft>
                <a:spcPts val="0"/>
              </a:spcAft>
              <a:buClr>
                <a:schemeClr val="accent1"/>
              </a:buClr>
              <a:buSzPts val="1500"/>
              <a:buFont typeface="Average"/>
              <a:buChar char="○"/>
            </a:pPr>
            <a:r>
              <a:rPr lang="en" sz="1500">
                <a:solidFill>
                  <a:srgbClr val="4B4D53"/>
                </a:solidFill>
                <a:latin typeface="Average"/>
                <a:ea typeface="Average"/>
                <a:cs typeface="Average"/>
                <a:sym typeface="Average"/>
              </a:rPr>
              <a:t>Stimulates the production of sperm in the testes and egg in the ovaries (more on this in Unit B)</a:t>
            </a:r>
            <a:endParaRPr sz="1500">
              <a:solidFill>
                <a:srgbClr val="4B4D53"/>
              </a:solidFill>
              <a:latin typeface="Average"/>
              <a:ea typeface="Average"/>
              <a:cs typeface="Average"/>
              <a:sym typeface="Average"/>
            </a:endParaRPr>
          </a:p>
          <a:p>
            <a:pPr indent="0" lvl="0" marL="640080" rtl="0" algn="l">
              <a:lnSpc>
                <a:spcPct val="80000"/>
              </a:lnSpc>
              <a:spcBef>
                <a:spcPts val="1000"/>
              </a:spcBef>
              <a:spcAft>
                <a:spcPts val="0"/>
              </a:spcAft>
              <a:buNone/>
            </a:pPr>
            <a:r>
              <a:t/>
            </a:r>
            <a:endParaRPr sz="600">
              <a:solidFill>
                <a:srgbClr val="4B4D53"/>
              </a:solidFill>
              <a:latin typeface="Average"/>
              <a:ea typeface="Average"/>
              <a:cs typeface="Average"/>
              <a:sym typeface="Average"/>
            </a:endParaRPr>
          </a:p>
          <a:p>
            <a:pPr indent="0" lvl="0" marL="0" rtl="0" algn="l">
              <a:lnSpc>
                <a:spcPct val="80000"/>
              </a:lnSpc>
              <a:spcBef>
                <a:spcPts val="1000"/>
              </a:spcBef>
              <a:spcAft>
                <a:spcPts val="0"/>
              </a:spcAft>
              <a:buNone/>
            </a:pPr>
            <a:r>
              <a:rPr b="1" lang="en" sz="2035" u="sng">
                <a:solidFill>
                  <a:srgbClr val="4B4D53"/>
                </a:solidFill>
                <a:latin typeface="Average"/>
                <a:ea typeface="Average"/>
                <a:cs typeface="Average"/>
                <a:sym typeface="Average"/>
              </a:rPr>
              <a:t>Luteinizing Hormone (LH)</a:t>
            </a:r>
            <a:endParaRPr b="1" sz="1035" u="sng">
              <a:solidFill>
                <a:srgbClr val="4B4D53"/>
              </a:solidFill>
              <a:latin typeface="Average"/>
              <a:ea typeface="Average"/>
              <a:cs typeface="Average"/>
              <a:sym typeface="Average"/>
            </a:endParaRPr>
          </a:p>
          <a:p>
            <a:pPr indent="-299377" lvl="1" marL="640080" rtl="0" algn="l">
              <a:lnSpc>
                <a:spcPct val="80000"/>
              </a:lnSpc>
              <a:spcBef>
                <a:spcPts val="1000"/>
              </a:spcBef>
              <a:spcAft>
                <a:spcPts val="0"/>
              </a:spcAft>
              <a:buClr>
                <a:srgbClr val="4B4D53"/>
              </a:buClr>
              <a:buSzPts val="1500"/>
              <a:buFont typeface="Average"/>
              <a:buChar char="○"/>
            </a:pPr>
            <a:r>
              <a:rPr lang="en" sz="1500">
                <a:solidFill>
                  <a:srgbClr val="4B4D53"/>
                </a:solidFill>
                <a:latin typeface="Average"/>
                <a:ea typeface="Average"/>
                <a:cs typeface="Average"/>
                <a:sym typeface="Average"/>
              </a:rPr>
              <a:t>Stimulates sex hormone production in the ovaries and testes</a:t>
            </a:r>
            <a:endParaRPr sz="1500">
              <a:solidFill>
                <a:srgbClr val="4B4D53"/>
              </a:solidFill>
              <a:latin typeface="Average"/>
              <a:ea typeface="Average"/>
              <a:cs typeface="Average"/>
              <a:sym typeface="Average"/>
            </a:endParaRPr>
          </a:p>
          <a:p>
            <a:pPr indent="-299377" lvl="1" marL="640080" rtl="0" algn="l">
              <a:lnSpc>
                <a:spcPct val="80000"/>
              </a:lnSpc>
              <a:spcBef>
                <a:spcPts val="1000"/>
              </a:spcBef>
              <a:spcAft>
                <a:spcPts val="0"/>
              </a:spcAft>
              <a:buClr>
                <a:srgbClr val="4B4D53"/>
              </a:buClr>
              <a:buSzPts val="1500"/>
              <a:buFont typeface="Average"/>
              <a:buChar char="○"/>
            </a:pPr>
            <a:r>
              <a:rPr lang="en" sz="1500">
                <a:solidFill>
                  <a:srgbClr val="4B4D53"/>
                </a:solidFill>
                <a:latin typeface="Average"/>
                <a:ea typeface="Average"/>
                <a:cs typeface="Average"/>
                <a:sym typeface="Average"/>
              </a:rPr>
              <a:t>Stimulates ovulation (more on this in Unit B)</a:t>
            </a:r>
            <a:endParaRPr sz="1500">
              <a:solidFill>
                <a:srgbClr val="4B4D53"/>
              </a:solidFill>
              <a:latin typeface="Average"/>
              <a:ea typeface="Average"/>
              <a:cs typeface="Average"/>
              <a:sym typeface="Average"/>
            </a:endParaRPr>
          </a:p>
          <a:p>
            <a:pPr indent="-10159" lvl="1" marL="365760" marR="0" rtl="0" algn="l">
              <a:lnSpc>
                <a:spcPct val="80000"/>
              </a:lnSpc>
              <a:spcBef>
                <a:spcPts val="1000"/>
              </a:spcBef>
              <a:spcAft>
                <a:spcPts val="0"/>
              </a:spcAft>
              <a:buClr>
                <a:schemeClr val="accent1"/>
              </a:buClr>
              <a:buSzPts val="375"/>
              <a:buFont typeface="Noto Sans Symbols"/>
              <a:buNone/>
            </a:pPr>
            <a:r>
              <a:t/>
            </a:r>
            <a:endParaRPr i="0" sz="1500" u="none" cap="none" strike="noStrike">
              <a:solidFill>
                <a:srgbClr val="4B4D53"/>
              </a:solidFill>
              <a:latin typeface="Average"/>
              <a:ea typeface="Average"/>
              <a:cs typeface="Average"/>
              <a:sym typeface="Average"/>
            </a:endParaRPr>
          </a:p>
        </p:txBody>
      </p:sp>
      <p:grpSp>
        <p:nvGrpSpPr>
          <p:cNvPr id="391" name="Google Shape;391;p30"/>
          <p:cNvGrpSpPr/>
          <p:nvPr/>
        </p:nvGrpSpPr>
        <p:grpSpPr>
          <a:xfrm>
            <a:off x="5294950" y="1456325"/>
            <a:ext cx="3375725" cy="2751525"/>
            <a:chOff x="5256075" y="1310525"/>
            <a:chExt cx="3375725" cy="2751525"/>
          </a:xfrm>
        </p:grpSpPr>
        <p:pic>
          <p:nvPicPr>
            <p:cNvPr id="392" name="Google Shape;392;p30"/>
            <p:cNvPicPr preferRelativeResize="0"/>
            <p:nvPr/>
          </p:nvPicPr>
          <p:blipFill rotWithShape="1">
            <a:blip r:embed="rId3">
              <a:alphaModFix/>
            </a:blip>
            <a:srcRect b="0" l="0" r="9633" t="0"/>
            <a:stretch/>
          </p:blipFill>
          <p:spPr>
            <a:xfrm>
              <a:off x="5256075" y="1310525"/>
              <a:ext cx="3375675" cy="2697050"/>
            </a:xfrm>
            <a:prstGeom prst="rect">
              <a:avLst/>
            </a:prstGeom>
            <a:noFill/>
            <a:ln>
              <a:noFill/>
            </a:ln>
          </p:spPr>
        </p:pic>
        <p:sp>
          <p:nvSpPr>
            <p:cNvPr id="393" name="Google Shape;393;p30"/>
            <p:cNvSpPr txBox="1"/>
            <p:nvPr/>
          </p:nvSpPr>
          <p:spPr>
            <a:xfrm>
              <a:off x="7801100" y="2419550"/>
              <a:ext cx="830700" cy="1642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1"/>
          <p:cNvSpPr txBox="1"/>
          <p:nvPr>
            <p:ph type="title"/>
          </p:nvPr>
        </p:nvSpPr>
        <p:spPr>
          <a:xfrm>
            <a:off x="520700" y="745331"/>
            <a:ext cx="8223300" cy="412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 sz="2500"/>
              <a:t>Anterior Pituitary Hormones</a:t>
            </a:r>
            <a:endParaRPr sz="2500"/>
          </a:p>
        </p:txBody>
      </p:sp>
      <p:sp>
        <p:nvSpPr>
          <p:cNvPr id="399" name="Google Shape;399;p31"/>
          <p:cNvSpPr txBox="1"/>
          <p:nvPr>
            <p:ph idx="1" type="body"/>
          </p:nvPr>
        </p:nvSpPr>
        <p:spPr>
          <a:xfrm>
            <a:off x="467475" y="1323325"/>
            <a:ext cx="4645800" cy="3348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lang="en" sz="1735">
                <a:solidFill>
                  <a:srgbClr val="4B4D53"/>
                </a:solidFill>
                <a:latin typeface="Average"/>
                <a:ea typeface="Average"/>
                <a:cs typeface="Average"/>
                <a:sym typeface="Average"/>
              </a:rPr>
              <a:t>These last two anterior pituitary hormones are </a:t>
            </a:r>
            <a:r>
              <a:rPr b="1" lang="en" sz="1735">
                <a:solidFill>
                  <a:srgbClr val="4B4D53"/>
                </a:solidFill>
                <a:latin typeface="Average"/>
                <a:ea typeface="Average"/>
                <a:cs typeface="Average"/>
                <a:sym typeface="Average"/>
              </a:rPr>
              <a:t>tropic</a:t>
            </a:r>
            <a:r>
              <a:rPr lang="en" sz="1735">
                <a:solidFill>
                  <a:srgbClr val="4B4D53"/>
                </a:solidFill>
                <a:latin typeface="Average"/>
                <a:ea typeface="Average"/>
                <a:cs typeface="Average"/>
                <a:sym typeface="Average"/>
              </a:rPr>
              <a:t> hormones, which means they act on another endocrine gland. We will look at these in more detail as we look at their target glands. </a:t>
            </a:r>
            <a:endParaRPr sz="1735">
              <a:solidFill>
                <a:srgbClr val="4B4D53"/>
              </a:solidFill>
              <a:latin typeface="Average"/>
              <a:ea typeface="Average"/>
              <a:cs typeface="Average"/>
              <a:sym typeface="Average"/>
            </a:endParaRPr>
          </a:p>
          <a:p>
            <a:pPr indent="0" lvl="0" marL="0" marR="0" rtl="0" algn="l">
              <a:lnSpc>
                <a:spcPct val="80000"/>
              </a:lnSpc>
              <a:spcBef>
                <a:spcPts val="1000"/>
              </a:spcBef>
              <a:spcAft>
                <a:spcPts val="0"/>
              </a:spcAft>
              <a:buNone/>
            </a:pPr>
            <a:r>
              <a:rPr b="1" lang="en" sz="2035" u="sng">
                <a:solidFill>
                  <a:srgbClr val="4B4D53"/>
                </a:solidFill>
                <a:latin typeface="Average"/>
                <a:ea typeface="Average"/>
                <a:cs typeface="Average"/>
                <a:sym typeface="Average"/>
              </a:rPr>
              <a:t>Thyroid Stimulating Hormone (TSH)</a:t>
            </a:r>
            <a:endParaRPr b="1" sz="2035" u="sng">
              <a:solidFill>
                <a:srgbClr val="4B4D53"/>
              </a:solidFill>
              <a:latin typeface="Average"/>
              <a:ea typeface="Average"/>
              <a:cs typeface="Average"/>
              <a:sym typeface="Average"/>
            </a:endParaRPr>
          </a:p>
          <a:p>
            <a:pPr indent="-299377" lvl="1" marL="640080" rtl="0" algn="l">
              <a:lnSpc>
                <a:spcPct val="80000"/>
              </a:lnSpc>
              <a:spcBef>
                <a:spcPts val="1000"/>
              </a:spcBef>
              <a:spcAft>
                <a:spcPts val="0"/>
              </a:spcAft>
              <a:buClr>
                <a:schemeClr val="accent1"/>
              </a:buClr>
              <a:buSzPts val="1500"/>
              <a:buFont typeface="Average"/>
              <a:buChar char="○"/>
            </a:pPr>
            <a:r>
              <a:rPr lang="en" sz="1500">
                <a:solidFill>
                  <a:srgbClr val="4B4D53"/>
                </a:solidFill>
                <a:latin typeface="Average"/>
                <a:ea typeface="Average"/>
                <a:cs typeface="Average"/>
                <a:sym typeface="Average"/>
              </a:rPr>
              <a:t>Stimulates the </a:t>
            </a:r>
            <a:r>
              <a:rPr b="1" lang="en" sz="1500">
                <a:solidFill>
                  <a:srgbClr val="4B4D53"/>
                </a:solidFill>
                <a:latin typeface="Average"/>
                <a:ea typeface="Average"/>
                <a:cs typeface="Average"/>
                <a:sym typeface="Average"/>
              </a:rPr>
              <a:t>thyroid gland</a:t>
            </a:r>
            <a:r>
              <a:rPr lang="en" sz="1500">
                <a:solidFill>
                  <a:srgbClr val="4B4D53"/>
                </a:solidFill>
                <a:latin typeface="Average"/>
                <a:ea typeface="Average"/>
                <a:cs typeface="Average"/>
                <a:sym typeface="Average"/>
              </a:rPr>
              <a:t> to release thyroxine when thyroxine levels are low</a:t>
            </a:r>
            <a:endParaRPr sz="1500">
              <a:solidFill>
                <a:srgbClr val="4B4D53"/>
              </a:solidFill>
              <a:latin typeface="Average"/>
              <a:ea typeface="Average"/>
              <a:cs typeface="Average"/>
              <a:sym typeface="Average"/>
            </a:endParaRPr>
          </a:p>
          <a:p>
            <a:pPr indent="0" lvl="0" marL="640080" rtl="0" algn="l">
              <a:lnSpc>
                <a:spcPct val="80000"/>
              </a:lnSpc>
              <a:spcBef>
                <a:spcPts val="1000"/>
              </a:spcBef>
              <a:spcAft>
                <a:spcPts val="0"/>
              </a:spcAft>
              <a:buNone/>
            </a:pPr>
            <a:r>
              <a:t/>
            </a:r>
            <a:endParaRPr sz="1500">
              <a:solidFill>
                <a:srgbClr val="4B4D53"/>
              </a:solidFill>
              <a:latin typeface="Average"/>
              <a:ea typeface="Average"/>
              <a:cs typeface="Average"/>
              <a:sym typeface="Average"/>
            </a:endParaRPr>
          </a:p>
          <a:p>
            <a:pPr indent="0" lvl="0" marL="0" marR="0" rtl="0" algn="l">
              <a:lnSpc>
                <a:spcPct val="80000"/>
              </a:lnSpc>
              <a:spcBef>
                <a:spcPts val="1000"/>
              </a:spcBef>
              <a:spcAft>
                <a:spcPts val="0"/>
              </a:spcAft>
              <a:buNone/>
            </a:pPr>
            <a:r>
              <a:rPr b="1" lang="en" sz="2035" u="sng">
                <a:solidFill>
                  <a:srgbClr val="4B4D53"/>
                </a:solidFill>
                <a:latin typeface="Average"/>
                <a:ea typeface="Average"/>
                <a:cs typeface="Average"/>
                <a:sym typeface="Average"/>
              </a:rPr>
              <a:t>Adrenocorticotropic Hormone (ACTH)</a:t>
            </a:r>
            <a:endParaRPr b="1" sz="2035" u="sng">
              <a:solidFill>
                <a:srgbClr val="4B4D53"/>
              </a:solidFill>
              <a:latin typeface="Average"/>
              <a:ea typeface="Average"/>
              <a:cs typeface="Average"/>
              <a:sym typeface="Average"/>
            </a:endParaRPr>
          </a:p>
          <a:p>
            <a:pPr indent="-299377" lvl="1" marL="640080" rtl="0" algn="l">
              <a:lnSpc>
                <a:spcPct val="80000"/>
              </a:lnSpc>
              <a:spcBef>
                <a:spcPts val="1000"/>
              </a:spcBef>
              <a:spcAft>
                <a:spcPts val="0"/>
              </a:spcAft>
              <a:buClr>
                <a:schemeClr val="accent1"/>
              </a:buClr>
              <a:buSzPts val="1500"/>
              <a:buFont typeface="Average"/>
              <a:buChar char="○"/>
            </a:pPr>
            <a:r>
              <a:rPr lang="en" sz="1500">
                <a:solidFill>
                  <a:srgbClr val="4B4D53"/>
                </a:solidFill>
                <a:latin typeface="Average"/>
                <a:ea typeface="Average"/>
                <a:cs typeface="Average"/>
                <a:sym typeface="Average"/>
              </a:rPr>
              <a:t>Stimulates the </a:t>
            </a:r>
            <a:r>
              <a:rPr b="1" lang="en" sz="1500">
                <a:solidFill>
                  <a:srgbClr val="4B4D53"/>
                </a:solidFill>
                <a:latin typeface="Average"/>
                <a:ea typeface="Average"/>
                <a:cs typeface="Average"/>
                <a:sym typeface="Average"/>
              </a:rPr>
              <a:t>adrenal cortex</a:t>
            </a:r>
            <a:r>
              <a:rPr lang="en" sz="1500">
                <a:solidFill>
                  <a:srgbClr val="4B4D53"/>
                </a:solidFill>
                <a:latin typeface="Average"/>
                <a:ea typeface="Average"/>
                <a:cs typeface="Average"/>
                <a:sym typeface="Average"/>
              </a:rPr>
              <a:t> to release cortisol and aldosterone</a:t>
            </a:r>
            <a:endParaRPr b="1" sz="1035" u="sng">
              <a:solidFill>
                <a:srgbClr val="4B4D53"/>
              </a:solidFill>
              <a:latin typeface="Average"/>
              <a:ea typeface="Average"/>
              <a:cs typeface="Average"/>
              <a:sym typeface="Average"/>
            </a:endParaRPr>
          </a:p>
          <a:p>
            <a:pPr indent="-10159" lvl="1" marL="365760" marR="0" rtl="0" algn="l">
              <a:lnSpc>
                <a:spcPct val="80000"/>
              </a:lnSpc>
              <a:spcBef>
                <a:spcPts val="1000"/>
              </a:spcBef>
              <a:spcAft>
                <a:spcPts val="0"/>
              </a:spcAft>
              <a:buClr>
                <a:schemeClr val="accent1"/>
              </a:buClr>
              <a:buSzPts val="375"/>
              <a:buFont typeface="Noto Sans Symbols"/>
              <a:buNone/>
            </a:pPr>
            <a:r>
              <a:t/>
            </a:r>
            <a:endParaRPr i="0" sz="1500" u="none" cap="none" strike="noStrike">
              <a:solidFill>
                <a:srgbClr val="4B4D53"/>
              </a:solidFill>
              <a:latin typeface="Average"/>
              <a:ea typeface="Average"/>
              <a:cs typeface="Average"/>
              <a:sym typeface="Average"/>
            </a:endParaRPr>
          </a:p>
        </p:txBody>
      </p:sp>
      <p:pic>
        <p:nvPicPr>
          <p:cNvPr id="400" name="Google Shape;400;p31"/>
          <p:cNvPicPr preferRelativeResize="0"/>
          <p:nvPr/>
        </p:nvPicPr>
        <p:blipFill>
          <a:blip r:embed="rId3">
            <a:alphaModFix/>
          </a:blip>
          <a:stretch>
            <a:fillRect/>
          </a:stretch>
        </p:blipFill>
        <p:spPr>
          <a:xfrm>
            <a:off x="5466800" y="1420501"/>
            <a:ext cx="3203850" cy="2618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2"/>
          <p:cNvSpPr txBox="1"/>
          <p:nvPr>
            <p:ph idx="1" type="body"/>
          </p:nvPr>
        </p:nvSpPr>
        <p:spPr>
          <a:xfrm>
            <a:off x="520700" y="1497475"/>
            <a:ext cx="4098900" cy="18450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 sz="2000" u="sng" cap="none" strike="noStrike">
                <a:solidFill>
                  <a:schemeClr val="accent1"/>
                </a:solidFill>
                <a:latin typeface="Average"/>
                <a:ea typeface="Average"/>
                <a:cs typeface="Average"/>
                <a:sym typeface="Average"/>
              </a:rPr>
              <a:t>Antidiuretic hormone (ADH)</a:t>
            </a:r>
            <a:endParaRPr b="1" i="0" sz="2000" u="sng" cap="none" strike="noStrike">
              <a:solidFill>
                <a:schemeClr val="accent1"/>
              </a:solidFill>
              <a:latin typeface="Average"/>
              <a:ea typeface="Average"/>
              <a:cs typeface="Average"/>
              <a:sym typeface="Average"/>
            </a:endParaRPr>
          </a:p>
          <a:p>
            <a:pPr indent="0" lvl="0" marL="457200" marR="0" rtl="0" algn="l">
              <a:lnSpc>
                <a:spcPct val="100000"/>
              </a:lnSpc>
              <a:spcBef>
                <a:spcPts val="1000"/>
              </a:spcBef>
              <a:spcAft>
                <a:spcPts val="0"/>
              </a:spcAft>
              <a:buNone/>
            </a:pPr>
            <a:r>
              <a:t/>
            </a:r>
            <a:endParaRPr b="1" sz="1000">
              <a:solidFill>
                <a:schemeClr val="accent1"/>
              </a:solidFill>
              <a:latin typeface="Average"/>
              <a:ea typeface="Average"/>
              <a:cs typeface="Average"/>
              <a:sym typeface="Average"/>
            </a:endParaRPr>
          </a:p>
          <a:p>
            <a:pPr indent="-299212" lvl="1" marL="640080" marR="0" rtl="0" algn="l">
              <a:lnSpc>
                <a:spcPct val="100000"/>
              </a:lnSpc>
              <a:spcBef>
                <a:spcPts val="1000"/>
              </a:spcBef>
              <a:spcAft>
                <a:spcPts val="0"/>
              </a:spcAft>
              <a:buClr>
                <a:schemeClr val="accent1"/>
              </a:buClr>
              <a:buSzPts val="1600"/>
              <a:buFont typeface="Average"/>
              <a:buChar char="o"/>
            </a:pPr>
            <a:r>
              <a:rPr lang="en" sz="1600">
                <a:solidFill>
                  <a:schemeClr val="accent1"/>
                </a:solidFill>
                <a:latin typeface="Average"/>
                <a:ea typeface="Average"/>
                <a:cs typeface="Average"/>
                <a:sym typeface="Average"/>
              </a:rPr>
              <a:t>also known as vasopressin</a:t>
            </a:r>
            <a:endParaRPr sz="1600">
              <a:solidFill>
                <a:schemeClr val="accent1"/>
              </a:solidFill>
              <a:latin typeface="Average"/>
              <a:ea typeface="Average"/>
              <a:cs typeface="Average"/>
              <a:sym typeface="Average"/>
            </a:endParaRPr>
          </a:p>
          <a:p>
            <a:pPr indent="-299212" lvl="1" marL="640080" marR="0" rtl="0" algn="l">
              <a:lnSpc>
                <a:spcPct val="100000"/>
              </a:lnSpc>
              <a:spcBef>
                <a:spcPts val="0"/>
              </a:spcBef>
              <a:spcAft>
                <a:spcPts val="0"/>
              </a:spcAft>
              <a:buClr>
                <a:schemeClr val="accent1"/>
              </a:buClr>
              <a:buSzPts val="1600"/>
              <a:buFont typeface="Average"/>
              <a:buChar char="o"/>
            </a:pPr>
            <a:r>
              <a:rPr lang="en" sz="1600">
                <a:solidFill>
                  <a:schemeClr val="accent1"/>
                </a:solidFill>
                <a:latin typeface="Average"/>
                <a:ea typeface="Average"/>
                <a:cs typeface="Average"/>
                <a:sym typeface="Average"/>
              </a:rPr>
              <a:t>Released when dehydrated and r</a:t>
            </a:r>
            <a:r>
              <a:rPr i="0" lang="en" sz="1600" u="none" cap="none" strike="noStrike">
                <a:solidFill>
                  <a:schemeClr val="accent1"/>
                </a:solidFill>
                <a:latin typeface="Average"/>
                <a:ea typeface="Average"/>
                <a:cs typeface="Average"/>
                <a:sym typeface="Average"/>
              </a:rPr>
              <a:t>egulates water reabsorption by kidneys </a:t>
            </a:r>
            <a:endParaRPr i="0" sz="1600" u="none" cap="none" strike="noStrike">
              <a:solidFill>
                <a:schemeClr val="accent1"/>
              </a:solidFill>
              <a:latin typeface="Average"/>
              <a:ea typeface="Average"/>
              <a:cs typeface="Average"/>
              <a:sym typeface="Average"/>
            </a:endParaRPr>
          </a:p>
          <a:p>
            <a:pPr indent="-299212" lvl="1" marL="640080" marR="0" rtl="0" algn="l">
              <a:lnSpc>
                <a:spcPct val="100000"/>
              </a:lnSpc>
              <a:spcBef>
                <a:spcPts val="0"/>
              </a:spcBef>
              <a:spcAft>
                <a:spcPts val="0"/>
              </a:spcAft>
              <a:buClr>
                <a:schemeClr val="accent1"/>
              </a:buClr>
              <a:buSzPts val="1600"/>
              <a:buFont typeface="Average"/>
              <a:buChar char="o"/>
            </a:pPr>
            <a:r>
              <a:rPr lang="en" sz="1600">
                <a:solidFill>
                  <a:schemeClr val="accent1"/>
                </a:solidFill>
                <a:latin typeface="Average"/>
                <a:ea typeface="Average"/>
                <a:cs typeface="Average"/>
                <a:sym typeface="Average"/>
              </a:rPr>
              <a:t>M</a:t>
            </a:r>
            <a:r>
              <a:rPr i="0" lang="en" sz="1600" u="none" cap="none" strike="noStrike">
                <a:solidFill>
                  <a:schemeClr val="accent1"/>
                </a:solidFill>
                <a:latin typeface="Average"/>
                <a:ea typeface="Average"/>
                <a:cs typeface="Average"/>
                <a:sym typeface="Average"/>
              </a:rPr>
              <a:t>aking the </a:t>
            </a:r>
            <a:r>
              <a:rPr lang="en" sz="1600">
                <a:solidFill>
                  <a:schemeClr val="accent1"/>
                </a:solidFill>
                <a:latin typeface="Average"/>
                <a:ea typeface="Average"/>
                <a:cs typeface="Average"/>
                <a:sym typeface="Average"/>
              </a:rPr>
              <a:t>collecting ducts of the </a:t>
            </a:r>
            <a:r>
              <a:rPr i="0" lang="en" sz="1600" u="none" cap="none" strike="noStrike">
                <a:solidFill>
                  <a:schemeClr val="accent1"/>
                </a:solidFill>
                <a:latin typeface="Average"/>
                <a:ea typeface="Average"/>
                <a:cs typeface="Average"/>
                <a:sym typeface="Average"/>
              </a:rPr>
              <a:t>nephrons more permeable to water and thus increases the reabso</a:t>
            </a:r>
            <a:r>
              <a:rPr lang="en" sz="1600">
                <a:solidFill>
                  <a:schemeClr val="accent1"/>
                </a:solidFill>
                <a:latin typeface="Average"/>
                <a:ea typeface="Average"/>
                <a:cs typeface="Average"/>
                <a:sym typeface="Average"/>
              </a:rPr>
              <a:t>rption of water into the blood → this in turn makes less, more concentrated urine</a:t>
            </a:r>
            <a:endParaRPr sz="1600">
              <a:latin typeface="Average"/>
              <a:ea typeface="Average"/>
              <a:cs typeface="Average"/>
              <a:sym typeface="Average"/>
            </a:endParaRPr>
          </a:p>
        </p:txBody>
      </p:sp>
      <p:sp>
        <p:nvSpPr>
          <p:cNvPr id="407" name="Google Shape;407;p32"/>
          <p:cNvSpPr txBox="1"/>
          <p:nvPr>
            <p:ph type="title"/>
          </p:nvPr>
        </p:nvSpPr>
        <p:spPr>
          <a:xfrm>
            <a:off x="520700" y="745331"/>
            <a:ext cx="8223300" cy="412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 sz="2500"/>
              <a:t>Posterior Pituitary Hormones</a:t>
            </a:r>
            <a:endParaRPr sz="2500"/>
          </a:p>
        </p:txBody>
      </p:sp>
      <p:pic>
        <p:nvPicPr>
          <p:cNvPr id="408" name="Google Shape;408;p32"/>
          <p:cNvPicPr preferRelativeResize="0"/>
          <p:nvPr/>
        </p:nvPicPr>
        <p:blipFill>
          <a:blip r:embed="rId3">
            <a:alphaModFix/>
          </a:blip>
          <a:stretch>
            <a:fillRect/>
          </a:stretch>
        </p:blipFill>
        <p:spPr>
          <a:xfrm>
            <a:off x="4555300" y="1158125"/>
            <a:ext cx="3988976" cy="36000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3"/>
          <p:cNvSpPr txBox="1"/>
          <p:nvPr/>
        </p:nvSpPr>
        <p:spPr>
          <a:xfrm>
            <a:off x="4034500" y="1275300"/>
            <a:ext cx="4383600" cy="29886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00000"/>
              </a:lnSpc>
              <a:spcBef>
                <a:spcPts val="0"/>
              </a:spcBef>
              <a:spcAft>
                <a:spcPts val="0"/>
              </a:spcAft>
              <a:buClr>
                <a:schemeClr val="accent1"/>
              </a:buClr>
              <a:buSzPts val="2000"/>
              <a:buFont typeface="Verdana"/>
              <a:buChar char="●"/>
            </a:pPr>
            <a:r>
              <a:rPr b="1" i="0" lang="en" sz="2000" u="none" cap="none" strike="noStrike">
                <a:solidFill>
                  <a:schemeClr val="accent1"/>
                </a:solidFill>
                <a:latin typeface="Average"/>
                <a:ea typeface="Average"/>
                <a:cs typeface="Average"/>
                <a:sym typeface="Average"/>
              </a:rPr>
              <a:t>Diuretics,</a:t>
            </a:r>
            <a:r>
              <a:rPr i="0" lang="en" sz="2000" u="none" cap="none" strike="noStrike">
                <a:solidFill>
                  <a:schemeClr val="accent1"/>
                </a:solidFill>
                <a:latin typeface="Average"/>
                <a:ea typeface="Average"/>
                <a:cs typeface="Average"/>
                <a:sym typeface="Average"/>
              </a:rPr>
              <a:t> such as caffeine, </a:t>
            </a:r>
            <a:r>
              <a:rPr lang="en" sz="2000">
                <a:solidFill>
                  <a:schemeClr val="accent1"/>
                </a:solidFill>
                <a:latin typeface="Average"/>
                <a:ea typeface="Average"/>
                <a:cs typeface="Average"/>
                <a:sym typeface="Average"/>
              </a:rPr>
              <a:t>inhibit the production of ADH, which in turn makes the kidneys less permeable water, leading to decreased water reabsorption. </a:t>
            </a:r>
            <a:endParaRPr sz="2000">
              <a:solidFill>
                <a:schemeClr val="accent1"/>
              </a:solidFill>
              <a:latin typeface="Average"/>
              <a:ea typeface="Average"/>
              <a:cs typeface="Average"/>
              <a:sym typeface="Average"/>
            </a:endParaRPr>
          </a:p>
          <a:p>
            <a:pPr indent="-355600" lvl="0" marL="457200" marR="0" rtl="0" algn="l">
              <a:lnSpc>
                <a:spcPct val="100000"/>
              </a:lnSpc>
              <a:spcBef>
                <a:spcPts val="1000"/>
              </a:spcBef>
              <a:spcAft>
                <a:spcPts val="0"/>
              </a:spcAft>
              <a:buClr>
                <a:schemeClr val="accent1"/>
              </a:buClr>
              <a:buSzPts val="2000"/>
              <a:buFont typeface="Average"/>
              <a:buChar char="●"/>
            </a:pPr>
            <a:r>
              <a:rPr lang="en" sz="2000">
                <a:solidFill>
                  <a:schemeClr val="accent1"/>
                </a:solidFill>
                <a:latin typeface="Average"/>
                <a:ea typeface="Average"/>
                <a:cs typeface="Average"/>
                <a:sym typeface="Average"/>
              </a:rPr>
              <a:t>This leads to the production of large volumes of dilute urine. </a:t>
            </a:r>
            <a:endParaRPr sz="2000">
              <a:solidFill>
                <a:schemeClr val="accent1"/>
              </a:solidFill>
              <a:latin typeface="Average"/>
              <a:ea typeface="Average"/>
              <a:cs typeface="Average"/>
              <a:sym typeface="Average"/>
            </a:endParaRPr>
          </a:p>
        </p:txBody>
      </p:sp>
      <p:pic>
        <p:nvPicPr>
          <p:cNvPr id="414" name="Google Shape;414;p33"/>
          <p:cNvPicPr preferRelativeResize="0"/>
          <p:nvPr/>
        </p:nvPicPr>
        <p:blipFill>
          <a:blip r:embed="rId3">
            <a:alphaModFix/>
          </a:blip>
          <a:stretch>
            <a:fillRect/>
          </a:stretch>
        </p:blipFill>
        <p:spPr>
          <a:xfrm>
            <a:off x="444000" y="201000"/>
            <a:ext cx="3729700" cy="465466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4"/>
          <p:cNvSpPr txBox="1"/>
          <p:nvPr>
            <p:ph type="title"/>
          </p:nvPr>
        </p:nvSpPr>
        <p:spPr>
          <a:xfrm>
            <a:off x="273075" y="-143725"/>
            <a:ext cx="8504400" cy="1662000"/>
          </a:xfrm>
          <a:prstGeom prst="rect">
            <a:avLst/>
          </a:prstGeom>
          <a:noFill/>
          <a:ln>
            <a:noFill/>
          </a:ln>
        </p:spPr>
        <p:txBody>
          <a:bodyPr anchorCtr="0" anchor="b" bIns="45700" lIns="91425" spcFirstLastPara="1" rIns="91425" wrap="square" tIns="45700">
            <a:noAutofit/>
          </a:bodyPr>
          <a:lstStyle/>
          <a:p>
            <a:pPr indent="0" lvl="0" marL="457200" marR="0" rtl="0" algn="ctr">
              <a:lnSpc>
                <a:spcPct val="100000"/>
              </a:lnSpc>
              <a:spcBef>
                <a:spcPts val="0"/>
              </a:spcBef>
              <a:spcAft>
                <a:spcPts val="0"/>
              </a:spcAft>
              <a:buNone/>
            </a:pPr>
            <a:r>
              <a:rPr b="1" i="0" lang="en" sz="2430" u="none" cap="none" strike="noStrike">
                <a:solidFill>
                  <a:schemeClr val="accent1"/>
                </a:solidFill>
                <a:latin typeface="Verdana"/>
                <a:ea typeface="Verdana"/>
                <a:cs typeface="Verdana"/>
                <a:sym typeface="Verdana"/>
              </a:rPr>
              <a:t>Diabetes Insipidus</a:t>
            </a:r>
            <a:br>
              <a:rPr b="1" i="0" lang="en" sz="2160" u="none" cap="none" strike="noStrike">
                <a:solidFill>
                  <a:schemeClr val="accent1"/>
                </a:solidFill>
                <a:latin typeface="Verdana"/>
                <a:ea typeface="Verdana"/>
                <a:cs typeface="Verdana"/>
                <a:sym typeface="Verdana"/>
              </a:rPr>
            </a:br>
            <a:r>
              <a:rPr b="1" i="0" lang="en" sz="1080" u="none" cap="none" strike="noStrike">
                <a:solidFill>
                  <a:schemeClr val="lt1"/>
                </a:solidFill>
                <a:latin typeface="Verdana"/>
                <a:ea typeface="Verdana"/>
                <a:cs typeface="Verdana"/>
                <a:sym typeface="Verdana"/>
              </a:rPr>
              <a:t>…</a:t>
            </a:r>
            <a:br>
              <a:rPr b="1" i="0" lang="en" sz="2160" u="none" cap="none" strike="noStrike">
                <a:solidFill>
                  <a:schemeClr val="accent1"/>
                </a:solidFill>
                <a:latin typeface="Verdana"/>
                <a:ea typeface="Verdana"/>
                <a:cs typeface="Verdana"/>
                <a:sym typeface="Verdana"/>
              </a:rPr>
            </a:br>
            <a:r>
              <a:rPr b="1" i="1" lang="en" sz="1800" u="none" cap="none" strike="noStrike">
                <a:solidFill>
                  <a:schemeClr val="accent1"/>
                </a:solidFill>
                <a:latin typeface="Verdana"/>
                <a:ea typeface="Verdana"/>
                <a:cs typeface="Verdana"/>
                <a:sym typeface="Verdana"/>
              </a:rPr>
              <a:t>The inability to produce, store, or properly respond to ADH </a:t>
            </a:r>
            <a:endParaRPr/>
          </a:p>
        </p:txBody>
      </p:sp>
      <p:sp>
        <p:nvSpPr>
          <p:cNvPr id="420" name="Google Shape;420;p34"/>
          <p:cNvSpPr txBox="1"/>
          <p:nvPr>
            <p:ph idx="1" type="body"/>
          </p:nvPr>
        </p:nvSpPr>
        <p:spPr>
          <a:xfrm>
            <a:off x="4519450" y="1956813"/>
            <a:ext cx="3824400" cy="2317200"/>
          </a:xfrm>
          <a:prstGeom prst="rect">
            <a:avLst/>
          </a:prstGeom>
          <a:noFill/>
          <a:ln>
            <a:noFill/>
          </a:ln>
        </p:spPr>
        <p:txBody>
          <a:bodyPr anchorCtr="0" anchor="t" bIns="45700" lIns="91425" spcFirstLastPara="1" rIns="91425" wrap="square" tIns="45700">
            <a:noAutofit/>
          </a:bodyPr>
          <a:lstStyle/>
          <a:p>
            <a:pPr indent="-300482" lvl="0" marL="342900" marR="0" rtl="0" algn="l">
              <a:lnSpc>
                <a:spcPct val="100000"/>
              </a:lnSpc>
              <a:spcBef>
                <a:spcPts val="0"/>
              </a:spcBef>
              <a:spcAft>
                <a:spcPts val="0"/>
              </a:spcAft>
              <a:buClr>
                <a:srgbClr val="434343"/>
              </a:buClr>
              <a:buSzPts val="1700"/>
              <a:buFont typeface="Noto Sans Symbols"/>
              <a:buChar char="○"/>
            </a:pPr>
            <a:r>
              <a:rPr b="0" i="0" lang="en" sz="1700" u="none" cap="none" strike="noStrike">
                <a:solidFill>
                  <a:srgbClr val="434343"/>
                </a:solidFill>
                <a:latin typeface="Verdana"/>
                <a:ea typeface="Verdana"/>
                <a:cs typeface="Verdana"/>
                <a:sym typeface="Verdana"/>
              </a:rPr>
              <a:t>Affected individuals produce large volumes of urine, resulting in the loss of ions from the blood</a:t>
            </a:r>
            <a:endParaRPr sz="1700">
              <a:solidFill>
                <a:srgbClr val="434343"/>
              </a:solidFill>
            </a:endParaRPr>
          </a:p>
          <a:p>
            <a:pPr indent="-300482" lvl="0" marL="342900" marR="0" rtl="0" algn="l">
              <a:lnSpc>
                <a:spcPct val="100000"/>
              </a:lnSpc>
              <a:spcBef>
                <a:spcPts val="1000"/>
              </a:spcBef>
              <a:spcAft>
                <a:spcPts val="0"/>
              </a:spcAft>
              <a:buClr>
                <a:srgbClr val="434343"/>
              </a:buClr>
              <a:buSzPts val="1700"/>
              <a:buFont typeface="Noto Sans Symbols"/>
              <a:buChar char="○"/>
            </a:pPr>
            <a:r>
              <a:rPr b="0" i="0" lang="en" sz="1700" u="none" cap="none" strike="noStrike">
                <a:solidFill>
                  <a:srgbClr val="434343"/>
                </a:solidFill>
                <a:latin typeface="Verdana"/>
                <a:ea typeface="Verdana"/>
                <a:cs typeface="Verdana"/>
                <a:sym typeface="Verdana"/>
              </a:rPr>
              <a:t>Continuous risk of dehydration</a:t>
            </a:r>
            <a:endParaRPr sz="1700">
              <a:solidFill>
                <a:srgbClr val="434343"/>
              </a:solidFill>
            </a:endParaRPr>
          </a:p>
          <a:p>
            <a:pPr indent="-300482" lvl="0" marL="342900" marR="0" rtl="0" algn="l">
              <a:lnSpc>
                <a:spcPct val="100000"/>
              </a:lnSpc>
              <a:spcBef>
                <a:spcPts val="1000"/>
              </a:spcBef>
              <a:spcAft>
                <a:spcPts val="1000"/>
              </a:spcAft>
              <a:buClr>
                <a:srgbClr val="434343"/>
              </a:buClr>
              <a:buSzPts val="1700"/>
              <a:buFont typeface="Noto Sans Symbols"/>
              <a:buChar char="○"/>
            </a:pPr>
            <a:r>
              <a:rPr b="0" i="0" lang="en" sz="1700" u="none" cap="none" strike="noStrike">
                <a:solidFill>
                  <a:srgbClr val="434343"/>
                </a:solidFill>
                <a:latin typeface="Verdana"/>
                <a:ea typeface="Verdana"/>
                <a:cs typeface="Verdana"/>
                <a:sym typeface="Verdana"/>
              </a:rPr>
              <a:t>Treated by administering ADH</a:t>
            </a:r>
            <a:endParaRPr sz="1700">
              <a:solidFill>
                <a:srgbClr val="434343"/>
              </a:solidFill>
            </a:endParaRPr>
          </a:p>
        </p:txBody>
      </p:sp>
      <p:pic>
        <p:nvPicPr>
          <p:cNvPr id="421" name="Google Shape;421;p34"/>
          <p:cNvPicPr preferRelativeResize="0"/>
          <p:nvPr/>
        </p:nvPicPr>
        <p:blipFill>
          <a:blip r:embed="rId3">
            <a:alphaModFix/>
          </a:blip>
          <a:stretch>
            <a:fillRect/>
          </a:stretch>
        </p:blipFill>
        <p:spPr>
          <a:xfrm>
            <a:off x="566575" y="1913675"/>
            <a:ext cx="3952875" cy="2219325"/>
          </a:xfrm>
          <a:prstGeom prst="rect">
            <a:avLst/>
          </a:prstGeom>
          <a:noFill/>
          <a:ln>
            <a:noFill/>
          </a:ln>
        </p:spPr>
      </p:pic>
      <p:sp>
        <p:nvSpPr>
          <p:cNvPr id="422" name="Google Shape;422;p34"/>
          <p:cNvSpPr txBox="1"/>
          <p:nvPr/>
        </p:nvSpPr>
        <p:spPr>
          <a:xfrm>
            <a:off x="632475" y="4334250"/>
            <a:ext cx="8145000" cy="55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Verdana"/>
                <a:ea typeface="Verdana"/>
                <a:cs typeface="Verdana"/>
                <a:sym typeface="Verdana"/>
              </a:rPr>
              <a:t>*</a:t>
            </a:r>
            <a:r>
              <a:rPr i="1" lang="en" sz="1200">
                <a:solidFill>
                  <a:schemeClr val="dk2"/>
                </a:solidFill>
                <a:latin typeface="Verdana"/>
                <a:ea typeface="Verdana"/>
                <a:cs typeface="Verdana"/>
                <a:sym typeface="Verdana"/>
              </a:rPr>
              <a:t>Note: Diabetes Insipidus has nothing to do with Diabetes Mellitus (more later). They simply share the name due to similarities in symptoms.</a:t>
            </a:r>
            <a:endParaRPr i="1" sz="1200">
              <a:solidFill>
                <a:schemeClr val="dk2"/>
              </a:solidFill>
              <a:latin typeface="Verdana"/>
              <a:ea typeface="Verdana"/>
              <a:cs typeface="Verdana"/>
              <a:sym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5"/>
          <p:cNvSpPr txBox="1"/>
          <p:nvPr>
            <p:ph type="title"/>
          </p:nvPr>
        </p:nvSpPr>
        <p:spPr>
          <a:xfrm>
            <a:off x="520700" y="745331"/>
            <a:ext cx="8223300" cy="412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 sz="2500"/>
              <a:t>Posterior Pituitary Hormones</a:t>
            </a:r>
            <a:endParaRPr sz="2500"/>
          </a:p>
        </p:txBody>
      </p:sp>
      <p:sp>
        <p:nvSpPr>
          <p:cNvPr id="428" name="Google Shape;428;p35"/>
          <p:cNvSpPr txBox="1"/>
          <p:nvPr>
            <p:ph idx="1" type="body"/>
          </p:nvPr>
        </p:nvSpPr>
        <p:spPr>
          <a:xfrm>
            <a:off x="263375" y="1243500"/>
            <a:ext cx="8427300" cy="34284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 sz="2035">
                <a:solidFill>
                  <a:srgbClr val="4B4D53"/>
                </a:solidFill>
                <a:latin typeface="Average"/>
                <a:ea typeface="Average"/>
                <a:cs typeface="Average"/>
                <a:sym typeface="Average"/>
              </a:rPr>
              <a:t>     </a:t>
            </a:r>
            <a:r>
              <a:rPr b="1" lang="en" sz="2035" u="sng">
                <a:solidFill>
                  <a:srgbClr val="4B4D53"/>
                </a:solidFill>
                <a:latin typeface="Average"/>
                <a:ea typeface="Average"/>
                <a:cs typeface="Average"/>
                <a:sym typeface="Average"/>
              </a:rPr>
              <a:t>Oxytocin (OCT)</a:t>
            </a:r>
            <a:endParaRPr b="1" sz="1035" u="sng">
              <a:solidFill>
                <a:srgbClr val="4B4D53"/>
              </a:solidFill>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lang="en" sz="1500">
                <a:solidFill>
                  <a:srgbClr val="4B4D53"/>
                </a:solidFill>
                <a:latin typeface="Average"/>
                <a:ea typeface="Average"/>
                <a:cs typeface="Average"/>
                <a:sym typeface="Average"/>
              </a:rPr>
              <a:t>Stimulates uterine contractions during childbirth in a positive feedback loop </a:t>
            </a:r>
            <a:endParaRPr sz="1500">
              <a:solidFill>
                <a:srgbClr val="4B4D53"/>
              </a:solidFill>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lang="en" sz="1500">
                <a:solidFill>
                  <a:srgbClr val="4B4D53"/>
                </a:solidFill>
                <a:latin typeface="Average"/>
                <a:ea typeface="Average"/>
                <a:cs typeface="Average"/>
                <a:sym typeface="Average"/>
              </a:rPr>
              <a:t>Releases milk from the mammary glands </a:t>
            </a:r>
            <a:endParaRPr sz="1500">
              <a:solidFill>
                <a:srgbClr val="4B4D53"/>
              </a:solidFill>
              <a:latin typeface="Average"/>
              <a:ea typeface="Average"/>
              <a:cs typeface="Average"/>
              <a:sym typeface="Average"/>
            </a:endParaRPr>
          </a:p>
          <a:p>
            <a:pPr indent="-227330" lvl="2" marL="914400" marR="0" rtl="0" algn="l">
              <a:lnSpc>
                <a:spcPct val="80000"/>
              </a:lnSpc>
              <a:spcBef>
                <a:spcPts val="1000"/>
              </a:spcBef>
              <a:spcAft>
                <a:spcPts val="0"/>
              </a:spcAft>
              <a:buClr>
                <a:srgbClr val="4B4D53"/>
              </a:buClr>
              <a:buSzPts val="1500"/>
              <a:buFont typeface="Average"/>
              <a:buChar char="○"/>
            </a:pPr>
            <a:r>
              <a:rPr lang="en" sz="1500">
                <a:solidFill>
                  <a:srgbClr val="4B4D53"/>
                </a:solidFill>
                <a:latin typeface="Average"/>
                <a:ea typeface="Average"/>
                <a:cs typeface="Average"/>
                <a:sym typeface="Average"/>
              </a:rPr>
              <a:t>Note: </a:t>
            </a:r>
            <a:r>
              <a:rPr lang="en" sz="1500" u="sng">
                <a:solidFill>
                  <a:srgbClr val="4B4D53"/>
                </a:solidFill>
                <a:latin typeface="Average"/>
                <a:ea typeface="Average"/>
                <a:cs typeface="Average"/>
                <a:sym typeface="Average"/>
              </a:rPr>
              <a:t>Pro</a:t>
            </a:r>
            <a:r>
              <a:rPr lang="en" sz="1500">
                <a:solidFill>
                  <a:srgbClr val="4B4D53"/>
                </a:solidFill>
                <a:latin typeface="Average"/>
                <a:ea typeface="Average"/>
                <a:cs typeface="Average"/>
                <a:sym typeface="Average"/>
              </a:rPr>
              <a:t>lactin allows mammals to </a:t>
            </a:r>
            <a:r>
              <a:rPr lang="en" sz="1500" u="sng">
                <a:solidFill>
                  <a:srgbClr val="4B4D53"/>
                </a:solidFill>
                <a:latin typeface="Average"/>
                <a:ea typeface="Average"/>
                <a:cs typeface="Average"/>
                <a:sym typeface="Average"/>
              </a:rPr>
              <a:t>pro</a:t>
            </a:r>
            <a:r>
              <a:rPr lang="en" sz="1500">
                <a:solidFill>
                  <a:srgbClr val="4B4D53"/>
                </a:solidFill>
                <a:latin typeface="Average"/>
                <a:ea typeface="Average"/>
                <a:cs typeface="Average"/>
                <a:sym typeface="Average"/>
              </a:rPr>
              <a:t>duce milk, but oxytocin is required to release to milk</a:t>
            </a:r>
            <a:endParaRPr sz="1500">
              <a:solidFill>
                <a:srgbClr val="4B4D53"/>
              </a:solidFill>
              <a:latin typeface="Average"/>
              <a:ea typeface="Average"/>
              <a:cs typeface="Average"/>
              <a:sym typeface="Average"/>
            </a:endParaRPr>
          </a:p>
          <a:p>
            <a:pPr indent="-299377" lvl="1" marL="640080" marR="0" rtl="0" algn="l">
              <a:lnSpc>
                <a:spcPct val="80000"/>
              </a:lnSpc>
              <a:spcBef>
                <a:spcPts val="1000"/>
              </a:spcBef>
              <a:spcAft>
                <a:spcPts val="0"/>
              </a:spcAft>
              <a:buClr>
                <a:schemeClr val="accent1"/>
              </a:buClr>
              <a:buSzPts val="1500"/>
              <a:buFont typeface="Average"/>
              <a:buChar char="○"/>
            </a:pPr>
            <a:r>
              <a:rPr lang="en" sz="1500">
                <a:solidFill>
                  <a:srgbClr val="4B4D53"/>
                </a:solidFill>
                <a:latin typeface="Average"/>
                <a:ea typeface="Average"/>
                <a:cs typeface="Average"/>
                <a:sym typeface="Average"/>
              </a:rPr>
              <a:t>In other words, oxytocin is the hormone that helps ‘squeeze things out of the body’</a:t>
            </a:r>
            <a:endParaRPr sz="1500">
              <a:solidFill>
                <a:srgbClr val="4B4D53"/>
              </a:solidFill>
              <a:latin typeface="Average"/>
              <a:ea typeface="Average"/>
              <a:cs typeface="Average"/>
              <a:sym typeface="Average"/>
            </a:endParaRPr>
          </a:p>
          <a:p>
            <a:pPr indent="-10159" lvl="1" marL="365760" marR="0" rtl="0" algn="l">
              <a:lnSpc>
                <a:spcPct val="80000"/>
              </a:lnSpc>
              <a:spcBef>
                <a:spcPts val="1000"/>
              </a:spcBef>
              <a:spcAft>
                <a:spcPts val="0"/>
              </a:spcAft>
              <a:buClr>
                <a:schemeClr val="accent1"/>
              </a:buClr>
              <a:buSzPts val="375"/>
              <a:buFont typeface="Noto Sans Symbols"/>
              <a:buNone/>
            </a:pPr>
            <a:r>
              <a:t/>
            </a:r>
            <a:endParaRPr i="0" sz="1500" u="none" cap="none" strike="noStrike">
              <a:solidFill>
                <a:srgbClr val="4B4D53"/>
              </a:solidFill>
              <a:latin typeface="Average"/>
              <a:ea typeface="Average"/>
              <a:cs typeface="Average"/>
              <a:sym typeface="Average"/>
            </a:endParaRPr>
          </a:p>
        </p:txBody>
      </p:sp>
      <p:pic>
        <p:nvPicPr>
          <p:cNvPr id="429" name="Google Shape;429;p35"/>
          <p:cNvPicPr preferRelativeResize="0"/>
          <p:nvPr/>
        </p:nvPicPr>
        <p:blipFill rotWithShape="1">
          <a:blip r:embed="rId3">
            <a:alphaModFix/>
          </a:blip>
          <a:srcRect b="0" l="0" r="0" t="3082"/>
          <a:stretch/>
        </p:blipFill>
        <p:spPr>
          <a:xfrm>
            <a:off x="765700" y="2914050"/>
            <a:ext cx="3735525" cy="1815700"/>
          </a:xfrm>
          <a:prstGeom prst="rect">
            <a:avLst/>
          </a:prstGeom>
          <a:noFill/>
          <a:ln>
            <a:noFill/>
          </a:ln>
        </p:spPr>
      </p:pic>
      <p:pic>
        <p:nvPicPr>
          <p:cNvPr id="430" name="Google Shape;430;p35"/>
          <p:cNvPicPr preferRelativeResize="0"/>
          <p:nvPr/>
        </p:nvPicPr>
        <p:blipFill>
          <a:blip r:embed="rId4">
            <a:alphaModFix/>
          </a:blip>
          <a:stretch>
            <a:fillRect/>
          </a:stretch>
        </p:blipFill>
        <p:spPr>
          <a:xfrm>
            <a:off x="4808325" y="2914062"/>
            <a:ext cx="3735525" cy="196113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6"/>
          <p:cNvSpPr txBox="1"/>
          <p:nvPr>
            <p:ph type="title"/>
          </p:nvPr>
        </p:nvSpPr>
        <p:spPr>
          <a:xfrm>
            <a:off x="637950" y="1672500"/>
            <a:ext cx="2820600" cy="17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400">
                <a:latin typeface="Average"/>
                <a:ea typeface="Average"/>
                <a:cs typeface="Average"/>
                <a:sym typeface="Average"/>
              </a:rPr>
              <a:t>Summary</a:t>
            </a:r>
            <a:r>
              <a:rPr b="1" lang="en" sz="3400">
                <a:latin typeface="Average"/>
                <a:ea typeface="Average"/>
                <a:cs typeface="Average"/>
                <a:sym typeface="Average"/>
              </a:rPr>
              <a:t> of Hypothalamic and Pituitary Hormones</a:t>
            </a:r>
            <a:endParaRPr b="1" sz="3400">
              <a:latin typeface="Average"/>
              <a:ea typeface="Average"/>
              <a:cs typeface="Average"/>
              <a:sym typeface="Average"/>
            </a:endParaRPr>
          </a:p>
        </p:txBody>
      </p:sp>
      <p:grpSp>
        <p:nvGrpSpPr>
          <p:cNvPr id="436" name="Google Shape;436;p36"/>
          <p:cNvGrpSpPr/>
          <p:nvPr/>
        </p:nvGrpSpPr>
        <p:grpSpPr>
          <a:xfrm>
            <a:off x="3883775" y="106925"/>
            <a:ext cx="4565752" cy="4832474"/>
            <a:chOff x="3883775" y="106925"/>
            <a:chExt cx="4565752" cy="4832474"/>
          </a:xfrm>
        </p:grpSpPr>
        <p:pic>
          <p:nvPicPr>
            <p:cNvPr id="437" name="Google Shape;437;p36"/>
            <p:cNvPicPr preferRelativeResize="0"/>
            <p:nvPr/>
          </p:nvPicPr>
          <p:blipFill>
            <a:blip r:embed="rId3">
              <a:alphaModFix/>
            </a:blip>
            <a:stretch>
              <a:fillRect/>
            </a:stretch>
          </p:blipFill>
          <p:spPr>
            <a:xfrm>
              <a:off x="3883775" y="106925"/>
              <a:ext cx="4565752" cy="4832474"/>
            </a:xfrm>
            <a:prstGeom prst="rect">
              <a:avLst/>
            </a:prstGeom>
            <a:noFill/>
            <a:ln>
              <a:noFill/>
            </a:ln>
          </p:spPr>
        </p:pic>
        <p:sp>
          <p:nvSpPr>
            <p:cNvPr id="438" name="Google Shape;438;p36"/>
            <p:cNvSpPr txBox="1"/>
            <p:nvPr/>
          </p:nvSpPr>
          <p:spPr>
            <a:xfrm>
              <a:off x="5357700" y="3934500"/>
              <a:ext cx="427800" cy="16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439" name="Google Shape;439;p36"/>
            <p:cNvSpPr txBox="1"/>
            <p:nvPr/>
          </p:nvSpPr>
          <p:spPr>
            <a:xfrm>
              <a:off x="5357700" y="3591050"/>
              <a:ext cx="427800" cy="163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7"/>
          <p:cNvSpPr txBox="1"/>
          <p:nvPr>
            <p:ph type="title"/>
          </p:nvPr>
        </p:nvSpPr>
        <p:spPr>
          <a:xfrm>
            <a:off x="814900" y="735549"/>
            <a:ext cx="7560900" cy="724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Hormones of the Thyroid and Parathyroid Glands</a:t>
            </a:r>
            <a:endParaRPr sz="3000"/>
          </a:p>
        </p:txBody>
      </p:sp>
      <p:sp>
        <p:nvSpPr>
          <p:cNvPr id="445" name="Google Shape;445;p37"/>
          <p:cNvSpPr txBox="1"/>
          <p:nvPr/>
        </p:nvSpPr>
        <p:spPr>
          <a:xfrm>
            <a:off x="814900" y="2014400"/>
            <a:ext cx="3792900" cy="9060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2000"/>
              <a:buFont typeface="Courier New"/>
              <a:buNone/>
            </a:pPr>
            <a:r>
              <a:rPr lang="en">
                <a:solidFill>
                  <a:srgbClr val="434343"/>
                </a:solidFill>
                <a:latin typeface="Verdana"/>
                <a:ea typeface="Verdana"/>
                <a:cs typeface="Verdana"/>
                <a:sym typeface="Verdana"/>
              </a:rPr>
              <a:t>The </a:t>
            </a:r>
            <a:r>
              <a:rPr b="1" lang="en">
                <a:solidFill>
                  <a:srgbClr val="434343"/>
                </a:solidFill>
                <a:latin typeface="Verdana"/>
                <a:ea typeface="Verdana"/>
                <a:cs typeface="Verdana"/>
                <a:sym typeface="Verdana"/>
              </a:rPr>
              <a:t>thyroid gland</a:t>
            </a:r>
            <a:r>
              <a:rPr lang="en">
                <a:solidFill>
                  <a:srgbClr val="434343"/>
                </a:solidFill>
                <a:latin typeface="Verdana"/>
                <a:ea typeface="Verdana"/>
                <a:cs typeface="Verdana"/>
                <a:sym typeface="Verdana"/>
              </a:rPr>
              <a:t> is a butterfly shaped gland that sits anterior to the trachea and below the larynx. On the back side of the thyroid gland, there are four smaller glands called the </a:t>
            </a:r>
            <a:r>
              <a:rPr b="1" lang="en">
                <a:solidFill>
                  <a:srgbClr val="434343"/>
                </a:solidFill>
                <a:latin typeface="Verdana"/>
                <a:ea typeface="Verdana"/>
                <a:cs typeface="Verdana"/>
                <a:sym typeface="Verdana"/>
              </a:rPr>
              <a:t>parathyroid</a:t>
            </a:r>
            <a:r>
              <a:rPr b="1" lang="en">
                <a:solidFill>
                  <a:srgbClr val="434343"/>
                </a:solidFill>
                <a:latin typeface="Verdana"/>
                <a:ea typeface="Verdana"/>
                <a:cs typeface="Verdana"/>
                <a:sym typeface="Verdana"/>
              </a:rPr>
              <a:t> glands</a:t>
            </a:r>
            <a:r>
              <a:rPr lang="en">
                <a:solidFill>
                  <a:srgbClr val="434343"/>
                </a:solidFill>
                <a:latin typeface="Verdana"/>
                <a:ea typeface="Verdana"/>
                <a:cs typeface="Verdana"/>
                <a:sym typeface="Verdana"/>
              </a:rPr>
              <a:t>.</a:t>
            </a:r>
            <a:endParaRPr b="0" i="0" sz="2000" u="none" cap="none" strike="noStrike">
              <a:solidFill>
                <a:srgbClr val="4B4D53"/>
              </a:solidFill>
              <a:latin typeface="Verdana"/>
              <a:ea typeface="Verdana"/>
              <a:cs typeface="Verdana"/>
              <a:sym typeface="Verdana"/>
            </a:endParaRPr>
          </a:p>
        </p:txBody>
      </p:sp>
      <p:pic>
        <p:nvPicPr>
          <p:cNvPr id="446" name="Google Shape;446;p37"/>
          <p:cNvPicPr preferRelativeResize="0"/>
          <p:nvPr/>
        </p:nvPicPr>
        <p:blipFill>
          <a:blip r:embed="rId3">
            <a:alphaModFix/>
          </a:blip>
          <a:stretch>
            <a:fillRect/>
          </a:stretch>
        </p:blipFill>
        <p:spPr>
          <a:xfrm>
            <a:off x="5128303" y="1551452"/>
            <a:ext cx="3457199" cy="29021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8"/>
          <p:cNvSpPr txBox="1"/>
          <p:nvPr>
            <p:ph type="title"/>
          </p:nvPr>
        </p:nvSpPr>
        <p:spPr>
          <a:xfrm>
            <a:off x="814900" y="735549"/>
            <a:ext cx="7560900" cy="724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Hormones of the Thyroid and Parathyroid Glands</a:t>
            </a:r>
            <a:endParaRPr sz="3000"/>
          </a:p>
        </p:txBody>
      </p:sp>
      <p:sp>
        <p:nvSpPr>
          <p:cNvPr id="452" name="Google Shape;452;p38"/>
          <p:cNvSpPr txBox="1"/>
          <p:nvPr>
            <p:ph idx="1" type="body"/>
          </p:nvPr>
        </p:nvSpPr>
        <p:spPr>
          <a:xfrm>
            <a:off x="540125" y="1596050"/>
            <a:ext cx="3698400" cy="2168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000" u="sng">
                <a:solidFill>
                  <a:schemeClr val="accent1"/>
                </a:solidFill>
                <a:latin typeface="Average"/>
                <a:ea typeface="Average"/>
                <a:cs typeface="Average"/>
                <a:sym typeface="Average"/>
              </a:rPr>
              <a:t>Thyroxine (T4)</a:t>
            </a:r>
            <a:endParaRPr b="1" i="0" sz="2000" u="sng" cap="none" strike="noStrike">
              <a:solidFill>
                <a:schemeClr val="accent1"/>
              </a:solidFill>
              <a:latin typeface="Average"/>
              <a:ea typeface="Average"/>
              <a:cs typeface="Average"/>
              <a:sym typeface="Average"/>
            </a:endParaRPr>
          </a:p>
          <a:p>
            <a:pPr indent="-299212" lvl="1" marL="640080" marR="0" rtl="0" algn="l">
              <a:lnSpc>
                <a:spcPct val="100000"/>
              </a:lnSpc>
              <a:spcBef>
                <a:spcPts val="1000"/>
              </a:spcBef>
              <a:spcAft>
                <a:spcPts val="0"/>
              </a:spcAft>
              <a:buClr>
                <a:schemeClr val="accent1"/>
              </a:buClr>
              <a:buSzPts val="1600"/>
              <a:buFont typeface="Average"/>
              <a:buChar char="o"/>
            </a:pPr>
            <a:r>
              <a:rPr lang="en" sz="1600">
                <a:solidFill>
                  <a:schemeClr val="accent1"/>
                </a:solidFill>
                <a:latin typeface="Average"/>
                <a:ea typeface="Average"/>
                <a:cs typeface="Average"/>
                <a:sym typeface="Average"/>
              </a:rPr>
              <a:t>Released by the thyroid gland upon stimulation by TSH from the anterior pituitary</a:t>
            </a:r>
            <a:endParaRPr sz="1600">
              <a:solidFill>
                <a:schemeClr val="accent1"/>
              </a:solidFill>
              <a:latin typeface="Average"/>
              <a:ea typeface="Average"/>
              <a:cs typeface="Average"/>
              <a:sym typeface="Average"/>
            </a:endParaRPr>
          </a:p>
          <a:p>
            <a:pPr indent="-299212" lvl="1" marL="640080" marR="0" rtl="0" algn="l">
              <a:lnSpc>
                <a:spcPct val="100000"/>
              </a:lnSpc>
              <a:spcBef>
                <a:spcPts val="0"/>
              </a:spcBef>
              <a:spcAft>
                <a:spcPts val="0"/>
              </a:spcAft>
              <a:buClr>
                <a:schemeClr val="accent1"/>
              </a:buClr>
              <a:buSzPts val="1600"/>
              <a:buFont typeface="Average"/>
              <a:buChar char="o"/>
            </a:pPr>
            <a:r>
              <a:rPr lang="en" sz="1600">
                <a:solidFill>
                  <a:schemeClr val="accent1"/>
                </a:solidFill>
                <a:latin typeface="Average"/>
                <a:ea typeface="Average"/>
                <a:cs typeface="Average"/>
                <a:sym typeface="Average"/>
              </a:rPr>
              <a:t>Its role is to increase metabolism (using up blood sugar, burning fat, increasing temperature, etc.)</a:t>
            </a:r>
            <a:endParaRPr sz="1600">
              <a:solidFill>
                <a:schemeClr val="accent1"/>
              </a:solidFill>
              <a:latin typeface="Average"/>
              <a:ea typeface="Average"/>
              <a:cs typeface="Average"/>
              <a:sym typeface="Average"/>
            </a:endParaRPr>
          </a:p>
          <a:p>
            <a:pPr indent="-299212" lvl="1" marL="640080" marR="0" rtl="0" algn="l">
              <a:lnSpc>
                <a:spcPct val="100000"/>
              </a:lnSpc>
              <a:spcBef>
                <a:spcPts val="0"/>
              </a:spcBef>
              <a:spcAft>
                <a:spcPts val="0"/>
              </a:spcAft>
              <a:buClr>
                <a:schemeClr val="accent1"/>
              </a:buClr>
              <a:buSzPts val="1600"/>
              <a:buFont typeface="Average"/>
              <a:buChar char="o"/>
            </a:pPr>
            <a:r>
              <a:rPr lang="en" sz="1600">
                <a:solidFill>
                  <a:schemeClr val="accent1"/>
                </a:solidFill>
                <a:latin typeface="Average"/>
                <a:ea typeface="Average"/>
                <a:cs typeface="Average"/>
                <a:sym typeface="Average"/>
              </a:rPr>
              <a:t>Systemic effects (no single target)</a:t>
            </a:r>
            <a:endParaRPr sz="1600">
              <a:solidFill>
                <a:schemeClr val="accent1"/>
              </a:solidFill>
              <a:latin typeface="Average"/>
              <a:ea typeface="Average"/>
              <a:cs typeface="Average"/>
              <a:sym typeface="Average"/>
            </a:endParaRPr>
          </a:p>
        </p:txBody>
      </p:sp>
      <p:pic>
        <p:nvPicPr>
          <p:cNvPr id="453" name="Google Shape;453;p38"/>
          <p:cNvPicPr preferRelativeResize="0"/>
          <p:nvPr/>
        </p:nvPicPr>
        <p:blipFill rotWithShape="1">
          <a:blip r:embed="rId3">
            <a:alphaModFix/>
          </a:blip>
          <a:srcRect b="0" l="0" r="0" t="0"/>
          <a:stretch/>
        </p:blipFill>
        <p:spPr>
          <a:xfrm>
            <a:off x="4445150" y="1887650"/>
            <a:ext cx="4584999" cy="3006200"/>
          </a:xfrm>
          <a:prstGeom prst="rect">
            <a:avLst/>
          </a:prstGeom>
          <a:noFill/>
          <a:ln>
            <a:noFill/>
          </a:ln>
        </p:spPr>
      </p:pic>
      <p:sp>
        <p:nvSpPr>
          <p:cNvPr id="454" name="Google Shape;454;p38"/>
          <p:cNvSpPr txBox="1"/>
          <p:nvPr/>
        </p:nvSpPr>
        <p:spPr>
          <a:xfrm>
            <a:off x="4445150" y="1596050"/>
            <a:ext cx="4584900" cy="291600"/>
          </a:xfrm>
          <a:prstGeom prst="rect">
            <a:avLst/>
          </a:prstGeom>
          <a:solidFill>
            <a:srgbClr val="EFEFE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Verdana"/>
                <a:ea typeface="Verdana"/>
                <a:cs typeface="Verdana"/>
                <a:sym typeface="Verdana"/>
              </a:rPr>
              <a:t>Negative Feedback Control of Thyroxine Production</a:t>
            </a:r>
            <a:endParaRPr b="1" sz="1000">
              <a:solidFill>
                <a:schemeClr val="dk1"/>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9"/>
          <p:cNvSpPr txBox="1"/>
          <p:nvPr>
            <p:ph type="title"/>
          </p:nvPr>
        </p:nvSpPr>
        <p:spPr>
          <a:xfrm>
            <a:off x="1043490" y="309785"/>
            <a:ext cx="7024800" cy="857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 sz="2400" u="none" cap="none" strike="noStrike">
                <a:solidFill>
                  <a:schemeClr val="accent1"/>
                </a:solidFill>
                <a:latin typeface="Verdana"/>
                <a:ea typeface="Verdana"/>
                <a:cs typeface="Verdana"/>
                <a:sym typeface="Verdana"/>
              </a:rPr>
              <a:t>Thyroxine and </a:t>
            </a:r>
            <a:r>
              <a:rPr b="1" lang="en" sz="2400"/>
              <a:t>I</a:t>
            </a:r>
            <a:r>
              <a:rPr b="1" i="0" lang="en" sz="2400" u="none" cap="none" strike="noStrike">
                <a:solidFill>
                  <a:schemeClr val="accent1"/>
                </a:solidFill>
                <a:latin typeface="Verdana"/>
                <a:ea typeface="Verdana"/>
                <a:cs typeface="Verdana"/>
                <a:sym typeface="Verdana"/>
              </a:rPr>
              <a:t>odine</a:t>
            </a:r>
            <a:endParaRPr/>
          </a:p>
        </p:txBody>
      </p:sp>
      <p:sp>
        <p:nvSpPr>
          <p:cNvPr id="460" name="Google Shape;460;p39"/>
          <p:cNvSpPr txBox="1"/>
          <p:nvPr>
            <p:ph idx="1" type="body"/>
          </p:nvPr>
        </p:nvSpPr>
        <p:spPr>
          <a:xfrm>
            <a:off x="566950" y="1503388"/>
            <a:ext cx="4799100" cy="2840400"/>
          </a:xfrm>
          <a:prstGeom prst="rect">
            <a:avLst/>
          </a:prstGeom>
          <a:noFill/>
          <a:ln>
            <a:noFill/>
          </a:ln>
        </p:spPr>
        <p:txBody>
          <a:bodyPr anchorCtr="0" anchor="t" bIns="45700" lIns="91425" spcFirstLastPara="1" rIns="91425" wrap="square" tIns="45700">
            <a:noAutofit/>
          </a:bodyPr>
          <a:lstStyle/>
          <a:p>
            <a:pPr indent="-279400" lvl="0" marL="342900" marR="0" rtl="0" algn="l">
              <a:lnSpc>
                <a:spcPct val="100000"/>
              </a:lnSpc>
              <a:spcBef>
                <a:spcPts val="0"/>
              </a:spcBef>
              <a:spcAft>
                <a:spcPts val="0"/>
              </a:spcAft>
              <a:buClr>
                <a:schemeClr val="accent1"/>
              </a:buClr>
              <a:buSzPts val="1368"/>
              <a:buFont typeface="Noto Sans Symbols"/>
              <a:buChar char="○"/>
            </a:pPr>
            <a:r>
              <a:rPr b="0" i="0" lang="en" sz="1800" u="none" cap="none" strike="noStrike">
                <a:solidFill>
                  <a:srgbClr val="4B4D53"/>
                </a:solidFill>
                <a:latin typeface="Verdana"/>
                <a:ea typeface="Verdana"/>
                <a:cs typeface="Verdana"/>
                <a:sym typeface="Verdana"/>
              </a:rPr>
              <a:t>The thyroid requires </a:t>
            </a:r>
            <a:r>
              <a:rPr b="1" i="0" lang="en" sz="1800" u="none" cap="none" strike="noStrike">
                <a:solidFill>
                  <a:srgbClr val="4B4D53"/>
                </a:solidFill>
              </a:rPr>
              <a:t>iodine</a:t>
            </a:r>
            <a:r>
              <a:rPr b="0" i="0" lang="en" sz="1800" u="none" cap="none" strike="noStrike">
                <a:solidFill>
                  <a:srgbClr val="4B4D53"/>
                </a:solidFill>
                <a:latin typeface="Verdana"/>
                <a:ea typeface="Verdana"/>
                <a:cs typeface="Verdana"/>
                <a:sym typeface="Verdana"/>
              </a:rPr>
              <a:t> to produce hormones such as thyroxine</a:t>
            </a:r>
            <a:endParaRPr/>
          </a:p>
          <a:p>
            <a:pPr indent="-279400" lvl="0" marL="342900" marR="0" rtl="0" algn="l">
              <a:lnSpc>
                <a:spcPct val="100000"/>
              </a:lnSpc>
              <a:spcBef>
                <a:spcPts val="1000"/>
              </a:spcBef>
              <a:spcAft>
                <a:spcPts val="0"/>
              </a:spcAft>
              <a:buClr>
                <a:schemeClr val="accent1"/>
              </a:buClr>
              <a:buSzPts val="1368"/>
              <a:buFont typeface="Noto Sans Symbols"/>
              <a:buChar char="○"/>
            </a:pPr>
            <a:r>
              <a:rPr b="0" i="0" lang="en" sz="1800" u="none" cap="none" strike="noStrike">
                <a:solidFill>
                  <a:srgbClr val="4B4D53"/>
                </a:solidFill>
                <a:latin typeface="Verdana"/>
                <a:ea typeface="Verdana"/>
                <a:cs typeface="Verdana"/>
                <a:sym typeface="Verdana"/>
              </a:rPr>
              <a:t>Insufficient iodine in the diet thus inhibits thyroxine production, meaning there will be no signal to stop the secretion of TSH</a:t>
            </a:r>
            <a:endParaRPr/>
          </a:p>
          <a:p>
            <a:pPr indent="-279400" lvl="0" marL="342900" marR="0" rtl="0" algn="l">
              <a:lnSpc>
                <a:spcPct val="100000"/>
              </a:lnSpc>
              <a:spcBef>
                <a:spcPts val="1000"/>
              </a:spcBef>
              <a:spcAft>
                <a:spcPts val="1000"/>
              </a:spcAft>
              <a:buClr>
                <a:schemeClr val="accent1"/>
              </a:buClr>
              <a:buSzPts val="1368"/>
              <a:buFont typeface="Noto Sans Symbols"/>
              <a:buChar char="○"/>
            </a:pPr>
            <a:r>
              <a:rPr b="0" i="0" lang="en" sz="1800" u="none" cap="none" strike="noStrike">
                <a:solidFill>
                  <a:srgbClr val="4B4D53"/>
                </a:solidFill>
                <a:latin typeface="Verdana"/>
                <a:ea typeface="Verdana"/>
                <a:cs typeface="Verdana"/>
                <a:sym typeface="Verdana"/>
              </a:rPr>
              <a:t>The constant stimulation of the thyroid gland by TSH that results leads to the development of a goitre</a:t>
            </a:r>
            <a:endParaRPr/>
          </a:p>
        </p:txBody>
      </p:sp>
      <p:pic>
        <p:nvPicPr>
          <p:cNvPr descr="http://www.thyroidmiracles.com/img/Multinodular.jpg" id="461" name="Google Shape;461;p39"/>
          <p:cNvPicPr preferRelativeResize="0"/>
          <p:nvPr/>
        </p:nvPicPr>
        <p:blipFill rotWithShape="1">
          <a:blip r:embed="rId3">
            <a:alphaModFix/>
          </a:blip>
          <a:srcRect b="0" l="0" r="0" t="0"/>
          <a:stretch/>
        </p:blipFill>
        <p:spPr>
          <a:xfrm>
            <a:off x="5792817" y="1644805"/>
            <a:ext cx="2106233" cy="255756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0"/>
          <p:cNvSpPr txBox="1"/>
          <p:nvPr>
            <p:ph idx="1" type="body"/>
          </p:nvPr>
        </p:nvSpPr>
        <p:spPr>
          <a:xfrm>
            <a:off x="683875" y="1479425"/>
            <a:ext cx="7560600" cy="2720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Average"/>
              <a:buChar char="➢"/>
            </a:pPr>
            <a:r>
              <a:rPr b="1" lang="en" sz="1600">
                <a:solidFill>
                  <a:schemeClr val="dk1"/>
                </a:solidFill>
                <a:latin typeface="Average"/>
                <a:ea typeface="Average"/>
                <a:cs typeface="Average"/>
                <a:sym typeface="Average"/>
              </a:rPr>
              <a:t>Hypothyroidism</a:t>
            </a:r>
            <a:r>
              <a:rPr lang="en" sz="1600">
                <a:solidFill>
                  <a:schemeClr val="dk1"/>
                </a:solidFill>
                <a:latin typeface="Average"/>
                <a:ea typeface="Average"/>
                <a:cs typeface="Average"/>
                <a:sym typeface="Average"/>
              </a:rPr>
              <a:t> is a condition where </a:t>
            </a:r>
            <a:r>
              <a:rPr b="1" lang="en" sz="1600">
                <a:solidFill>
                  <a:schemeClr val="dk1"/>
                </a:solidFill>
                <a:latin typeface="Average"/>
                <a:ea typeface="Average"/>
                <a:cs typeface="Average"/>
                <a:sym typeface="Average"/>
              </a:rPr>
              <a:t>too little thyroxine</a:t>
            </a:r>
            <a:r>
              <a:rPr lang="en" sz="1600">
                <a:solidFill>
                  <a:schemeClr val="dk1"/>
                </a:solidFill>
                <a:latin typeface="Average"/>
                <a:ea typeface="Average"/>
                <a:cs typeface="Average"/>
                <a:sym typeface="Average"/>
              </a:rPr>
              <a:t> is produced.</a:t>
            </a:r>
            <a:endParaRPr sz="1600">
              <a:solidFill>
                <a:schemeClr val="dk1"/>
              </a:solidFill>
              <a:latin typeface="Average"/>
              <a:ea typeface="Average"/>
              <a:cs typeface="Average"/>
              <a:sym typeface="Average"/>
            </a:endParaRPr>
          </a:p>
          <a:p>
            <a:pPr indent="-330200" lvl="0" marL="457200" rtl="0" algn="l">
              <a:spcBef>
                <a:spcPts val="0"/>
              </a:spcBef>
              <a:spcAft>
                <a:spcPts val="0"/>
              </a:spcAft>
              <a:buClr>
                <a:schemeClr val="dk1"/>
              </a:buClr>
              <a:buSzPts val="1600"/>
              <a:buFont typeface="Average"/>
              <a:buChar char="➢"/>
            </a:pPr>
            <a:r>
              <a:rPr b="1" lang="en" sz="1600">
                <a:solidFill>
                  <a:schemeClr val="dk1"/>
                </a:solidFill>
                <a:latin typeface="Average"/>
                <a:ea typeface="Average"/>
                <a:cs typeface="Average"/>
                <a:sym typeface="Average"/>
              </a:rPr>
              <a:t>Hyper</a:t>
            </a:r>
            <a:r>
              <a:rPr b="1" lang="en" sz="1600">
                <a:solidFill>
                  <a:schemeClr val="dk1"/>
                </a:solidFill>
                <a:latin typeface="Average"/>
                <a:ea typeface="Average"/>
                <a:cs typeface="Average"/>
                <a:sym typeface="Average"/>
              </a:rPr>
              <a:t>thyroidism</a:t>
            </a:r>
            <a:r>
              <a:rPr lang="en" sz="1600">
                <a:solidFill>
                  <a:schemeClr val="dk1"/>
                </a:solidFill>
                <a:latin typeface="Average"/>
                <a:ea typeface="Average"/>
                <a:cs typeface="Average"/>
                <a:sym typeface="Average"/>
              </a:rPr>
              <a:t> is where </a:t>
            </a:r>
            <a:r>
              <a:rPr b="1" lang="en" sz="1600">
                <a:solidFill>
                  <a:schemeClr val="dk1"/>
                </a:solidFill>
                <a:latin typeface="Average"/>
                <a:ea typeface="Average"/>
                <a:cs typeface="Average"/>
                <a:sym typeface="Average"/>
              </a:rPr>
              <a:t>too much thyroxine</a:t>
            </a:r>
            <a:r>
              <a:rPr lang="en" sz="1600">
                <a:solidFill>
                  <a:schemeClr val="dk1"/>
                </a:solidFill>
                <a:latin typeface="Average"/>
                <a:ea typeface="Average"/>
                <a:cs typeface="Average"/>
                <a:sym typeface="Average"/>
              </a:rPr>
              <a:t> is produced. </a:t>
            </a:r>
            <a:endParaRPr sz="1600">
              <a:solidFill>
                <a:schemeClr val="dk1"/>
              </a:solidFill>
              <a:latin typeface="Average"/>
              <a:ea typeface="Average"/>
              <a:cs typeface="Average"/>
              <a:sym typeface="Average"/>
            </a:endParaRPr>
          </a:p>
          <a:p>
            <a:pPr indent="-330200" lvl="0" marL="457200" rtl="0" algn="l">
              <a:spcBef>
                <a:spcPts val="0"/>
              </a:spcBef>
              <a:spcAft>
                <a:spcPts val="0"/>
              </a:spcAft>
              <a:buSzPts val="1600"/>
              <a:buFont typeface="Average"/>
              <a:buChar char="➢"/>
            </a:pPr>
            <a:r>
              <a:rPr lang="en" sz="1600">
                <a:solidFill>
                  <a:schemeClr val="dk1"/>
                </a:solidFill>
                <a:latin typeface="Average"/>
                <a:ea typeface="Average"/>
                <a:cs typeface="Average"/>
                <a:sym typeface="Average"/>
              </a:rPr>
              <a:t>This leads to opposite symptoms in affected individuals.</a:t>
            </a:r>
            <a:r>
              <a:rPr lang="en" sz="1600">
                <a:latin typeface="Average"/>
                <a:ea typeface="Average"/>
                <a:cs typeface="Average"/>
                <a:sym typeface="Average"/>
              </a:rPr>
              <a:t> </a:t>
            </a:r>
            <a:endParaRPr sz="1600">
              <a:latin typeface="Average"/>
              <a:ea typeface="Average"/>
              <a:cs typeface="Average"/>
              <a:sym typeface="Average"/>
            </a:endParaRPr>
          </a:p>
        </p:txBody>
      </p:sp>
      <p:sp>
        <p:nvSpPr>
          <p:cNvPr id="467" name="Google Shape;467;p40"/>
          <p:cNvSpPr txBox="1"/>
          <p:nvPr>
            <p:ph type="title"/>
          </p:nvPr>
        </p:nvSpPr>
        <p:spPr>
          <a:xfrm>
            <a:off x="540000" y="696675"/>
            <a:ext cx="8064000" cy="724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Problems with Thyroxine Production</a:t>
            </a:r>
            <a:endParaRPr sz="3000"/>
          </a:p>
        </p:txBody>
      </p:sp>
      <p:pic>
        <p:nvPicPr>
          <p:cNvPr id="468" name="Google Shape;468;p40"/>
          <p:cNvPicPr preferRelativeResize="0"/>
          <p:nvPr/>
        </p:nvPicPr>
        <p:blipFill>
          <a:blip r:embed="rId3">
            <a:alphaModFix/>
          </a:blip>
          <a:stretch>
            <a:fillRect/>
          </a:stretch>
        </p:blipFill>
        <p:spPr>
          <a:xfrm>
            <a:off x="4344825" y="2342100"/>
            <a:ext cx="3947400" cy="2631600"/>
          </a:xfrm>
          <a:prstGeom prst="rect">
            <a:avLst/>
          </a:prstGeom>
          <a:noFill/>
          <a:ln>
            <a:noFill/>
          </a:ln>
        </p:spPr>
      </p:pic>
      <p:pic>
        <p:nvPicPr>
          <p:cNvPr descr="(USMLE topics, endocrinology) Regulation of thyroid hormone, hyper- and hypothyroidism: causes, symptoms and treatment, goiter. &#10;Purchase a license to download a non-watermarked copy of this video here: https://www.alilamedicalmedia.com/-/galleries/narrated-videos-by-topics/endocrinology-basics/-/medias/db2b8c0b-5e34-4dfa-9ea9-3ce376ef52c4-thyroid-gland-hormones-and-problems-narrated-animation&#10;Voice by: Sue Stern&#10;©Alila Medical Media. All rights reserved.&#10;Support us on Patreon and get FREE downloads and other great rewards: patreon.com/AlilaMedicalMedia&#10;All images/videos by Alila Medical Media are for information purposes ONLY and are NOT intended to replace professional medical advice, diagnosis or treatment. Always seek the advice of a qualified healthcare provider with any questions you may have regarding a medical condition.&#10;The thyroid is a butterfly-shaped ENDOCRINE gland located in the neck. It is wrapped around the trachea, just below the thyroid cartilage –the Adam’s apple. &#10;The two major hormones of the thyroid are triiodothyronine, T3 and thyroxine, T4. The numbers 3 and 4 indicate the number of iodine atoms present in a molecule of each hormone. T3 and T4 are collectively referred to as THYROID hormones. &#10;Thyroid hormone secretion is under control of thyroid-stimulating hormone, TSH, from the anterior pituitary. TSH, in turn, is induced by thyrotropin-releasing hormone, TRH, produced by the hypothalamus. The amount of circulating thyroid hormones is regulated by a negative feedback loop: when their levels are too high, they SUPPRESS the production of TSH and TRH, consequently INHIBITING their own production. &#10;Thyroid hormones act to INCREASE the body’s metabolic rate. They stimulate appetite, digestion, breakdown of nutrients and absorption. They also increase oxygen consumption, raise the breathing rate, heart rate and contraction strength. As a result, the body’s HEAT production is INCREASED. Thyroid hormone secretion usually rises in winter months to keep the body warm.&#10;Thyroid hormones are also important for bone growth and fetal brain development.&#10;There are 2 major groups of thyroid problems:&#10;HYPOthyroidism: when the thyroid does NOT produce ENOUGH hormones, resulting in a LOW metabolic rate, combined with SLOW respiratory and cardiovascular activities. Common symptoms include fatigue, weight gain despite poor appetite, cold intolerance, slow heart rate, heavy menstrual bleeding and constipation. Iodine deficiency and Hashimoto's thyroiditis are the most common causes. Hashimoto's thyroiditis is an autoimmune disease in which the thyroid gland is gradually destroyed by the body’s own immune system. &#10;Hypothyroidism, especially when caused by iodine deficiency, may lead to swelling of the thyroid gland, known as GOITER. In an attempt to fix the low levels of thyroid hormones, the pituitary produces MORE TSH to further stimulate the thyroid gland. The thyroid, while UNable to make hormones WITHOUT iodine, responds to TSH by GROWING in size.&#10;Hypothyroidism is managed with thyroxine hormone replacement.&#10;HYPERthyroidism: when the thyroid gland produces TOO MUCH hormones, resulting in a TOO ACTIVE metabolism, together with respiratory and cardiovascular rates that are HIGHER than necessary. Common symptoms include irritability, insomnia, weight loss despite good appetite, heat intolerance, heart racing and diarrhea. &#10;Hyperthyroidism is most commonly caused by Graves' disease, another autoimmune disorder characterized by presence of an antibody, called thyroid stimulating immunoglobulin, TSI. TSI, similar to TSH, stimulates the thyroid gland to produce hormones. Unlike TSH, however, TSI is NOT regulated by  negative feedback mechanisms, leading to UNcontrolled production of thyroid hormones. TSI also stimulates the thyroid gland to grow, which MAY lead to formation of a goiter. &#10;Hyperthyroidism may be managed with drugs that suppress thyroid function, radioactive iodine that selectively destroys the thyroid gland, or surgery that removes part of the gland." id="469" name="Google Shape;469;p40" title="Thyroid Gland, Hormones and Thyroid Problems, Animation">
            <a:hlinkClick r:id="rId4"/>
          </p:cNvPr>
          <p:cNvPicPr preferRelativeResize="0"/>
          <p:nvPr/>
        </p:nvPicPr>
        <p:blipFill>
          <a:blip r:embed="rId5">
            <a:alphaModFix/>
          </a:blip>
          <a:stretch>
            <a:fillRect/>
          </a:stretch>
        </p:blipFill>
        <p:spPr>
          <a:xfrm>
            <a:off x="683875" y="280065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1"/>
          <p:cNvSpPr txBox="1"/>
          <p:nvPr>
            <p:ph idx="1" type="body"/>
          </p:nvPr>
        </p:nvSpPr>
        <p:spPr>
          <a:xfrm>
            <a:off x="683875" y="1071275"/>
            <a:ext cx="7560600" cy="33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Average"/>
                <a:ea typeface="Average"/>
                <a:cs typeface="Average"/>
                <a:sym typeface="Average"/>
              </a:rPr>
              <a:t>This is a good place for us to pause and see how well we understand feedback loops…</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Consider the following situations and make predictions:</a:t>
            </a:r>
            <a:endParaRPr sz="1600">
              <a:solidFill>
                <a:schemeClr val="dk1"/>
              </a:solidFill>
              <a:latin typeface="Average"/>
              <a:ea typeface="Average"/>
              <a:cs typeface="Average"/>
              <a:sym typeface="Average"/>
            </a:endParaRPr>
          </a:p>
          <a:p>
            <a:pPr indent="-330200" lvl="0" marL="457200" rtl="0" algn="l">
              <a:spcBef>
                <a:spcPts val="0"/>
              </a:spcBef>
              <a:spcAft>
                <a:spcPts val="0"/>
              </a:spcAft>
              <a:buClr>
                <a:schemeClr val="dk1"/>
              </a:buClr>
              <a:buSzPts val="1600"/>
              <a:buFont typeface="Average"/>
              <a:buAutoNum type="arabicPeriod"/>
            </a:pPr>
            <a:r>
              <a:rPr lang="en" sz="1600">
                <a:solidFill>
                  <a:schemeClr val="dk1"/>
                </a:solidFill>
                <a:latin typeface="Average"/>
                <a:ea typeface="Average"/>
                <a:cs typeface="Average"/>
                <a:sym typeface="Average"/>
              </a:rPr>
              <a:t>A patient complains of persistent fatigue, feeling cold and weight gain. Their doctors confirms via blood test that they have hypothyroidism. What would their </a:t>
            </a:r>
            <a:r>
              <a:rPr lang="en" sz="1600">
                <a:solidFill>
                  <a:schemeClr val="dk1"/>
                </a:solidFill>
                <a:latin typeface="Average"/>
                <a:ea typeface="Average"/>
                <a:cs typeface="Average"/>
                <a:sym typeface="Average"/>
              </a:rPr>
              <a:t>thyroxine</a:t>
            </a:r>
            <a:r>
              <a:rPr lang="en" sz="1600">
                <a:solidFill>
                  <a:schemeClr val="dk1"/>
                </a:solidFill>
                <a:latin typeface="Average"/>
                <a:ea typeface="Average"/>
                <a:cs typeface="Average"/>
                <a:sym typeface="Average"/>
              </a:rPr>
              <a:t> and TSH levels be on a blood test?</a:t>
            </a:r>
            <a:endParaRPr sz="1600">
              <a:solidFill>
                <a:schemeClr val="dk1"/>
              </a:solidFill>
              <a:latin typeface="Average"/>
              <a:ea typeface="Average"/>
              <a:cs typeface="Average"/>
              <a:sym typeface="Average"/>
            </a:endParaRPr>
          </a:p>
          <a:p>
            <a:pPr indent="0" lvl="0" marL="914400" rtl="0" algn="l">
              <a:spcBef>
                <a:spcPts val="0"/>
              </a:spcBef>
              <a:spcAft>
                <a:spcPts val="0"/>
              </a:spcAft>
              <a:buNone/>
            </a:pPr>
            <a:r>
              <a:t/>
            </a:r>
            <a:endParaRPr sz="1600">
              <a:solidFill>
                <a:schemeClr val="dk1"/>
              </a:solidFill>
              <a:latin typeface="Average"/>
              <a:ea typeface="Average"/>
              <a:cs typeface="Average"/>
              <a:sym typeface="Average"/>
            </a:endParaRPr>
          </a:p>
          <a:p>
            <a:pPr indent="0" lvl="0" marL="457200" rtl="0" algn="l">
              <a:spcBef>
                <a:spcPts val="0"/>
              </a:spcBef>
              <a:spcAft>
                <a:spcPts val="0"/>
              </a:spcAft>
              <a:buNone/>
            </a:pPr>
            <a:r>
              <a:rPr lang="en" sz="1600">
                <a:solidFill>
                  <a:schemeClr val="dk1"/>
                </a:solidFill>
                <a:latin typeface="Average"/>
                <a:ea typeface="Average"/>
                <a:cs typeface="Average"/>
                <a:sym typeface="Average"/>
              </a:rPr>
              <a:t>Low thyroxine, but high TSH. Patient is not at homeostasis, and since their thyroxine levels are low, there is a constant release of TSH trying to stimulate the thyroid gland to produce more thyroxine. </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b="1"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p:txBody>
      </p:sp>
      <p:sp>
        <p:nvSpPr>
          <p:cNvPr id="475" name="Google Shape;475;p41"/>
          <p:cNvSpPr txBox="1"/>
          <p:nvPr>
            <p:ph type="title"/>
          </p:nvPr>
        </p:nvSpPr>
        <p:spPr>
          <a:xfrm>
            <a:off x="540000" y="346775"/>
            <a:ext cx="8064000" cy="724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Problems with Thyroxine Production</a:t>
            </a:r>
            <a:endParaRPr sz="3000"/>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2"/>
          <p:cNvSpPr txBox="1"/>
          <p:nvPr>
            <p:ph idx="1" type="body"/>
          </p:nvPr>
        </p:nvSpPr>
        <p:spPr>
          <a:xfrm>
            <a:off x="683875" y="1071275"/>
            <a:ext cx="7560600" cy="33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2. Let’s consider a different patient who had their thyroid gland removed due to cancer. What would you expect their TSH levels to be?</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Their TSH levels would be high again. There is no thyroxine produced at all, but the hypothalamus/pituitary gland do not know that there is no thyroid </a:t>
            </a:r>
            <a:r>
              <a:rPr lang="en" sz="1600">
                <a:solidFill>
                  <a:schemeClr val="dk1"/>
                </a:solidFill>
                <a:latin typeface="Average"/>
                <a:ea typeface="Average"/>
                <a:cs typeface="Average"/>
                <a:sym typeface="Average"/>
              </a:rPr>
              <a:t>gland</a:t>
            </a:r>
            <a:r>
              <a:rPr lang="en" sz="1600">
                <a:solidFill>
                  <a:schemeClr val="dk1"/>
                </a:solidFill>
                <a:latin typeface="Average"/>
                <a:ea typeface="Average"/>
                <a:cs typeface="Average"/>
                <a:sym typeface="Average"/>
              </a:rPr>
              <a:t>, so they continue to try to stimulate it anyways. </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3. A third patient has a pituitary tumor that is leading to an overproduction of TSH.. How would this impact their levels thyroxine and TRH? What symptoms would you expect?</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Thyroxine would increase, and therefore we would observe symptoms of hyperthyroidism. TRH levels would be below normal. </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b="1"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1600">
              <a:solidFill>
                <a:schemeClr val="dk1"/>
              </a:solidFill>
              <a:latin typeface="Average"/>
              <a:ea typeface="Average"/>
              <a:cs typeface="Average"/>
              <a:sym typeface="Average"/>
            </a:endParaRPr>
          </a:p>
        </p:txBody>
      </p:sp>
      <p:sp>
        <p:nvSpPr>
          <p:cNvPr id="481" name="Google Shape;481;p42"/>
          <p:cNvSpPr txBox="1"/>
          <p:nvPr>
            <p:ph type="title"/>
          </p:nvPr>
        </p:nvSpPr>
        <p:spPr>
          <a:xfrm>
            <a:off x="540000" y="346775"/>
            <a:ext cx="8064000" cy="724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Problems with Thyroxine Production</a:t>
            </a:r>
            <a:endParaRPr sz="3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3"/>
          <p:cNvSpPr txBox="1"/>
          <p:nvPr>
            <p:ph type="title"/>
          </p:nvPr>
        </p:nvSpPr>
        <p:spPr>
          <a:xfrm>
            <a:off x="814900" y="735549"/>
            <a:ext cx="7560900" cy="724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Hormones of the Thyroid and Parathyroid Glands</a:t>
            </a:r>
            <a:endParaRPr sz="3000"/>
          </a:p>
        </p:txBody>
      </p:sp>
      <p:sp>
        <p:nvSpPr>
          <p:cNvPr id="487" name="Google Shape;487;p43"/>
          <p:cNvSpPr txBox="1"/>
          <p:nvPr>
            <p:ph idx="1" type="body"/>
          </p:nvPr>
        </p:nvSpPr>
        <p:spPr>
          <a:xfrm>
            <a:off x="175825" y="1596050"/>
            <a:ext cx="4354200" cy="2168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000">
                <a:solidFill>
                  <a:schemeClr val="accent1"/>
                </a:solidFill>
                <a:latin typeface="Average"/>
                <a:ea typeface="Average"/>
                <a:cs typeface="Average"/>
                <a:sym typeface="Average"/>
              </a:rPr>
              <a:t>     </a:t>
            </a:r>
            <a:r>
              <a:rPr b="1" lang="en" sz="2000" u="sng">
                <a:solidFill>
                  <a:schemeClr val="accent1"/>
                </a:solidFill>
                <a:latin typeface="Average"/>
                <a:ea typeface="Average"/>
                <a:cs typeface="Average"/>
                <a:sym typeface="Average"/>
              </a:rPr>
              <a:t>Calcitonin</a:t>
            </a:r>
            <a:endParaRPr b="1" i="0" sz="2000" u="sng" cap="none" strike="noStrike">
              <a:solidFill>
                <a:schemeClr val="accent1"/>
              </a:solidFill>
              <a:latin typeface="Average"/>
              <a:ea typeface="Average"/>
              <a:cs typeface="Average"/>
              <a:sym typeface="Average"/>
            </a:endParaRPr>
          </a:p>
          <a:p>
            <a:pPr indent="-292862" lvl="1" marL="640080" marR="0" rtl="0" algn="l">
              <a:lnSpc>
                <a:spcPct val="100000"/>
              </a:lnSpc>
              <a:spcBef>
                <a:spcPts val="100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Released by the </a:t>
            </a:r>
            <a:r>
              <a:rPr b="1" lang="en" sz="1500">
                <a:solidFill>
                  <a:schemeClr val="accent1"/>
                </a:solidFill>
                <a:latin typeface="Average"/>
                <a:ea typeface="Average"/>
                <a:cs typeface="Average"/>
                <a:sym typeface="Average"/>
              </a:rPr>
              <a:t>thyroid gland</a:t>
            </a:r>
            <a:r>
              <a:rPr lang="en" sz="1500">
                <a:solidFill>
                  <a:schemeClr val="accent1"/>
                </a:solidFill>
                <a:latin typeface="Average"/>
                <a:ea typeface="Average"/>
                <a:cs typeface="Average"/>
                <a:sym typeface="Average"/>
              </a:rPr>
              <a:t> as a response to high blood calcium (Ca</a:t>
            </a:r>
            <a:r>
              <a:rPr baseline="30000" lang="en" sz="1500">
                <a:solidFill>
                  <a:schemeClr val="accent1"/>
                </a:solidFill>
                <a:latin typeface="Average"/>
                <a:ea typeface="Average"/>
                <a:cs typeface="Average"/>
                <a:sym typeface="Average"/>
              </a:rPr>
              <a:t>2+</a:t>
            </a:r>
            <a:r>
              <a:rPr lang="en" sz="1500">
                <a:solidFill>
                  <a:schemeClr val="accent1"/>
                </a:solidFill>
                <a:latin typeface="Average"/>
                <a:ea typeface="Average"/>
                <a:cs typeface="Average"/>
                <a:sym typeface="Average"/>
              </a:rPr>
              <a:t>) levels</a:t>
            </a:r>
            <a:endParaRPr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To reduce blood calcium levels, calcitonin </a:t>
            </a:r>
            <a:endParaRPr sz="1500">
              <a:solidFill>
                <a:schemeClr val="accent1"/>
              </a:solidFill>
              <a:latin typeface="Average"/>
              <a:ea typeface="Average"/>
              <a:cs typeface="Average"/>
              <a:sym typeface="Average"/>
            </a:endParaRPr>
          </a:p>
          <a:p>
            <a:pPr indent="-227330" lvl="2" marL="914400" marR="0" rtl="0" algn="l">
              <a:lnSpc>
                <a:spcPct val="100000"/>
              </a:lnSpc>
              <a:spcBef>
                <a:spcPts val="0"/>
              </a:spcBef>
              <a:spcAft>
                <a:spcPts val="0"/>
              </a:spcAft>
              <a:buClr>
                <a:schemeClr val="accent1"/>
              </a:buClr>
              <a:buSzPts val="1500"/>
              <a:buFont typeface="Average"/>
              <a:buChar char="○"/>
            </a:pPr>
            <a:r>
              <a:rPr lang="en" sz="1500">
                <a:solidFill>
                  <a:schemeClr val="accent1"/>
                </a:solidFill>
                <a:latin typeface="Average"/>
                <a:ea typeface="Average"/>
                <a:cs typeface="Average"/>
                <a:sym typeface="Average"/>
              </a:rPr>
              <a:t>stimulates uptake of </a:t>
            </a:r>
            <a:r>
              <a:rPr lang="en" sz="1500">
                <a:solidFill>
                  <a:schemeClr val="accent1"/>
                </a:solidFill>
                <a:latin typeface="Average"/>
                <a:ea typeface="Average"/>
                <a:cs typeface="Average"/>
                <a:sym typeface="Average"/>
              </a:rPr>
              <a:t>Ca</a:t>
            </a:r>
            <a:r>
              <a:rPr baseline="30000" lang="en" sz="1500">
                <a:solidFill>
                  <a:schemeClr val="accent1"/>
                </a:solidFill>
                <a:latin typeface="Average"/>
                <a:ea typeface="Average"/>
                <a:cs typeface="Average"/>
                <a:sym typeface="Average"/>
              </a:rPr>
              <a:t>2+  </a:t>
            </a:r>
            <a:r>
              <a:rPr lang="en" sz="1500">
                <a:solidFill>
                  <a:schemeClr val="accent1"/>
                </a:solidFill>
                <a:latin typeface="Average"/>
                <a:ea typeface="Average"/>
                <a:cs typeface="Average"/>
                <a:sym typeface="Average"/>
              </a:rPr>
              <a:t>into bones</a:t>
            </a:r>
            <a:endParaRPr sz="1500">
              <a:solidFill>
                <a:schemeClr val="accent1"/>
              </a:solidFill>
              <a:latin typeface="Average"/>
              <a:ea typeface="Average"/>
              <a:cs typeface="Average"/>
              <a:sym typeface="Average"/>
            </a:endParaRPr>
          </a:p>
          <a:p>
            <a:pPr indent="-227330" lvl="2" marL="914400" marR="0" rtl="0" algn="l">
              <a:lnSpc>
                <a:spcPct val="100000"/>
              </a:lnSpc>
              <a:spcBef>
                <a:spcPts val="0"/>
              </a:spcBef>
              <a:spcAft>
                <a:spcPts val="0"/>
              </a:spcAft>
              <a:buClr>
                <a:schemeClr val="accent1"/>
              </a:buClr>
              <a:buSzPts val="1500"/>
              <a:buFont typeface="Average"/>
              <a:buChar char="○"/>
            </a:pPr>
            <a:r>
              <a:rPr lang="en" sz="1500">
                <a:solidFill>
                  <a:schemeClr val="accent1"/>
                </a:solidFill>
                <a:latin typeface="Average"/>
                <a:ea typeface="Average"/>
                <a:cs typeface="Average"/>
                <a:sym typeface="Average"/>
              </a:rPr>
              <a:t>reduces </a:t>
            </a:r>
            <a:r>
              <a:rPr lang="en" sz="1500">
                <a:solidFill>
                  <a:schemeClr val="accent1"/>
                </a:solidFill>
                <a:latin typeface="Average"/>
                <a:ea typeface="Average"/>
                <a:cs typeface="Average"/>
                <a:sym typeface="Average"/>
              </a:rPr>
              <a:t>reabsorption</a:t>
            </a:r>
            <a:r>
              <a:rPr lang="en" sz="1500">
                <a:solidFill>
                  <a:schemeClr val="accent1"/>
                </a:solidFill>
                <a:latin typeface="Average"/>
                <a:ea typeface="Average"/>
                <a:cs typeface="Average"/>
                <a:sym typeface="Average"/>
              </a:rPr>
              <a:t> of </a:t>
            </a:r>
            <a:r>
              <a:rPr lang="en" sz="1500">
                <a:solidFill>
                  <a:schemeClr val="accent1"/>
                </a:solidFill>
                <a:latin typeface="Average"/>
                <a:ea typeface="Average"/>
                <a:cs typeface="Average"/>
                <a:sym typeface="Average"/>
              </a:rPr>
              <a:t>Ca</a:t>
            </a:r>
            <a:r>
              <a:rPr baseline="30000" lang="en" sz="1500">
                <a:solidFill>
                  <a:schemeClr val="accent1"/>
                </a:solidFill>
                <a:latin typeface="Average"/>
                <a:ea typeface="Average"/>
                <a:cs typeface="Average"/>
                <a:sym typeface="Average"/>
              </a:rPr>
              <a:t>2+ </a:t>
            </a:r>
            <a:r>
              <a:rPr lang="en" sz="1500">
                <a:solidFill>
                  <a:schemeClr val="accent1"/>
                </a:solidFill>
                <a:latin typeface="Average"/>
                <a:ea typeface="Average"/>
                <a:cs typeface="Average"/>
                <a:sym typeface="Average"/>
              </a:rPr>
              <a:t>in kidneys </a:t>
            </a:r>
            <a:endParaRPr sz="1500">
              <a:solidFill>
                <a:schemeClr val="accent1"/>
              </a:solidFill>
              <a:latin typeface="Average"/>
              <a:ea typeface="Average"/>
              <a:cs typeface="Average"/>
              <a:sym typeface="Average"/>
            </a:endParaRPr>
          </a:p>
          <a:p>
            <a:pPr indent="0" lvl="0" marL="0" marR="0" rtl="0" algn="l">
              <a:lnSpc>
                <a:spcPct val="100000"/>
              </a:lnSpc>
              <a:spcBef>
                <a:spcPts val="1000"/>
              </a:spcBef>
              <a:spcAft>
                <a:spcPts val="1000"/>
              </a:spcAft>
              <a:buNone/>
            </a:pPr>
            <a:r>
              <a:t/>
            </a:r>
            <a:endParaRPr sz="1600">
              <a:solidFill>
                <a:schemeClr val="accent1"/>
              </a:solidFill>
              <a:latin typeface="Average"/>
              <a:ea typeface="Average"/>
              <a:cs typeface="Average"/>
              <a:sym typeface="Average"/>
            </a:endParaRPr>
          </a:p>
        </p:txBody>
      </p:sp>
      <p:sp>
        <p:nvSpPr>
          <p:cNvPr id="488" name="Google Shape;488;p43"/>
          <p:cNvSpPr txBox="1"/>
          <p:nvPr>
            <p:ph idx="1" type="body"/>
          </p:nvPr>
        </p:nvSpPr>
        <p:spPr>
          <a:xfrm>
            <a:off x="4413625" y="1596050"/>
            <a:ext cx="4266600" cy="2168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000">
                <a:solidFill>
                  <a:schemeClr val="accent1"/>
                </a:solidFill>
                <a:latin typeface="Average"/>
                <a:ea typeface="Average"/>
                <a:cs typeface="Average"/>
                <a:sym typeface="Average"/>
              </a:rPr>
              <a:t>     </a:t>
            </a:r>
            <a:r>
              <a:rPr b="1" lang="en" sz="2000" u="sng">
                <a:solidFill>
                  <a:schemeClr val="accent1"/>
                </a:solidFill>
                <a:latin typeface="Average"/>
                <a:ea typeface="Average"/>
                <a:cs typeface="Average"/>
                <a:sym typeface="Average"/>
              </a:rPr>
              <a:t>Parathyroid Hormone (PTH)</a:t>
            </a:r>
            <a:endParaRPr b="1" i="0" sz="2000" u="sng" cap="none" strike="noStrike">
              <a:solidFill>
                <a:schemeClr val="accent1"/>
              </a:solidFill>
              <a:latin typeface="Average"/>
              <a:ea typeface="Average"/>
              <a:cs typeface="Average"/>
              <a:sym typeface="Average"/>
            </a:endParaRPr>
          </a:p>
          <a:p>
            <a:pPr indent="-292862" lvl="1" marL="640080" marR="0" rtl="0" algn="l">
              <a:lnSpc>
                <a:spcPct val="100000"/>
              </a:lnSpc>
              <a:spcBef>
                <a:spcPts val="100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Released by the </a:t>
            </a:r>
            <a:r>
              <a:rPr b="1" lang="en" sz="1500">
                <a:solidFill>
                  <a:schemeClr val="accent1"/>
                </a:solidFill>
                <a:latin typeface="Average"/>
                <a:ea typeface="Average"/>
                <a:cs typeface="Average"/>
                <a:sym typeface="Average"/>
              </a:rPr>
              <a:t>parathyroid gland</a:t>
            </a:r>
            <a:r>
              <a:rPr lang="en" sz="1500">
                <a:solidFill>
                  <a:schemeClr val="accent1"/>
                </a:solidFill>
                <a:latin typeface="Average"/>
                <a:ea typeface="Average"/>
                <a:cs typeface="Average"/>
                <a:sym typeface="Average"/>
              </a:rPr>
              <a:t> as a response to low blood calcium (Ca</a:t>
            </a:r>
            <a:r>
              <a:rPr baseline="30000" lang="en" sz="1500">
                <a:solidFill>
                  <a:schemeClr val="accent1"/>
                </a:solidFill>
                <a:latin typeface="Average"/>
                <a:ea typeface="Average"/>
                <a:cs typeface="Average"/>
                <a:sym typeface="Average"/>
              </a:rPr>
              <a:t>2+</a:t>
            </a:r>
            <a:r>
              <a:rPr lang="en" sz="1500">
                <a:solidFill>
                  <a:schemeClr val="accent1"/>
                </a:solidFill>
                <a:latin typeface="Average"/>
                <a:ea typeface="Average"/>
                <a:cs typeface="Average"/>
                <a:sym typeface="Average"/>
              </a:rPr>
              <a:t>) levels</a:t>
            </a:r>
            <a:endParaRPr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To increase blood Ca</a:t>
            </a:r>
            <a:r>
              <a:rPr baseline="30000" lang="en" sz="1500">
                <a:solidFill>
                  <a:schemeClr val="accent1"/>
                </a:solidFill>
                <a:latin typeface="Average"/>
                <a:ea typeface="Average"/>
                <a:cs typeface="Average"/>
                <a:sym typeface="Average"/>
              </a:rPr>
              <a:t>2+</a:t>
            </a:r>
            <a:r>
              <a:rPr lang="en" sz="1500">
                <a:solidFill>
                  <a:schemeClr val="accent1"/>
                </a:solidFill>
                <a:latin typeface="Average"/>
                <a:ea typeface="Average"/>
                <a:cs typeface="Average"/>
                <a:sym typeface="Average"/>
              </a:rPr>
              <a:t> levels,  PTH</a:t>
            </a:r>
            <a:endParaRPr sz="1500">
              <a:solidFill>
                <a:schemeClr val="accent1"/>
              </a:solidFill>
              <a:latin typeface="Average"/>
              <a:ea typeface="Average"/>
              <a:cs typeface="Average"/>
              <a:sym typeface="Average"/>
            </a:endParaRPr>
          </a:p>
          <a:p>
            <a:pPr indent="-227330" lvl="2" marL="914400" marR="0" rtl="0" algn="l">
              <a:lnSpc>
                <a:spcPct val="100000"/>
              </a:lnSpc>
              <a:spcBef>
                <a:spcPts val="0"/>
              </a:spcBef>
              <a:spcAft>
                <a:spcPts val="0"/>
              </a:spcAft>
              <a:buClr>
                <a:schemeClr val="accent1"/>
              </a:buClr>
              <a:buSzPts val="1500"/>
              <a:buFont typeface="Average"/>
              <a:buChar char="○"/>
            </a:pPr>
            <a:r>
              <a:rPr lang="en" sz="1500">
                <a:solidFill>
                  <a:schemeClr val="accent1"/>
                </a:solidFill>
                <a:latin typeface="Average"/>
                <a:ea typeface="Average"/>
                <a:cs typeface="Average"/>
                <a:sym typeface="Average"/>
              </a:rPr>
              <a:t>stimulates release of Ca</a:t>
            </a:r>
            <a:r>
              <a:rPr baseline="30000" lang="en" sz="1500">
                <a:solidFill>
                  <a:schemeClr val="accent1"/>
                </a:solidFill>
                <a:latin typeface="Average"/>
                <a:ea typeface="Average"/>
                <a:cs typeface="Average"/>
                <a:sym typeface="Average"/>
              </a:rPr>
              <a:t>2+  </a:t>
            </a:r>
            <a:r>
              <a:rPr lang="en" sz="1500">
                <a:solidFill>
                  <a:schemeClr val="accent1"/>
                </a:solidFill>
                <a:latin typeface="Average"/>
                <a:ea typeface="Average"/>
                <a:cs typeface="Average"/>
                <a:sym typeface="Average"/>
              </a:rPr>
              <a:t>from bones</a:t>
            </a:r>
            <a:endParaRPr sz="1500">
              <a:solidFill>
                <a:schemeClr val="accent1"/>
              </a:solidFill>
              <a:latin typeface="Average"/>
              <a:ea typeface="Average"/>
              <a:cs typeface="Average"/>
              <a:sym typeface="Average"/>
            </a:endParaRPr>
          </a:p>
          <a:p>
            <a:pPr indent="-227330" lvl="2" marL="914400" marR="0" rtl="0" algn="l">
              <a:lnSpc>
                <a:spcPct val="100000"/>
              </a:lnSpc>
              <a:spcBef>
                <a:spcPts val="0"/>
              </a:spcBef>
              <a:spcAft>
                <a:spcPts val="0"/>
              </a:spcAft>
              <a:buClr>
                <a:schemeClr val="accent1"/>
              </a:buClr>
              <a:buSzPts val="1500"/>
              <a:buFont typeface="Average"/>
              <a:buChar char="○"/>
            </a:pPr>
            <a:r>
              <a:rPr lang="en" sz="1500">
                <a:solidFill>
                  <a:schemeClr val="accent1"/>
                </a:solidFill>
                <a:latin typeface="Average"/>
                <a:ea typeface="Average"/>
                <a:cs typeface="Average"/>
                <a:sym typeface="Average"/>
              </a:rPr>
              <a:t>increases </a:t>
            </a:r>
            <a:r>
              <a:rPr lang="en" sz="1500">
                <a:solidFill>
                  <a:schemeClr val="accent1"/>
                </a:solidFill>
                <a:latin typeface="Average"/>
                <a:ea typeface="Average"/>
                <a:cs typeface="Average"/>
                <a:sym typeface="Average"/>
              </a:rPr>
              <a:t>reabsorption</a:t>
            </a:r>
            <a:r>
              <a:rPr lang="en" sz="1500">
                <a:solidFill>
                  <a:schemeClr val="accent1"/>
                </a:solidFill>
                <a:latin typeface="Average"/>
                <a:ea typeface="Average"/>
                <a:cs typeface="Average"/>
                <a:sym typeface="Average"/>
              </a:rPr>
              <a:t> of Ca</a:t>
            </a:r>
            <a:r>
              <a:rPr baseline="30000" lang="en" sz="1500">
                <a:solidFill>
                  <a:schemeClr val="accent1"/>
                </a:solidFill>
                <a:latin typeface="Average"/>
                <a:ea typeface="Average"/>
                <a:cs typeface="Average"/>
                <a:sym typeface="Average"/>
              </a:rPr>
              <a:t>2+ </a:t>
            </a:r>
            <a:r>
              <a:rPr lang="en" sz="1500">
                <a:solidFill>
                  <a:schemeClr val="accent1"/>
                </a:solidFill>
                <a:latin typeface="Average"/>
                <a:ea typeface="Average"/>
                <a:cs typeface="Average"/>
                <a:sym typeface="Average"/>
              </a:rPr>
              <a:t>in kidneys </a:t>
            </a:r>
            <a:endParaRPr sz="1500">
              <a:solidFill>
                <a:schemeClr val="accent1"/>
              </a:solidFill>
              <a:latin typeface="Average"/>
              <a:ea typeface="Average"/>
              <a:cs typeface="Average"/>
              <a:sym typeface="Average"/>
            </a:endParaRPr>
          </a:p>
          <a:p>
            <a:pPr indent="0" lvl="0" marL="0" marR="0" rtl="0" algn="l">
              <a:lnSpc>
                <a:spcPct val="100000"/>
              </a:lnSpc>
              <a:spcBef>
                <a:spcPts val="1000"/>
              </a:spcBef>
              <a:spcAft>
                <a:spcPts val="1000"/>
              </a:spcAft>
              <a:buNone/>
            </a:pPr>
            <a:r>
              <a:t/>
            </a:r>
            <a:endParaRPr sz="1500">
              <a:solidFill>
                <a:schemeClr val="accent1"/>
              </a:solidFill>
              <a:latin typeface="Average"/>
              <a:ea typeface="Average"/>
              <a:cs typeface="Average"/>
              <a:sym typeface="Average"/>
            </a:endParaRPr>
          </a:p>
        </p:txBody>
      </p:sp>
      <p:sp>
        <p:nvSpPr>
          <p:cNvPr id="489" name="Google Shape;489;p43"/>
          <p:cNvSpPr txBox="1"/>
          <p:nvPr/>
        </p:nvSpPr>
        <p:spPr>
          <a:xfrm>
            <a:off x="3079100" y="3677250"/>
            <a:ext cx="2403600" cy="5541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verage"/>
                <a:ea typeface="Average"/>
                <a:cs typeface="Average"/>
                <a:sym typeface="Average"/>
              </a:rPr>
              <a:t>Notice anything?</a:t>
            </a:r>
            <a:endParaRPr sz="2400">
              <a:solidFill>
                <a:schemeClr val="dk1"/>
              </a:solidFill>
              <a:latin typeface="Average"/>
              <a:ea typeface="Average"/>
              <a:cs typeface="Average"/>
              <a:sym typeface="Averag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4"/>
          <p:cNvSpPr txBox="1"/>
          <p:nvPr/>
        </p:nvSpPr>
        <p:spPr>
          <a:xfrm>
            <a:off x="646175" y="651400"/>
            <a:ext cx="3913200" cy="1265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Average"/>
                <a:ea typeface="Average"/>
                <a:cs typeface="Average"/>
                <a:sym typeface="Average"/>
              </a:rPr>
              <a:t>Calcitonin and PTH are an example of </a:t>
            </a:r>
            <a:r>
              <a:rPr b="1" lang="en" sz="1600">
                <a:solidFill>
                  <a:schemeClr val="dk1"/>
                </a:solidFill>
                <a:latin typeface="Average"/>
                <a:ea typeface="Average"/>
                <a:cs typeface="Average"/>
                <a:sym typeface="Average"/>
              </a:rPr>
              <a:t>antagonistic hormones</a:t>
            </a:r>
            <a:r>
              <a:rPr lang="en" sz="1600">
                <a:solidFill>
                  <a:schemeClr val="dk1"/>
                </a:solidFill>
                <a:latin typeface="Average"/>
                <a:ea typeface="Average"/>
                <a:cs typeface="Average"/>
                <a:sym typeface="Average"/>
              </a:rPr>
              <a:t>, which are a pair of hormones that have </a:t>
            </a:r>
            <a:r>
              <a:rPr b="1" lang="en" sz="1600">
                <a:solidFill>
                  <a:schemeClr val="dk1"/>
                </a:solidFill>
                <a:latin typeface="Average"/>
                <a:ea typeface="Average"/>
                <a:cs typeface="Average"/>
                <a:sym typeface="Average"/>
              </a:rPr>
              <a:t>opposing effects</a:t>
            </a:r>
            <a:r>
              <a:rPr lang="en" sz="1600">
                <a:solidFill>
                  <a:schemeClr val="dk1"/>
                </a:solidFill>
                <a:latin typeface="Average"/>
                <a:ea typeface="Average"/>
                <a:cs typeface="Average"/>
                <a:sym typeface="Average"/>
              </a:rPr>
              <a:t>. </a:t>
            </a:r>
            <a:endParaRPr sz="1600">
              <a:solidFill>
                <a:schemeClr val="dk1"/>
              </a:solidFill>
              <a:latin typeface="Average"/>
              <a:ea typeface="Average"/>
              <a:cs typeface="Average"/>
              <a:sym typeface="Average"/>
            </a:endParaRPr>
          </a:p>
        </p:txBody>
      </p:sp>
      <p:pic>
        <p:nvPicPr>
          <p:cNvPr id="495" name="Google Shape;495;p44"/>
          <p:cNvPicPr preferRelativeResize="0"/>
          <p:nvPr/>
        </p:nvPicPr>
        <p:blipFill>
          <a:blip r:embed="rId3">
            <a:alphaModFix/>
          </a:blip>
          <a:stretch>
            <a:fillRect/>
          </a:stretch>
        </p:blipFill>
        <p:spPr>
          <a:xfrm>
            <a:off x="492350" y="2072300"/>
            <a:ext cx="4067025" cy="2256450"/>
          </a:xfrm>
          <a:prstGeom prst="rect">
            <a:avLst/>
          </a:prstGeom>
          <a:noFill/>
          <a:ln>
            <a:noFill/>
          </a:ln>
        </p:spPr>
      </p:pic>
      <p:pic>
        <p:nvPicPr>
          <p:cNvPr id="496" name="Google Shape;496;p44"/>
          <p:cNvPicPr preferRelativeResize="0"/>
          <p:nvPr/>
        </p:nvPicPr>
        <p:blipFill>
          <a:blip r:embed="rId4">
            <a:alphaModFix/>
          </a:blip>
          <a:stretch>
            <a:fillRect/>
          </a:stretch>
        </p:blipFill>
        <p:spPr>
          <a:xfrm>
            <a:off x="4957875" y="56388"/>
            <a:ext cx="3992624" cy="5030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5"/>
          <p:cNvSpPr txBox="1"/>
          <p:nvPr>
            <p:ph type="title"/>
          </p:nvPr>
        </p:nvSpPr>
        <p:spPr>
          <a:xfrm>
            <a:off x="1043608" y="656328"/>
            <a:ext cx="7024800" cy="406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Hormones of the </a:t>
            </a:r>
            <a:r>
              <a:rPr b="1" i="0" lang="en" sz="3000" u="none" cap="none" strike="noStrike">
                <a:solidFill>
                  <a:schemeClr val="accent1"/>
                </a:solidFill>
                <a:latin typeface="Verdana"/>
                <a:ea typeface="Verdana"/>
                <a:cs typeface="Verdana"/>
                <a:sym typeface="Verdana"/>
              </a:rPr>
              <a:t>Pancreas</a:t>
            </a:r>
            <a:endParaRPr sz="3000"/>
          </a:p>
        </p:txBody>
      </p:sp>
      <p:sp>
        <p:nvSpPr>
          <p:cNvPr id="502" name="Google Shape;502;p45"/>
          <p:cNvSpPr txBox="1"/>
          <p:nvPr>
            <p:ph idx="1" type="body"/>
          </p:nvPr>
        </p:nvSpPr>
        <p:spPr>
          <a:xfrm>
            <a:off x="505825" y="2220350"/>
            <a:ext cx="3888300" cy="984300"/>
          </a:xfrm>
          <a:prstGeom prst="rect">
            <a:avLst/>
          </a:prstGeom>
          <a:noFill/>
          <a:ln>
            <a:noFill/>
          </a:ln>
        </p:spPr>
        <p:txBody>
          <a:bodyPr anchorCtr="0" anchor="t" bIns="45700" lIns="91425" spcFirstLastPara="1" rIns="91425" wrap="square" tIns="45700">
            <a:noAutofit/>
          </a:bodyPr>
          <a:lstStyle/>
          <a:p>
            <a:pPr indent="-286258" lvl="0" marL="342900" marR="0" rtl="0" algn="l">
              <a:lnSpc>
                <a:spcPct val="100000"/>
              </a:lnSpc>
              <a:spcBef>
                <a:spcPts val="0"/>
              </a:spcBef>
              <a:spcAft>
                <a:spcPts val="0"/>
              </a:spcAft>
              <a:buClr>
                <a:schemeClr val="accent1"/>
              </a:buClr>
              <a:buSzPts val="1400"/>
              <a:buFont typeface="Noto Sans Symbols"/>
              <a:buChar char="○"/>
            </a:pPr>
            <a:r>
              <a:rPr lang="en" sz="1400">
                <a:solidFill>
                  <a:schemeClr val="accent1"/>
                </a:solidFill>
              </a:rPr>
              <a:t>The pancreas is both an exocrine and an endocrine gland. </a:t>
            </a:r>
            <a:endParaRPr sz="1400"/>
          </a:p>
          <a:p>
            <a:pPr indent="-286258" lvl="0" marL="342900" marR="0" rtl="0" algn="l">
              <a:lnSpc>
                <a:spcPct val="100000"/>
              </a:lnSpc>
              <a:spcBef>
                <a:spcPts val="1000"/>
              </a:spcBef>
              <a:spcAft>
                <a:spcPts val="1000"/>
              </a:spcAft>
              <a:buClr>
                <a:schemeClr val="accent1"/>
              </a:buClr>
              <a:buSzPts val="1400"/>
              <a:buFont typeface="Noto Sans Symbols"/>
              <a:buChar char="○"/>
            </a:pPr>
            <a:r>
              <a:rPr lang="en" sz="1400">
                <a:solidFill>
                  <a:schemeClr val="accent1"/>
                </a:solidFill>
              </a:rPr>
              <a:t>In Bio 20, you learned about the exocrine functions of the pancreas. In Bio 30, we will only be interested in its endocrine functions</a:t>
            </a:r>
            <a:endParaRPr sz="1400"/>
          </a:p>
        </p:txBody>
      </p:sp>
      <p:pic>
        <p:nvPicPr>
          <p:cNvPr id="503" name="Google Shape;503;p45"/>
          <p:cNvPicPr preferRelativeResize="0"/>
          <p:nvPr/>
        </p:nvPicPr>
        <p:blipFill>
          <a:blip r:embed="rId3">
            <a:alphaModFix/>
          </a:blip>
          <a:stretch>
            <a:fillRect/>
          </a:stretch>
        </p:blipFill>
        <p:spPr>
          <a:xfrm>
            <a:off x="4827400" y="1062825"/>
            <a:ext cx="3328049" cy="33724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txBox="1"/>
          <p:nvPr>
            <p:ph type="title"/>
          </p:nvPr>
        </p:nvSpPr>
        <p:spPr>
          <a:xfrm>
            <a:off x="985304" y="1035375"/>
            <a:ext cx="3282300" cy="406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lang="en" sz="3000"/>
              <a:t>Hormones of the </a:t>
            </a:r>
            <a:r>
              <a:rPr b="1" i="0" lang="en" sz="3000" u="none" cap="none" strike="noStrike">
                <a:solidFill>
                  <a:schemeClr val="accent1"/>
                </a:solidFill>
                <a:latin typeface="Verdana"/>
                <a:ea typeface="Verdana"/>
                <a:cs typeface="Verdana"/>
                <a:sym typeface="Verdana"/>
              </a:rPr>
              <a:t>Pancreas</a:t>
            </a:r>
            <a:endParaRPr sz="3000"/>
          </a:p>
        </p:txBody>
      </p:sp>
      <p:sp>
        <p:nvSpPr>
          <p:cNvPr id="509" name="Google Shape;509;p46"/>
          <p:cNvSpPr txBox="1"/>
          <p:nvPr>
            <p:ph idx="1" type="body"/>
          </p:nvPr>
        </p:nvSpPr>
        <p:spPr>
          <a:xfrm>
            <a:off x="175825" y="1596050"/>
            <a:ext cx="4354200" cy="24006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000">
                <a:solidFill>
                  <a:schemeClr val="accent1"/>
                </a:solidFill>
                <a:latin typeface="Average"/>
                <a:ea typeface="Average"/>
                <a:cs typeface="Average"/>
                <a:sym typeface="Average"/>
              </a:rPr>
              <a:t>     </a:t>
            </a:r>
            <a:r>
              <a:rPr b="1" lang="en" sz="2000" u="sng">
                <a:solidFill>
                  <a:schemeClr val="accent1"/>
                </a:solidFill>
                <a:latin typeface="Average"/>
                <a:ea typeface="Average"/>
                <a:cs typeface="Average"/>
                <a:sym typeface="Average"/>
              </a:rPr>
              <a:t>Insulin</a:t>
            </a:r>
            <a:endParaRPr b="1" i="0" sz="2000" u="sng" cap="none" strike="noStrike">
              <a:solidFill>
                <a:schemeClr val="accent1"/>
              </a:solidFill>
              <a:latin typeface="Average"/>
              <a:ea typeface="Average"/>
              <a:cs typeface="Average"/>
              <a:sym typeface="Average"/>
            </a:endParaRPr>
          </a:p>
          <a:p>
            <a:pPr indent="-292862" lvl="1" marL="640080" marR="0" rtl="0" algn="l">
              <a:lnSpc>
                <a:spcPct val="100000"/>
              </a:lnSpc>
              <a:spcBef>
                <a:spcPts val="100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Released by the </a:t>
            </a:r>
            <a:r>
              <a:rPr b="1" lang="en" sz="1500">
                <a:solidFill>
                  <a:schemeClr val="accent1"/>
                </a:solidFill>
                <a:latin typeface="Average"/>
                <a:ea typeface="Average"/>
                <a:cs typeface="Average"/>
                <a:sym typeface="Average"/>
              </a:rPr>
              <a:t>beta cells of the pancreas</a:t>
            </a:r>
            <a:endParaRPr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Released after a meal when </a:t>
            </a:r>
            <a:r>
              <a:rPr b="1" lang="en" sz="1500">
                <a:solidFill>
                  <a:schemeClr val="accent1"/>
                </a:solidFill>
                <a:latin typeface="Average"/>
                <a:ea typeface="Average"/>
                <a:cs typeface="Average"/>
                <a:sym typeface="Average"/>
              </a:rPr>
              <a:t>blood sugar levels are high</a:t>
            </a:r>
            <a:endParaRPr b="1"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Makes cells more permeable to glucose, and therefore causes </a:t>
            </a:r>
            <a:r>
              <a:rPr b="1" lang="en" sz="1500">
                <a:solidFill>
                  <a:schemeClr val="accent1"/>
                </a:solidFill>
                <a:latin typeface="Average"/>
                <a:ea typeface="Average"/>
                <a:cs typeface="Average"/>
                <a:sym typeface="Average"/>
              </a:rPr>
              <a:t>cells to take in glucose</a:t>
            </a:r>
            <a:r>
              <a:rPr lang="en" sz="1500">
                <a:solidFill>
                  <a:schemeClr val="accent1"/>
                </a:solidFill>
                <a:latin typeface="Average"/>
                <a:ea typeface="Average"/>
                <a:cs typeface="Average"/>
                <a:sym typeface="Average"/>
              </a:rPr>
              <a:t> → this in turn </a:t>
            </a:r>
            <a:r>
              <a:rPr b="1" lang="en" sz="1500">
                <a:solidFill>
                  <a:schemeClr val="accent1"/>
                </a:solidFill>
                <a:latin typeface="Average"/>
                <a:ea typeface="Average"/>
                <a:cs typeface="Average"/>
                <a:sym typeface="Average"/>
              </a:rPr>
              <a:t>reduces blood sugar levels</a:t>
            </a:r>
            <a:r>
              <a:rPr lang="en" sz="1500">
                <a:solidFill>
                  <a:schemeClr val="accent1"/>
                </a:solidFill>
                <a:latin typeface="Average"/>
                <a:ea typeface="Average"/>
                <a:cs typeface="Average"/>
                <a:sym typeface="Average"/>
              </a:rPr>
              <a:t> to the normal range</a:t>
            </a:r>
            <a:endParaRPr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Promotes </a:t>
            </a:r>
            <a:r>
              <a:rPr b="1" lang="en" sz="1500">
                <a:solidFill>
                  <a:schemeClr val="accent1"/>
                </a:solidFill>
                <a:latin typeface="Average"/>
                <a:ea typeface="Average"/>
                <a:cs typeface="Average"/>
                <a:sym typeface="Average"/>
              </a:rPr>
              <a:t>storage of glucose as glycogen </a:t>
            </a:r>
            <a:r>
              <a:rPr lang="en" sz="1500">
                <a:solidFill>
                  <a:schemeClr val="accent1"/>
                </a:solidFill>
                <a:latin typeface="Average"/>
                <a:ea typeface="Average"/>
                <a:cs typeface="Average"/>
                <a:sym typeface="Average"/>
              </a:rPr>
              <a:t>in the liver</a:t>
            </a:r>
            <a:endParaRPr sz="1500">
              <a:solidFill>
                <a:schemeClr val="accent1"/>
              </a:solidFill>
              <a:latin typeface="Average"/>
              <a:ea typeface="Average"/>
              <a:cs typeface="Average"/>
              <a:sym typeface="Average"/>
            </a:endParaRPr>
          </a:p>
          <a:p>
            <a:pPr indent="0" lvl="0" marL="914400" marR="0" rtl="0" algn="l">
              <a:lnSpc>
                <a:spcPct val="100000"/>
              </a:lnSpc>
              <a:spcBef>
                <a:spcPts val="1000"/>
              </a:spcBef>
              <a:spcAft>
                <a:spcPts val="0"/>
              </a:spcAft>
              <a:buNone/>
            </a:pPr>
            <a:r>
              <a:t/>
            </a:r>
            <a:endParaRPr sz="1500">
              <a:solidFill>
                <a:schemeClr val="accent1"/>
              </a:solidFill>
              <a:latin typeface="Average"/>
              <a:ea typeface="Average"/>
              <a:cs typeface="Average"/>
              <a:sym typeface="Average"/>
            </a:endParaRPr>
          </a:p>
          <a:p>
            <a:pPr indent="0" lvl="0" marL="0" marR="0" rtl="0" algn="l">
              <a:lnSpc>
                <a:spcPct val="100000"/>
              </a:lnSpc>
              <a:spcBef>
                <a:spcPts val="1000"/>
              </a:spcBef>
              <a:spcAft>
                <a:spcPts val="1000"/>
              </a:spcAft>
              <a:buNone/>
            </a:pPr>
            <a:r>
              <a:t/>
            </a:r>
            <a:endParaRPr sz="1600">
              <a:solidFill>
                <a:schemeClr val="accent1"/>
              </a:solidFill>
              <a:latin typeface="Average"/>
              <a:ea typeface="Average"/>
              <a:cs typeface="Average"/>
              <a:sym typeface="Average"/>
            </a:endParaRPr>
          </a:p>
        </p:txBody>
      </p:sp>
      <p:sp>
        <p:nvSpPr>
          <p:cNvPr id="510" name="Google Shape;510;p46"/>
          <p:cNvSpPr txBox="1"/>
          <p:nvPr>
            <p:ph idx="1" type="body"/>
          </p:nvPr>
        </p:nvSpPr>
        <p:spPr>
          <a:xfrm>
            <a:off x="4413625" y="1596050"/>
            <a:ext cx="4266600" cy="2168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 sz="2000">
                <a:solidFill>
                  <a:schemeClr val="accent1"/>
                </a:solidFill>
                <a:latin typeface="Average"/>
                <a:ea typeface="Average"/>
                <a:cs typeface="Average"/>
                <a:sym typeface="Average"/>
              </a:rPr>
              <a:t>     </a:t>
            </a:r>
            <a:r>
              <a:rPr b="1" lang="en" sz="2000" u="sng">
                <a:solidFill>
                  <a:schemeClr val="accent1"/>
                </a:solidFill>
                <a:latin typeface="Average"/>
                <a:ea typeface="Average"/>
                <a:cs typeface="Average"/>
                <a:sym typeface="Average"/>
              </a:rPr>
              <a:t>Glucagon</a:t>
            </a:r>
            <a:endParaRPr b="1" i="0" sz="2000" u="sng" cap="none" strike="noStrike">
              <a:solidFill>
                <a:schemeClr val="accent1"/>
              </a:solidFill>
              <a:latin typeface="Average"/>
              <a:ea typeface="Average"/>
              <a:cs typeface="Average"/>
              <a:sym typeface="Average"/>
            </a:endParaRPr>
          </a:p>
          <a:p>
            <a:pPr indent="-292862" lvl="1" marL="640080" marR="0" rtl="0" algn="l">
              <a:lnSpc>
                <a:spcPct val="100000"/>
              </a:lnSpc>
              <a:spcBef>
                <a:spcPts val="100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Released by the </a:t>
            </a:r>
            <a:r>
              <a:rPr b="1" lang="en" sz="1500">
                <a:solidFill>
                  <a:schemeClr val="accent1"/>
                </a:solidFill>
                <a:latin typeface="Average"/>
                <a:ea typeface="Average"/>
                <a:cs typeface="Average"/>
                <a:sym typeface="Average"/>
              </a:rPr>
              <a:t>alpha cells of the pancreas</a:t>
            </a:r>
            <a:endParaRPr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Released when </a:t>
            </a:r>
            <a:r>
              <a:rPr b="1" lang="en" sz="1500">
                <a:solidFill>
                  <a:schemeClr val="accent1"/>
                </a:solidFill>
                <a:latin typeface="Average"/>
                <a:ea typeface="Average"/>
                <a:cs typeface="Average"/>
                <a:sym typeface="Average"/>
              </a:rPr>
              <a:t>blood sugar levels are low</a:t>
            </a:r>
            <a:endParaRPr b="1" sz="1500">
              <a:solidFill>
                <a:schemeClr val="accent1"/>
              </a:solidFill>
              <a:latin typeface="Average"/>
              <a:ea typeface="Average"/>
              <a:cs typeface="Average"/>
              <a:sym typeface="Average"/>
            </a:endParaRPr>
          </a:p>
          <a:p>
            <a:pPr indent="-292862" lvl="1" marL="640080" marR="0" rtl="0" algn="l">
              <a:lnSpc>
                <a:spcPct val="100000"/>
              </a:lnSpc>
              <a:spcBef>
                <a:spcPts val="0"/>
              </a:spcBef>
              <a:spcAft>
                <a:spcPts val="0"/>
              </a:spcAft>
              <a:buClr>
                <a:schemeClr val="accent1"/>
              </a:buClr>
              <a:buSzPts val="1500"/>
              <a:buFont typeface="Average"/>
              <a:buChar char="o"/>
            </a:pPr>
            <a:r>
              <a:rPr lang="en" sz="1500">
                <a:solidFill>
                  <a:schemeClr val="accent1"/>
                </a:solidFill>
                <a:latin typeface="Average"/>
                <a:ea typeface="Average"/>
                <a:cs typeface="Average"/>
                <a:sym typeface="Average"/>
              </a:rPr>
              <a:t>Promotes the </a:t>
            </a:r>
            <a:r>
              <a:rPr b="1" lang="en" sz="1500">
                <a:solidFill>
                  <a:schemeClr val="accent1"/>
                </a:solidFill>
                <a:latin typeface="Average"/>
                <a:ea typeface="Average"/>
                <a:cs typeface="Average"/>
                <a:sym typeface="Average"/>
              </a:rPr>
              <a:t>breakdown of glycogen in the liver to re-release glucose</a:t>
            </a:r>
            <a:r>
              <a:rPr lang="en" sz="1500">
                <a:solidFill>
                  <a:schemeClr val="accent1"/>
                </a:solidFill>
                <a:latin typeface="Average"/>
                <a:ea typeface="Average"/>
                <a:cs typeface="Average"/>
                <a:sym typeface="Average"/>
              </a:rPr>
              <a:t> into the bloodstream → this in turn </a:t>
            </a:r>
            <a:r>
              <a:rPr b="1" lang="en" sz="1500">
                <a:solidFill>
                  <a:schemeClr val="accent1"/>
                </a:solidFill>
                <a:latin typeface="Average"/>
                <a:ea typeface="Average"/>
                <a:cs typeface="Average"/>
                <a:sym typeface="Average"/>
              </a:rPr>
              <a:t>increases blood sugar levels </a:t>
            </a:r>
            <a:r>
              <a:rPr lang="en" sz="1500">
                <a:solidFill>
                  <a:schemeClr val="accent1"/>
                </a:solidFill>
                <a:latin typeface="Average"/>
                <a:ea typeface="Average"/>
                <a:cs typeface="Average"/>
                <a:sym typeface="Average"/>
              </a:rPr>
              <a:t>to the normal range</a:t>
            </a:r>
            <a:endParaRPr sz="1500">
              <a:solidFill>
                <a:schemeClr val="accent1"/>
              </a:solidFill>
              <a:latin typeface="Average"/>
              <a:ea typeface="Average"/>
              <a:cs typeface="Average"/>
              <a:sym typeface="Average"/>
            </a:endParaRPr>
          </a:p>
          <a:p>
            <a:pPr indent="0" lvl="0" marL="0" marR="0" rtl="0" algn="l">
              <a:lnSpc>
                <a:spcPct val="100000"/>
              </a:lnSpc>
              <a:spcBef>
                <a:spcPts val="1000"/>
              </a:spcBef>
              <a:spcAft>
                <a:spcPts val="1000"/>
              </a:spcAft>
              <a:buNone/>
            </a:pPr>
            <a:r>
              <a:t/>
            </a:r>
            <a:endParaRPr sz="1500">
              <a:solidFill>
                <a:schemeClr val="accent1"/>
              </a:solidFill>
              <a:latin typeface="Average"/>
              <a:ea typeface="Average"/>
              <a:cs typeface="Average"/>
              <a:sym typeface="Average"/>
            </a:endParaRPr>
          </a:p>
        </p:txBody>
      </p:sp>
      <p:sp>
        <p:nvSpPr>
          <p:cNvPr id="511" name="Google Shape;511;p46"/>
          <p:cNvSpPr txBox="1"/>
          <p:nvPr/>
        </p:nvSpPr>
        <p:spPr>
          <a:xfrm>
            <a:off x="2161650" y="4056300"/>
            <a:ext cx="4820700" cy="5721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verage"/>
                <a:ea typeface="Average"/>
                <a:cs typeface="Average"/>
                <a:sym typeface="Average"/>
              </a:rPr>
              <a:t>Another antagonistic hormone pair!</a:t>
            </a:r>
            <a:endParaRPr sz="2400">
              <a:solidFill>
                <a:schemeClr val="dk1"/>
              </a:solidFill>
              <a:latin typeface="Average"/>
              <a:ea typeface="Average"/>
              <a:cs typeface="Average"/>
              <a:sym typeface="Average"/>
            </a:endParaRPr>
          </a:p>
        </p:txBody>
      </p:sp>
      <p:pic>
        <p:nvPicPr>
          <p:cNvPr descr="Insulin and Glucagon | Physiology | Biology | FuseSchool&#10;&#10;In this lesson, you will learn about how your blood glucose level is regulated (or controlled) by two important hormones – insulin and glucagon, via a negative feedback system.&#10;&#10;When you consume a meal that is high in carbohydrates, such as rice, pasta, and bread, this will cause your blood glucose level to increase. Carbohydrates are essentially long chains of repeating glucose monomer units, much like beads on a necklace. &#10;&#10;During digestion, this is broken apart into glucose, which absorbed into our bloodstream. This increased blood glucose level causes a gland known as the pancreas to secrete a hormone called insulin. Remember that a gland secretes hormones which act on specific target organs.&#10;&#10;In this case, the target organ is your liver, which is stimulated to convert glucose to glycogen.&#10;Glycogen is basically long, multi-branched chains of glucose monomers, stored in liver and muscle cells. Insulin also causes your body cells to uptake (or take in) glucose. So this decreases your blood glucose level back to its optimal state.&#10;&#10;When this system is faulty, this leads to a medical condition known as diabetes – if you want to learn more about diabetes, this will be addressed in another video.  The same response also occurs when you consume foods and drinks high in sugar such as sweets, cakes, and fizzy drinks.&#10;&#10;When your blood glucose level drops, such as when you are hungry, the pancreas secretes a hormone called glucagon. Like insulin, the target organ for glucagon is also the liver, though it stimulates the opposite process – the breakdown of glycogen into glucose. This increases your blood glucose level back to its optimal state.&#10;&#10;To review, insulin and glucagon are two hormones released by the pancreas, which act on the liver to regulate our blood glucose level.&#10;&#10;&#10;&#10;SUPPORT US ON PATREON&#10;https://www.patreon.com/fuseschool&#10;&#10;SUBSCRIBE to the FuseSchool YouTube channel for many more educational videos. Our teachers and animators come together to make fun &amp; easy-to-understand videos in Chemistry, Biology, Physics, Maths &amp; ICT.&#10;&#10;VISIT us at www.fuseschool.org, where all of our videos are carefully organised into topics and specific orders, and to see what else we have on offer. Comment, like and share with other learners. You can both ask and answer questions, and teachers will get back to you.&#10;&#10;These videos can be used in a flipped classroom model or as a revision aid. &#10;&#10;Find all of our Chemistry videos here: https://www.youtube.com/playlist?list=PLW0gavSzhMlReKGMVfUt6YuNQsO0bqSMV&#10;&#10;Find all of our Biology videos here: https://www.youtube.com/playlist?list=PLW0gavSzhMlQYSpKryVcEr3ERup5SxHl0&#10;&#10;Find all of our Physics videos here: https://www.youtube.com/playlist?list=PLW0gavSzhMlTWm6Sr5uN2Uv5TXHiZUq8b&#10;&#10;Find all of our Maths videos here: https://www.youtube.com/playlist?list=PLW0gavSzhMlTKBNbHH5u1SNnsrOaacKLu&#10;&#10;Instagram: https://www.instagram.com/fuseschool/&#10;Facebook: https://www.facebook.com/fuseschool/&#10;Twitter: https://twitter.com/fuseSchool&#10;&#10;Access a deeper Learning Experience in the FuseSchool platform and app: www.fuseschool.org&#10;Follow us: http://www.youtube.com/fuseschool&#10;Befriend us: http://www.facebook.com/fuseschool&#10;&#10;This is an Open Educational Resource. If you would like to use the video, please contact us: info@fuseschool.org" id="512" name="Google Shape;512;p46" title="Insulin and Glucagon | Physiology | Biology | FuseSchool">
            <a:hlinkClick r:id="rId3"/>
          </p:cNvPr>
          <p:cNvPicPr preferRelativeResize="0"/>
          <p:nvPr/>
        </p:nvPicPr>
        <p:blipFill>
          <a:blip r:embed="rId4">
            <a:alphaModFix/>
          </a:blip>
          <a:stretch>
            <a:fillRect/>
          </a:stretch>
        </p:blipFill>
        <p:spPr>
          <a:xfrm>
            <a:off x="5157500" y="215450"/>
            <a:ext cx="2358666" cy="132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47"/>
          <p:cNvPicPr preferRelativeResize="0"/>
          <p:nvPr/>
        </p:nvPicPr>
        <p:blipFill>
          <a:blip r:embed="rId3">
            <a:alphaModFix/>
          </a:blip>
          <a:stretch>
            <a:fillRect/>
          </a:stretch>
        </p:blipFill>
        <p:spPr>
          <a:xfrm>
            <a:off x="618925" y="341650"/>
            <a:ext cx="8071077" cy="44601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8"/>
          <p:cNvSpPr txBox="1"/>
          <p:nvPr>
            <p:ph type="title"/>
          </p:nvPr>
        </p:nvSpPr>
        <p:spPr>
          <a:xfrm>
            <a:off x="683568" y="681540"/>
            <a:ext cx="7776900" cy="857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8"/>
              <a:buFont typeface="Verdana"/>
              <a:buNone/>
            </a:pPr>
            <a:r>
              <a:rPr b="1" i="0" lang="en" sz="2730" u="none" cap="none" strike="noStrike">
                <a:solidFill>
                  <a:schemeClr val="accent1"/>
                </a:solidFill>
                <a:latin typeface="Average"/>
                <a:ea typeface="Average"/>
                <a:cs typeface="Average"/>
                <a:sym typeface="Average"/>
              </a:rPr>
              <a:t>Diabetes </a:t>
            </a:r>
            <a:r>
              <a:rPr b="1" lang="en" sz="2730">
                <a:latin typeface="Average"/>
                <a:ea typeface="Average"/>
                <a:cs typeface="Average"/>
                <a:sym typeface="Average"/>
              </a:rPr>
              <a:t>M</a:t>
            </a:r>
            <a:r>
              <a:rPr b="1" i="0" lang="en" sz="2730" u="none" cap="none" strike="noStrike">
                <a:solidFill>
                  <a:schemeClr val="accent1"/>
                </a:solidFill>
                <a:latin typeface="Average"/>
                <a:ea typeface="Average"/>
                <a:cs typeface="Average"/>
                <a:sym typeface="Average"/>
              </a:rPr>
              <a:t>ellitus</a:t>
            </a:r>
            <a:br>
              <a:rPr b="1" i="0" lang="en" sz="2160" u="none" cap="none" strike="noStrike">
                <a:solidFill>
                  <a:schemeClr val="accent1"/>
                </a:solidFill>
                <a:latin typeface="Average"/>
                <a:ea typeface="Average"/>
                <a:cs typeface="Average"/>
                <a:sym typeface="Average"/>
              </a:rPr>
            </a:br>
            <a:r>
              <a:rPr b="1" i="0" lang="en" sz="989" u="none" cap="none" strike="noStrike">
                <a:solidFill>
                  <a:schemeClr val="lt1"/>
                </a:solidFill>
                <a:latin typeface="Average"/>
                <a:ea typeface="Average"/>
                <a:cs typeface="Average"/>
                <a:sym typeface="Average"/>
              </a:rPr>
              <a:t>…</a:t>
            </a:r>
            <a:br>
              <a:rPr b="1" i="0" lang="en" sz="1800" u="none" cap="none" strike="noStrike">
                <a:solidFill>
                  <a:schemeClr val="accent1"/>
                </a:solidFill>
                <a:latin typeface="Average"/>
                <a:ea typeface="Average"/>
                <a:cs typeface="Average"/>
                <a:sym typeface="Average"/>
              </a:rPr>
            </a:br>
            <a:r>
              <a:rPr b="1" i="1" lang="en" sz="1800" u="none" cap="none" strike="noStrike">
                <a:solidFill>
                  <a:schemeClr val="accent1"/>
                </a:solidFill>
                <a:latin typeface="Average"/>
                <a:ea typeface="Average"/>
                <a:cs typeface="Average"/>
                <a:sym typeface="Average"/>
              </a:rPr>
              <a:t> The inability to produce enough insulin or respond appropriately to insulin</a:t>
            </a:r>
            <a:endParaRPr>
              <a:latin typeface="Average"/>
              <a:ea typeface="Average"/>
              <a:cs typeface="Average"/>
              <a:sym typeface="Average"/>
            </a:endParaRPr>
          </a:p>
        </p:txBody>
      </p:sp>
      <p:sp>
        <p:nvSpPr>
          <p:cNvPr id="523" name="Google Shape;523;p48"/>
          <p:cNvSpPr txBox="1"/>
          <p:nvPr>
            <p:ph idx="1" type="body"/>
          </p:nvPr>
        </p:nvSpPr>
        <p:spPr>
          <a:xfrm>
            <a:off x="537675" y="1538950"/>
            <a:ext cx="4826400" cy="3024600"/>
          </a:xfrm>
          <a:prstGeom prst="rect">
            <a:avLst/>
          </a:prstGeom>
          <a:noFill/>
          <a:ln>
            <a:noFill/>
          </a:ln>
        </p:spPr>
        <p:txBody>
          <a:bodyPr anchorCtr="0" anchor="t" bIns="45700" lIns="91425" spcFirstLastPara="1" rIns="91425" wrap="square" tIns="45700">
            <a:noAutofit/>
          </a:bodyPr>
          <a:lstStyle/>
          <a:p>
            <a:pPr indent="-300112" lvl="0" marL="342900" marR="0" rtl="0" algn="l">
              <a:lnSpc>
                <a:spcPct val="100000"/>
              </a:lnSpc>
              <a:spcBef>
                <a:spcPts val="0"/>
              </a:spcBef>
              <a:spcAft>
                <a:spcPts val="0"/>
              </a:spcAft>
              <a:buClr>
                <a:srgbClr val="434343"/>
              </a:buClr>
              <a:buSzPts val="1500"/>
              <a:buFont typeface="Noto Sans Symbols"/>
              <a:buChar char="○"/>
            </a:pPr>
            <a:r>
              <a:rPr i="0" lang="en" sz="1500" u="none" cap="none" strike="noStrike">
                <a:solidFill>
                  <a:srgbClr val="434343"/>
                </a:solidFill>
                <a:latin typeface="Average"/>
                <a:ea typeface="Average"/>
                <a:cs typeface="Average"/>
                <a:sym typeface="Average"/>
              </a:rPr>
              <a:t>Causes </a:t>
            </a:r>
            <a:r>
              <a:rPr b="1" i="0" lang="en" sz="1500" u="none" cap="none" strike="noStrike">
                <a:solidFill>
                  <a:srgbClr val="434343"/>
                </a:solidFill>
                <a:latin typeface="Average"/>
                <a:ea typeface="Average"/>
                <a:cs typeface="Average"/>
                <a:sym typeface="Average"/>
              </a:rPr>
              <a:t>blood glucose levels to rise sharply after meals</a:t>
            </a:r>
            <a:r>
              <a:rPr i="0" lang="en" sz="1500" u="none" cap="none" strike="noStrike">
                <a:solidFill>
                  <a:srgbClr val="434343"/>
                </a:solidFill>
                <a:latin typeface="Average"/>
                <a:ea typeface="Average"/>
                <a:cs typeface="Average"/>
                <a:sym typeface="Average"/>
              </a:rPr>
              <a:t> (hyperglycemia)</a:t>
            </a:r>
            <a:endParaRPr sz="1500">
              <a:solidFill>
                <a:srgbClr val="434343"/>
              </a:solidFill>
              <a:latin typeface="Average"/>
              <a:ea typeface="Average"/>
              <a:cs typeface="Average"/>
              <a:sym typeface="Average"/>
            </a:endParaRPr>
          </a:p>
          <a:p>
            <a:pPr indent="-300112" lvl="0" marL="342900" marR="0" rtl="0" algn="l">
              <a:lnSpc>
                <a:spcPct val="100000"/>
              </a:lnSpc>
              <a:spcBef>
                <a:spcPts val="1000"/>
              </a:spcBef>
              <a:spcAft>
                <a:spcPts val="0"/>
              </a:spcAft>
              <a:buClr>
                <a:srgbClr val="434343"/>
              </a:buClr>
              <a:buSzPts val="1500"/>
              <a:buFont typeface="Noto Sans Symbols"/>
              <a:buChar char="○"/>
            </a:pPr>
            <a:r>
              <a:rPr b="1" i="0" lang="en" sz="1500" u="none" cap="none" strike="noStrike">
                <a:solidFill>
                  <a:srgbClr val="434343"/>
                </a:solidFill>
                <a:latin typeface="Average"/>
                <a:ea typeface="Average"/>
                <a:cs typeface="Average"/>
                <a:sym typeface="Average"/>
              </a:rPr>
              <a:t>Cells cannot properly obtain the glucose they require for metabolism</a:t>
            </a:r>
            <a:r>
              <a:rPr i="0" lang="en" sz="1500" u="none" cap="none" strike="noStrike">
                <a:solidFill>
                  <a:srgbClr val="434343"/>
                </a:solidFill>
                <a:latin typeface="Average"/>
                <a:ea typeface="Average"/>
                <a:cs typeface="Average"/>
                <a:sym typeface="Average"/>
              </a:rPr>
              <a:t>; individuals become fatigued </a:t>
            </a:r>
            <a:endParaRPr sz="1500">
              <a:solidFill>
                <a:srgbClr val="434343"/>
              </a:solidFill>
              <a:latin typeface="Average"/>
              <a:ea typeface="Average"/>
              <a:cs typeface="Average"/>
              <a:sym typeface="Average"/>
            </a:endParaRPr>
          </a:p>
          <a:p>
            <a:pPr indent="-300112" lvl="0" marL="342900" marR="0" rtl="0" algn="l">
              <a:lnSpc>
                <a:spcPct val="100000"/>
              </a:lnSpc>
              <a:spcBef>
                <a:spcPts val="1000"/>
              </a:spcBef>
              <a:spcAft>
                <a:spcPts val="0"/>
              </a:spcAft>
              <a:buClr>
                <a:srgbClr val="434343"/>
              </a:buClr>
              <a:buSzPts val="1500"/>
              <a:buFont typeface="Average"/>
              <a:buChar char="○"/>
            </a:pPr>
            <a:r>
              <a:rPr i="0" lang="en" sz="1500" u="none" cap="none" strike="noStrike">
                <a:solidFill>
                  <a:srgbClr val="434343"/>
                </a:solidFill>
                <a:latin typeface="Average"/>
                <a:ea typeface="Average"/>
                <a:cs typeface="Average"/>
                <a:sym typeface="Average"/>
              </a:rPr>
              <a:t>Body compensates by metabolising fats and proteins instead of glucose. These are more difficult to break down, and release ketones, a toxic by-product</a:t>
            </a:r>
            <a:r>
              <a:rPr lang="en" sz="1500">
                <a:solidFill>
                  <a:srgbClr val="434343"/>
                </a:solidFill>
                <a:latin typeface="Average"/>
                <a:ea typeface="Average"/>
                <a:cs typeface="Average"/>
                <a:sym typeface="Average"/>
              </a:rPr>
              <a:t>.</a:t>
            </a:r>
            <a:endParaRPr sz="1500">
              <a:solidFill>
                <a:srgbClr val="434343"/>
              </a:solidFill>
              <a:latin typeface="Average"/>
              <a:ea typeface="Average"/>
              <a:cs typeface="Average"/>
              <a:sym typeface="Average"/>
            </a:endParaRPr>
          </a:p>
          <a:p>
            <a:pPr indent="-300112" lvl="0" marL="342900" marR="0" rtl="0" algn="l">
              <a:lnSpc>
                <a:spcPct val="100000"/>
              </a:lnSpc>
              <a:spcBef>
                <a:spcPts val="1000"/>
              </a:spcBef>
              <a:spcAft>
                <a:spcPts val="1000"/>
              </a:spcAft>
              <a:buClr>
                <a:srgbClr val="434343"/>
              </a:buClr>
              <a:buSzPts val="1500"/>
              <a:buFont typeface="Noto Sans Symbols"/>
              <a:buChar char="○"/>
            </a:pPr>
            <a:r>
              <a:rPr b="1" i="0" lang="en" sz="1500" u="none" cap="none" strike="noStrike">
                <a:solidFill>
                  <a:srgbClr val="434343"/>
                </a:solidFill>
                <a:latin typeface="Average"/>
                <a:ea typeface="Average"/>
                <a:cs typeface="Average"/>
                <a:sym typeface="Average"/>
              </a:rPr>
              <a:t>Excess glucose in the bloodstream is excreted through urine</a:t>
            </a:r>
            <a:r>
              <a:rPr i="0" lang="en" sz="1500" u="none" cap="none" strike="noStrike">
                <a:solidFill>
                  <a:srgbClr val="434343"/>
                </a:solidFill>
                <a:latin typeface="Average"/>
                <a:ea typeface="Average"/>
                <a:cs typeface="Average"/>
                <a:sym typeface="Average"/>
              </a:rPr>
              <a:t>; </a:t>
            </a:r>
            <a:r>
              <a:rPr b="1" i="0" lang="en" sz="1500" u="none" cap="none" strike="noStrike">
                <a:solidFill>
                  <a:srgbClr val="434343"/>
                </a:solidFill>
                <a:latin typeface="Average"/>
                <a:ea typeface="Average"/>
                <a:cs typeface="Average"/>
                <a:sym typeface="Average"/>
              </a:rPr>
              <a:t>high amounts of urine</a:t>
            </a:r>
            <a:r>
              <a:rPr i="0" lang="en" sz="1500" u="none" cap="none" strike="noStrike">
                <a:solidFill>
                  <a:srgbClr val="434343"/>
                </a:solidFill>
                <a:latin typeface="Average"/>
                <a:ea typeface="Average"/>
                <a:cs typeface="Average"/>
                <a:sym typeface="Average"/>
              </a:rPr>
              <a:t> are produced due to changes in osmotic gradient (can lead to frequent thirst)</a:t>
            </a:r>
            <a:endParaRPr sz="1500">
              <a:solidFill>
                <a:srgbClr val="434343"/>
              </a:solidFill>
              <a:latin typeface="Average"/>
              <a:ea typeface="Average"/>
              <a:cs typeface="Average"/>
              <a:sym typeface="Average"/>
            </a:endParaRPr>
          </a:p>
        </p:txBody>
      </p:sp>
      <p:pic>
        <p:nvPicPr>
          <p:cNvPr descr="http://static.sharecare.com/promo/topics/type-1-diabetes-symptoms.jpg" id="524" name="Google Shape;524;p48"/>
          <p:cNvPicPr preferRelativeResize="0"/>
          <p:nvPr/>
        </p:nvPicPr>
        <p:blipFill rotWithShape="1">
          <a:blip r:embed="rId3">
            <a:alphaModFix/>
          </a:blip>
          <a:srcRect b="0" l="41938" r="3753" t="0"/>
          <a:stretch/>
        </p:blipFill>
        <p:spPr>
          <a:xfrm>
            <a:off x="5753132" y="1681512"/>
            <a:ext cx="2205231" cy="1301658"/>
          </a:xfrm>
          <a:prstGeom prst="rect">
            <a:avLst/>
          </a:prstGeom>
          <a:noFill/>
          <a:ln>
            <a:noFill/>
          </a:ln>
        </p:spPr>
      </p:pic>
      <p:pic>
        <p:nvPicPr>
          <p:cNvPr descr="http://www.fitnessgoop.com/wp-content/uploads/2009/08/chronic-fatigue-syndrome_article1.jpg" id="525" name="Google Shape;525;p48"/>
          <p:cNvPicPr preferRelativeResize="0"/>
          <p:nvPr/>
        </p:nvPicPr>
        <p:blipFill rotWithShape="1">
          <a:blip r:embed="rId4">
            <a:alphaModFix/>
          </a:blip>
          <a:srcRect b="0" l="0" r="0" t="0"/>
          <a:stretch/>
        </p:blipFill>
        <p:spPr>
          <a:xfrm>
            <a:off x="6464976" y="3349886"/>
            <a:ext cx="1512168" cy="13373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9"/>
          <p:cNvSpPr txBox="1"/>
          <p:nvPr>
            <p:ph idx="1" type="body"/>
          </p:nvPr>
        </p:nvSpPr>
        <p:spPr>
          <a:xfrm>
            <a:off x="538275" y="332525"/>
            <a:ext cx="4769400" cy="2968500"/>
          </a:xfrm>
          <a:prstGeom prst="rect">
            <a:avLst/>
          </a:prstGeom>
          <a:noFill/>
          <a:ln>
            <a:noFill/>
          </a:ln>
        </p:spPr>
        <p:txBody>
          <a:bodyPr anchorCtr="0" anchor="t" bIns="45700" lIns="91425" spcFirstLastPara="1" rIns="91425" wrap="square" tIns="45700">
            <a:noAutofit/>
          </a:bodyPr>
          <a:lstStyle/>
          <a:p>
            <a:pPr indent="-5080" lvl="0" marL="68580" marR="0" rtl="0" algn="l">
              <a:lnSpc>
                <a:spcPct val="100000"/>
              </a:lnSpc>
              <a:spcBef>
                <a:spcPts val="0"/>
              </a:spcBef>
              <a:spcAft>
                <a:spcPts val="0"/>
              </a:spcAft>
              <a:buClr>
                <a:schemeClr val="accent1"/>
              </a:buClr>
              <a:buSzPts val="500"/>
              <a:buFont typeface="Noto Sans Symbols"/>
              <a:buNone/>
            </a:pPr>
            <a:r>
              <a:rPr b="1" i="0" lang="en" sz="1600" u="sng" cap="none" strike="noStrike">
                <a:solidFill>
                  <a:schemeClr val="accent1"/>
                </a:solidFill>
                <a:latin typeface="Average"/>
                <a:ea typeface="Average"/>
                <a:cs typeface="Average"/>
                <a:sym typeface="Average"/>
              </a:rPr>
              <a:t>TYPE 1 DIABETES M</a:t>
            </a:r>
            <a:r>
              <a:rPr b="1" lang="en" sz="1600" u="sng">
                <a:solidFill>
                  <a:schemeClr val="accent1"/>
                </a:solidFill>
                <a:latin typeface="Average"/>
                <a:ea typeface="Average"/>
                <a:cs typeface="Average"/>
                <a:sym typeface="Average"/>
              </a:rPr>
              <a:t>ELLITUS</a:t>
            </a:r>
            <a:endParaRPr b="1" sz="1600" u="sng">
              <a:latin typeface="Average"/>
              <a:ea typeface="Average"/>
              <a:cs typeface="Average"/>
              <a:sym typeface="Average"/>
            </a:endParaRPr>
          </a:p>
          <a:p>
            <a:pPr indent="-294132" lvl="0" marL="342900" marR="0" rtl="0" algn="l">
              <a:lnSpc>
                <a:spcPct val="100000"/>
              </a:lnSpc>
              <a:spcBef>
                <a:spcPts val="1000"/>
              </a:spcBef>
              <a:spcAft>
                <a:spcPts val="0"/>
              </a:spcAft>
              <a:buClr>
                <a:srgbClr val="434343"/>
              </a:buClr>
              <a:buSzPts val="1600"/>
              <a:buFont typeface="Average"/>
              <a:buChar char="o"/>
            </a:pPr>
            <a:r>
              <a:rPr i="0" lang="en" sz="1600" u="none" cap="none" strike="noStrike">
                <a:solidFill>
                  <a:srgbClr val="434343"/>
                </a:solidFill>
                <a:latin typeface="Average"/>
                <a:ea typeface="Average"/>
                <a:cs typeface="Average"/>
                <a:sym typeface="Average"/>
              </a:rPr>
              <a:t>Diagnosed in childhood</a:t>
            </a:r>
            <a:endParaRPr sz="1600">
              <a:solidFill>
                <a:srgbClr val="434343"/>
              </a:solidFill>
              <a:latin typeface="Average"/>
              <a:ea typeface="Average"/>
              <a:cs typeface="Average"/>
              <a:sym typeface="Average"/>
            </a:endParaRPr>
          </a:p>
          <a:p>
            <a:pPr indent="-294132" lvl="0" marL="342900" marR="0" rtl="0" algn="l">
              <a:lnSpc>
                <a:spcPct val="100000"/>
              </a:lnSpc>
              <a:spcBef>
                <a:spcPts val="1000"/>
              </a:spcBef>
              <a:spcAft>
                <a:spcPts val="0"/>
              </a:spcAft>
              <a:buClr>
                <a:srgbClr val="434343"/>
              </a:buClr>
              <a:buSzPts val="1600"/>
              <a:buFont typeface="Average"/>
              <a:buChar char="o"/>
            </a:pPr>
            <a:r>
              <a:rPr i="0" lang="en" sz="1600" u="none" cap="none" strike="noStrike">
                <a:solidFill>
                  <a:srgbClr val="434343"/>
                </a:solidFill>
                <a:latin typeface="Average"/>
                <a:ea typeface="Average"/>
                <a:cs typeface="Average"/>
                <a:sym typeface="Average"/>
              </a:rPr>
              <a:t>Immune system produces antibodies that attack and destroy the beta cells of the pancreas</a:t>
            </a:r>
            <a:endParaRPr sz="1600">
              <a:solidFill>
                <a:srgbClr val="434343"/>
              </a:solidFill>
              <a:latin typeface="Average"/>
              <a:ea typeface="Average"/>
              <a:cs typeface="Average"/>
              <a:sym typeface="Average"/>
            </a:endParaRPr>
          </a:p>
          <a:p>
            <a:pPr indent="-294132" lvl="0" marL="342900" marR="0" rtl="0" algn="l">
              <a:lnSpc>
                <a:spcPct val="100000"/>
              </a:lnSpc>
              <a:spcBef>
                <a:spcPts val="1000"/>
              </a:spcBef>
              <a:spcAft>
                <a:spcPts val="0"/>
              </a:spcAft>
              <a:buClr>
                <a:srgbClr val="434343"/>
              </a:buClr>
              <a:buSzPts val="1600"/>
              <a:buFont typeface="Average"/>
              <a:buChar char="o"/>
            </a:pPr>
            <a:r>
              <a:rPr i="0" lang="en" sz="1600" u="none" cap="none" strike="noStrike">
                <a:solidFill>
                  <a:srgbClr val="434343"/>
                </a:solidFill>
                <a:latin typeface="Average"/>
                <a:ea typeface="Average"/>
                <a:cs typeface="Average"/>
                <a:sym typeface="Average"/>
              </a:rPr>
              <a:t>Leads to decreased insulin production</a:t>
            </a:r>
            <a:endParaRPr sz="1600">
              <a:solidFill>
                <a:srgbClr val="434343"/>
              </a:solidFill>
              <a:latin typeface="Average"/>
              <a:ea typeface="Average"/>
              <a:cs typeface="Average"/>
              <a:sym typeface="Average"/>
            </a:endParaRPr>
          </a:p>
          <a:p>
            <a:pPr indent="-294132" lvl="0" marL="342900" marR="0" rtl="0" algn="l">
              <a:lnSpc>
                <a:spcPct val="100000"/>
              </a:lnSpc>
              <a:spcBef>
                <a:spcPts val="1000"/>
              </a:spcBef>
              <a:spcAft>
                <a:spcPts val="0"/>
              </a:spcAft>
              <a:buClr>
                <a:srgbClr val="434343"/>
              </a:buClr>
              <a:buSzPts val="1600"/>
              <a:buFont typeface="Average"/>
              <a:buChar char="o"/>
            </a:pPr>
            <a:r>
              <a:rPr i="0" lang="en" sz="1600" u="none" cap="none" strike="noStrike">
                <a:solidFill>
                  <a:srgbClr val="434343"/>
                </a:solidFill>
                <a:latin typeface="Average"/>
                <a:ea typeface="Average"/>
                <a:cs typeface="Average"/>
                <a:sym typeface="Average"/>
              </a:rPr>
              <a:t>Treated with daily insulin injections</a:t>
            </a:r>
            <a:endParaRPr sz="1600">
              <a:solidFill>
                <a:srgbClr val="434343"/>
              </a:solidFill>
              <a:latin typeface="Average"/>
              <a:ea typeface="Average"/>
              <a:cs typeface="Average"/>
              <a:sym typeface="Average"/>
            </a:endParaRPr>
          </a:p>
          <a:p>
            <a:pPr indent="-5080" lvl="0" marL="68580" marR="0" rtl="0" algn="l">
              <a:lnSpc>
                <a:spcPct val="100000"/>
              </a:lnSpc>
              <a:spcBef>
                <a:spcPts val="1000"/>
              </a:spcBef>
              <a:spcAft>
                <a:spcPts val="0"/>
              </a:spcAft>
              <a:buClr>
                <a:schemeClr val="accent1"/>
              </a:buClr>
              <a:buSzPts val="500"/>
              <a:buFont typeface="Noto Sans Symbols"/>
              <a:buNone/>
            </a:pPr>
            <a:r>
              <a:t/>
            </a:r>
            <a:endParaRPr i="0" sz="1600" u="none" cap="none" strike="noStrike">
              <a:solidFill>
                <a:schemeClr val="accent1"/>
              </a:solidFill>
              <a:latin typeface="Average"/>
              <a:ea typeface="Average"/>
              <a:cs typeface="Average"/>
              <a:sym typeface="Average"/>
            </a:endParaRPr>
          </a:p>
          <a:p>
            <a:pPr indent="-5080" lvl="0" marL="68580" marR="0" rtl="0" algn="l">
              <a:lnSpc>
                <a:spcPct val="100000"/>
              </a:lnSpc>
              <a:spcBef>
                <a:spcPts val="360"/>
              </a:spcBef>
              <a:spcAft>
                <a:spcPts val="0"/>
              </a:spcAft>
              <a:buClr>
                <a:schemeClr val="accent1"/>
              </a:buClr>
              <a:buSzPts val="450"/>
              <a:buFont typeface="Noto Sans Symbols"/>
              <a:buNone/>
            </a:pPr>
            <a:r>
              <a:t/>
            </a:r>
            <a:endParaRPr i="0" sz="1600" u="none" cap="none" strike="noStrike">
              <a:solidFill>
                <a:schemeClr val="accent1"/>
              </a:solidFill>
              <a:latin typeface="Average"/>
              <a:ea typeface="Average"/>
              <a:cs typeface="Average"/>
              <a:sym typeface="Average"/>
            </a:endParaRPr>
          </a:p>
        </p:txBody>
      </p:sp>
      <p:sp>
        <p:nvSpPr>
          <p:cNvPr id="531" name="Google Shape;531;p49"/>
          <p:cNvSpPr txBox="1"/>
          <p:nvPr/>
        </p:nvSpPr>
        <p:spPr>
          <a:xfrm>
            <a:off x="586875" y="2568000"/>
            <a:ext cx="4769400" cy="326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500"/>
              <a:buFont typeface="Verdana"/>
              <a:buNone/>
            </a:pPr>
            <a:r>
              <a:rPr b="1" i="0" lang="en" sz="1600" u="sng" cap="none" strike="noStrike">
                <a:solidFill>
                  <a:schemeClr val="accent1"/>
                </a:solidFill>
                <a:latin typeface="Average"/>
                <a:ea typeface="Average"/>
                <a:cs typeface="Average"/>
                <a:sym typeface="Average"/>
              </a:rPr>
              <a:t>TYPE 2 DIABETES MELLITUS</a:t>
            </a:r>
            <a:endParaRPr b="1" sz="1600" u="sng">
              <a:latin typeface="Average"/>
              <a:ea typeface="Average"/>
              <a:cs typeface="Average"/>
              <a:sym typeface="Average"/>
            </a:endParaRPr>
          </a:p>
          <a:p>
            <a:pPr indent="-279400" lvl="0" marL="285750" marR="0" rtl="0" algn="l">
              <a:lnSpc>
                <a:spcPct val="100000"/>
              </a:lnSpc>
              <a:spcBef>
                <a:spcPts val="1000"/>
              </a:spcBef>
              <a:spcAft>
                <a:spcPts val="0"/>
              </a:spcAft>
              <a:buClr>
                <a:srgbClr val="434343"/>
              </a:buClr>
              <a:buSzPts val="1600"/>
              <a:buFont typeface="Average"/>
              <a:buChar char="o"/>
            </a:pPr>
            <a:r>
              <a:rPr i="0" lang="en" sz="1600" u="none" cap="none" strike="noStrike">
                <a:solidFill>
                  <a:srgbClr val="434343"/>
                </a:solidFill>
                <a:latin typeface="Average"/>
                <a:ea typeface="Average"/>
                <a:cs typeface="Average"/>
                <a:sym typeface="Average"/>
              </a:rPr>
              <a:t>Develops over time</a:t>
            </a:r>
            <a:endParaRPr sz="1600">
              <a:solidFill>
                <a:srgbClr val="434343"/>
              </a:solidFill>
              <a:latin typeface="Average"/>
              <a:ea typeface="Average"/>
              <a:cs typeface="Average"/>
              <a:sym typeface="Average"/>
            </a:endParaRPr>
          </a:p>
          <a:p>
            <a:pPr indent="-279400" lvl="0" marL="285750" marR="0" rtl="0" algn="l">
              <a:lnSpc>
                <a:spcPct val="100000"/>
              </a:lnSpc>
              <a:spcBef>
                <a:spcPts val="1000"/>
              </a:spcBef>
              <a:spcAft>
                <a:spcPts val="0"/>
              </a:spcAft>
              <a:buClr>
                <a:srgbClr val="434343"/>
              </a:buClr>
              <a:buSzPts val="1600"/>
              <a:buFont typeface="Average"/>
              <a:buChar char="o"/>
            </a:pPr>
            <a:r>
              <a:rPr i="0" lang="en" sz="1600" u="none" cap="none" strike="noStrike">
                <a:solidFill>
                  <a:srgbClr val="434343"/>
                </a:solidFill>
                <a:latin typeface="Average"/>
                <a:ea typeface="Average"/>
                <a:cs typeface="Average"/>
                <a:sym typeface="Average"/>
              </a:rPr>
              <a:t>Cell receptors stop responding well to insulin</a:t>
            </a:r>
            <a:endParaRPr sz="1600">
              <a:solidFill>
                <a:srgbClr val="434343"/>
              </a:solidFill>
              <a:latin typeface="Average"/>
              <a:ea typeface="Average"/>
              <a:cs typeface="Average"/>
              <a:sym typeface="Average"/>
            </a:endParaRPr>
          </a:p>
          <a:p>
            <a:pPr indent="-279400" lvl="0" marL="285750" marR="0" rtl="0" algn="l">
              <a:lnSpc>
                <a:spcPct val="100000"/>
              </a:lnSpc>
              <a:spcBef>
                <a:spcPts val="1000"/>
              </a:spcBef>
              <a:spcAft>
                <a:spcPts val="0"/>
              </a:spcAft>
              <a:buClr>
                <a:srgbClr val="434343"/>
              </a:buClr>
              <a:buSzPts val="1600"/>
              <a:buFont typeface="Average"/>
              <a:buChar char="o"/>
            </a:pPr>
            <a:r>
              <a:rPr lang="en" sz="1600">
                <a:solidFill>
                  <a:srgbClr val="434343"/>
                </a:solidFill>
                <a:latin typeface="Average"/>
                <a:ea typeface="Average"/>
                <a:cs typeface="Average"/>
                <a:sym typeface="Average"/>
              </a:rPr>
              <a:t>Poor diet and lack of exercise can be contributing factors</a:t>
            </a:r>
            <a:endParaRPr sz="1600">
              <a:solidFill>
                <a:srgbClr val="434343"/>
              </a:solidFill>
              <a:latin typeface="Average"/>
              <a:ea typeface="Average"/>
              <a:cs typeface="Average"/>
              <a:sym typeface="Average"/>
            </a:endParaRPr>
          </a:p>
          <a:p>
            <a:pPr indent="-279400" lvl="0" marL="285750" marR="0" rtl="0" algn="l">
              <a:lnSpc>
                <a:spcPct val="100000"/>
              </a:lnSpc>
              <a:spcBef>
                <a:spcPts val="1000"/>
              </a:spcBef>
              <a:spcAft>
                <a:spcPts val="0"/>
              </a:spcAft>
              <a:buClr>
                <a:srgbClr val="434343"/>
              </a:buClr>
              <a:buSzPts val="1600"/>
              <a:buFont typeface="Average"/>
              <a:buChar char="o"/>
            </a:pPr>
            <a:r>
              <a:rPr lang="en" sz="1600">
                <a:solidFill>
                  <a:srgbClr val="434343"/>
                </a:solidFill>
                <a:latin typeface="Average"/>
                <a:ea typeface="Average"/>
                <a:cs typeface="Average"/>
                <a:sym typeface="Average"/>
              </a:rPr>
              <a:t>Treated with either </a:t>
            </a:r>
            <a:r>
              <a:rPr i="0" lang="en" sz="1600" u="none" cap="none" strike="noStrike">
                <a:solidFill>
                  <a:srgbClr val="434343"/>
                </a:solidFill>
                <a:latin typeface="Average"/>
                <a:ea typeface="Average"/>
                <a:cs typeface="Average"/>
                <a:sym typeface="Average"/>
              </a:rPr>
              <a:t>insulin injections before meals </a:t>
            </a:r>
            <a:r>
              <a:rPr lang="en" sz="1600">
                <a:solidFill>
                  <a:srgbClr val="434343"/>
                </a:solidFill>
                <a:latin typeface="Average"/>
                <a:ea typeface="Average"/>
                <a:cs typeface="Average"/>
                <a:sym typeface="Average"/>
              </a:rPr>
              <a:t>OR diet, exercise and sulfonamides </a:t>
            </a:r>
            <a:endParaRPr sz="1600">
              <a:solidFill>
                <a:srgbClr val="434343"/>
              </a:solidFill>
              <a:latin typeface="Average"/>
              <a:ea typeface="Average"/>
              <a:cs typeface="Average"/>
              <a:sym typeface="Average"/>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chemeClr val="accent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1"/>
              </a:solidFill>
              <a:latin typeface="Verdana"/>
              <a:ea typeface="Verdana"/>
              <a:cs typeface="Verdana"/>
              <a:sym typeface="Verdana"/>
            </a:endParaRPr>
          </a:p>
        </p:txBody>
      </p:sp>
      <p:pic>
        <p:nvPicPr>
          <p:cNvPr id="532" name="Google Shape;532;p49"/>
          <p:cNvPicPr preferRelativeResize="0"/>
          <p:nvPr/>
        </p:nvPicPr>
        <p:blipFill>
          <a:blip r:embed="rId3">
            <a:alphaModFix/>
          </a:blip>
          <a:stretch>
            <a:fillRect/>
          </a:stretch>
        </p:blipFill>
        <p:spPr>
          <a:xfrm>
            <a:off x="5307675" y="80461"/>
            <a:ext cx="3683925" cy="3683925"/>
          </a:xfrm>
          <a:prstGeom prst="rect">
            <a:avLst/>
          </a:prstGeom>
          <a:noFill/>
          <a:ln>
            <a:noFill/>
          </a:ln>
        </p:spPr>
      </p:pic>
      <p:pic>
        <p:nvPicPr>
          <p:cNvPr descr="This video and more updated versions of similar videos are available for instant download licensing https://www.alilamedicalmedia.com/-/galleries/narrated-videos-by-topics/diabetes&#10;&#10;©Alila Medical Media. All rights reserved.&#10;Support us on Patreon and get FREE downloads and other great rewards: patreon.com/AlilaMedicalMedia&#10;&#10;All images/videos by Alila Medical Media are for information purposes ONLY and are NOT intended to replace professional medical advice, diagnosis or treatment. Always seek the advice of a qualified healthcare provider with any questions you may have regarding a medical condition.&#10;&#10;Diabetes refers to a group of conditions characterized by a high level of blood glucose, commonly referred to as blood sugar. Too much sugar in the blood can cause serious, sometimes life-threatening health problems.&#10;There are two types of chronic diabetic conditions: type 1 diabetes and type 2 diabetes. Pregnant women may acquire a transient form of the disease called “gestational diabetes” which usually resolves after the birth of baby. Pre-diabetes is when the blood sugar level is at the borderline: higher than normal, but lower than in diabetics. Prediabetes may or may not progress to diabetes.&#10;During food digestion, carbohydrates - or carb - break down into glucose which is carried by the bloodstream to various organs of the body. Here, it is either consumed as an energy source - in muscles for example - or is stored for later use in the liver. Insulin is a hormone produced by beta cells of the pancreas and is necessary for glucose intake by target cells. In other words, when insulin is deficient, muscle or liver cells are unable to use or store glucose, and as a result, glucose accumulates in the blood.&#10; In healthy people, beta cells of the pancreas produce insulin; insulin binds to its receptor on target cells and induces glucose intake. &#10;In type 1 diabetes, beta cells of the pancreas are destroyed by the immune system by mistake. The reason why this happens is unclear, but genetic factors are believed to play a major role.  Insulin production is reduced; less insulin binds to its receptor on target cells; less glucose is taken into the cells, more glucose stays in the blood. Type 1 is characterized by early onset, symptoms commonly start suddenly and before the age of 20. Type 1 diabetes is normally managed with insulin injection. Type 1 diabetics are therefore “insulin dependent”.&#10;In type 2 diabetes, the pancreas produces enough insulin but something goes wrong either with receptor binding or insulin signaling inside the target cells. The cells are not responsive to insulin and therefore cannot import glucose; glucose stays in the blood. In other words, type 2 diabetics are “insulin resistant”.  Here again, genetic factors predispose susceptibility to the disease, but it is believed that lifestyle plays a very important role in type 2. Typically, obesity, inactive lifestyle, and unhealthy diet are associated with higher risk of type 2 diabetes. Type 2 is characterized by adult onset; symptoms usually appear gradually and start after the age of 30. Type 2 diabetes accounts for about 80 to 90% of all diabetics. Management focuses on weight loss and includes a low-carb diet." id="533" name="Google Shape;533;p49" title="Diabetes Type 1 and Type 2, Animation.">
            <a:hlinkClick r:id="rId4"/>
          </p:cNvPr>
          <p:cNvPicPr preferRelativeResize="0"/>
          <p:nvPr/>
        </p:nvPicPr>
        <p:blipFill>
          <a:blip r:embed="rId5">
            <a:alphaModFix/>
          </a:blip>
          <a:stretch>
            <a:fillRect/>
          </a:stretch>
        </p:blipFill>
        <p:spPr>
          <a:xfrm>
            <a:off x="6099975" y="3653425"/>
            <a:ext cx="2412975" cy="1357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0"/>
          <p:cNvSpPr txBox="1"/>
          <p:nvPr>
            <p:ph type="title"/>
          </p:nvPr>
        </p:nvSpPr>
        <p:spPr>
          <a:xfrm>
            <a:off x="814901" y="735544"/>
            <a:ext cx="7560900" cy="352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600"/>
              <a:buFont typeface="Verdana"/>
              <a:buNone/>
            </a:pPr>
            <a:r>
              <a:rPr b="1" i="0" lang="en" sz="3000" u="none" cap="none" strike="noStrike">
                <a:solidFill>
                  <a:schemeClr val="accent1"/>
                </a:solidFill>
                <a:latin typeface="Verdana"/>
                <a:ea typeface="Verdana"/>
                <a:cs typeface="Verdana"/>
                <a:sym typeface="Verdana"/>
              </a:rPr>
              <a:t>Adrenal Cortex &amp; Adrenal Medulla</a:t>
            </a:r>
            <a:endParaRPr sz="3000"/>
          </a:p>
        </p:txBody>
      </p:sp>
      <p:sp>
        <p:nvSpPr>
          <p:cNvPr id="539" name="Google Shape;539;p50"/>
          <p:cNvSpPr txBox="1"/>
          <p:nvPr>
            <p:ph idx="1" type="body"/>
          </p:nvPr>
        </p:nvSpPr>
        <p:spPr>
          <a:xfrm>
            <a:off x="467543" y="1164450"/>
            <a:ext cx="8208900" cy="571500"/>
          </a:xfrm>
          <a:prstGeom prst="rect">
            <a:avLst/>
          </a:prstGeom>
          <a:noFill/>
          <a:ln>
            <a:noFill/>
          </a:ln>
        </p:spPr>
        <p:txBody>
          <a:bodyPr anchorCtr="0" anchor="t" bIns="45700" lIns="91425" spcFirstLastPara="1" rIns="91425" wrap="square" tIns="45700">
            <a:noAutofit/>
          </a:bodyPr>
          <a:lstStyle/>
          <a:p>
            <a:pPr indent="-5080" lvl="0" marL="68580" marR="0" rtl="0" algn="l">
              <a:lnSpc>
                <a:spcPct val="100000"/>
              </a:lnSpc>
              <a:spcBef>
                <a:spcPts val="0"/>
              </a:spcBef>
              <a:spcAft>
                <a:spcPts val="0"/>
              </a:spcAft>
              <a:buClr>
                <a:schemeClr val="accent1"/>
              </a:buClr>
              <a:buSzPts val="450"/>
              <a:buFont typeface="Noto Sans Symbols"/>
              <a:buNone/>
            </a:pPr>
            <a:r>
              <a:rPr lang="en" sz="1800">
                <a:solidFill>
                  <a:srgbClr val="4B4D53"/>
                </a:solidFill>
              </a:rPr>
              <a:t>The adrenal gland is located on the top of the kidneys, and is divided into two regions: the outer </a:t>
            </a:r>
            <a:r>
              <a:rPr b="1" lang="en" sz="1800">
                <a:solidFill>
                  <a:srgbClr val="4B4D53"/>
                </a:solidFill>
              </a:rPr>
              <a:t>cortex</a:t>
            </a:r>
            <a:r>
              <a:rPr lang="en" sz="1800">
                <a:solidFill>
                  <a:srgbClr val="4B4D53"/>
                </a:solidFill>
              </a:rPr>
              <a:t> and the middle </a:t>
            </a:r>
            <a:r>
              <a:rPr b="1" lang="en" sz="1800">
                <a:solidFill>
                  <a:srgbClr val="4B4D53"/>
                </a:solidFill>
              </a:rPr>
              <a:t>medulla</a:t>
            </a:r>
            <a:r>
              <a:rPr lang="en" sz="1800">
                <a:solidFill>
                  <a:srgbClr val="4B4D53"/>
                </a:solidFill>
              </a:rPr>
              <a:t>. </a:t>
            </a:r>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279400" lvl="0" marL="342900" marR="0" rtl="0" algn="l">
              <a:lnSpc>
                <a:spcPct val="100000"/>
              </a:lnSpc>
              <a:spcBef>
                <a:spcPts val="400"/>
              </a:spcBef>
              <a:spcAft>
                <a:spcPts val="0"/>
              </a:spcAft>
              <a:buClr>
                <a:schemeClr val="accent1"/>
              </a:buClr>
              <a:buSzPts val="1520"/>
              <a:buFont typeface="Noto Sans Symbols"/>
              <a:buNone/>
            </a:pPr>
            <a:r>
              <a:t/>
            </a:r>
            <a:endParaRPr b="0" i="0" sz="2000" u="none" cap="none" strike="noStrike">
              <a:solidFill>
                <a:srgbClr val="4B4D53"/>
              </a:solidFill>
              <a:latin typeface="Verdana"/>
              <a:ea typeface="Verdana"/>
              <a:cs typeface="Verdana"/>
              <a:sym typeface="Verdana"/>
            </a:endParaRPr>
          </a:p>
          <a:p>
            <a:pPr indent="-5080" lvl="0" marL="68580" marR="0" rtl="0" algn="l">
              <a:lnSpc>
                <a:spcPct val="100000"/>
              </a:lnSpc>
              <a:spcBef>
                <a:spcPts val="400"/>
              </a:spcBef>
              <a:spcAft>
                <a:spcPts val="0"/>
              </a:spcAft>
              <a:buClr>
                <a:schemeClr val="accent1"/>
              </a:buClr>
              <a:buSzPts val="500"/>
              <a:buFont typeface="Noto Sans Symbols"/>
              <a:buNone/>
            </a:pPr>
            <a:r>
              <a:t/>
            </a:r>
            <a:endParaRPr b="0" i="0" sz="2000" u="none" cap="none" strike="noStrike">
              <a:solidFill>
                <a:srgbClr val="4B4D53"/>
              </a:solidFill>
              <a:latin typeface="Verdana"/>
              <a:ea typeface="Verdana"/>
              <a:cs typeface="Verdana"/>
              <a:sym typeface="Verdana"/>
            </a:endParaRPr>
          </a:p>
        </p:txBody>
      </p:sp>
      <p:pic>
        <p:nvPicPr>
          <p:cNvPr descr="http://www.eplantscience.com/index/general_zoology/images/images32/fig013.jpg" id="540" name="Google Shape;540;p50"/>
          <p:cNvPicPr preferRelativeResize="0"/>
          <p:nvPr/>
        </p:nvPicPr>
        <p:blipFill rotWithShape="1">
          <a:blip r:embed="rId3">
            <a:alphaModFix/>
          </a:blip>
          <a:srcRect b="0" l="0" r="0" t="0"/>
          <a:stretch/>
        </p:blipFill>
        <p:spPr>
          <a:xfrm>
            <a:off x="2236200" y="1812350"/>
            <a:ext cx="4056242" cy="1880112"/>
          </a:xfrm>
          <a:prstGeom prst="rect">
            <a:avLst/>
          </a:prstGeom>
          <a:noFill/>
          <a:ln cap="flat" cmpd="sng" w="9525">
            <a:solidFill>
              <a:srgbClr val="666666"/>
            </a:solidFill>
            <a:prstDash val="solid"/>
            <a:round/>
            <a:headEnd len="sm" w="sm" type="none"/>
            <a:tailEnd len="sm" w="sm" type="none"/>
          </a:ln>
        </p:spPr>
      </p:pic>
      <p:sp>
        <p:nvSpPr>
          <p:cNvPr id="541" name="Google Shape;541;p50"/>
          <p:cNvSpPr txBox="1"/>
          <p:nvPr/>
        </p:nvSpPr>
        <p:spPr>
          <a:xfrm>
            <a:off x="827575" y="3780950"/>
            <a:ext cx="7560900" cy="906600"/>
          </a:xfrm>
          <a:prstGeom prst="rect">
            <a:avLst/>
          </a:prstGeom>
          <a:noFill/>
          <a:ln>
            <a:noFill/>
          </a:ln>
        </p:spPr>
        <p:txBody>
          <a:bodyPr anchorCtr="0" anchor="t" bIns="45700" lIns="91425" spcFirstLastPara="1" rIns="91425" wrap="square" tIns="45700">
            <a:noAutofit/>
          </a:bodyPr>
          <a:lstStyle/>
          <a:p>
            <a:pPr indent="-260350" lvl="0" marL="285750" marR="0" rtl="0" algn="l">
              <a:lnSpc>
                <a:spcPct val="100000"/>
              </a:lnSpc>
              <a:spcBef>
                <a:spcPts val="0"/>
              </a:spcBef>
              <a:spcAft>
                <a:spcPts val="0"/>
              </a:spcAft>
              <a:buClr>
                <a:srgbClr val="434343"/>
              </a:buClr>
              <a:buSzPts val="1400"/>
              <a:buFont typeface="Courier New"/>
              <a:buChar char="o"/>
            </a:pPr>
            <a:r>
              <a:rPr b="0" i="0" lang="en" u="none" cap="none" strike="noStrike">
                <a:solidFill>
                  <a:srgbClr val="434343"/>
                </a:solidFill>
                <a:latin typeface="Verdana"/>
                <a:ea typeface="Verdana"/>
                <a:cs typeface="Verdana"/>
                <a:sym typeface="Verdana"/>
              </a:rPr>
              <a:t>Adrenal medulla produces epinephrine and norepinephrine, involved in the short-term stress response</a:t>
            </a:r>
            <a:endParaRPr>
              <a:solidFill>
                <a:srgbClr val="434343"/>
              </a:solidFill>
            </a:endParaRPr>
          </a:p>
          <a:p>
            <a:pPr indent="-260350" lvl="0" marL="285750" marR="0" rtl="0" algn="l">
              <a:lnSpc>
                <a:spcPct val="100000"/>
              </a:lnSpc>
              <a:spcBef>
                <a:spcPts val="1000"/>
              </a:spcBef>
              <a:spcAft>
                <a:spcPts val="0"/>
              </a:spcAft>
              <a:buClr>
                <a:srgbClr val="434343"/>
              </a:buClr>
              <a:buSzPts val="1400"/>
              <a:buFont typeface="Courier New"/>
              <a:buChar char="o"/>
            </a:pPr>
            <a:r>
              <a:rPr b="0" i="0" lang="en" u="none" cap="none" strike="noStrike">
                <a:solidFill>
                  <a:srgbClr val="434343"/>
                </a:solidFill>
                <a:latin typeface="Verdana"/>
                <a:ea typeface="Verdana"/>
                <a:cs typeface="Verdana"/>
                <a:sym typeface="Verdana"/>
              </a:rPr>
              <a:t>Adrenal cortex produces glucocorticoids (e.g. cortisol) and mineralocorticoids (e.g. aldosterone), involved in the long-term stress response</a:t>
            </a:r>
            <a:endParaRPr>
              <a:solidFill>
                <a:srgbClr val="434343"/>
              </a:solidFill>
            </a:endParaRPr>
          </a:p>
          <a:p>
            <a:pPr indent="-285750" lvl="0" marL="285750" marR="0" rtl="0" algn="l">
              <a:lnSpc>
                <a:spcPct val="100000"/>
              </a:lnSpc>
              <a:spcBef>
                <a:spcPts val="1000"/>
              </a:spcBef>
              <a:spcAft>
                <a:spcPts val="0"/>
              </a:spcAft>
              <a:buClr>
                <a:schemeClr val="dk1"/>
              </a:buClr>
              <a:buSzPts val="2000"/>
              <a:buFont typeface="Courier New"/>
              <a:buNone/>
            </a:pPr>
            <a:r>
              <a:t/>
            </a:r>
            <a:endParaRPr b="0" i="0" sz="2000" u="none" cap="none" strike="noStrike">
              <a:solidFill>
                <a:srgbClr val="4B4D53"/>
              </a:solidFill>
              <a:latin typeface="Verdana"/>
              <a:ea typeface="Verdana"/>
              <a:cs typeface="Verdana"/>
              <a:sym typeface="Verdan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descr="http://www.eplantscience.com/index/general_zoology/images/images32/fig013.jpg" id="546" name="Google Shape;546;p51"/>
          <p:cNvPicPr preferRelativeResize="0"/>
          <p:nvPr/>
        </p:nvPicPr>
        <p:blipFill rotWithShape="1">
          <a:blip r:embed="rId3">
            <a:alphaModFix/>
          </a:blip>
          <a:srcRect b="0" l="0" r="0" t="0"/>
          <a:stretch/>
        </p:blipFill>
        <p:spPr>
          <a:xfrm>
            <a:off x="3197350" y="0"/>
            <a:ext cx="2749285" cy="1274313"/>
          </a:xfrm>
          <a:prstGeom prst="rect">
            <a:avLst/>
          </a:prstGeom>
          <a:noFill/>
          <a:ln cap="flat" cmpd="sng" w="9525">
            <a:solidFill>
              <a:srgbClr val="666666"/>
            </a:solidFill>
            <a:prstDash val="solid"/>
            <a:round/>
            <a:headEnd len="sm" w="sm" type="none"/>
            <a:tailEnd len="sm" w="sm" type="none"/>
          </a:ln>
        </p:spPr>
      </p:pic>
      <p:graphicFrame>
        <p:nvGraphicFramePr>
          <p:cNvPr id="547" name="Google Shape;547;p51"/>
          <p:cNvGraphicFramePr/>
          <p:nvPr/>
        </p:nvGraphicFramePr>
        <p:xfrm>
          <a:off x="473075" y="1223275"/>
          <a:ext cx="3000000" cy="3000000"/>
        </p:xfrm>
        <a:graphic>
          <a:graphicData uri="http://schemas.openxmlformats.org/drawingml/2006/table">
            <a:tbl>
              <a:tblPr>
                <a:noFill/>
                <a:tableStyleId>{C86E6783-9FE0-4002-A629-18E572C2F4CC}</a:tableStyleId>
              </a:tblPr>
              <a:tblGrid>
                <a:gridCol w="2029775"/>
                <a:gridCol w="3367725"/>
                <a:gridCol w="2739150"/>
              </a:tblGrid>
              <a:tr h="381000">
                <a:tc>
                  <a:txBody>
                    <a:bodyPr/>
                    <a:lstStyle/>
                    <a:p>
                      <a:pPr indent="0" lvl="0" marL="0" rtl="0" algn="ctr">
                        <a:spcBef>
                          <a:spcPts val="0"/>
                        </a:spcBef>
                        <a:spcAft>
                          <a:spcPts val="0"/>
                        </a:spcAft>
                        <a:buNone/>
                      </a:pPr>
                      <a:r>
                        <a:t/>
                      </a:r>
                      <a:endParaRPr b="1"/>
                    </a:p>
                  </a:txBody>
                  <a:tcPr marT="91425" marB="91425" marR="91425" marL="91425">
                    <a:lnR cap="flat" cmpd="sng" w="9525">
                      <a:solidFill>
                        <a:srgbClr val="9E9E9E"/>
                      </a:solidFill>
                      <a:prstDash val="solid"/>
                      <a:round/>
                      <a:headEnd len="sm" w="sm" type="none"/>
                      <a:tailEnd len="sm" w="sm" type="none"/>
                    </a:lnR>
                    <a:solidFill>
                      <a:srgbClr val="E8E8E8"/>
                    </a:solidFill>
                  </a:tcPr>
                </a:tc>
                <a:tc>
                  <a:txBody>
                    <a:bodyPr/>
                    <a:lstStyle/>
                    <a:p>
                      <a:pPr indent="0" lvl="0" marL="0" rtl="0" algn="ctr">
                        <a:spcBef>
                          <a:spcPts val="0"/>
                        </a:spcBef>
                        <a:spcAft>
                          <a:spcPts val="0"/>
                        </a:spcAft>
                        <a:buNone/>
                      </a:pPr>
                      <a:r>
                        <a:rPr b="1" lang="en"/>
                        <a:t>Adrenal Cortex</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8E8E8"/>
                    </a:solidFill>
                  </a:tcPr>
                </a:tc>
                <a:tc>
                  <a:txBody>
                    <a:bodyPr/>
                    <a:lstStyle/>
                    <a:p>
                      <a:pPr indent="0" lvl="0" marL="0" rtl="0" algn="ctr">
                        <a:spcBef>
                          <a:spcPts val="0"/>
                        </a:spcBef>
                        <a:spcAft>
                          <a:spcPts val="0"/>
                        </a:spcAft>
                        <a:buNone/>
                      </a:pPr>
                      <a:r>
                        <a:rPr b="1" lang="en"/>
                        <a:t>Adrenal Medulla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8E8E8"/>
                    </a:solidFill>
                  </a:tcPr>
                </a:tc>
              </a:tr>
              <a:tr h="381000">
                <a:tc>
                  <a:txBody>
                    <a:bodyPr/>
                    <a:lstStyle/>
                    <a:p>
                      <a:pPr indent="0" lvl="0" marL="0" rtl="0" algn="l">
                        <a:spcBef>
                          <a:spcPts val="0"/>
                        </a:spcBef>
                        <a:spcAft>
                          <a:spcPts val="0"/>
                        </a:spcAft>
                        <a:buNone/>
                      </a:pPr>
                      <a:r>
                        <a:rPr lang="en" sz="1300"/>
                        <a:t>Plays part in …</a:t>
                      </a:r>
                      <a:endParaRPr sz="1300"/>
                    </a:p>
                  </a:txBody>
                  <a:tcPr marT="91425" marB="91425" marR="91425" marL="91425">
                    <a:lnR cap="flat" cmpd="sng" w="9525">
                      <a:solidFill>
                        <a:srgbClr val="9E9E9E"/>
                      </a:solidFill>
                      <a:prstDash val="solid"/>
                      <a:round/>
                      <a:headEnd len="sm" w="sm" type="none"/>
                      <a:tailEnd len="sm" w="sm" type="none"/>
                    </a:lnR>
                    <a:solidFill>
                      <a:srgbClr val="E8E8E8"/>
                    </a:solidFill>
                  </a:tcPr>
                </a:tc>
                <a:tc>
                  <a:txBody>
                    <a:bodyPr/>
                    <a:lstStyle/>
                    <a:p>
                      <a:pPr indent="0" lvl="0" marL="0" rtl="0" algn="l">
                        <a:spcBef>
                          <a:spcPts val="0"/>
                        </a:spcBef>
                        <a:spcAft>
                          <a:spcPts val="0"/>
                        </a:spcAft>
                        <a:buNone/>
                      </a:pPr>
                      <a:r>
                        <a:rPr b="1" lang="en" sz="1300"/>
                        <a:t>long term stress </a:t>
                      </a:r>
                      <a:r>
                        <a:rPr lang="en" sz="1300"/>
                        <a:t>response</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300"/>
                        <a:t>short term stress</a:t>
                      </a:r>
                      <a:r>
                        <a:rPr lang="en" sz="1300"/>
                        <a:t> response</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300"/>
                        <a:t>Releases hormones … </a:t>
                      </a:r>
                      <a:endParaRPr sz="1300"/>
                    </a:p>
                  </a:txBody>
                  <a:tcPr marT="91425" marB="91425" marR="91425" marL="91425">
                    <a:lnR cap="flat" cmpd="sng" w="9525">
                      <a:solidFill>
                        <a:srgbClr val="9E9E9E"/>
                      </a:solidFill>
                      <a:prstDash val="solid"/>
                      <a:round/>
                      <a:headEnd len="sm" w="sm" type="none"/>
                      <a:tailEnd len="sm" w="sm" type="none"/>
                    </a:lnR>
                    <a:solidFill>
                      <a:srgbClr val="E8E8E8"/>
                    </a:solidFill>
                  </a:tcPr>
                </a:tc>
                <a:tc>
                  <a:txBody>
                    <a:bodyPr/>
                    <a:lstStyle/>
                    <a:p>
                      <a:pPr indent="0" lvl="0" marL="0" rtl="0" algn="l">
                        <a:spcBef>
                          <a:spcPts val="0"/>
                        </a:spcBef>
                        <a:spcAft>
                          <a:spcPts val="0"/>
                        </a:spcAft>
                        <a:buNone/>
                      </a:pPr>
                      <a:r>
                        <a:rPr b="1" lang="en" sz="1300"/>
                        <a:t>upon stimulation by ACTH </a:t>
                      </a:r>
                      <a:r>
                        <a:rPr lang="en" sz="1300"/>
                        <a:t>(Adrenocorticotropic hormone) → </a:t>
                      </a:r>
                      <a:r>
                        <a:rPr b="1" lang="en" sz="1300"/>
                        <a:t>slower response</a:t>
                      </a:r>
                      <a:endParaRPr b="1"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t>upon </a:t>
                      </a:r>
                      <a:r>
                        <a:rPr b="1" lang="en" sz="1300"/>
                        <a:t>direct stimulation by nervous system</a:t>
                      </a:r>
                      <a:r>
                        <a:rPr lang="en" sz="1300"/>
                        <a:t> → </a:t>
                      </a:r>
                      <a:r>
                        <a:rPr b="1" lang="en" sz="1300"/>
                        <a:t>fast response</a:t>
                      </a:r>
                      <a:endParaRPr b="1"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300"/>
                        <a:t>Hormones…</a:t>
                      </a:r>
                      <a:endParaRPr sz="1300"/>
                    </a:p>
                    <a:p>
                      <a:pPr indent="0" lvl="0" marL="0" rtl="0" algn="l">
                        <a:spcBef>
                          <a:spcPts val="0"/>
                        </a:spcBef>
                        <a:spcAft>
                          <a:spcPts val="0"/>
                        </a:spcAft>
                        <a:buNone/>
                      </a:pPr>
                      <a:r>
                        <a:t/>
                      </a:r>
                      <a:endParaRPr sz="1300"/>
                    </a:p>
                  </a:txBody>
                  <a:tcPr marT="91425" marB="91425" marR="91425" marL="91425">
                    <a:lnR cap="flat" cmpd="sng" w="9525">
                      <a:solidFill>
                        <a:srgbClr val="9E9E9E"/>
                      </a:solidFill>
                      <a:prstDash val="solid"/>
                      <a:round/>
                      <a:headEnd len="sm" w="sm" type="none"/>
                      <a:tailEnd len="sm" w="sm" type="none"/>
                    </a:lnR>
                    <a:solidFill>
                      <a:srgbClr val="E8E8E8"/>
                    </a:solidFill>
                  </a:tcPr>
                </a:tc>
                <a:tc>
                  <a:txBody>
                    <a:bodyPr/>
                    <a:lstStyle/>
                    <a:p>
                      <a:pPr indent="0" lvl="0" marL="0" rtl="0" algn="l">
                        <a:spcBef>
                          <a:spcPts val="0"/>
                        </a:spcBef>
                        <a:spcAft>
                          <a:spcPts val="0"/>
                        </a:spcAft>
                        <a:buNone/>
                      </a:pPr>
                      <a:r>
                        <a:rPr b="1" lang="en" sz="1300"/>
                        <a:t>Cortisol: </a:t>
                      </a:r>
                      <a:r>
                        <a:rPr lang="en" sz="1300"/>
                        <a:t>reduces pain, increases inflammation, increases energy availability by decreasing glucose storage, and by breaking down proteins</a:t>
                      </a:r>
                      <a:endParaRPr sz="1300"/>
                    </a:p>
                    <a:p>
                      <a:pPr indent="0" lvl="0" marL="0" rtl="0" algn="l">
                        <a:spcBef>
                          <a:spcPts val="0"/>
                        </a:spcBef>
                        <a:spcAft>
                          <a:spcPts val="0"/>
                        </a:spcAft>
                        <a:buNone/>
                      </a:pPr>
                      <a:r>
                        <a:rPr b="1" lang="en" sz="1300"/>
                        <a:t>Aldosterone:</a:t>
                      </a:r>
                      <a:r>
                        <a:rPr lang="en" sz="1300"/>
                        <a:t> Increases </a:t>
                      </a:r>
                      <a:r>
                        <a:rPr lang="en" sz="1300"/>
                        <a:t>reabsorption</a:t>
                      </a:r>
                      <a:r>
                        <a:rPr lang="en" sz="1300"/>
                        <a:t> of Na</a:t>
                      </a:r>
                      <a:r>
                        <a:rPr baseline="30000" lang="en" sz="1300"/>
                        <a:t>+</a:t>
                      </a:r>
                      <a:r>
                        <a:rPr baseline="30000" lang="en" sz="1200"/>
                        <a:t> </a:t>
                      </a:r>
                      <a:r>
                        <a:rPr lang="en" sz="1300"/>
                        <a:t>in the kidneys, which in turn increases water reabsorption leading to increased blood volume and pressure</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300"/>
                        <a:t>Epinephrine and norepinephrine:</a:t>
                      </a:r>
                      <a:r>
                        <a:rPr lang="en" sz="1300"/>
                        <a:t> initiate the fight-or-flight response (increase HR, increase breathing rate, etc.)</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2"/>
          <p:cNvSpPr txBox="1"/>
          <p:nvPr>
            <p:ph type="title"/>
          </p:nvPr>
        </p:nvSpPr>
        <p:spPr>
          <a:xfrm>
            <a:off x="1043490" y="770748"/>
            <a:ext cx="70248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2"/>
          <p:cNvSpPr txBox="1"/>
          <p:nvPr>
            <p:ph idx="1" type="body"/>
          </p:nvPr>
        </p:nvSpPr>
        <p:spPr>
          <a:xfrm>
            <a:off x="1043492" y="1742739"/>
            <a:ext cx="6777300" cy="2631600"/>
          </a:xfrm>
          <a:prstGeom prst="rect">
            <a:avLst/>
          </a:prstGeom>
        </p:spPr>
        <p:txBody>
          <a:bodyPr anchorCtr="0" anchor="t" bIns="91425" lIns="91425" spcFirstLastPara="1" rIns="91425" wrap="square" tIns="91425">
            <a:noAutofit/>
          </a:bodyPr>
          <a:lstStyle/>
          <a:p>
            <a:pPr indent="0" lvl="0" marL="0" rtl="0" algn="l">
              <a:spcBef>
                <a:spcPts val="480"/>
              </a:spcBef>
              <a:spcAft>
                <a:spcPts val="0"/>
              </a:spcAft>
              <a:buNone/>
            </a:pPr>
            <a:r>
              <a:t/>
            </a:r>
            <a:endParaRPr/>
          </a:p>
        </p:txBody>
      </p:sp>
      <p:grpSp>
        <p:nvGrpSpPr>
          <p:cNvPr id="554" name="Google Shape;554;p52"/>
          <p:cNvGrpSpPr/>
          <p:nvPr/>
        </p:nvGrpSpPr>
        <p:grpSpPr>
          <a:xfrm>
            <a:off x="203849" y="158023"/>
            <a:ext cx="5793470" cy="4367843"/>
            <a:chOff x="23900" y="95200"/>
            <a:chExt cx="6386100" cy="4773599"/>
          </a:xfrm>
        </p:grpSpPr>
        <p:pic>
          <p:nvPicPr>
            <p:cNvPr id="555" name="Google Shape;555;p52"/>
            <p:cNvPicPr preferRelativeResize="0"/>
            <p:nvPr/>
          </p:nvPicPr>
          <p:blipFill>
            <a:blip r:embed="rId3">
              <a:alphaModFix/>
            </a:blip>
            <a:stretch>
              <a:fillRect/>
            </a:stretch>
          </p:blipFill>
          <p:spPr>
            <a:xfrm>
              <a:off x="23900" y="95200"/>
              <a:ext cx="6386100" cy="4773599"/>
            </a:xfrm>
            <a:prstGeom prst="rect">
              <a:avLst/>
            </a:prstGeom>
            <a:noFill/>
            <a:ln>
              <a:noFill/>
            </a:ln>
          </p:spPr>
        </p:pic>
        <p:sp>
          <p:nvSpPr>
            <p:cNvPr id="556" name="Google Shape;556;p52"/>
            <p:cNvSpPr txBox="1"/>
            <p:nvPr/>
          </p:nvSpPr>
          <p:spPr>
            <a:xfrm>
              <a:off x="1840975" y="3112150"/>
              <a:ext cx="1247700" cy="278400"/>
            </a:xfrm>
            <a:prstGeom prst="rect">
              <a:avLst/>
            </a:prstGeom>
            <a:solidFill>
              <a:srgbClr val="FCE5CD"/>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chemeClr val="dk2"/>
                  </a:solidFill>
                  <a:latin typeface="Verdana"/>
                  <a:ea typeface="Verdana"/>
                  <a:cs typeface="Verdana"/>
                  <a:sym typeface="Verdana"/>
                </a:rPr>
                <a:t>Epinephrine and norepinephrine</a:t>
              </a:r>
              <a:endParaRPr b="1" sz="800">
                <a:solidFill>
                  <a:schemeClr val="dk2"/>
                </a:solidFill>
                <a:latin typeface="Verdana"/>
                <a:ea typeface="Verdana"/>
                <a:cs typeface="Verdana"/>
                <a:sym typeface="Verdana"/>
              </a:endParaRPr>
            </a:p>
          </p:txBody>
        </p:sp>
        <p:sp>
          <p:nvSpPr>
            <p:cNvPr id="557" name="Google Shape;557;p52"/>
            <p:cNvSpPr txBox="1"/>
            <p:nvPr/>
          </p:nvSpPr>
          <p:spPr>
            <a:xfrm>
              <a:off x="5081475" y="3112150"/>
              <a:ext cx="736200" cy="107700"/>
            </a:xfrm>
            <a:prstGeom prst="rect">
              <a:avLst/>
            </a:prstGeom>
            <a:solidFill>
              <a:srgbClr val="CFE2F3"/>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chemeClr val="dk2"/>
                  </a:solidFill>
                  <a:latin typeface="Verdana"/>
                  <a:ea typeface="Verdana"/>
                  <a:cs typeface="Verdana"/>
                  <a:sym typeface="Verdana"/>
                </a:rPr>
                <a:t>Cortisol</a:t>
              </a:r>
              <a:endParaRPr b="1" sz="800">
                <a:solidFill>
                  <a:schemeClr val="dk2"/>
                </a:solidFill>
                <a:latin typeface="Verdana"/>
                <a:ea typeface="Verdana"/>
                <a:cs typeface="Verdana"/>
                <a:sym typeface="Verdana"/>
              </a:endParaRPr>
            </a:p>
          </p:txBody>
        </p:sp>
        <p:sp>
          <p:nvSpPr>
            <p:cNvPr id="558" name="Google Shape;558;p52"/>
            <p:cNvSpPr txBox="1"/>
            <p:nvPr/>
          </p:nvSpPr>
          <p:spPr>
            <a:xfrm>
              <a:off x="4075925" y="3112150"/>
              <a:ext cx="825900" cy="107700"/>
            </a:xfrm>
            <a:prstGeom prst="rect">
              <a:avLst/>
            </a:prstGeom>
            <a:solidFill>
              <a:srgbClr val="CFE2F3"/>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chemeClr val="dk2"/>
                  </a:solidFill>
                  <a:latin typeface="Verdana"/>
                  <a:ea typeface="Verdana"/>
                  <a:cs typeface="Verdana"/>
                  <a:sym typeface="Verdana"/>
                </a:rPr>
                <a:t>Aldosterone</a:t>
              </a:r>
              <a:endParaRPr b="1" sz="800">
                <a:solidFill>
                  <a:schemeClr val="dk2"/>
                </a:solidFill>
                <a:latin typeface="Verdana"/>
                <a:ea typeface="Verdana"/>
                <a:cs typeface="Verdana"/>
                <a:sym typeface="Verdana"/>
              </a:endParaRPr>
            </a:p>
          </p:txBody>
        </p:sp>
      </p:grpSp>
      <p:pic>
        <p:nvPicPr>
          <p:cNvPr id="559" name="Google Shape;559;p52" title="Endocrine- Adrenal Stress Short term vs Long Term Stress-how stress kills">
            <a:hlinkClick r:id="rId4"/>
          </p:cNvPr>
          <p:cNvPicPr preferRelativeResize="0"/>
          <p:nvPr/>
        </p:nvPicPr>
        <p:blipFill>
          <a:blip r:embed="rId5">
            <a:alphaModFix/>
          </a:blip>
          <a:stretch>
            <a:fillRect/>
          </a:stretch>
        </p:blipFill>
        <p:spPr>
          <a:xfrm>
            <a:off x="5997325" y="15682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What exactly does stress do to your body, and what are the long-term effects? &#10; &#10;Read More: &#10;Adrenaline, Cortisol, Norepinephrine: The Three Major Stress Hormones, Explained &#10;http://www.huffingtonpost.com/2013/04/19/adrenaline-cortisol-stress-hormones_n_3112800.html  &#10;“Thanks to the work of our sympathetic nervous system, the ‘fight or flight’ system that takes over when we're stressed, when you see your boss's name in your inbox late at night, your body reacts like there's a lion on the loose.” &#10; &#10;Study Explains How Stress Makes People Sick &#10;http://www.npr.org/templates/story/story.php?storyId=92975996  &#10;“It's common wisdom that stress can make people sick. Now, a team of scientists from UCLA have figured out exactly how that happens. UCLA professor Rita Effros talks to host Andrea Seabrook about her work with stress and the immune system.” &#10; &#10;Chronic stress can wreak havoc on the body &#10;https://www.sciencenews.org/article/chronic-stress-can-wreak-havoc-body  &#10;“Ask anybody — stress is bad news. The negative view of stress has been expressed so consistently that the concept is now built into our vernacular, which is spiced with advice on avoiding it: Take it easy. Calm down. Chill.” &#10;____________________ &#10; &#10;DNews is dedicated to satisfying your curiosity and to bringing you mind-bending stories &amp; perspectives you won't find anywhere else! New videos twice daily.  &#10; &#10;Watch More DNews on TestTube http://testtube.com/dnews &#10; &#10;Subscribe now! http://www.youtube.com/subscription_center?add_user=dnewschannel &#10; &#10;DNews on Twitter http://twitter.com/dnews &#10; &#10;Trace Dominguez on Twitter https://twitter.com/tracedominguez &#10; &#10;Julia Wilde on Twitter https://twitter.com/julia_sci &#10; &#10;DNews on Facebook https://facebook.com/DiscoveryNews &#10; &#10;DNews on Google+ http://gplus.to/dnews &#10; &#10;Discovery News http://discoverynews.com &#10; &#10;Download the TestTube App: http://testu.be/1ndmmMq" id="565" name="Google Shape;565;p53" title="What Does Stress Do To Your Body?">
            <a:hlinkClick r:id="rId3"/>
          </p:cNvPr>
          <p:cNvPicPr preferRelativeResize="0"/>
          <p:nvPr/>
        </p:nvPicPr>
        <p:blipFill>
          <a:blip r:embed="rId4">
            <a:alphaModFix/>
          </a:blip>
          <a:stretch>
            <a:fillRect/>
          </a:stretch>
        </p:blipFill>
        <p:spPr>
          <a:xfrm>
            <a:off x="971600" y="1529319"/>
            <a:ext cx="3429000" cy="2571750"/>
          </a:xfrm>
          <a:prstGeom prst="rect">
            <a:avLst/>
          </a:prstGeom>
          <a:noFill/>
          <a:ln>
            <a:noFill/>
          </a:ln>
        </p:spPr>
      </p:pic>
      <p:sp>
        <p:nvSpPr>
          <p:cNvPr id="566" name="Google Shape;566;p53"/>
          <p:cNvSpPr txBox="1"/>
          <p:nvPr>
            <p:ph type="title"/>
          </p:nvPr>
        </p:nvSpPr>
        <p:spPr>
          <a:xfrm>
            <a:off x="971600" y="519525"/>
            <a:ext cx="7494900" cy="857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1"/>
              </a:buClr>
              <a:buSzPts val="700"/>
              <a:buFont typeface="Verdana"/>
              <a:buNone/>
            </a:pPr>
            <a:r>
              <a:rPr b="1" lang="en" sz="2800"/>
              <a:t>How does stress affect your body?</a:t>
            </a:r>
            <a:endParaRPr/>
          </a:p>
        </p:txBody>
      </p:sp>
      <p:pic>
        <p:nvPicPr>
          <p:cNvPr descr="View full lesson: http://ed.ted.com/lessons/how-stress-affects-your-body-sharon-horesh-bergquist&#10;&#10; Our hard-wired stress response is designed to gives us the quick burst of heightened alertness and energy needed to perform our best. But stress isn’t all good. When activated too long or too often, stress can damage virtually every part of our body. Sharon Horesh Bergquist gives us a look at what goes on inside our body when we are chronically stressed.&#10;&#10;Lesson by Sharon Horesh Bergquist, animation by Adriatic Animation." id="567" name="Google Shape;567;p53" title="How stress affects your body - Sharon Horesh Bergquist">
            <a:hlinkClick r:id="rId5"/>
          </p:cNvPr>
          <p:cNvPicPr preferRelativeResize="0"/>
          <p:nvPr/>
        </p:nvPicPr>
        <p:blipFill>
          <a:blip r:embed="rId6">
            <a:alphaModFix/>
          </a:blip>
          <a:stretch>
            <a:fillRect/>
          </a:stretch>
        </p:blipFill>
        <p:spPr>
          <a:xfrm>
            <a:off x="5142075" y="195795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1000"/>
                                        <p:tgtEl>
                                          <p:spTgt spid="5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4"/>
          <p:cNvSpPr txBox="1"/>
          <p:nvPr>
            <p:ph type="title"/>
          </p:nvPr>
        </p:nvSpPr>
        <p:spPr>
          <a:xfrm>
            <a:off x="1043490" y="770748"/>
            <a:ext cx="70248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Putting it all together…</a:t>
            </a:r>
            <a:endParaRPr/>
          </a:p>
        </p:txBody>
      </p:sp>
      <p:pic>
        <p:nvPicPr>
          <p:cNvPr descr="Anatomy of the pituitary gland.&#10;Relation to hypothalamus&#10;Posterior pituitary (neurohypophysis)&#10;ADH and oxytocin&#10;Anterior pituitary (adenohypophysis)&#10;The portal system&#10;Releasing hormones" id="573" name="Google Shape;573;p54" title="5.3 Endocrine: The Pituitary Gland">
            <a:hlinkClick r:id="rId3"/>
          </p:cNvPr>
          <p:cNvPicPr preferRelativeResize="0"/>
          <p:nvPr/>
        </p:nvPicPr>
        <p:blipFill>
          <a:blip r:embed="rId4">
            <a:alphaModFix/>
          </a:blip>
          <a:stretch>
            <a:fillRect/>
          </a:stretch>
        </p:blipFill>
        <p:spPr>
          <a:xfrm>
            <a:off x="3073650" y="1734450"/>
            <a:ext cx="2329700" cy="1310450"/>
          </a:xfrm>
          <a:prstGeom prst="rect">
            <a:avLst/>
          </a:prstGeom>
          <a:noFill/>
          <a:ln>
            <a:noFill/>
          </a:ln>
        </p:spPr>
      </p:pic>
      <p:pic>
        <p:nvPicPr>
          <p:cNvPr descr="Portal circulation&#10;Families of hormones&#10;Negative feedback&#10;Hypothalamic-pituitary-thyroid axis&#10;Hypothalamic-pituitary-adrenal cortical axis&#10;Hypothalamic-pituitary-gonadal axis&#10;Positive feedback&#10;Hypothyroidism&#10;Goitres" id="574" name="Google Shape;574;p54" title="5.4 Endocrine: The Anterior Pituitary">
            <a:hlinkClick r:id="rId5"/>
          </p:cNvPr>
          <p:cNvPicPr preferRelativeResize="0"/>
          <p:nvPr/>
        </p:nvPicPr>
        <p:blipFill>
          <a:blip r:embed="rId6">
            <a:alphaModFix/>
          </a:blip>
          <a:stretch>
            <a:fillRect/>
          </a:stretch>
        </p:blipFill>
        <p:spPr>
          <a:xfrm>
            <a:off x="3073650" y="3314175"/>
            <a:ext cx="2329700" cy="131045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5"/>
          <p:cNvSpPr txBox="1"/>
          <p:nvPr>
            <p:ph type="title"/>
          </p:nvPr>
        </p:nvSpPr>
        <p:spPr>
          <a:xfrm>
            <a:off x="1079775" y="718875"/>
            <a:ext cx="6103800" cy="401100"/>
          </a:xfrm>
          <a:prstGeom prst="rect">
            <a:avLst/>
          </a:prstGeom>
        </p:spPr>
        <p:txBody>
          <a:bodyPr anchorCtr="0" anchor="b" bIns="91425" lIns="91425" spcFirstLastPara="1" rIns="91425" wrap="square" tIns="91425">
            <a:noAutofit/>
          </a:bodyPr>
          <a:lstStyle/>
          <a:p>
            <a:pPr indent="457200" lvl="0" marL="0" rtl="0" algn="ctr">
              <a:spcBef>
                <a:spcPts val="0"/>
              </a:spcBef>
              <a:spcAft>
                <a:spcPts val="0"/>
              </a:spcAft>
              <a:buNone/>
            </a:pPr>
            <a:r>
              <a:rPr lang="en" sz="3500" u="sng">
                <a:latin typeface="Josefin Sans"/>
                <a:ea typeface="Josefin Sans"/>
                <a:cs typeface="Josefin Sans"/>
                <a:sym typeface="Josefin Sans"/>
              </a:rPr>
              <a:t>Chapter </a:t>
            </a:r>
            <a:r>
              <a:rPr lang="en" sz="3500" u="sng">
                <a:latin typeface="Josefin Sans"/>
                <a:ea typeface="Josefin Sans"/>
                <a:cs typeface="Josefin Sans"/>
                <a:sym typeface="Josefin Sans"/>
              </a:rPr>
              <a:t>Review:</a:t>
            </a:r>
            <a:endParaRPr sz="3500" u="sng">
              <a:latin typeface="Josefin Sans"/>
              <a:ea typeface="Josefin Sans"/>
              <a:cs typeface="Josefin Sans"/>
              <a:sym typeface="Josefin Sans"/>
            </a:endParaRPr>
          </a:p>
        </p:txBody>
      </p:sp>
      <p:sp>
        <p:nvSpPr>
          <p:cNvPr id="581" name="Google Shape;581;p55"/>
          <p:cNvSpPr txBox="1"/>
          <p:nvPr/>
        </p:nvSpPr>
        <p:spPr>
          <a:xfrm>
            <a:off x="460875" y="2975738"/>
            <a:ext cx="2941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Josefin Sans"/>
                <a:ea typeface="Josefin Sans"/>
                <a:cs typeface="Josefin Sans"/>
                <a:sym typeface="Josefin Sans"/>
              </a:rPr>
              <a:t>Blood Glucose Hormones</a:t>
            </a:r>
            <a:endParaRPr sz="1600">
              <a:latin typeface="Josefin Sans"/>
              <a:ea typeface="Josefin Sans"/>
              <a:cs typeface="Josefin Sans"/>
              <a:sym typeface="Josefin Sans"/>
            </a:endParaRPr>
          </a:p>
        </p:txBody>
      </p:sp>
      <p:sp>
        <p:nvSpPr>
          <p:cNvPr id="582" name="Google Shape;582;p55"/>
          <p:cNvSpPr txBox="1"/>
          <p:nvPr/>
        </p:nvSpPr>
        <p:spPr>
          <a:xfrm>
            <a:off x="3585150" y="1128938"/>
            <a:ext cx="2941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Josefin Sans"/>
                <a:ea typeface="Josefin Sans"/>
                <a:cs typeface="Josefin Sans"/>
                <a:sym typeface="Josefin Sans"/>
              </a:rPr>
              <a:t>Stress Hormones</a:t>
            </a:r>
            <a:endParaRPr sz="1600">
              <a:latin typeface="Josefin Sans"/>
              <a:ea typeface="Josefin Sans"/>
              <a:cs typeface="Josefin Sans"/>
              <a:sym typeface="Josefin Sans"/>
            </a:endParaRPr>
          </a:p>
        </p:txBody>
      </p:sp>
      <p:sp>
        <p:nvSpPr>
          <p:cNvPr id="583" name="Google Shape;583;p55"/>
          <p:cNvSpPr txBox="1"/>
          <p:nvPr/>
        </p:nvSpPr>
        <p:spPr>
          <a:xfrm>
            <a:off x="3279450" y="2975738"/>
            <a:ext cx="3552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Josefin Sans"/>
                <a:ea typeface="Josefin Sans"/>
                <a:cs typeface="Josefin Sans"/>
                <a:sym typeface="Josefin Sans"/>
              </a:rPr>
              <a:t>Growth &amp; Metabolism Hormones</a:t>
            </a:r>
            <a:endParaRPr sz="1600">
              <a:latin typeface="Josefin Sans"/>
              <a:ea typeface="Josefin Sans"/>
              <a:cs typeface="Josefin Sans"/>
              <a:sym typeface="Josefin Sans"/>
            </a:endParaRPr>
          </a:p>
        </p:txBody>
      </p:sp>
      <p:pic>
        <p:nvPicPr>
          <p:cNvPr descr="In the second half of our look at the endocrine system, Hank discusses chemical homeostasis and hormone cascades. Specifically, he looks at the hypothalamus-pituitary-thyroid axis, or HPT axis, and all the ways your body can suffer when that system, or your hormones in general, get out of whack. &#10;&#10;Table of Contents&#10;Chemical Homeostasis 1:04&#10;Hormone Cascades 2:37&#10;HPT Axis 3:25&#10;&#10;Crash Course Psychology posters available now at DFTBA.com!&#10;http://www.dftba.com/crashcourse&#10;&#10;***&#10;&#10;Crash Course is now on Patreon! You can support us directly by signing up at http://www.patreon.com/crashcourse&#10;&#10;Thanks to the following Patrons for their generous monthly contributions that help keep Crash Course free for everyone forever:&#10;&#10;Mark Brouwer, Jan Schmid, Steve Marshall, Anna-Ester Volozh, Sandra Aft, Brad Wardell, Christian Ludvigsen, Robert Kunz, Jason, A Saslow, Jacob Ash, Jeffrey Thompson, Jessica Simmons, James Craver, Simun Niclasen, SR Foxley, Roger C. Rocha, Nevin, Spoljaric, Eric Knight, Elliot Beter, Jessica Wode&#10;&#10;***SUBBABLE MESSAGES***&#10;&#10;TO: Rachel&#10;FROM: Alex&#10;&#10;I Love You!&#10;&#10;--&#10;&#10;TO: Crash Course&#10;FROM: James Earle&#10;&#10;I loved Subbable. I'll see you on Patreon.&#10;&#10;***SUPPORTER THANK YOU!***&#10;&#10;Thank you so much to all of our awesome supporters for their contributions to help make Crash Course possible and freely available for everyone forever:&#10;&#10;Megan McChristy, Matthew Feickert, Tara D. Kane, Gage Ledbetter, Benjamin Perea, Chad Walter, Janel Christensen, Alura Embrey, Ken Johnson, Harland Wirth&#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584" name="Google Shape;584;p55" title="Endocrine System, part 2 - Hormone Cascades: Crash Course A&amp;P #24">
            <a:hlinkClick r:id="rId3"/>
          </p:cNvPr>
          <p:cNvPicPr preferRelativeResize="0"/>
          <p:nvPr/>
        </p:nvPicPr>
        <p:blipFill>
          <a:blip r:embed="rId4">
            <a:alphaModFix/>
          </a:blip>
          <a:stretch>
            <a:fillRect/>
          </a:stretch>
        </p:blipFill>
        <p:spPr>
          <a:xfrm>
            <a:off x="781638" y="1250775"/>
            <a:ext cx="2299975" cy="1724975"/>
          </a:xfrm>
          <a:prstGeom prst="rect">
            <a:avLst/>
          </a:prstGeom>
          <a:noFill/>
          <a:ln>
            <a:noFill/>
          </a:ln>
        </p:spPr>
      </p:pic>
      <p:pic>
        <p:nvPicPr>
          <p:cNvPr id="585" name="Google Shape;585;p55" title="Endocrine System: Blood Glucose Hormones">
            <a:hlinkClick r:id="rId5"/>
          </p:cNvPr>
          <p:cNvPicPr preferRelativeResize="0"/>
          <p:nvPr/>
        </p:nvPicPr>
        <p:blipFill>
          <a:blip r:embed="rId6">
            <a:alphaModFix/>
          </a:blip>
          <a:stretch>
            <a:fillRect/>
          </a:stretch>
        </p:blipFill>
        <p:spPr>
          <a:xfrm>
            <a:off x="969900" y="3503813"/>
            <a:ext cx="2059250" cy="1158325"/>
          </a:xfrm>
          <a:prstGeom prst="rect">
            <a:avLst/>
          </a:prstGeom>
          <a:noFill/>
          <a:ln>
            <a:noFill/>
          </a:ln>
        </p:spPr>
      </p:pic>
      <p:pic>
        <p:nvPicPr>
          <p:cNvPr id="586" name="Google Shape;586;p55" title="Endocrine System: Growth &amp; Metabolism Hormones">
            <a:hlinkClick r:id="rId7"/>
          </p:cNvPr>
          <p:cNvPicPr preferRelativeResize="0"/>
          <p:nvPr/>
        </p:nvPicPr>
        <p:blipFill>
          <a:blip r:embed="rId8">
            <a:alphaModFix/>
          </a:blip>
          <a:stretch>
            <a:fillRect/>
          </a:stretch>
        </p:blipFill>
        <p:spPr>
          <a:xfrm>
            <a:off x="3947563" y="3503825"/>
            <a:ext cx="2216700" cy="1246900"/>
          </a:xfrm>
          <a:prstGeom prst="rect">
            <a:avLst/>
          </a:prstGeom>
          <a:noFill/>
          <a:ln>
            <a:noFill/>
          </a:ln>
        </p:spPr>
      </p:pic>
      <p:pic>
        <p:nvPicPr>
          <p:cNvPr id="587" name="Google Shape;587;p55" title="Endocrine System: Stress Hormones">
            <a:hlinkClick r:id="rId9"/>
          </p:cNvPr>
          <p:cNvPicPr preferRelativeResize="0"/>
          <p:nvPr/>
        </p:nvPicPr>
        <p:blipFill>
          <a:blip r:embed="rId10">
            <a:alphaModFix/>
          </a:blip>
          <a:stretch>
            <a:fillRect/>
          </a:stretch>
        </p:blipFill>
        <p:spPr>
          <a:xfrm>
            <a:off x="3790550" y="1569014"/>
            <a:ext cx="2299975" cy="12937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000"/>
                                        <p:tgtEl>
                                          <p:spTgt spid="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